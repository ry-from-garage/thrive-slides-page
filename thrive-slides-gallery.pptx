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Default Extension="fntdata" ContentType="application/x-fontdata"/>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Lst>
  <p:sldSz cx="12191695" cy="6858000" type="screen4x3"/>
  <p:notesSz cx="6858000" cy="9144000"/>
  <p:embeddedFontLst>
    <p:embeddedFont>
      <p:font typeface="Noto Sans JP"/>
      <p:regular r:id="rId105"/>
      <p:bold r:id="rId106"/>
    </p:embeddedFont>
    <p:embeddedFont>
      <p:font typeface="Noto Serif JP"/>
      <p:regular r:id="rId107"/>
      <p:bold r:id="rId10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font" Target="fonts/font1.fntdata"/><Relationship Id="rId106" Type="http://schemas.openxmlformats.org/officeDocument/2006/relationships/font" Target="fonts/font2.fntdata"/><Relationship Id="rId107" Type="http://schemas.openxmlformats.org/officeDocument/2006/relationships/font" Target="fonts/font3.fntdata"/><Relationship Id="rId108" Type="http://schemas.openxmlformats.org/officeDocument/2006/relationships/font" Target="fonts/font4.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市場規模</c:v>
                </c:pt>
              </c:strCache>
            </c:strRef>
          </c:tx>
          <c:spPr>
            <a:solidFill>
              <a:srgbClr val="0A2540"/>
            </a:solidFill>
          </c:spPr>
          <c:cat>
            <c:strRef>
              <c:f>Sheet1!$A$2:$A$8</c:f>
              <c:strCache>
                <c:ptCount val="7"/>
                <c:pt idx="0">
                  <c:v>FY2019</c:v>
                </c:pt>
                <c:pt idx="1">
                  <c:v>FY2020</c:v>
                </c:pt>
                <c:pt idx="2">
                  <c:v>FY2021</c:v>
                </c:pt>
                <c:pt idx="3">
                  <c:v>FY2022</c:v>
                </c:pt>
                <c:pt idx="4">
                  <c:v>FY2023</c:v>
                </c:pt>
                <c:pt idx="5">
                  <c:v>FY2024</c:v>
                </c:pt>
                <c:pt idx="6">
                  <c:v>FY2025</c:v>
                </c:pt>
              </c:strCache>
            </c:strRef>
          </c:cat>
          <c:val>
            <c:numRef>
              <c:f>Sheet1!$B$2:$B$8</c:f>
              <c:numCache>
                <c:formatCode>General</c:formatCode>
                <c:ptCount val="7"/>
                <c:pt idx="0">
                  <c:v>4800</c:v>
                </c:pt>
                <c:pt idx="1">
                  <c:v>5600</c:v>
                </c:pt>
                <c:pt idx="2">
                  <c:v>6700</c:v>
                </c:pt>
                <c:pt idx="3">
                  <c:v>7900</c:v>
                </c:pt>
                <c:pt idx="4">
                  <c:v>9400</c:v>
                </c:pt>
                <c:pt idx="5">
                  <c:v>11200</c:v>
                </c:pt>
                <c:pt idx="6">
                  <c:v>12100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13994440"/>
        <c:crosses val="autoZero"/>
        <c:auto val="1"/>
        <c:lblAlgn val="ctr"/>
        <c:lblOffset val="100"/>
        <c:noMultiLvlLbl val="0"/>
      </c:catAx>
      <c:valAx>
        <c:axId val="-2113994440"/>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エンタープライズ</c:v>
                </c:pt>
              </c:strCache>
            </c:strRef>
          </c:tx>
          <c:spPr>
            <a:solidFill>
              <a:srgbClr val="0A2540"/>
            </a:solidFill>
          </c:spPr>
          <c:cat>
            <c:strRef>
              <c:f>Sheet1!$A$2:$A$6</c:f>
              <c:strCache>
                <c:ptCount val="5"/>
                <c:pt idx="0">
                  <c:v>FY2021</c:v>
                </c:pt>
                <c:pt idx="1">
                  <c:v>FY2022</c:v>
                </c:pt>
                <c:pt idx="2">
                  <c:v>FY2023</c:v>
                </c:pt>
                <c:pt idx="3">
                  <c:v>FY2024</c:v>
                </c:pt>
                <c:pt idx="4">
                  <c:v>FY2025</c:v>
                </c:pt>
              </c:strCache>
            </c:strRef>
          </c:cat>
          <c:val>
            <c:numRef>
              <c:f>Sheet1!$B$2:$B$6</c:f>
              <c:numCache>
                <c:formatCode>General</c:formatCode>
                <c:ptCount val="5"/>
                <c:pt idx="0">
                  <c:v>1200</c:v>
                </c:pt>
                <c:pt idx="1">
                  <c:v>1650</c:v>
                </c:pt>
                <c:pt idx="2">
                  <c:v>2300</c:v>
                </c:pt>
                <c:pt idx="3">
                  <c:v>3100</c:v>
                </c:pt>
                <c:pt idx="4">
                  <c:v>3950</c:v>
                </c:pt>
              </c:numCache>
            </c:numRef>
          </c:val>
        </c:ser>
        <c:ser>
          <c:idx val="1"/>
          <c:order val="1"/>
          <c:tx>
            <c:strRef>
              <c:f>Sheet1!$C$1</c:f>
              <c:strCache>
                <c:ptCount val="1"/>
                <c:pt idx="0">
                  <c:v>SMB</c:v>
                </c:pt>
              </c:strCache>
            </c:strRef>
          </c:tx>
          <c:spPr>
            <a:solidFill>
              <a:srgbClr val="3C6E91"/>
            </a:solidFill>
          </c:spPr>
          <c:cat>
            <c:strRef>
              <c:f>Sheet1!$A$2:$A$6</c:f>
              <c:strCache>
                <c:ptCount val="5"/>
                <c:pt idx="0">
                  <c:v>FY2021</c:v>
                </c:pt>
                <c:pt idx="1">
                  <c:v>FY2022</c:v>
                </c:pt>
                <c:pt idx="2">
                  <c:v>FY2023</c:v>
                </c:pt>
                <c:pt idx="3">
                  <c:v>FY2024</c:v>
                </c:pt>
                <c:pt idx="4">
                  <c:v>FY2025</c:v>
                </c:pt>
              </c:strCache>
            </c:strRef>
          </c:cat>
          <c:val>
            <c:numRef>
              <c:f>Sheet1!$C$2:$C$6</c:f>
              <c:numCache>
                <c:formatCode>General</c:formatCode>
                <c:ptCount val="5"/>
                <c:pt idx="0">
                  <c:v>2400</c:v>
                </c:pt>
                <c:pt idx="1">
                  <c:v>2800</c:v>
                </c:pt>
                <c:pt idx="2">
                  <c:v>3100</c:v>
                </c:pt>
                <c:pt idx="3">
                  <c:v>3400</c:v>
                </c:pt>
                <c:pt idx="4">
                  <c:v>3600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13994440"/>
        <c:crosses val="autoZero"/>
        <c:auto val="1"/>
        <c:lblAlgn val="ctr"/>
        <c:lblOffset val="100"/>
        <c:noMultiLvlLbl val="0"/>
      </c:catAx>
      <c:valAx>
        <c:axId val="-2113994440"/>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068027336"/>
        <c:crosses val="autoZero"/>
      </c:valAx>
    </c:plotArea>
    <c:legend>
      <c:legendPos val="b"/>
      <c:overlay val="0"/>
      <c:txPr>
        <a:bodyPr/>
        <a:lstStyle/>
        <a:p>
          <a:pPr>
            <a:defRPr sz="975">
              <a:solidFill>
                <a:srgbClr val="1A2332"/>
              </a:solidFill>
              <a:latin typeface="Noto Sans JP"/>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series</c:v>
                </c:pt>
              </c:strCache>
            </c:strRef>
          </c:tx>
          <c:dPt>
            <c:idx val="0"/>
            <c:spPr>
              <a:solidFill>
                <a:srgbClr val="0A2540"/>
              </a:solidFill>
              <a:ln w="19050">
                <a:solidFill>
                  <a:srgbClr val="FFFFFF"/>
                </a:solidFill>
              </a:ln>
            </c:spPr>
          </c:dPt>
          <c:dPt>
            <c:idx val="1"/>
            <c:spPr>
              <a:solidFill>
                <a:srgbClr val="3C6E91"/>
              </a:solidFill>
              <a:ln w="19050">
                <a:solidFill>
                  <a:srgbClr val="FFFFFF"/>
                </a:solidFill>
              </a:ln>
            </c:spPr>
          </c:dPt>
          <c:dPt>
            <c:idx val="2"/>
            <c:spPr>
              <a:solidFill>
                <a:srgbClr val="C8102E"/>
              </a:solidFill>
              <a:ln w="19050">
                <a:solidFill>
                  <a:srgbClr val="FFFFFF"/>
                </a:solidFill>
              </a:ln>
            </c:spPr>
          </c:dPt>
          <c:dPt>
            <c:idx val="3"/>
            <c:spPr>
              <a:solidFill>
                <a:srgbClr val="5A6675"/>
              </a:solidFill>
              <a:ln w="19050">
                <a:solidFill>
                  <a:srgbClr val="FFFFFF"/>
                </a:solidFill>
              </a:ln>
            </c:spPr>
          </c:dPt>
          <c:dPt>
            <c:idx val="4"/>
            <c:spPr>
              <a:solidFill>
                <a:srgbClr val="1F7A52"/>
              </a:solidFill>
              <a:ln w="19050">
                <a:solidFill>
                  <a:srgbClr val="FFFFFF"/>
                </a:solidFill>
              </a:ln>
            </c:spPr>
          </c:dPt>
          <c:cat>
            <c:strRef>
              <c:f>Sheet1!$A$2:$A$6</c:f>
              <c:strCache>
                <c:ptCount val="5"/>
                <c:pt idx="0">
                  <c:v>タレント管理</c:v>
                </c:pt>
                <c:pt idx="1">
                  <c:v>勤怠・労務</c:v>
                </c:pt>
                <c:pt idx="2">
                  <c:v>給与計算</c:v>
                </c:pt>
                <c:pt idx="3">
                  <c:v>採用管理</c:v>
                </c:pt>
                <c:pt idx="4">
                  <c:v>その他</c:v>
                </c:pt>
              </c:strCache>
            </c:strRef>
          </c:cat>
          <c:val>
            <c:numRef>
              <c:f>Sheet1!$B$2:$B$6</c:f>
              <c:numCache>
                <c:formatCode>General</c:formatCode>
                <c:ptCount val="5"/>
                <c:pt idx="0">
                  <c:v>28.0</c:v>
                </c:pt>
                <c:pt idx="1">
                  <c:v>24.0</c:v>
                </c:pt>
                <c:pt idx="2">
                  <c:v>19.0</c:v>
                </c:pt>
                <c:pt idx="3">
                  <c:v>16.0</c:v>
                </c:pt>
                <c:pt idx="4">
                  <c:v>13.0</c:v>
                </c:pt>
              </c:numCache>
            </c:numRef>
          </c:val>
        </c:ser>
        <c:dLbls>
          <c:numFmt formatCode="0%" sourceLinked="0"/>
          <c:txPr>
            <a:bodyPr/>
            <a:lstStyle/>
            <a:p>
              <a:pPr>
                <a:defRPr sz="975">
                  <a:solidFill>
                    <a:srgbClr val="1A2332"/>
                  </a:solidFill>
                  <a:latin typeface="Noto Sans JP"/>
                </a:defRPr>
              </a:pPr>
            </a:p>
          </c:txPr>
          <c:dLblPos val="outEnd"/>
          <c:showLegendKey val="0"/>
          <c:showVal val="0"/>
          <c:showCatName val="0"/>
          <c:showSerName val="0"/>
          <c:showPercent val="1"/>
          <c:showBubbleSize val="0"/>
          <c:showLeaderLines val="1"/>
        </c:dLbls>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series</c:v>
                </c:pt>
              </c:strCache>
            </c:strRef>
          </c:tx>
          <c:dPt>
            <c:idx val="0"/>
            <c:spPr>
              <a:solidFill>
                <a:srgbClr val="0A2540"/>
              </a:solidFill>
              <a:ln w="19050">
                <a:solidFill>
                  <a:srgbClr val="FFFFFF"/>
                </a:solidFill>
              </a:ln>
            </c:spPr>
          </c:dPt>
          <c:dPt>
            <c:idx val="1"/>
            <c:spPr>
              <a:solidFill>
                <a:srgbClr val="3C6E91"/>
              </a:solidFill>
              <a:ln w="19050">
                <a:solidFill>
                  <a:srgbClr val="FFFFFF"/>
                </a:solidFill>
              </a:ln>
            </c:spPr>
          </c:dPt>
          <c:cat>
            <c:strRef>
              <c:f>Sheet1!$A$2:$A$3</c:f>
              <c:strCache>
                <c:ptCount val="2"/>
                <c:pt idx="0">
                  <c:v>達成</c:v>
                </c:pt>
                <c:pt idx="1">
                  <c:v>残余</c:v>
                </c:pt>
              </c:strCache>
            </c:strRef>
          </c:cat>
          <c:val>
            <c:numRef>
              <c:f>Sheet1!$B$2:$B$3</c:f>
              <c:numCache>
                <c:formatCode>General</c:formatCode>
                <c:ptCount val="2"/>
                <c:pt idx="0">
                  <c:v>112.0</c:v>
                </c:pt>
                <c:pt idx="1">
                  <c:v>0.0</c:v>
                </c:pt>
              </c:numCache>
            </c:numRef>
          </c:val>
        </c:ser>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series</c:v>
                </c:pt>
              </c:strCache>
            </c:strRef>
          </c:tx>
          <c:dPt>
            <c:idx val="0"/>
            <c:spPr>
              <a:solidFill>
                <a:srgbClr val="0A2540"/>
              </a:solidFill>
              <a:ln w="19050">
                <a:solidFill>
                  <a:srgbClr val="FFFFFF"/>
                </a:solidFill>
              </a:ln>
            </c:spPr>
          </c:dPt>
          <c:dPt>
            <c:idx val="1"/>
            <c:spPr>
              <a:solidFill>
                <a:srgbClr val="3C6E91"/>
              </a:solidFill>
              <a:ln w="19050">
                <a:solidFill>
                  <a:srgbClr val="FFFFFF"/>
                </a:solidFill>
              </a:ln>
            </c:spPr>
          </c:dPt>
          <c:cat>
            <c:strRef>
              <c:f>Sheet1!$A$2:$A$3</c:f>
              <c:strCache>
                <c:ptCount val="2"/>
                <c:pt idx="0">
                  <c:v>達成</c:v>
                </c:pt>
                <c:pt idx="1">
                  <c:v>未達</c:v>
                </c:pt>
              </c:strCache>
            </c:strRef>
          </c:cat>
          <c:val>
            <c:numRef>
              <c:f>Sheet1!$B$2:$B$3</c:f>
              <c:numCache>
                <c:formatCode>General</c:formatCode>
                <c:ptCount val="2"/>
                <c:pt idx="0">
                  <c:v>94.0</c:v>
                </c:pt>
                <c:pt idx="1">
                  <c:v>6.0</c:v>
                </c:pt>
              </c:numCache>
            </c:numRef>
          </c:val>
        </c:ser>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series</c:v>
                </c:pt>
              </c:strCache>
            </c:strRef>
          </c:tx>
          <c:dPt>
            <c:idx val="0"/>
            <c:spPr>
              <a:solidFill>
                <a:srgbClr val="0A2540"/>
              </a:solidFill>
              <a:ln w="19050">
                <a:solidFill>
                  <a:srgbClr val="FFFFFF"/>
                </a:solidFill>
              </a:ln>
            </c:spPr>
          </c:dPt>
          <c:dPt>
            <c:idx val="1"/>
            <c:spPr>
              <a:solidFill>
                <a:srgbClr val="3C6E91"/>
              </a:solidFill>
              <a:ln w="19050">
                <a:solidFill>
                  <a:srgbClr val="FFFFFF"/>
                </a:solidFill>
              </a:ln>
            </c:spPr>
          </c:dPt>
          <c:cat>
            <c:strRef>
              <c:f>Sheet1!$A$2:$A$3</c:f>
              <c:strCache>
                <c:ptCount val="2"/>
                <c:pt idx="0">
                  <c:v>達成</c:v>
                </c:pt>
                <c:pt idx="1">
                  <c:v>残余</c:v>
                </c:pt>
              </c:strCache>
            </c:strRef>
          </c:cat>
          <c:val>
            <c:numRef>
              <c:f>Sheet1!$B$2:$B$3</c:f>
              <c:numCache>
                <c:formatCode>General</c:formatCode>
                <c:ptCount val="2"/>
                <c:pt idx="0">
                  <c:v>118.0</c:v>
                </c:pt>
                <c:pt idx="1">
                  <c:v>0.0</c:v>
                </c:pt>
              </c:numCache>
            </c:numRef>
          </c:val>
        </c:ser>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ARR</c:v>
                </c:pt>
              </c:strCache>
            </c:strRef>
          </c:tx>
          <c:spPr>
            <a:solidFill>
              <a:srgbClr val="0A2540"/>
            </a:solidFill>
          </c:spPr>
          <c:cat>
            <c:strRef>
              <c:f>Sheet1!$A$2:$A$7</c:f>
              <c:strCache>
                <c:ptCount val="6"/>
                <c:pt idx="0">
                  <c:v>FY2023
Q1</c:v>
                </c:pt>
                <c:pt idx="1">
                  <c:v>FY2023
Q3</c:v>
                </c:pt>
                <c:pt idx="2">
                  <c:v>FY2024
Q1</c:v>
                </c:pt>
                <c:pt idx="3">
                  <c:v>FY2024
Q3</c:v>
                </c:pt>
                <c:pt idx="4">
                  <c:v>FY2025
Q1</c:v>
                </c:pt>
                <c:pt idx="5">
                  <c:v>FY2025
Q3</c:v>
                </c:pt>
              </c:strCache>
            </c:strRef>
          </c:cat>
          <c:val>
            <c:numRef>
              <c:f>Sheet1!$B$2:$B$7</c:f>
              <c:numCache>
                <c:formatCode>General</c:formatCode>
                <c:ptCount val="6"/>
                <c:pt idx="0">
                  <c:v>3.2</c:v>
                </c:pt>
                <c:pt idx="1">
                  <c:v>4.1</c:v>
                </c:pt>
                <c:pt idx="2">
                  <c:v>5.5</c:v>
                </c:pt>
                <c:pt idx="3">
                  <c:v>7.1</c:v>
                </c:pt>
                <c:pt idx="4">
                  <c:v>8.5</c:v>
                </c:pt>
                <c:pt idx="5">
                  <c:v>9.8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13994440"/>
        <c:crosses val="autoZero"/>
        <c:auto val="1"/>
        <c:lblAlgn val="ctr"/>
        <c:lblOffset val="100"/>
        <c:noMultiLvlLbl val="0"/>
      </c:catAx>
      <c:valAx>
        <c:axId val="-2113994440"/>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series</c:v>
                </c:pt>
              </c:strCache>
            </c:strRef>
          </c:tx>
          <c:dPt>
            <c:idx val="0"/>
            <c:spPr>
              <a:solidFill>
                <a:srgbClr val="0A2540"/>
              </a:solidFill>
              <a:ln w="19050">
                <a:solidFill>
                  <a:srgbClr val="FFFFFF"/>
                </a:solidFill>
              </a:ln>
            </c:spPr>
          </c:dPt>
          <c:dPt>
            <c:idx val="1"/>
            <c:spPr>
              <a:solidFill>
                <a:srgbClr val="3C6E91"/>
              </a:solidFill>
              <a:ln w="19050">
                <a:solidFill>
                  <a:srgbClr val="FFFFFF"/>
                </a:solidFill>
              </a:ln>
            </c:spPr>
          </c:dPt>
          <c:dPt>
            <c:idx val="2"/>
            <c:spPr>
              <a:solidFill>
                <a:srgbClr val="C8102E"/>
              </a:solidFill>
              <a:ln w="19050">
                <a:solidFill>
                  <a:srgbClr val="FFFFFF"/>
                </a:solidFill>
              </a:ln>
            </c:spPr>
          </c:dPt>
          <c:dPt>
            <c:idx val="3"/>
            <c:spPr>
              <a:solidFill>
                <a:srgbClr val="5A6675"/>
              </a:solidFill>
              <a:ln w="19050">
                <a:solidFill>
                  <a:srgbClr val="FFFFFF"/>
                </a:solidFill>
              </a:ln>
            </c:spPr>
          </c:dPt>
          <c:cat>
            <c:strRef>
              <c:f>Sheet1!$A$2:$A$5</c:f>
              <c:strCache>
                <c:ptCount val="4"/>
                <c:pt idx="0">
                  <c:v>採用難</c:v>
                </c:pt>
                <c:pt idx="1">
                  <c:v>法対応</c:v>
                </c:pt>
                <c:pt idx="2">
                  <c:v>生産性向上</c:v>
                </c:pt>
                <c:pt idx="3">
                  <c:v>その他</c:v>
                </c:pt>
              </c:strCache>
            </c:strRef>
          </c:cat>
          <c:val>
            <c:numRef>
              <c:f>Sheet1!$B$2:$B$5</c:f>
              <c:numCache>
                <c:formatCode>General</c:formatCode>
                <c:ptCount val="4"/>
                <c:pt idx="0">
                  <c:v>38.0</c:v>
                </c:pt>
                <c:pt idx="1">
                  <c:v>27.0</c:v>
                </c:pt>
                <c:pt idx="2">
                  <c:v>22.0</c:v>
                </c:pt>
                <c:pt idx="3">
                  <c:v>13.0</c:v>
                </c:pt>
              </c:numCache>
            </c:numRef>
          </c:val>
        </c:ser>
        <c:firstSliceAng val="0"/>
        <c:holeSize val="55"/>
      </c:doughnutChart>
    </c:plotArea>
    <c:legend>
      <c:legendPos/>
      <c:layout/>
      <c:overlay val="0"/>
      <c:txPr>
        <a:bodyPr/>
        <a:lstStyle/>
        <a:p>
          <a:pPr>
            <a:defRPr sz="975">
              <a:solidFill>
                <a:srgbClr val="1A2332"/>
              </a:solidFill>
              <a:latin typeface="Noto Sans JP"/>
            </a:defRPr>
          </a:pPr>
        </a:p>
      </c:txPr>
    </c:legend>
    <c:plotVisOnly val="1"/>
    <c:dispBlanksAs val="gap"/>
    <c:showDLblsOverMax val="0"/>
  </c:chart>
  <c:txPr>
    <a:bodyPr/>
    <a:lstStyle/>
    <a:p>
      <a:pPr>
        <a:defRPr sz="1800"/>
      </a:pPr>
      <a:endParaR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エンタープライズ</c:v>
                </c:pt>
              </c:strCache>
            </c:strRef>
          </c:tx>
          <c:spPr>
            <a:solidFill>
              <a:srgbClr val="0A2540"/>
            </a:solidFill>
          </c:spPr>
          <c:cat>
            <c:strRef>
              <c:f>Sheet1!$A$2:$A$5</c:f>
              <c:strCache>
                <c:ptCount val="4"/>
                <c:pt idx="0">
                  <c:v>FY2022</c:v>
                </c:pt>
                <c:pt idx="1">
                  <c:v>FY2023</c:v>
                </c:pt>
                <c:pt idx="2">
                  <c:v>FY2024</c:v>
                </c:pt>
                <c:pt idx="3">
                  <c:v>FY2025</c:v>
                </c:pt>
              </c:strCache>
            </c:strRef>
          </c:cat>
          <c:val>
            <c:numRef>
              <c:f>Sheet1!$B$2:$B$5</c:f>
              <c:numCache>
                <c:formatCode>General</c:formatCode>
                <c:ptCount val="4"/>
                <c:pt idx="0">
                  <c:v>28</c:v>
                </c:pt>
                <c:pt idx="1">
                  <c:v>45</c:v>
                </c:pt>
                <c:pt idx="2">
                  <c:v>71</c:v>
                </c:pt>
                <c:pt idx="3">
                  <c:v>102</c:v>
                </c:pt>
              </c:numCache>
            </c:numRef>
          </c:val>
        </c:ser>
        <c:ser>
          <c:idx val="1"/>
          <c:order val="1"/>
          <c:tx>
            <c:strRef>
              <c:f>Sheet1!$C$1</c:f>
              <c:strCache>
                <c:ptCount val="1"/>
                <c:pt idx="0">
                  <c:v>SMB</c:v>
                </c:pt>
              </c:strCache>
            </c:strRef>
          </c:tx>
          <c:spPr>
            <a:solidFill>
              <a:srgbClr val="3C6E91"/>
            </a:solidFill>
          </c:spPr>
          <c:cat>
            <c:strRef>
              <c:f>Sheet1!$A$2:$A$5</c:f>
              <c:strCache>
                <c:ptCount val="4"/>
                <c:pt idx="0">
                  <c:v>FY2022</c:v>
                </c:pt>
                <c:pt idx="1">
                  <c:v>FY2023</c:v>
                </c:pt>
                <c:pt idx="2">
                  <c:v>FY2024</c:v>
                </c:pt>
                <c:pt idx="3">
                  <c:v>FY2025</c:v>
                </c:pt>
              </c:strCache>
            </c:strRef>
          </c:cat>
          <c:val>
            <c:numRef>
              <c:f>Sheet1!$C$2:$C$5</c:f>
              <c:numCache>
                <c:formatCode>General</c:formatCode>
                <c:ptCount val="4"/>
                <c:pt idx="0">
                  <c:v>55</c:v>
                </c:pt>
                <c:pt idx="1">
                  <c:v>62</c:v>
                </c:pt>
                <c:pt idx="2">
                  <c:v>68</c:v>
                </c:pt>
                <c:pt idx="3">
                  <c:v>72</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13994440"/>
        <c:crosses val="autoZero"/>
        <c:auto val="1"/>
        <c:lblAlgn val="ctr"/>
        <c:lblOffset val="100"/>
        <c:noMultiLvlLbl val="0"/>
      </c:catAx>
      <c:valAx>
        <c:axId val="-2113994440"/>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068027336"/>
        <c:crosses val="autoZero"/>
      </c:valAx>
    </c:plotArea>
    <c:legend>
      <c:legendPos val="b"/>
      <c:overlay val="0"/>
      <c:txPr>
        <a:bodyPr/>
        <a:lstStyle/>
        <a:p>
          <a:pPr>
            <a:defRPr sz="975">
              <a:solidFill>
                <a:srgbClr val="1A2332"/>
              </a:solidFill>
              <a:latin typeface="Noto Sans JP"/>
            </a:defRPr>
          </a:pPr>
        </a:p>
      </c:txPr>
    </c:legend>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LTV/CAC</c:v>
                </c:pt>
              </c:strCache>
            </c:strRef>
          </c:tx>
          <c:spPr>
            <a:solidFill>
              <a:srgbClr val="0A2540"/>
            </a:solidFill>
          </c:spPr>
          <c:cat>
            <c:strRef>
              <c:f>Sheet1!$A$2:$A$7</c:f>
              <c:strCache>
                <c:ptCount val="6"/>
                <c:pt idx="0">
                  <c:v>ENT/製</c:v>
                </c:pt>
                <c:pt idx="1">
                  <c:v>SMB/製</c:v>
                </c:pt>
                <c:pt idx="2">
                  <c:v>ENT/金</c:v>
                </c:pt>
                <c:pt idx="3">
                  <c:v>SMB/金</c:v>
                </c:pt>
                <c:pt idx="4">
                  <c:v>ENT/SV</c:v>
                </c:pt>
                <c:pt idx="5">
                  <c:v>SMB/SV</c:v>
                </c:pt>
              </c:strCache>
            </c:strRef>
          </c:cat>
          <c:val>
            <c:numRef>
              <c:f>Sheet1!$B$2:$B$7</c:f>
              <c:numCache>
                <c:formatCode>General</c:formatCode>
                <c:ptCount val="6"/>
                <c:pt idx="0">
                  <c:v>4.2</c:v>
                </c:pt>
                <c:pt idx="1">
                  <c:v>3.1</c:v>
                </c:pt>
                <c:pt idx="2">
                  <c:v>6.8</c:v>
                </c:pt>
                <c:pt idx="3">
                  <c:v>2.9</c:v>
                </c:pt>
                <c:pt idx="4">
                  <c:v>8.1</c:v>
                </c:pt>
                <c:pt idx="5">
                  <c:v>3.3</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13994440"/>
        <c:crosses val="autoZero"/>
        <c:auto val="1"/>
        <c:lblAlgn val="ctr"/>
        <c:lblOffset val="100"/>
        <c:noMultiLvlLbl val="0"/>
      </c:catAx>
      <c:valAx>
        <c:axId val="-2113994440"/>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エンタープライズ</c:v>
                </c:pt>
              </c:strCache>
            </c:strRef>
          </c:tx>
          <c:spPr>
            <a:ln w="28575">
              <a:solidFill>
                <a:srgbClr val="0A2540"/>
              </a:solidFill>
            </a:ln>
          </c:spPr>
          <c:marker>
            <c:symbol val="none"/>
          </c:marker>
          <c:cat>
            <c:strRef>
              <c:f>Sheet1!$A$2:$A$7</c:f>
              <c:strCache>
                <c:ptCount val="6"/>
                <c:pt idx="0">
                  <c:v>M1</c:v>
                </c:pt>
                <c:pt idx="1">
                  <c:v>M2</c:v>
                </c:pt>
                <c:pt idx="2">
                  <c:v>M3</c:v>
                </c:pt>
                <c:pt idx="3">
                  <c:v>M4</c:v>
                </c:pt>
                <c:pt idx="4">
                  <c:v>M5</c:v>
                </c:pt>
                <c:pt idx="5">
                  <c:v>M6</c:v>
                </c:pt>
              </c:strCache>
            </c:strRef>
          </c:cat>
          <c:val>
            <c:numRef>
              <c:f>Sheet1!$B$2:$B$7</c:f>
              <c:numCache>
                <c:formatCode>General</c:formatCode>
                <c:ptCount val="6"/>
                <c:pt idx="0">
                  <c:v>1.8</c:v>
                </c:pt>
                <c:pt idx="1">
                  <c:v>1.5</c:v>
                </c:pt>
                <c:pt idx="2">
                  <c:v>1.2</c:v>
                </c:pt>
                <c:pt idx="3">
                  <c:v>0.9</c:v>
                </c:pt>
                <c:pt idx="4">
                  <c:v>0.8</c:v>
                </c:pt>
                <c:pt idx="5">
                  <c:v>0.7</c:v>
                </c:pt>
              </c:numCache>
            </c:numRef>
          </c:val>
          <c:smooth val="0"/>
        </c:ser>
        <c:ser>
          <c:idx val="1"/>
          <c:order val="1"/>
          <c:tx>
            <c:strRef>
              <c:f>Sheet1!$C$1</c:f>
              <c:strCache>
                <c:ptCount val="1"/>
                <c:pt idx="0">
                  <c:v>SMB</c:v>
                </c:pt>
              </c:strCache>
            </c:strRef>
          </c:tx>
          <c:spPr>
            <a:ln w="28575">
              <a:solidFill>
                <a:srgbClr val="3C6E91"/>
              </a:solidFill>
            </a:ln>
          </c:spPr>
          <c:marker>
            <c:symbol val="none"/>
          </c:marker>
          <c:cat>
            <c:strRef>
              <c:f>Sheet1!$A$2:$A$7</c:f>
              <c:strCache>
                <c:ptCount val="6"/>
                <c:pt idx="0">
                  <c:v>M1</c:v>
                </c:pt>
                <c:pt idx="1">
                  <c:v>M2</c:v>
                </c:pt>
                <c:pt idx="2">
                  <c:v>M3</c:v>
                </c:pt>
                <c:pt idx="3">
                  <c:v>M4</c:v>
                </c:pt>
                <c:pt idx="4">
                  <c:v>M5</c:v>
                </c:pt>
                <c:pt idx="5">
                  <c:v>M6</c:v>
                </c:pt>
              </c:strCache>
            </c:strRef>
          </c:cat>
          <c:val>
            <c:numRef>
              <c:f>Sheet1!$C$2:$C$7</c:f>
              <c:numCache>
                <c:formatCode>General</c:formatCode>
                <c:ptCount val="6"/>
                <c:pt idx="0">
                  <c:v>3.2</c:v>
                </c:pt>
                <c:pt idx="1">
                  <c:v>3.4</c:v>
                </c:pt>
                <c:pt idx="2">
                  <c:v>3.1</c:v>
                </c:pt>
                <c:pt idx="3">
                  <c:v>3.5</c:v>
                </c:pt>
                <c:pt idx="4">
                  <c:v>3.3</c:v>
                </c:pt>
                <c:pt idx="5">
                  <c:v>3.4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975">
                <a:solidFill>
                  <a:srgbClr val="1A2332"/>
                </a:solidFill>
                <a:latin typeface="Noto Sans JP"/>
              </a:defRPr>
            </a:pPr>
          </a:p>
        </c:txPr>
        <c:crossAx val="2140495176"/>
        <c:crosses val="autoZero"/>
        <c:auto val="1"/>
        <c:lblAlgn val="ctr"/>
        <c:lblOffset val="100"/>
        <c:noMultiLvlLbl val="0"/>
      </c:catAx>
      <c:valAx>
        <c:axId val="2140495176"/>
        <c:scaling/>
        <c:delete val="0"/>
        <c:axPos val="l"/>
        <c:majorGridlines>
          <c:spPr>
            <a:ln w="6350">
              <a:solidFill>
                <a:srgbClr val="5A6675"/>
              </a:solidFill>
            </a:ln>
          </c:spPr>
        </c:majorGridlines>
        <c:majorTickMark val="out"/>
        <c:minorTickMark val="none"/>
        <c:tickLblPos val="nextTo"/>
        <c:txPr>
          <a:bodyPr/>
          <a:lstStyle/>
          <a:p>
            <a:pPr>
              <a:defRPr sz="975">
                <a:solidFill>
                  <a:srgbClr val="1A2332"/>
                </a:solidFill>
                <a:latin typeface="Noto Sans JP"/>
              </a:defRPr>
            </a:pPr>
          </a:p>
        </c:txPr>
        <c:crossAx val="2118791784"/>
        <c:crosses val="autoZero"/>
      </c:valAx>
    </c:plotArea>
    <c:legend>
      <c:legendPos val="b"/>
      <c:layout/>
      <c:overlay val="0"/>
      <c:txPr>
        <a:bodyPr/>
        <a:lstStyle/>
        <a:p>
          <a:pPr>
            <a:defRPr sz="975">
              <a:solidFill>
                <a:srgbClr val="1A2332"/>
              </a:solidFill>
              <a:latin typeface="Noto Sans JP"/>
            </a:defRPr>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chart" Target="../charts/char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2209800"/>
            <a:ext cx="10820400" cy="1905000"/>
          </a:xfrm>
          <a:prstGeom prst="rect">
            <a:avLst/>
          </a:prstGeom>
          <a:noFill/>
        </p:spPr>
        <p:txBody>
          <a:bodyPr wrap="square">
            <a:spAutoFit/>
          </a:bodyPr>
          <a:lstStyle/>
          <a:p>
            <a:pPr algn="l"/>
            <a:r>
              <a:rPr sz="4800" b="1">
                <a:solidFill>
                  <a:srgbClr val="1C1F26"/>
                </a:solidFill>
                <a:latin typeface="Noto Sans JP"/>
                <a:ea typeface="Noto Sans JP"/>
                <a:cs typeface="Noto Sans JP"/>
              </a:rPr>
              <a:t>thrive-slides — Slide Pattern Gallery</a:t>
            </a:r>
          </a:p>
        </p:txBody>
      </p:sp>
      <p:sp>
        <p:nvSpPr>
          <p:cNvPr id="3" name="TextBox 2"/>
          <p:cNvSpPr txBox="1"/>
          <p:nvPr/>
        </p:nvSpPr>
        <p:spPr>
          <a:xfrm>
            <a:off x="685800" y="4267200"/>
            <a:ext cx="10820400" cy="609600"/>
          </a:xfrm>
          <a:prstGeom prst="rect">
            <a:avLst/>
          </a:prstGeom>
          <a:noFill/>
        </p:spPr>
        <p:txBody>
          <a:bodyPr wrap="square">
            <a:spAutoFit/>
          </a:bodyPr>
          <a:lstStyle/>
          <a:p>
            <a:pPr algn="l"/>
            <a:r>
              <a:rPr sz="1950" b="0">
                <a:solidFill>
                  <a:srgbClr val="595F6B"/>
                </a:solidFill>
                <a:latin typeface="Noto Sans JP"/>
                <a:ea typeface="Noto Sans JP"/>
                <a:cs typeface="Noto Sans JP"/>
              </a:rPr>
              <a:t>5 テーマ × 14 カテゴリ × 83 パターン</a:t>
            </a:r>
          </a:p>
        </p:txBody>
      </p:sp>
      <p:sp>
        <p:nvSpPr>
          <p:cNvPr id="4" name="TextBox 3"/>
          <p:cNvSpPr txBox="1"/>
          <p:nvPr/>
        </p:nvSpPr>
        <p:spPr>
          <a:xfrm>
            <a:off x="685800" y="5334000"/>
            <a:ext cx="10820400" cy="457200"/>
          </a:xfrm>
          <a:prstGeom prst="rect">
            <a:avLst/>
          </a:prstGeom>
          <a:noFill/>
        </p:spPr>
        <p:txBody>
          <a:bodyPr wrap="square">
            <a:spAutoFit/>
          </a:bodyPr>
          <a:lstStyle/>
          <a:p>
            <a:pPr algn="l"/>
            <a:r>
              <a:rPr sz="975" b="0">
                <a:solidFill>
                  <a:srgbClr val="595F6B"/>
                </a:solidFill>
                <a:latin typeface="Noto Sans JP"/>
                <a:ea typeface="Noto Sans JP"/>
                <a:cs typeface="Noto Sans JP"/>
              </a:rPr>
              <a:t>← / → で移動　Esc / O でスライド一覧（オーバービュー）</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01 / 98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FF4D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6600" b="1">
                <a:solidFill>
                  <a:srgbClr val="F0EDEA"/>
                </a:solidFill>
                <a:latin typeface="Noto Sans JP"/>
                <a:ea typeface="Noto Sans JP"/>
                <a:cs typeface="Noto Sans JP"/>
              </a:rPr>
              <a:t>🎨 表紙・セクション</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00" b="0">
                <a:solidFill>
                  <a:srgbClr val="8A8480"/>
                </a:solidFill>
                <a:latin typeface="Noto Sans JP"/>
                <a:ea typeface="Noto Sans JP"/>
                <a:cs typeface="Noto Sans JP"/>
              </a:rPr>
              <a:t>editorial-keynote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02 / 98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2133600"/>
            <a:ext cx="9010650" cy="1676400"/>
          </a:xfrm>
          <a:prstGeom prst="rect">
            <a:avLst/>
          </a:prstGeom>
          <a:noFill/>
        </p:spPr>
        <p:txBody>
          <a:bodyPr wrap="square">
            <a:spAutoFit/>
          </a:bodyPr>
          <a:lstStyle/>
          <a:p>
            <a:pPr algn="l"/>
            <a:r>
              <a:rPr sz="6600" b="1">
                <a:solidFill>
                  <a:srgbClr val="F0EDEA"/>
                </a:solidFill>
                <a:latin typeface="Noto Sans JP"/>
                <a:ea typeface="Noto Sans JP"/>
                <a:cs typeface="Noto Sans JP"/>
              </a:rPr>
              <a:t>日本市場向け
AIプロダクト戦略 2026</a:t>
            </a:r>
          </a:p>
        </p:txBody>
      </p:sp>
      <p:sp>
        <p:nvSpPr>
          <p:cNvPr id="3" name="TextBox 2"/>
          <p:cNvSpPr txBox="1"/>
          <p:nvPr/>
        </p:nvSpPr>
        <p:spPr>
          <a:xfrm>
            <a:off x="685800" y="4267200"/>
            <a:ext cx="7210425" cy="609600"/>
          </a:xfrm>
          <a:prstGeom prst="rect">
            <a:avLst/>
          </a:prstGeom>
          <a:noFill/>
        </p:spPr>
        <p:txBody>
          <a:bodyPr wrap="square">
            <a:spAutoFit/>
          </a:bodyPr>
          <a:lstStyle/>
          <a:p>
            <a:pPr algn="l"/>
            <a:r>
              <a:rPr sz="2100" b="0">
                <a:solidFill>
                  <a:srgbClr val="F0EDEA"/>
                </a:solidFill>
                <a:latin typeface="Noto Sans JP"/>
                <a:ea typeface="Noto Sans JP"/>
                <a:cs typeface="Noto Sans JP"/>
              </a:rPr>
              <a:t>成長市場への参入と持続的競争優位の確立</a:t>
            </a:r>
          </a:p>
        </p:txBody>
      </p:sp>
      <p:sp>
        <p:nvSpPr>
          <p:cNvPr id="4" name="Rectangle 3"/>
          <p:cNvSpPr/>
          <p:nvPr/>
        </p:nvSpPr>
        <p:spPr>
          <a:xfrm>
            <a:off x="0" y="5791200"/>
            <a:ext cx="12192000" cy="533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848350"/>
            <a:ext cx="7620000" cy="381000"/>
          </a:xfrm>
          <a:prstGeom prst="rect">
            <a:avLst/>
          </a:prstGeom>
          <a:noFill/>
        </p:spPr>
        <p:txBody>
          <a:bodyPr wrap="square">
            <a:spAutoFit/>
          </a:bodyPr>
          <a:lstStyle/>
          <a:p>
            <a:pPr algn="l"/>
            <a:r>
              <a:rPr sz="900" b="0">
                <a:solidFill>
                  <a:srgbClr val="8A8480"/>
                </a:solidFill>
                <a:latin typeface="Noto Sans JP"/>
                <a:ea typeface="Noto Sans JP"/>
                <a:cs typeface="Noto Sans JP"/>
              </a:rPr>
              <a:t>山田 太郎 / プロダクト戦略室　　2026年6月25日</a:t>
            </a:r>
          </a:p>
        </p:txBody>
      </p:sp>
      <p:sp>
        <p:nvSpPr>
          <p:cNvPr id="6" name="TextBox 5"/>
          <p:cNvSpPr txBox="1"/>
          <p:nvPr/>
        </p:nvSpPr>
        <p:spPr>
          <a:xfrm>
            <a:off x="10477500" y="5848350"/>
            <a:ext cx="1028700" cy="381000"/>
          </a:xfrm>
          <a:prstGeom prst="rect">
            <a:avLst/>
          </a:prstGeom>
          <a:noFill/>
        </p:spPr>
        <p:txBody>
          <a:bodyPr wrap="square">
            <a:spAutoFit/>
          </a:bodyPr>
          <a:lstStyle/>
          <a:p>
            <a:pPr algn="r"/>
            <a:r>
              <a:rPr sz="900" b="0">
                <a:solidFill>
                  <a:srgbClr val="8A8480"/>
                </a:solidFill>
                <a:latin typeface="Noto Sans JP"/>
                <a:ea typeface="Noto Sans JP"/>
                <a:cs typeface="Noto Sans JP"/>
              </a:rPr>
              <a:t>03 / 98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04 / 98</a:t>
            </a:r>
          </a:p>
        </p:txBody>
      </p:sp>
      <p:sp>
        <p:nvSpPr>
          <p:cNvPr id="3" name="Rectangle 2"/>
          <p:cNvSpPr/>
          <p:nvPr/>
        </p:nvSpPr>
        <p:spPr>
          <a:xfrm>
            <a:off x="6096000" y="0"/>
            <a:ext cx="6096000" cy="6858000"/>
          </a:xfrm>
          <a:prstGeom prst="rect">
            <a:avLst/>
          </a:prstGeom>
          <a:solidFill>
            <a:srgbClr val="5C5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0" y="2895600"/>
            <a:ext cx="6096000" cy="762000"/>
          </a:xfrm>
          <a:prstGeom prst="rect">
            <a:avLst/>
          </a:prstGeom>
          <a:noFill/>
        </p:spPr>
        <p:txBody>
          <a:bodyPr wrap="square">
            <a:spAutoFit/>
          </a:bodyPr>
          <a:lstStyle/>
          <a:p>
            <a:pPr algn="ctr"/>
            <a:r>
              <a:rPr sz="2100" b="0">
                <a:solidFill>
                  <a:srgbClr val="F0EDEA"/>
                </a:solidFill>
                <a:latin typeface="Noto Sans JP"/>
                <a:ea typeface="Noto Sans JP"/>
                <a:cs typeface="Noto Sans JP"/>
              </a:rPr>
              <a:t>FUTURE MOBILITY</a:t>
            </a:r>
          </a:p>
        </p:txBody>
      </p:sp>
      <p:sp>
        <p:nvSpPr>
          <p:cNvPr id="5" name="TextBox 4"/>
          <p:cNvSpPr txBox="1"/>
          <p:nvPr/>
        </p:nvSpPr>
        <p:spPr>
          <a:xfrm>
            <a:off x="685800" y="1828800"/>
            <a:ext cx="5295900" cy="1524000"/>
          </a:xfrm>
          <a:prstGeom prst="rect">
            <a:avLst/>
          </a:prstGeom>
          <a:noFill/>
        </p:spPr>
        <p:txBody>
          <a:bodyPr wrap="square">
            <a:spAutoFit/>
          </a:bodyPr>
          <a:lstStyle/>
          <a:p>
            <a:pPr algn="l"/>
            <a:r>
              <a:rPr sz="3900" b="1">
                <a:solidFill>
                  <a:srgbClr val="F0EDEA"/>
                </a:solidFill>
                <a:latin typeface="Noto Sans JP"/>
                <a:ea typeface="Noto Sans JP"/>
                <a:cs typeface="Noto Sans JP"/>
              </a:rPr>
              <a:t>次世代モビリティで
都市を再設計する</a:t>
            </a:r>
          </a:p>
        </p:txBody>
      </p:sp>
      <p:sp>
        <p:nvSpPr>
          <p:cNvPr id="6" name="TextBox 5"/>
          <p:cNvSpPr txBox="1"/>
          <p:nvPr/>
        </p:nvSpPr>
        <p:spPr>
          <a:xfrm>
            <a:off x="685800" y="3657600"/>
            <a:ext cx="4371975" cy="457200"/>
          </a:xfrm>
          <a:prstGeom prst="rect">
            <a:avLst/>
          </a:prstGeom>
          <a:noFill/>
        </p:spPr>
        <p:txBody>
          <a:bodyPr wrap="square">
            <a:spAutoFit/>
          </a:bodyPr>
          <a:lstStyle/>
          <a:p>
            <a:pPr algn="l"/>
            <a:r>
              <a:rPr sz="1200" b="0">
                <a:solidFill>
                  <a:srgbClr val="8A8480"/>
                </a:solidFill>
                <a:latin typeface="Noto Sans JP"/>
                <a:ea typeface="Noto Sans JP"/>
                <a:cs typeface="Noto Sans JP"/>
              </a:rPr>
              <a:t>2030年に向けたビジョンと実行ロードマップ</a:t>
            </a:r>
          </a:p>
        </p:txBody>
      </p:sp>
      <p:sp>
        <p:nvSpPr>
          <p:cNvPr id="7" name="TextBox 6"/>
          <p:cNvSpPr txBox="1"/>
          <p:nvPr/>
        </p:nvSpPr>
        <p:spPr>
          <a:xfrm>
            <a:off x="685800" y="5791200"/>
            <a:ext cx="4371975" cy="381000"/>
          </a:xfrm>
          <a:prstGeom prst="rect">
            <a:avLst/>
          </a:prstGeom>
          <a:noFill/>
        </p:spPr>
        <p:txBody>
          <a:bodyPr wrap="square">
            <a:spAutoFit/>
          </a:bodyPr>
          <a:lstStyle/>
          <a:p>
            <a:pPr algn="l"/>
            <a:r>
              <a:rPr sz="900" b="0">
                <a:solidFill>
                  <a:srgbClr val="8A8480"/>
                </a:solidFill>
                <a:latin typeface="Noto Sans JP"/>
                <a:ea typeface="Noto Sans JP"/>
                <a:cs typeface="Noto Sans JP"/>
              </a:rPr>
              <a:t>鈴木 次郎 | 2026年6月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05 / 98</a:t>
            </a:r>
          </a:p>
        </p:txBody>
      </p:sp>
      <p:sp>
        <p:nvSpPr>
          <p:cNvPr id="3" name="TextBox 2"/>
          <p:cNvSpPr txBox="1"/>
          <p:nvPr/>
        </p:nvSpPr>
        <p:spPr>
          <a:xfrm>
            <a:off x="685800" y="2133600"/>
            <a:ext cx="3457575" cy="1219200"/>
          </a:xfrm>
          <a:prstGeom prst="rect">
            <a:avLst/>
          </a:prstGeom>
          <a:noFill/>
        </p:spPr>
        <p:txBody>
          <a:bodyPr wrap="square">
            <a:spAutoFit/>
          </a:bodyPr>
          <a:lstStyle/>
          <a:p>
            <a:pPr algn="l"/>
            <a:r>
              <a:rPr sz="6600" b="1">
                <a:solidFill>
                  <a:srgbClr val="FF4D1C"/>
                </a:solidFill>
                <a:latin typeface="Noto Sans JP"/>
                <a:ea typeface="Noto Sans JP"/>
                <a:cs typeface="Noto Sans JP"/>
              </a:rPr>
              <a:t>02</a:t>
            </a:r>
          </a:p>
        </p:txBody>
      </p:sp>
      <p:sp>
        <p:nvSpPr>
          <p:cNvPr id="4" name="Rectangle 3"/>
          <p:cNvSpPr/>
          <p:nvPr/>
        </p:nvSpPr>
        <p:spPr>
          <a:xfrm>
            <a:off x="685800" y="3429000"/>
            <a:ext cx="1609725" cy="76200"/>
          </a:xfrm>
          <a:prstGeom prst="rect">
            <a:avLst/>
          </a:prstGeom>
          <a:solidFill>
            <a:srgbClr val="8A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581400"/>
            <a:ext cx="8982075" cy="914400"/>
          </a:xfrm>
          <a:prstGeom prst="rect">
            <a:avLst/>
          </a:prstGeom>
          <a:noFill/>
        </p:spPr>
        <p:txBody>
          <a:bodyPr wrap="square">
            <a:spAutoFit/>
          </a:bodyPr>
          <a:lstStyle/>
          <a:p>
            <a:pPr algn="l"/>
            <a:r>
              <a:rPr sz="3900" b="1">
                <a:solidFill>
                  <a:srgbClr val="F0EDEA"/>
                </a:solidFill>
                <a:latin typeface="Noto Sans JP"/>
                <a:ea typeface="Noto Sans JP"/>
                <a:cs typeface="Noto Sans JP"/>
              </a:rPr>
              <a:t>市場環境と競合分析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06 / 98</a:t>
            </a:r>
          </a:p>
        </p:txBody>
      </p:sp>
      <p:sp>
        <p:nvSpPr>
          <p:cNvPr id="3" name="Rectangle 2"/>
          <p:cNvSpPr/>
          <p:nvPr/>
        </p:nvSpPr>
        <p:spPr>
          <a:xfrm>
            <a:off x="4371975" y="2133600"/>
            <a:ext cx="3457575" cy="76200"/>
          </a:xfrm>
          <a:prstGeom prst="rect">
            <a:avLst/>
          </a:prstGeom>
          <a:solidFill>
            <a:srgbClr val="8A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09725" y="2286000"/>
            <a:ext cx="8982075" cy="1524000"/>
          </a:xfrm>
          <a:prstGeom prst="rect">
            <a:avLst/>
          </a:prstGeom>
          <a:noFill/>
        </p:spPr>
        <p:txBody>
          <a:bodyPr wrap="square">
            <a:spAutoFit/>
          </a:bodyPr>
          <a:lstStyle/>
          <a:p>
            <a:pPr algn="ctr"/>
            <a:r>
              <a:rPr sz="3900" b="1">
                <a:solidFill>
                  <a:srgbClr val="F0EDEA"/>
                </a:solidFill>
                <a:latin typeface="Noto Sans JP"/>
                <a:ea typeface="Noto Sans JP"/>
                <a:cs typeface="Noto Sans JP"/>
              </a:rPr>
              <a:t>顧客の課題を解決しない機能は、
どれだけ精巧でも価値ゼロである</a:t>
            </a:r>
          </a:p>
        </p:txBody>
      </p:sp>
      <p:sp>
        <p:nvSpPr>
          <p:cNvPr id="5" name="Rectangle 4"/>
          <p:cNvSpPr/>
          <p:nvPr/>
        </p:nvSpPr>
        <p:spPr>
          <a:xfrm>
            <a:off x="4371975" y="3886200"/>
            <a:ext cx="3457575" cy="76200"/>
          </a:xfrm>
          <a:prstGeom prst="rect">
            <a:avLst/>
          </a:prstGeom>
          <a:solidFill>
            <a:srgbClr val="8A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24125" y="4114800"/>
            <a:ext cx="7134225" cy="457200"/>
          </a:xfrm>
          <a:prstGeom prst="rect">
            <a:avLst/>
          </a:prstGeom>
          <a:noFill/>
        </p:spPr>
        <p:txBody>
          <a:bodyPr wrap="square">
            <a:spAutoFit/>
          </a:bodyPr>
          <a:lstStyle/>
          <a:p>
            <a:pPr algn="ctr"/>
            <a:r>
              <a:rPr sz="900" b="0">
                <a:solidFill>
                  <a:srgbClr val="8A8480"/>
                </a:solidFill>
                <a:latin typeface="Noto Sans JP"/>
                <a:ea typeface="Noto Sans JP"/>
                <a:cs typeface="Noto Sans JP"/>
              </a:rPr>
              <a:t>出典: プロダクト開発原則 §3.1「価値定義の優先」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稲盛和夫著『アメーバ経営』2006年</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07 / 98</a:t>
            </a:r>
          </a:p>
        </p:txBody>
      </p:sp>
      <p:sp>
        <p:nvSpPr>
          <p:cNvPr id="4" name="TextBox 3"/>
          <p:cNvSpPr txBox="1"/>
          <p:nvPr/>
        </p:nvSpPr>
        <p:spPr>
          <a:xfrm>
            <a:off x="1609725" y="1447800"/>
            <a:ext cx="1609725" cy="914400"/>
          </a:xfrm>
          <a:prstGeom prst="rect">
            <a:avLst/>
          </a:prstGeom>
          <a:noFill/>
        </p:spPr>
        <p:txBody>
          <a:bodyPr wrap="square">
            <a:spAutoFit/>
          </a:bodyPr>
          <a:lstStyle/>
          <a:p>
            <a:pPr algn="l"/>
            <a:r>
              <a:rPr sz="7200" b="0">
                <a:solidFill>
                  <a:srgbClr val="FF4D1C"/>
                </a:solidFill>
                <a:latin typeface="Noto Sans JP"/>
                <a:ea typeface="Noto Sans JP"/>
                <a:cs typeface="Noto Sans JP"/>
              </a:rPr>
              <a:t>“</a:t>
            </a:r>
          </a:p>
        </p:txBody>
      </p:sp>
      <p:sp>
        <p:nvSpPr>
          <p:cNvPr id="5" name="TextBox 4"/>
          <p:cNvSpPr txBox="1"/>
          <p:nvPr/>
        </p:nvSpPr>
        <p:spPr>
          <a:xfrm>
            <a:off x="1609725" y="2286000"/>
            <a:ext cx="8982075" cy="1828800"/>
          </a:xfrm>
          <a:prstGeom prst="rect">
            <a:avLst/>
          </a:prstGeom>
          <a:noFill/>
        </p:spPr>
        <p:txBody>
          <a:bodyPr wrap="square">
            <a:spAutoFit/>
          </a:bodyPr>
          <a:lstStyle/>
          <a:p>
            <a:pPr algn="ctr"/>
            <a:r>
              <a:rPr sz="2100" b="0">
                <a:solidFill>
                  <a:srgbClr val="F0EDEA"/>
                </a:solidFill>
                <a:latin typeface="Noto Sans JP"/>
                <a:ea typeface="Noto Sans JP"/>
                <a:cs typeface="Noto Sans JP"/>
              </a:rPr>
              <a:t>イノベーションとは、既存の制約を
前提として疑うことから始まる</a:t>
            </a:r>
          </a:p>
        </p:txBody>
      </p:sp>
      <p:sp>
        <p:nvSpPr>
          <p:cNvPr id="6" name="Rectangle 5"/>
          <p:cNvSpPr/>
          <p:nvPr/>
        </p:nvSpPr>
        <p:spPr>
          <a:xfrm>
            <a:off x="4371975" y="4267200"/>
            <a:ext cx="3457575" cy="76200"/>
          </a:xfrm>
          <a:prstGeom prst="rect">
            <a:avLst/>
          </a:prstGeom>
          <a:solidFill>
            <a:srgbClr val="8A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24125" y="4495800"/>
            <a:ext cx="7134225" cy="381000"/>
          </a:xfrm>
          <a:prstGeom prst="rect">
            <a:avLst/>
          </a:prstGeom>
          <a:noFill/>
        </p:spPr>
        <p:txBody>
          <a:bodyPr wrap="square">
            <a:spAutoFit/>
          </a:bodyPr>
          <a:lstStyle/>
          <a:p>
            <a:pPr algn="ctr"/>
            <a:r>
              <a:rPr sz="900" b="0">
                <a:solidFill>
                  <a:srgbClr val="8A8480"/>
                </a:solidFill>
                <a:latin typeface="Noto Sans JP"/>
                <a:ea typeface="Noto Sans JP"/>
                <a:cs typeface="Noto Sans JP"/>
              </a:rPr>
              <a:t>— 稲盛 和夫 / 京セラ創業者</a:t>
            </a:r>
          </a:p>
        </p:txBody>
      </p:sp>
      <p:sp>
        <p:nvSpPr>
          <p:cNvPr id="8" name="TextBox 7"/>
          <p:cNvSpPr txBox="1"/>
          <p:nvPr/>
        </p:nvSpPr>
        <p:spPr>
          <a:xfrm>
            <a:off x="8972550" y="4343400"/>
            <a:ext cx="1609725" cy="914400"/>
          </a:xfrm>
          <a:prstGeom prst="rect">
            <a:avLst/>
          </a:prstGeom>
          <a:noFill/>
        </p:spPr>
        <p:txBody>
          <a:bodyPr wrap="square">
            <a:spAutoFit/>
          </a:bodyPr>
          <a:lstStyle/>
          <a:p>
            <a:pPr algn="r"/>
            <a:r>
              <a:rPr sz="7200" b="0">
                <a:solidFill>
                  <a:srgbClr val="FF4D1C"/>
                </a:solidFill>
                <a:latin typeface="Noto Sans JP"/>
                <a:ea typeface="Noto Sans JP"/>
                <a:cs typeface="Noto Sans JP"/>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A84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500" b="1">
                <a:solidFill>
                  <a:srgbClr val="0D1B2A"/>
                </a:solidFill>
                <a:latin typeface="Noto Sans JP"/>
                <a:ea typeface="Noto Sans JP"/>
                <a:cs typeface="Noto Sans JP"/>
              </a:rPr>
              <a:t>📋 目次・アジェンダ</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4A5568"/>
                </a:solidFill>
                <a:latin typeface="Noto Sans JP"/>
                <a:ea typeface="Noto Sans JP"/>
                <a:cs typeface="Noto Sans JP"/>
              </a:rPr>
              <a:t>corporate-trust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08 / 98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2026年6月　株式会社ガレージラボ　機密資料</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09 / 98</a:t>
            </a:r>
          </a:p>
        </p:txBody>
      </p:sp>
      <p:sp>
        <p:nvSpPr>
          <p:cNvPr id="4" name="TextBox 3"/>
          <p:cNvSpPr txBox="1"/>
          <p:nvPr/>
        </p:nvSpPr>
        <p:spPr>
          <a:xfrm>
            <a:off x="685800" y="533400"/>
            <a:ext cx="10820400" cy="228600"/>
          </a:xfrm>
          <a:prstGeom prst="rect">
            <a:avLst/>
          </a:prstGeom>
          <a:noFill/>
        </p:spPr>
        <p:txBody>
          <a:bodyPr wrap="square">
            <a:spAutoFit/>
          </a:bodyPr>
          <a:lstStyle/>
          <a:p>
            <a:pPr algn="l"/>
            <a:r>
              <a:rPr sz="975" b="0">
                <a:solidFill>
                  <a:srgbClr val="1565C0"/>
                </a:solidFill>
                <a:latin typeface="Noto Sans JP"/>
                <a:ea typeface="Noto Sans JP"/>
                <a:cs typeface="Noto Sans JP"/>
              </a:rPr>
              <a:t>AGENDA</a:t>
            </a:r>
          </a:p>
        </p:txBody>
      </p:sp>
      <p:sp>
        <p:nvSpPr>
          <p:cNvPr id="5" name="TextBox 4"/>
          <p:cNvSpPr txBox="1"/>
          <p:nvPr/>
        </p:nvSpPr>
        <p:spPr>
          <a:xfrm>
            <a:off x="685800" y="762000"/>
            <a:ext cx="10820400" cy="533400"/>
          </a:xfrm>
          <a:prstGeom prst="rect">
            <a:avLst/>
          </a:prstGeom>
          <a:noFill/>
        </p:spPr>
        <p:txBody>
          <a:bodyPr wrap="square">
            <a:spAutoFit/>
          </a:bodyPr>
          <a:lstStyle/>
          <a:p>
            <a:pPr algn="l"/>
            <a:r>
              <a:rPr sz="2850" b="1">
                <a:solidFill>
                  <a:srgbClr val="0D1B2A"/>
                </a:solidFill>
                <a:latin typeface="Noto Sans JP"/>
                <a:ea typeface="Noto Sans JP"/>
                <a:cs typeface="Noto Sans JP"/>
              </a:rPr>
              <a:t>本日のアジェンダ</a:t>
            </a:r>
          </a:p>
        </p:txBody>
      </p:sp>
      <p:sp>
        <p:nvSpPr>
          <p:cNvPr id="6" name="Rectangle 5"/>
          <p:cNvSpPr/>
          <p:nvPr/>
        </p:nvSpPr>
        <p:spPr>
          <a:xfrm>
            <a:off x="685800" y="21621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478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01</a:t>
            </a:r>
          </a:p>
        </p:txBody>
      </p:sp>
      <p:sp>
        <p:nvSpPr>
          <p:cNvPr id="8" name="Rectangle 7"/>
          <p:cNvSpPr/>
          <p:nvPr/>
        </p:nvSpPr>
        <p:spPr>
          <a:xfrm>
            <a:off x="1333500" y="16954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0" y="14478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会社・事業概要</a:t>
            </a:r>
          </a:p>
        </p:txBody>
      </p:sp>
      <p:sp>
        <p:nvSpPr>
          <p:cNvPr id="10" name="TextBox 9"/>
          <p:cNvSpPr txBox="1"/>
          <p:nvPr/>
        </p:nvSpPr>
        <p:spPr>
          <a:xfrm>
            <a:off x="10820400" y="14478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p.03</a:t>
            </a:r>
          </a:p>
        </p:txBody>
      </p:sp>
      <p:sp>
        <p:nvSpPr>
          <p:cNvPr id="11" name="Rectangle 10"/>
          <p:cNvSpPr/>
          <p:nvPr/>
        </p:nvSpPr>
        <p:spPr>
          <a:xfrm>
            <a:off x="685800" y="28860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1717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02</a:t>
            </a:r>
          </a:p>
        </p:txBody>
      </p:sp>
      <p:sp>
        <p:nvSpPr>
          <p:cNvPr id="13" name="Rectangle 12"/>
          <p:cNvSpPr/>
          <p:nvPr/>
        </p:nvSpPr>
        <p:spPr>
          <a:xfrm>
            <a:off x="1333500" y="24193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0" y="21717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市場環境と課題認識</a:t>
            </a:r>
          </a:p>
        </p:txBody>
      </p:sp>
      <p:sp>
        <p:nvSpPr>
          <p:cNvPr id="15" name="TextBox 14"/>
          <p:cNvSpPr txBox="1"/>
          <p:nvPr/>
        </p:nvSpPr>
        <p:spPr>
          <a:xfrm>
            <a:off x="10820400" y="21717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p.07</a:t>
            </a:r>
          </a:p>
        </p:txBody>
      </p:sp>
      <p:sp>
        <p:nvSpPr>
          <p:cNvPr id="16" name="Rectangle 15"/>
          <p:cNvSpPr/>
          <p:nvPr/>
        </p:nvSpPr>
        <p:spPr>
          <a:xfrm>
            <a:off x="685800" y="36099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8956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03</a:t>
            </a:r>
          </a:p>
        </p:txBody>
      </p:sp>
      <p:sp>
        <p:nvSpPr>
          <p:cNvPr id="18" name="Rectangle 17"/>
          <p:cNvSpPr/>
          <p:nvPr/>
        </p:nvSpPr>
        <p:spPr>
          <a:xfrm>
            <a:off x="1333500" y="31432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0" y="28956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ソリューションの全体像</a:t>
            </a:r>
          </a:p>
        </p:txBody>
      </p:sp>
      <p:sp>
        <p:nvSpPr>
          <p:cNvPr id="20" name="TextBox 19"/>
          <p:cNvSpPr txBox="1"/>
          <p:nvPr/>
        </p:nvSpPr>
        <p:spPr>
          <a:xfrm>
            <a:off x="10820400" y="28956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p.12</a:t>
            </a:r>
          </a:p>
        </p:txBody>
      </p:sp>
      <p:sp>
        <p:nvSpPr>
          <p:cNvPr id="21" name="Rectangle 20"/>
          <p:cNvSpPr/>
          <p:nvPr/>
        </p:nvSpPr>
        <p:spPr>
          <a:xfrm>
            <a:off x="685800" y="43338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195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04</a:t>
            </a:r>
          </a:p>
        </p:txBody>
      </p:sp>
      <p:sp>
        <p:nvSpPr>
          <p:cNvPr id="23" name="Rectangle 22"/>
          <p:cNvSpPr/>
          <p:nvPr/>
        </p:nvSpPr>
        <p:spPr>
          <a:xfrm>
            <a:off x="1333500" y="38671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0" y="36195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導入事例・実績</a:t>
            </a:r>
          </a:p>
        </p:txBody>
      </p:sp>
      <p:sp>
        <p:nvSpPr>
          <p:cNvPr id="25" name="TextBox 24"/>
          <p:cNvSpPr txBox="1"/>
          <p:nvPr/>
        </p:nvSpPr>
        <p:spPr>
          <a:xfrm>
            <a:off x="10820400" y="36195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p.18</a:t>
            </a:r>
          </a:p>
        </p:txBody>
      </p:sp>
      <p:sp>
        <p:nvSpPr>
          <p:cNvPr id="26" name="Rectangle 25"/>
          <p:cNvSpPr/>
          <p:nvPr/>
        </p:nvSpPr>
        <p:spPr>
          <a:xfrm>
            <a:off x="685800" y="50577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434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05</a:t>
            </a:r>
          </a:p>
        </p:txBody>
      </p:sp>
      <p:sp>
        <p:nvSpPr>
          <p:cNvPr id="28" name="Rectangle 27"/>
          <p:cNvSpPr/>
          <p:nvPr/>
        </p:nvSpPr>
        <p:spPr>
          <a:xfrm>
            <a:off x="1333500" y="45910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0" y="43434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投資対効果（ROI）試算</a:t>
            </a:r>
          </a:p>
        </p:txBody>
      </p:sp>
      <p:sp>
        <p:nvSpPr>
          <p:cNvPr id="30" name="TextBox 29"/>
          <p:cNvSpPr txBox="1"/>
          <p:nvPr/>
        </p:nvSpPr>
        <p:spPr>
          <a:xfrm>
            <a:off x="10820400" y="43434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p.24</a:t>
            </a:r>
          </a:p>
        </p:txBody>
      </p:sp>
      <p:sp>
        <p:nvSpPr>
          <p:cNvPr id="31" name="Rectangle 30"/>
          <p:cNvSpPr/>
          <p:nvPr/>
        </p:nvSpPr>
        <p:spPr>
          <a:xfrm>
            <a:off x="685800" y="5781675"/>
            <a:ext cx="108204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067300"/>
            <a:ext cx="609600" cy="723900"/>
          </a:xfrm>
          <a:prstGeom prst="rect">
            <a:avLst/>
          </a:prstGeom>
          <a:noFill/>
        </p:spPr>
        <p:txBody>
          <a:bodyPr wrap="none">
            <a:spAutoFit/>
          </a:bodyPr>
          <a:lstStyle/>
          <a:p>
            <a:pPr algn="l"/>
            <a:r>
              <a:rPr sz="1650" b="1">
                <a:solidFill>
                  <a:srgbClr val="1565C0"/>
                </a:solidFill>
                <a:latin typeface="Noto Sans JP"/>
                <a:ea typeface="Noto Sans JP"/>
                <a:cs typeface="Noto Sans JP"/>
              </a:rPr>
              <a:t>06</a:t>
            </a:r>
          </a:p>
        </p:txBody>
      </p:sp>
      <p:sp>
        <p:nvSpPr>
          <p:cNvPr id="33" name="Rectangle 32"/>
          <p:cNvSpPr/>
          <p:nvPr/>
        </p:nvSpPr>
        <p:spPr>
          <a:xfrm>
            <a:off x="1333500" y="5314950"/>
            <a:ext cx="19050" cy="22860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4000" y="5067300"/>
            <a:ext cx="9220200" cy="723900"/>
          </a:xfrm>
          <a:prstGeom prst="rect">
            <a:avLst/>
          </a:prstGeom>
          <a:noFill/>
        </p:spPr>
        <p:txBody>
          <a:bodyPr wrap="square">
            <a:spAutoFit/>
          </a:bodyPr>
          <a:lstStyle/>
          <a:p>
            <a:pPr algn="l"/>
            <a:r>
              <a:rPr sz="1275" b="0">
                <a:solidFill>
                  <a:srgbClr val="0D1B2A"/>
                </a:solidFill>
                <a:latin typeface="Noto Sans JP"/>
                <a:ea typeface="Noto Sans JP"/>
                <a:cs typeface="Noto Sans JP"/>
              </a:rPr>
              <a:t>導入ステップとスケジュール</a:t>
            </a:r>
          </a:p>
        </p:txBody>
      </p:sp>
      <p:sp>
        <p:nvSpPr>
          <p:cNvPr id="35" name="TextBox 34"/>
          <p:cNvSpPr txBox="1"/>
          <p:nvPr/>
        </p:nvSpPr>
        <p:spPr>
          <a:xfrm>
            <a:off x="10820400" y="5067300"/>
            <a:ext cx="685800" cy="723900"/>
          </a:xfrm>
          <a:prstGeom prst="rect">
            <a:avLst/>
          </a:prstGeom>
          <a:noFill/>
        </p:spPr>
        <p:txBody>
          <a:bodyPr wrap="square">
            <a:spAutoFit/>
          </a:bodyPr>
          <a:lstStyle/>
          <a:p>
            <a:pPr algn="r"/>
            <a:r>
              <a:rPr sz="975" b="0">
                <a:solidFill>
                  <a:srgbClr val="4A5568"/>
                </a:solidFill>
                <a:latin typeface="Noto Sans JP"/>
                <a:ea typeface="Noto Sans JP"/>
                <a:cs typeface="Noto Sans JP"/>
              </a:rPr>
              <a:t>p.29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社外秘 — 2026年度 中期経営計画</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10 / 98</a:t>
            </a:r>
          </a:p>
        </p:txBody>
      </p:sp>
      <p:sp>
        <p:nvSpPr>
          <p:cNvPr id="4" name="TextBox 3"/>
          <p:cNvSpPr txBox="1"/>
          <p:nvPr/>
        </p:nvSpPr>
        <p:spPr>
          <a:xfrm>
            <a:off x="685800" y="533400"/>
            <a:ext cx="10820400" cy="228600"/>
          </a:xfrm>
          <a:prstGeom prst="rect">
            <a:avLst/>
          </a:prstGeom>
          <a:noFill/>
        </p:spPr>
        <p:txBody>
          <a:bodyPr wrap="square">
            <a:spAutoFit/>
          </a:bodyPr>
          <a:lstStyle/>
          <a:p>
            <a:pPr algn="l"/>
            <a:r>
              <a:rPr sz="975" b="0">
                <a:solidFill>
                  <a:srgbClr val="1565C0"/>
                </a:solidFill>
                <a:latin typeface="Noto Sans JP"/>
                <a:ea typeface="Noto Sans JP"/>
                <a:cs typeface="Noto Sans JP"/>
              </a:rPr>
              <a:t>TABLE OF CONTENTS</a:t>
            </a:r>
          </a:p>
        </p:txBody>
      </p:sp>
      <p:sp>
        <p:nvSpPr>
          <p:cNvPr id="5" name="TextBox 4"/>
          <p:cNvSpPr txBox="1"/>
          <p:nvPr/>
        </p:nvSpPr>
        <p:spPr>
          <a:xfrm>
            <a:off x="685800" y="762000"/>
            <a:ext cx="10820400" cy="533400"/>
          </a:xfrm>
          <a:prstGeom prst="rect">
            <a:avLst/>
          </a:prstGeom>
          <a:noFill/>
        </p:spPr>
        <p:txBody>
          <a:bodyPr wrap="square">
            <a:spAutoFit/>
          </a:bodyPr>
          <a:lstStyle/>
          <a:p>
            <a:pPr algn="l"/>
            <a:r>
              <a:rPr sz="2850" b="1">
                <a:solidFill>
                  <a:srgbClr val="0D1B2A"/>
                </a:solidFill>
                <a:latin typeface="Noto Sans JP"/>
                <a:ea typeface="Noto Sans JP"/>
                <a:cs typeface="Noto Sans JP"/>
              </a:rPr>
              <a:t>目次</a:t>
            </a:r>
          </a:p>
        </p:txBody>
      </p:sp>
      <p:sp>
        <p:nvSpPr>
          <p:cNvPr id="6" name="Rectangle 5"/>
          <p:cNvSpPr/>
          <p:nvPr/>
        </p:nvSpPr>
        <p:spPr>
          <a:xfrm>
            <a:off x="685800" y="2200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1447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01</a:t>
            </a:r>
          </a:p>
        </p:txBody>
      </p:sp>
      <p:sp>
        <p:nvSpPr>
          <p:cNvPr id="8" name="TextBox 7"/>
          <p:cNvSpPr txBox="1"/>
          <p:nvPr/>
        </p:nvSpPr>
        <p:spPr>
          <a:xfrm>
            <a:off x="1295400" y="1447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エグゼクティブサマリー</a:t>
            </a:r>
          </a:p>
        </p:txBody>
      </p:sp>
      <p:sp>
        <p:nvSpPr>
          <p:cNvPr id="9" name="TextBox 8"/>
          <p:cNvSpPr txBox="1"/>
          <p:nvPr/>
        </p:nvSpPr>
        <p:spPr>
          <a:xfrm>
            <a:off x="5486400" y="1447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p.03</a:t>
            </a:r>
          </a:p>
        </p:txBody>
      </p:sp>
      <p:sp>
        <p:nvSpPr>
          <p:cNvPr id="10" name="Rectangle 9"/>
          <p:cNvSpPr/>
          <p:nvPr/>
        </p:nvSpPr>
        <p:spPr>
          <a:xfrm>
            <a:off x="685800" y="2962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3900" y="2209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02</a:t>
            </a:r>
          </a:p>
        </p:txBody>
      </p:sp>
      <p:sp>
        <p:nvSpPr>
          <p:cNvPr id="12" name="TextBox 11"/>
          <p:cNvSpPr txBox="1"/>
          <p:nvPr/>
        </p:nvSpPr>
        <p:spPr>
          <a:xfrm>
            <a:off x="1295400" y="2209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日本市場の現状分析</a:t>
            </a:r>
          </a:p>
        </p:txBody>
      </p:sp>
      <p:sp>
        <p:nvSpPr>
          <p:cNvPr id="13" name="TextBox 12"/>
          <p:cNvSpPr txBox="1"/>
          <p:nvPr/>
        </p:nvSpPr>
        <p:spPr>
          <a:xfrm>
            <a:off x="5486400" y="2209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p.06</a:t>
            </a:r>
          </a:p>
        </p:txBody>
      </p:sp>
      <p:sp>
        <p:nvSpPr>
          <p:cNvPr id="14" name="Rectangle 13"/>
          <p:cNvSpPr/>
          <p:nvPr/>
        </p:nvSpPr>
        <p:spPr>
          <a:xfrm>
            <a:off x="685800" y="3724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2971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03</a:t>
            </a:r>
          </a:p>
        </p:txBody>
      </p:sp>
      <p:sp>
        <p:nvSpPr>
          <p:cNvPr id="16" name="TextBox 15"/>
          <p:cNvSpPr txBox="1"/>
          <p:nvPr/>
        </p:nvSpPr>
        <p:spPr>
          <a:xfrm>
            <a:off x="1295400" y="2971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規制・コンプライアンス動向</a:t>
            </a:r>
          </a:p>
        </p:txBody>
      </p:sp>
      <p:sp>
        <p:nvSpPr>
          <p:cNvPr id="17" name="TextBox 16"/>
          <p:cNvSpPr txBox="1"/>
          <p:nvPr/>
        </p:nvSpPr>
        <p:spPr>
          <a:xfrm>
            <a:off x="5486400" y="2971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p.10</a:t>
            </a:r>
          </a:p>
        </p:txBody>
      </p:sp>
      <p:sp>
        <p:nvSpPr>
          <p:cNvPr id="18" name="Rectangle 17"/>
          <p:cNvSpPr/>
          <p:nvPr/>
        </p:nvSpPr>
        <p:spPr>
          <a:xfrm>
            <a:off x="685800" y="4486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3900" y="3733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04</a:t>
            </a:r>
          </a:p>
        </p:txBody>
      </p:sp>
      <p:sp>
        <p:nvSpPr>
          <p:cNvPr id="20" name="TextBox 19"/>
          <p:cNvSpPr txBox="1"/>
          <p:nvPr/>
        </p:nvSpPr>
        <p:spPr>
          <a:xfrm>
            <a:off x="1295400" y="3733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競合マッピングと差別化軸</a:t>
            </a:r>
          </a:p>
        </p:txBody>
      </p:sp>
      <p:sp>
        <p:nvSpPr>
          <p:cNvPr id="21" name="TextBox 20"/>
          <p:cNvSpPr txBox="1"/>
          <p:nvPr/>
        </p:nvSpPr>
        <p:spPr>
          <a:xfrm>
            <a:off x="5486400" y="3733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p.14</a:t>
            </a:r>
          </a:p>
        </p:txBody>
      </p:sp>
      <p:sp>
        <p:nvSpPr>
          <p:cNvPr id="22" name="Rectangle 21"/>
          <p:cNvSpPr/>
          <p:nvPr/>
        </p:nvSpPr>
        <p:spPr>
          <a:xfrm>
            <a:off x="685800" y="5248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900" y="4495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05</a:t>
            </a:r>
          </a:p>
        </p:txBody>
      </p:sp>
      <p:sp>
        <p:nvSpPr>
          <p:cNvPr id="24" name="TextBox 23"/>
          <p:cNvSpPr txBox="1"/>
          <p:nvPr/>
        </p:nvSpPr>
        <p:spPr>
          <a:xfrm>
            <a:off x="1295400" y="4495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自社ポジショニング</a:t>
            </a:r>
          </a:p>
        </p:txBody>
      </p:sp>
      <p:sp>
        <p:nvSpPr>
          <p:cNvPr id="25" name="TextBox 24"/>
          <p:cNvSpPr txBox="1"/>
          <p:nvPr/>
        </p:nvSpPr>
        <p:spPr>
          <a:xfrm>
            <a:off x="5486400" y="4495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p.19</a:t>
            </a:r>
          </a:p>
        </p:txBody>
      </p:sp>
      <p:sp>
        <p:nvSpPr>
          <p:cNvPr id="26" name="Rectangle 25"/>
          <p:cNvSpPr/>
          <p:nvPr/>
        </p:nvSpPr>
        <p:spPr>
          <a:xfrm>
            <a:off x="685800" y="6010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 y="5257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06</a:t>
            </a:r>
          </a:p>
        </p:txBody>
      </p:sp>
      <p:sp>
        <p:nvSpPr>
          <p:cNvPr id="28" name="TextBox 27"/>
          <p:cNvSpPr txBox="1"/>
          <p:nvPr/>
        </p:nvSpPr>
        <p:spPr>
          <a:xfrm>
            <a:off x="1295400" y="5257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プロダクトロードマップ</a:t>
            </a:r>
          </a:p>
        </p:txBody>
      </p:sp>
      <p:sp>
        <p:nvSpPr>
          <p:cNvPr id="29" name="TextBox 28"/>
          <p:cNvSpPr txBox="1"/>
          <p:nvPr/>
        </p:nvSpPr>
        <p:spPr>
          <a:xfrm>
            <a:off x="5486400" y="5257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p.23</a:t>
            </a:r>
          </a:p>
        </p:txBody>
      </p:sp>
      <p:sp>
        <p:nvSpPr>
          <p:cNvPr id="30" name="Rectangle 29"/>
          <p:cNvSpPr/>
          <p:nvPr/>
        </p:nvSpPr>
        <p:spPr>
          <a:xfrm>
            <a:off x="6210300" y="2200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8400" y="1447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07</a:t>
            </a:r>
          </a:p>
        </p:txBody>
      </p:sp>
      <p:sp>
        <p:nvSpPr>
          <p:cNvPr id="32" name="TextBox 31"/>
          <p:cNvSpPr txBox="1"/>
          <p:nvPr/>
        </p:nvSpPr>
        <p:spPr>
          <a:xfrm>
            <a:off x="6819900" y="1447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ターゲット顧客セグメント</a:t>
            </a:r>
          </a:p>
        </p:txBody>
      </p:sp>
      <p:sp>
        <p:nvSpPr>
          <p:cNvPr id="33" name="TextBox 32"/>
          <p:cNvSpPr txBox="1"/>
          <p:nvPr/>
        </p:nvSpPr>
        <p:spPr>
          <a:xfrm>
            <a:off x="11010900" y="1447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p.28</a:t>
            </a:r>
          </a:p>
        </p:txBody>
      </p:sp>
      <p:sp>
        <p:nvSpPr>
          <p:cNvPr id="34" name="Rectangle 33"/>
          <p:cNvSpPr/>
          <p:nvPr/>
        </p:nvSpPr>
        <p:spPr>
          <a:xfrm>
            <a:off x="6210300" y="2962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8400" y="2209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08</a:t>
            </a:r>
          </a:p>
        </p:txBody>
      </p:sp>
      <p:sp>
        <p:nvSpPr>
          <p:cNvPr id="36" name="TextBox 35"/>
          <p:cNvSpPr txBox="1"/>
          <p:nvPr/>
        </p:nvSpPr>
        <p:spPr>
          <a:xfrm>
            <a:off x="6819900" y="2209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GTM戦略と販売チャネル</a:t>
            </a:r>
          </a:p>
        </p:txBody>
      </p:sp>
      <p:sp>
        <p:nvSpPr>
          <p:cNvPr id="37" name="TextBox 36"/>
          <p:cNvSpPr txBox="1"/>
          <p:nvPr/>
        </p:nvSpPr>
        <p:spPr>
          <a:xfrm>
            <a:off x="11010900" y="2209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p.32</a:t>
            </a:r>
          </a:p>
        </p:txBody>
      </p:sp>
      <p:sp>
        <p:nvSpPr>
          <p:cNvPr id="38" name="Rectangle 37"/>
          <p:cNvSpPr/>
          <p:nvPr/>
        </p:nvSpPr>
        <p:spPr>
          <a:xfrm>
            <a:off x="6210300" y="3724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8400" y="2971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09</a:t>
            </a:r>
          </a:p>
        </p:txBody>
      </p:sp>
      <p:sp>
        <p:nvSpPr>
          <p:cNvPr id="40" name="TextBox 39"/>
          <p:cNvSpPr txBox="1"/>
          <p:nvPr/>
        </p:nvSpPr>
        <p:spPr>
          <a:xfrm>
            <a:off x="6819900" y="2971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パートナーエコシステム</a:t>
            </a:r>
          </a:p>
        </p:txBody>
      </p:sp>
      <p:sp>
        <p:nvSpPr>
          <p:cNvPr id="41" name="TextBox 40"/>
          <p:cNvSpPr txBox="1"/>
          <p:nvPr/>
        </p:nvSpPr>
        <p:spPr>
          <a:xfrm>
            <a:off x="11010900" y="2971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p.37</a:t>
            </a:r>
          </a:p>
        </p:txBody>
      </p:sp>
      <p:sp>
        <p:nvSpPr>
          <p:cNvPr id="42" name="Rectangle 41"/>
          <p:cNvSpPr/>
          <p:nvPr/>
        </p:nvSpPr>
        <p:spPr>
          <a:xfrm>
            <a:off x="6210300" y="4486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8400" y="3733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10</a:t>
            </a:r>
          </a:p>
        </p:txBody>
      </p:sp>
      <p:sp>
        <p:nvSpPr>
          <p:cNvPr id="44" name="TextBox 43"/>
          <p:cNvSpPr txBox="1"/>
          <p:nvPr/>
        </p:nvSpPr>
        <p:spPr>
          <a:xfrm>
            <a:off x="6819900" y="3733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財務計画・資金調達計画</a:t>
            </a:r>
          </a:p>
        </p:txBody>
      </p:sp>
      <p:sp>
        <p:nvSpPr>
          <p:cNvPr id="45" name="TextBox 44"/>
          <p:cNvSpPr txBox="1"/>
          <p:nvPr/>
        </p:nvSpPr>
        <p:spPr>
          <a:xfrm>
            <a:off x="11010900" y="3733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p.42</a:t>
            </a:r>
          </a:p>
        </p:txBody>
      </p:sp>
      <p:sp>
        <p:nvSpPr>
          <p:cNvPr id="46" name="Rectangle 45"/>
          <p:cNvSpPr/>
          <p:nvPr/>
        </p:nvSpPr>
        <p:spPr>
          <a:xfrm>
            <a:off x="6210300" y="5248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8400" y="4495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11</a:t>
            </a:r>
          </a:p>
        </p:txBody>
      </p:sp>
      <p:sp>
        <p:nvSpPr>
          <p:cNvPr id="48" name="TextBox 47"/>
          <p:cNvSpPr txBox="1"/>
          <p:nvPr/>
        </p:nvSpPr>
        <p:spPr>
          <a:xfrm>
            <a:off x="6819900" y="4495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リスクと対策</a:t>
            </a:r>
          </a:p>
        </p:txBody>
      </p:sp>
      <p:sp>
        <p:nvSpPr>
          <p:cNvPr id="49" name="TextBox 48"/>
          <p:cNvSpPr txBox="1"/>
          <p:nvPr/>
        </p:nvSpPr>
        <p:spPr>
          <a:xfrm>
            <a:off x="11010900" y="4495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p.48</a:t>
            </a:r>
          </a:p>
        </p:txBody>
      </p:sp>
      <p:sp>
        <p:nvSpPr>
          <p:cNvPr id="50" name="Rectangle 49"/>
          <p:cNvSpPr/>
          <p:nvPr/>
        </p:nvSpPr>
        <p:spPr>
          <a:xfrm>
            <a:off x="6210300" y="6010275"/>
            <a:ext cx="5295900" cy="9525"/>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5257800"/>
            <a:ext cx="533400" cy="762000"/>
          </a:xfrm>
          <a:prstGeom prst="rect">
            <a:avLst/>
          </a:prstGeom>
          <a:noFill/>
        </p:spPr>
        <p:txBody>
          <a:bodyPr wrap="none">
            <a:spAutoFit/>
          </a:bodyPr>
          <a:lstStyle/>
          <a:p>
            <a:pPr algn="l"/>
            <a:r>
              <a:rPr sz="1650" b="1">
                <a:solidFill>
                  <a:srgbClr val="1565C0"/>
                </a:solidFill>
                <a:latin typeface="Noto Sans JP"/>
                <a:ea typeface="Noto Sans JP"/>
                <a:cs typeface="Noto Sans JP"/>
              </a:rPr>
              <a:t>12</a:t>
            </a:r>
          </a:p>
        </p:txBody>
      </p:sp>
      <p:sp>
        <p:nvSpPr>
          <p:cNvPr id="52" name="TextBox 51"/>
          <p:cNvSpPr txBox="1"/>
          <p:nvPr/>
        </p:nvSpPr>
        <p:spPr>
          <a:xfrm>
            <a:off x="6819900" y="5257800"/>
            <a:ext cx="4191000" cy="762000"/>
          </a:xfrm>
          <a:prstGeom prst="rect">
            <a:avLst/>
          </a:prstGeom>
          <a:noFill/>
        </p:spPr>
        <p:txBody>
          <a:bodyPr wrap="square">
            <a:spAutoFit/>
          </a:bodyPr>
          <a:lstStyle/>
          <a:p>
            <a:pPr algn="l"/>
            <a:r>
              <a:rPr sz="1275" b="0">
                <a:solidFill>
                  <a:srgbClr val="0D1B2A"/>
                </a:solidFill>
                <a:latin typeface="Noto Sans JP"/>
                <a:ea typeface="Noto Sans JP"/>
                <a:cs typeface="Noto Sans JP"/>
              </a:rPr>
              <a:t>アクションプランと次のステップ</a:t>
            </a:r>
          </a:p>
        </p:txBody>
      </p:sp>
      <p:sp>
        <p:nvSpPr>
          <p:cNvPr id="53" name="TextBox 52"/>
          <p:cNvSpPr txBox="1"/>
          <p:nvPr/>
        </p:nvSpPr>
        <p:spPr>
          <a:xfrm>
            <a:off x="11010900" y="5257800"/>
            <a:ext cx="495300" cy="762000"/>
          </a:xfrm>
          <a:prstGeom prst="rect">
            <a:avLst/>
          </a:prstGeom>
          <a:noFill/>
        </p:spPr>
        <p:txBody>
          <a:bodyPr wrap="square">
            <a:spAutoFit/>
          </a:bodyPr>
          <a:lstStyle/>
          <a:p>
            <a:pPr algn="r"/>
            <a:r>
              <a:rPr sz="975" b="0">
                <a:solidFill>
                  <a:srgbClr val="4A5568"/>
                </a:solidFill>
                <a:latin typeface="Noto Sans JP"/>
                <a:ea typeface="Noto Sans JP"/>
                <a:cs typeface="Noto Sans JP"/>
              </a:rPr>
              <a:t>p.52</a:t>
            </a:r>
          </a:p>
        </p:txBody>
      </p:sp>
      <p:sp>
        <p:nvSpPr>
          <p:cNvPr id="54" name="Rectangle 53"/>
          <p:cNvSpPr/>
          <p:nvPr/>
        </p:nvSpPr>
        <p:spPr>
          <a:xfrm>
            <a:off x="6057900" y="1447800"/>
            <a:ext cx="9525"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2026年第2四半期　経営企画室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11 / 98</a:t>
            </a:r>
          </a:p>
        </p:txBody>
      </p:sp>
      <p:sp>
        <p:nvSpPr>
          <p:cNvPr id="4" name="Rectangle 3"/>
          <p:cNvSpPr/>
          <p:nvPr/>
        </p:nvSpPr>
        <p:spPr>
          <a:xfrm>
            <a:off x="685800" y="533400"/>
            <a:ext cx="2533650" cy="55626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552700"/>
            <a:ext cx="2533650" cy="304800"/>
          </a:xfrm>
          <a:prstGeom prst="rect">
            <a:avLst/>
          </a:prstGeom>
          <a:noFill/>
        </p:spPr>
        <p:txBody>
          <a:bodyPr wrap="none">
            <a:spAutoFit/>
          </a:bodyPr>
          <a:lstStyle/>
          <a:p>
            <a:pPr algn="ctr"/>
            <a:r>
              <a:rPr sz="1650" b="1">
                <a:solidFill>
                  <a:srgbClr val="F0F4F9"/>
                </a:solidFill>
                <a:latin typeface="Noto Sans JP"/>
                <a:ea typeface="Noto Sans JP"/>
                <a:cs typeface="Noto Sans JP"/>
              </a:rPr>
              <a:t>I</a:t>
            </a:r>
          </a:p>
        </p:txBody>
      </p:sp>
      <p:sp>
        <p:nvSpPr>
          <p:cNvPr id="6" name="TextBox 5"/>
          <p:cNvSpPr txBox="1"/>
          <p:nvPr/>
        </p:nvSpPr>
        <p:spPr>
          <a:xfrm>
            <a:off x="685800" y="2857500"/>
            <a:ext cx="2533650" cy="304800"/>
          </a:xfrm>
          <a:prstGeom prst="rect">
            <a:avLst/>
          </a:prstGeom>
          <a:noFill/>
        </p:spPr>
        <p:txBody>
          <a:bodyPr wrap="none">
            <a:spAutoFit/>
          </a:bodyPr>
          <a:lstStyle/>
          <a:p>
            <a:pPr algn="ctr"/>
            <a:r>
              <a:rPr sz="1650" b="1">
                <a:solidFill>
                  <a:srgbClr val="F0F4F9"/>
                </a:solidFill>
                <a:latin typeface="Noto Sans JP"/>
                <a:ea typeface="Noto Sans JP"/>
                <a:cs typeface="Noto Sans JP"/>
              </a:rPr>
              <a:t>N</a:t>
            </a:r>
          </a:p>
        </p:txBody>
      </p:sp>
      <p:sp>
        <p:nvSpPr>
          <p:cNvPr id="7" name="TextBox 6"/>
          <p:cNvSpPr txBox="1"/>
          <p:nvPr/>
        </p:nvSpPr>
        <p:spPr>
          <a:xfrm>
            <a:off x="685800" y="3162300"/>
            <a:ext cx="2533650" cy="304800"/>
          </a:xfrm>
          <a:prstGeom prst="rect">
            <a:avLst/>
          </a:prstGeom>
          <a:noFill/>
        </p:spPr>
        <p:txBody>
          <a:bodyPr wrap="none">
            <a:spAutoFit/>
          </a:bodyPr>
          <a:lstStyle/>
          <a:p>
            <a:pPr algn="ctr"/>
            <a:r>
              <a:rPr sz="1650" b="1">
                <a:solidFill>
                  <a:srgbClr val="F0F4F9"/>
                </a:solidFill>
                <a:latin typeface="Noto Sans JP"/>
                <a:ea typeface="Noto Sans JP"/>
                <a:cs typeface="Noto Sans JP"/>
              </a:rPr>
              <a:t>D</a:t>
            </a:r>
          </a:p>
        </p:txBody>
      </p:sp>
      <p:sp>
        <p:nvSpPr>
          <p:cNvPr id="8" name="TextBox 7"/>
          <p:cNvSpPr txBox="1"/>
          <p:nvPr/>
        </p:nvSpPr>
        <p:spPr>
          <a:xfrm>
            <a:off x="685800" y="3467100"/>
            <a:ext cx="2533650" cy="304800"/>
          </a:xfrm>
          <a:prstGeom prst="rect">
            <a:avLst/>
          </a:prstGeom>
          <a:noFill/>
        </p:spPr>
        <p:txBody>
          <a:bodyPr wrap="none">
            <a:spAutoFit/>
          </a:bodyPr>
          <a:lstStyle/>
          <a:p>
            <a:pPr algn="ctr"/>
            <a:r>
              <a:rPr sz="1650" b="1">
                <a:solidFill>
                  <a:srgbClr val="F0F4F9"/>
                </a:solidFill>
                <a:latin typeface="Noto Sans JP"/>
                <a:ea typeface="Noto Sans JP"/>
                <a:cs typeface="Noto Sans JP"/>
              </a:rPr>
              <a:t>E</a:t>
            </a:r>
          </a:p>
        </p:txBody>
      </p:sp>
      <p:sp>
        <p:nvSpPr>
          <p:cNvPr id="9" name="TextBox 8"/>
          <p:cNvSpPr txBox="1"/>
          <p:nvPr/>
        </p:nvSpPr>
        <p:spPr>
          <a:xfrm>
            <a:off x="685800" y="3771900"/>
            <a:ext cx="2533650" cy="304800"/>
          </a:xfrm>
          <a:prstGeom prst="rect">
            <a:avLst/>
          </a:prstGeom>
          <a:noFill/>
        </p:spPr>
        <p:txBody>
          <a:bodyPr wrap="none">
            <a:spAutoFit/>
          </a:bodyPr>
          <a:lstStyle/>
          <a:p>
            <a:pPr algn="ctr"/>
            <a:r>
              <a:rPr sz="1650" b="1">
                <a:solidFill>
                  <a:srgbClr val="F0F4F9"/>
                </a:solidFill>
                <a:latin typeface="Noto Sans JP"/>
                <a:ea typeface="Noto Sans JP"/>
                <a:cs typeface="Noto Sans JP"/>
              </a:rPr>
              <a:t>X</a:t>
            </a:r>
          </a:p>
        </p:txBody>
      </p:sp>
      <p:sp>
        <p:nvSpPr>
          <p:cNvPr id="10" name="TextBox 9"/>
          <p:cNvSpPr txBox="1"/>
          <p:nvPr/>
        </p:nvSpPr>
        <p:spPr>
          <a:xfrm>
            <a:off x="3448050" y="685800"/>
            <a:ext cx="8058150" cy="381000"/>
          </a:xfrm>
          <a:prstGeom prst="rect">
            <a:avLst/>
          </a:prstGeom>
          <a:noFill/>
        </p:spPr>
        <p:txBody>
          <a:bodyPr wrap="square">
            <a:spAutoFit/>
          </a:bodyPr>
          <a:lstStyle/>
          <a:p>
            <a:pPr algn="l"/>
            <a:r>
              <a:rPr sz="1650" b="1">
                <a:solidFill>
                  <a:srgbClr val="0D1B2A"/>
                </a:solidFill>
                <a:latin typeface="Noto Sans JP"/>
                <a:ea typeface="Noto Sans JP"/>
                <a:cs typeface="Noto Sans JP"/>
              </a:rPr>
              <a:t>戦略提案書 — 構成概要</a:t>
            </a:r>
          </a:p>
        </p:txBody>
      </p:sp>
      <p:sp>
        <p:nvSpPr>
          <p:cNvPr id="11" name="Rectangle 10"/>
          <p:cNvSpPr/>
          <p:nvPr/>
        </p:nvSpPr>
        <p:spPr>
          <a:xfrm>
            <a:off x="3448050" y="1514475"/>
            <a:ext cx="381000" cy="381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8050" y="1514475"/>
            <a:ext cx="381000" cy="381000"/>
          </a:xfrm>
          <a:prstGeom prst="rect">
            <a:avLst/>
          </a:prstGeom>
          <a:noFill/>
        </p:spPr>
        <p:txBody>
          <a:bodyPr wrap="square">
            <a:spAutoFit/>
          </a:bodyPr>
          <a:lstStyle/>
          <a:p>
            <a:pPr algn="ctr"/>
            <a:r>
              <a:rPr sz="1650" b="1">
                <a:solidFill>
                  <a:srgbClr val="F0F4F9"/>
                </a:solidFill>
                <a:latin typeface="Noto Sans JP"/>
                <a:ea typeface="Noto Sans JP"/>
                <a:cs typeface="Noto Sans JP"/>
              </a:rPr>
              <a:t>1</a:t>
            </a:r>
          </a:p>
        </p:txBody>
      </p:sp>
      <p:sp>
        <p:nvSpPr>
          <p:cNvPr id="13" name="TextBox 12"/>
          <p:cNvSpPr txBox="1"/>
          <p:nvPr/>
        </p:nvSpPr>
        <p:spPr>
          <a:xfrm>
            <a:off x="4019550" y="1219200"/>
            <a:ext cx="7486650" cy="971550"/>
          </a:xfrm>
          <a:prstGeom prst="rect">
            <a:avLst/>
          </a:prstGeom>
          <a:noFill/>
        </p:spPr>
        <p:txBody>
          <a:bodyPr wrap="square">
            <a:spAutoFit/>
          </a:bodyPr>
          <a:lstStyle/>
          <a:p>
            <a:pPr algn="l"/>
            <a:r>
              <a:rPr sz="1275" b="0">
                <a:solidFill>
                  <a:srgbClr val="0D1B2A"/>
                </a:solidFill>
                <a:latin typeface="Noto Sans JP"/>
                <a:ea typeface="Noto Sans JP"/>
                <a:cs typeface="Noto Sans JP"/>
              </a:rPr>
              <a:t>現状課題の整理と優先度評価</a:t>
            </a:r>
          </a:p>
        </p:txBody>
      </p:sp>
      <p:sp>
        <p:nvSpPr>
          <p:cNvPr id="14" name="Rectangle 13"/>
          <p:cNvSpPr/>
          <p:nvPr/>
        </p:nvSpPr>
        <p:spPr>
          <a:xfrm>
            <a:off x="3448050" y="2486025"/>
            <a:ext cx="381000" cy="381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8050" y="2486025"/>
            <a:ext cx="381000" cy="381000"/>
          </a:xfrm>
          <a:prstGeom prst="rect">
            <a:avLst/>
          </a:prstGeom>
          <a:noFill/>
        </p:spPr>
        <p:txBody>
          <a:bodyPr wrap="square">
            <a:spAutoFit/>
          </a:bodyPr>
          <a:lstStyle/>
          <a:p>
            <a:pPr algn="ctr"/>
            <a:r>
              <a:rPr sz="1650" b="1">
                <a:solidFill>
                  <a:srgbClr val="F0F4F9"/>
                </a:solidFill>
                <a:latin typeface="Noto Sans JP"/>
                <a:ea typeface="Noto Sans JP"/>
                <a:cs typeface="Noto Sans JP"/>
              </a:rPr>
              <a:t>2</a:t>
            </a:r>
          </a:p>
        </p:txBody>
      </p:sp>
      <p:sp>
        <p:nvSpPr>
          <p:cNvPr id="16" name="TextBox 15"/>
          <p:cNvSpPr txBox="1"/>
          <p:nvPr/>
        </p:nvSpPr>
        <p:spPr>
          <a:xfrm>
            <a:off x="4019550" y="2190750"/>
            <a:ext cx="7486650" cy="971550"/>
          </a:xfrm>
          <a:prstGeom prst="rect">
            <a:avLst/>
          </a:prstGeom>
          <a:noFill/>
        </p:spPr>
        <p:txBody>
          <a:bodyPr wrap="square">
            <a:spAutoFit/>
          </a:bodyPr>
          <a:lstStyle/>
          <a:p>
            <a:pPr algn="l"/>
            <a:r>
              <a:rPr sz="1275" b="0">
                <a:solidFill>
                  <a:srgbClr val="0D1B2A"/>
                </a:solidFill>
                <a:latin typeface="Noto Sans JP"/>
                <a:ea typeface="Noto Sans JP"/>
                <a:cs typeface="Noto Sans JP"/>
              </a:rPr>
              <a:t>デジタルトランスフォーメーション戦略</a:t>
            </a:r>
          </a:p>
        </p:txBody>
      </p:sp>
      <p:sp>
        <p:nvSpPr>
          <p:cNvPr id="17" name="Rectangle 16"/>
          <p:cNvSpPr/>
          <p:nvPr/>
        </p:nvSpPr>
        <p:spPr>
          <a:xfrm>
            <a:off x="3448050" y="3457575"/>
            <a:ext cx="381000" cy="381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48050" y="3457575"/>
            <a:ext cx="381000" cy="381000"/>
          </a:xfrm>
          <a:prstGeom prst="rect">
            <a:avLst/>
          </a:prstGeom>
          <a:noFill/>
        </p:spPr>
        <p:txBody>
          <a:bodyPr wrap="square">
            <a:spAutoFit/>
          </a:bodyPr>
          <a:lstStyle/>
          <a:p>
            <a:pPr algn="ctr"/>
            <a:r>
              <a:rPr sz="1650" b="1">
                <a:solidFill>
                  <a:srgbClr val="F0F4F9"/>
                </a:solidFill>
                <a:latin typeface="Noto Sans JP"/>
                <a:ea typeface="Noto Sans JP"/>
                <a:cs typeface="Noto Sans JP"/>
              </a:rPr>
              <a:t>3</a:t>
            </a:r>
          </a:p>
        </p:txBody>
      </p:sp>
      <p:sp>
        <p:nvSpPr>
          <p:cNvPr id="19" name="TextBox 18"/>
          <p:cNvSpPr txBox="1"/>
          <p:nvPr/>
        </p:nvSpPr>
        <p:spPr>
          <a:xfrm>
            <a:off x="4019550" y="3162300"/>
            <a:ext cx="7486650" cy="971550"/>
          </a:xfrm>
          <a:prstGeom prst="rect">
            <a:avLst/>
          </a:prstGeom>
          <a:noFill/>
        </p:spPr>
        <p:txBody>
          <a:bodyPr wrap="square">
            <a:spAutoFit/>
          </a:bodyPr>
          <a:lstStyle/>
          <a:p>
            <a:pPr algn="l"/>
            <a:r>
              <a:rPr sz="1275" b="0">
                <a:solidFill>
                  <a:srgbClr val="0D1B2A"/>
                </a:solidFill>
                <a:latin typeface="Noto Sans JP"/>
                <a:ea typeface="Noto Sans JP"/>
                <a:cs typeface="Noto Sans JP"/>
              </a:rPr>
              <a:t>組織・人材変革プラン</a:t>
            </a:r>
          </a:p>
        </p:txBody>
      </p:sp>
      <p:sp>
        <p:nvSpPr>
          <p:cNvPr id="20" name="Rectangle 19"/>
          <p:cNvSpPr/>
          <p:nvPr/>
        </p:nvSpPr>
        <p:spPr>
          <a:xfrm>
            <a:off x="3448050" y="4429125"/>
            <a:ext cx="381000" cy="381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48050" y="4429125"/>
            <a:ext cx="381000" cy="381000"/>
          </a:xfrm>
          <a:prstGeom prst="rect">
            <a:avLst/>
          </a:prstGeom>
          <a:noFill/>
        </p:spPr>
        <p:txBody>
          <a:bodyPr wrap="square">
            <a:spAutoFit/>
          </a:bodyPr>
          <a:lstStyle/>
          <a:p>
            <a:pPr algn="ctr"/>
            <a:r>
              <a:rPr sz="1650" b="1">
                <a:solidFill>
                  <a:srgbClr val="F0F4F9"/>
                </a:solidFill>
                <a:latin typeface="Noto Sans JP"/>
                <a:ea typeface="Noto Sans JP"/>
                <a:cs typeface="Noto Sans JP"/>
              </a:rPr>
              <a:t>4</a:t>
            </a:r>
          </a:p>
        </p:txBody>
      </p:sp>
      <p:sp>
        <p:nvSpPr>
          <p:cNvPr id="22" name="TextBox 21"/>
          <p:cNvSpPr txBox="1"/>
          <p:nvPr/>
        </p:nvSpPr>
        <p:spPr>
          <a:xfrm>
            <a:off x="4019550" y="4133850"/>
            <a:ext cx="7486650" cy="971550"/>
          </a:xfrm>
          <a:prstGeom prst="rect">
            <a:avLst/>
          </a:prstGeom>
          <a:noFill/>
        </p:spPr>
        <p:txBody>
          <a:bodyPr wrap="square">
            <a:spAutoFit/>
          </a:bodyPr>
          <a:lstStyle/>
          <a:p>
            <a:pPr algn="l"/>
            <a:r>
              <a:rPr sz="1275" b="0">
                <a:solidFill>
                  <a:srgbClr val="0D1B2A"/>
                </a:solidFill>
                <a:latin typeface="Noto Sans JP"/>
                <a:ea typeface="Noto Sans JP"/>
                <a:cs typeface="Noto Sans JP"/>
              </a:rPr>
              <a:t>テクノロジー投資ポートフォリオ</a:t>
            </a:r>
          </a:p>
        </p:txBody>
      </p:sp>
      <p:sp>
        <p:nvSpPr>
          <p:cNvPr id="23" name="Rectangle 22"/>
          <p:cNvSpPr/>
          <p:nvPr/>
        </p:nvSpPr>
        <p:spPr>
          <a:xfrm>
            <a:off x="3448050" y="5400675"/>
            <a:ext cx="381000" cy="381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48050" y="5400675"/>
            <a:ext cx="381000" cy="381000"/>
          </a:xfrm>
          <a:prstGeom prst="rect">
            <a:avLst/>
          </a:prstGeom>
          <a:noFill/>
        </p:spPr>
        <p:txBody>
          <a:bodyPr wrap="square">
            <a:spAutoFit/>
          </a:bodyPr>
          <a:lstStyle/>
          <a:p>
            <a:pPr algn="ctr"/>
            <a:r>
              <a:rPr sz="1650" b="1">
                <a:solidFill>
                  <a:srgbClr val="F0F4F9"/>
                </a:solidFill>
                <a:latin typeface="Noto Sans JP"/>
                <a:ea typeface="Noto Sans JP"/>
                <a:cs typeface="Noto Sans JP"/>
              </a:rPr>
              <a:t>5</a:t>
            </a:r>
          </a:p>
        </p:txBody>
      </p:sp>
      <p:sp>
        <p:nvSpPr>
          <p:cNvPr id="25" name="TextBox 24"/>
          <p:cNvSpPr txBox="1"/>
          <p:nvPr/>
        </p:nvSpPr>
        <p:spPr>
          <a:xfrm>
            <a:off x="4019550" y="5105400"/>
            <a:ext cx="7486650" cy="971550"/>
          </a:xfrm>
          <a:prstGeom prst="rect">
            <a:avLst/>
          </a:prstGeom>
          <a:noFill/>
        </p:spPr>
        <p:txBody>
          <a:bodyPr wrap="square">
            <a:spAutoFit/>
          </a:bodyPr>
          <a:lstStyle/>
          <a:p>
            <a:pPr algn="l"/>
            <a:r>
              <a:rPr sz="1275" b="0">
                <a:solidFill>
                  <a:srgbClr val="0D1B2A"/>
                </a:solidFill>
                <a:latin typeface="Noto Sans JP"/>
                <a:ea typeface="Noto Sans JP"/>
                <a:cs typeface="Noto Sans JP"/>
              </a:rPr>
              <a:t>KPIフレームワークとモニタリング体制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 社内年次報告書 2026年度版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12 / 98</a:t>
            </a:r>
          </a:p>
        </p:txBody>
      </p:sp>
      <p:sp>
        <p:nvSpPr>
          <p:cNvPr id="4" name="TextBox 3"/>
          <p:cNvSpPr txBox="1"/>
          <p:nvPr/>
        </p:nvSpPr>
        <p:spPr>
          <a:xfrm>
            <a:off x="685800" y="533400"/>
            <a:ext cx="10820400" cy="228600"/>
          </a:xfrm>
          <a:prstGeom prst="rect">
            <a:avLst/>
          </a:prstGeom>
          <a:noFill/>
        </p:spPr>
        <p:txBody>
          <a:bodyPr wrap="square">
            <a:spAutoFit/>
          </a:bodyPr>
          <a:lstStyle/>
          <a:p>
            <a:pPr algn="l"/>
            <a:r>
              <a:rPr sz="975" b="0">
                <a:solidFill>
                  <a:srgbClr val="1565C0"/>
                </a:solidFill>
                <a:latin typeface="Noto Sans JP"/>
                <a:ea typeface="Noto Sans JP"/>
                <a:cs typeface="Noto Sans JP"/>
              </a:rPr>
              <a:t>CONTENTS</a:t>
            </a:r>
          </a:p>
        </p:txBody>
      </p:sp>
      <p:sp>
        <p:nvSpPr>
          <p:cNvPr id="5" name="TextBox 4"/>
          <p:cNvSpPr txBox="1"/>
          <p:nvPr/>
        </p:nvSpPr>
        <p:spPr>
          <a:xfrm>
            <a:off x="685800" y="762000"/>
            <a:ext cx="10820400" cy="457200"/>
          </a:xfrm>
          <a:prstGeom prst="rect">
            <a:avLst/>
          </a:prstGeom>
          <a:noFill/>
        </p:spPr>
        <p:txBody>
          <a:bodyPr wrap="square">
            <a:spAutoFit/>
          </a:bodyPr>
          <a:lstStyle/>
          <a:p>
            <a:pPr algn="l"/>
            <a:r>
              <a:rPr sz="2850" b="1">
                <a:solidFill>
                  <a:srgbClr val="0D1B2A"/>
                </a:solidFill>
                <a:latin typeface="Noto Sans JP"/>
                <a:ea typeface="Noto Sans JP"/>
                <a:cs typeface="Noto Sans JP"/>
              </a:rPr>
              <a:t>報告書の構成</a:t>
            </a:r>
          </a:p>
        </p:txBody>
      </p:sp>
      <p:sp>
        <p:nvSpPr>
          <p:cNvPr id="6" name="Rectangle 5"/>
          <p:cNvSpPr/>
          <p:nvPr/>
        </p:nvSpPr>
        <p:spPr>
          <a:xfrm>
            <a:off x="685800" y="1447800"/>
            <a:ext cx="28575" cy="13716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447800"/>
            <a:ext cx="1905000" cy="266700"/>
          </a:xfrm>
          <a:prstGeom prst="rect">
            <a:avLst/>
          </a:prstGeom>
          <a:noFill/>
        </p:spPr>
        <p:txBody>
          <a:bodyPr wrap="square">
            <a:spAutoFit/>
          </a:bodyPr>
          <a:lstStyle/>
          <a:p>
            <a:pPr algn="l"/>
            <a:r>
              <a:rPr sz="1650" b="1">
                <a:solidFill>
                  <a:srgbClr val="1565C0"/>
                </a:solidFill>
                <a:latin typeface="Noto Sans JP"/>
                <a:ea typeface="Noto Sans JP"/>
                <a:cs typeface="Noto Sans JP"/>
              </a:rPr>
              <a:t>COMPANY</a:t>
            </a:r>
          </a:p>
        </p:txBody>
      </p:sp>
      <p:sp>
        <p:nvSpPr>
          <p:cNvPr id="8" name="TextBox 7"/>
          <p:cNvSpPr txBox="1"/>
          <p:nvPr/>
        </p:nvSpPr>
        <p:spPr>
          <a:xfrm>
            <a:off x="2857500" y="1485900"/>
            <a:ext cx="2286000" cy="209550"/>
          </a:xfrm>
          <a:prstGeom prst="rect">
            <a:avLst/>
          </a:prstGeom>
          <a:noFill/>
        </p:spPr>
        <p:txBody>
          <a:bodyPr wrap="square">
            <a:spAutoFit/>
          </a:bodyPr>
          <a:lstStyle/>
          <a:p>
            <a:pPr algn="l"/>
            <a:r>
              <a:rPr sz="975" b="0">
                <a:solidFill>
                  <a:srgbClr val="4A5568"/>
                </a:solidFill>
                <a:latin typeface="Noto Sans JP"/>
                <a:ea typeface="Noto Sans JP"/>
                <a:cs typeface="Noto Sans JP"/>
              </a:rPr>
              <a:t>会社・組織概要</a:t>
            </a:r>
          </a:p>
        </p:txBody>
      </p:sp>
      <p:sp>
        <p:nvSpPr>
          <p:cNvPr id="9" name="TextBox 8"/>
          <p:cNvSpPr txBox="1"/>
          <p:nvPr/>
        </p:nvSpPr>
        <p:spPr>
          <a:xfrm>
            <a:off x="952500" y="1752600"/>
            <a:ext cx="10515600" cy="1066800"/>
          </a:xfrm>
          <a:prstGeom prst="rect">
            <a:avLst/>
          </a:prstGeom>
          <a:noFill/>
        </p:spPr>
        <p:txBody>
          <a:bodyPr wrap="square">
            <a:spAutoFit/>
          </a:bodyPr>
          <a:lstStyle/>
          <a:p>
            <a:pPr algn="l"/>
            <a:r>
              <a:rPr sz="1275" b="0">
                <a:solidFill>
                  <a:srgbClr val="0D1B2A"/>
                </a:solidFill>
                <a:latin typeface="Noto Sans JP"/>
                <a:ea typeface="Noto Sans JP"/>
                <a:cs typeface="Noto Sans JP"/>
              </a:rPr>
              <a:t>  企業プロフィールと沿革
  グループ組織図
  コーポレートガバナンス</a:t>
            </a:r>
          </a:p>
        </p:txBody>
      </p:sp>
      <p:sp>
        <p:nvSpPr>
          <p:cNvPr id="10" name="Rectangle 9"/>
          <p:cNvSpPr/>
          <p:nvPr/>
        </p:nvSpPr>
        <p:spPr>
          <a:xfrm>
            <a:off x="685800" y="2971800"/>
            <a:ext cx="28575" cy="13716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2971800"/>
            <a:ext cx="1905000" cy="266700"/>
          </a:xfrm>
          <a:prstGeom prst="rect">
            <a:avLst/>
          </a:prstGeom>
          <a:noFill/>
        </p:spPr>
        <p:txBody>
          <a:bodyPr wrap="square">
            <a:spAutoFit/>
          </a:bodyPr>
          <a:lstStyle/>
          <a:p>
            <a:pPr algn="l"/>
            <a:r>
              <a:rPr sz="1650" b="1">
                <a:solidFill>
                  <a:srgbClr val="1565C0"/>
                </a:solidFill>
                <a:latin typeface="Noto Sans JP"/>
                <a:ea typeface="Noto Sans JP"/>
                <a:cs typeface="Noto Sans JP"/>
              </a:rPr>
              <a:t>BUSINESS</a:t>
            </a:r>
          </a:p>
        </p:txBody>
      </p:sp>
      <p:sp>
        <p:nvSpPr>
          <p:cNvPr id="12" name="TextBox 11"/>
          <p:cNvSpPr txBox="1"/>
          <p:nvPr/>
        </p:nvSpPr>
        <p:spPr>
          <a:xfrm>
            <a:off x="2857500" y="3009900"/>
            <a:ext cx="2286000" cy="209550"/>
          </a:xfrm>
          <a:prstGeom prst="rect">
            <a:avLst/>
          </a:prstGeom>
          <a:noFill/>
        </p:spPr>
        <p:txBody>
          <a:bodyPr wrap="square">
            <a:spAutoFit/>
          </a:bodyPr>
          <a:lstStyle/>
          <a:p>
            <a:pPr algn="l"/>
            <a:r>
              <a:rPr sz="975" b="0">
                <a:solidFill>
                  <a:srgbClr val="4A5568"/>
                </a:solidFill>
                <a:latin typeface="Noto Sans JP"/>
                <a:ea typeface="Noto Sans JP"/>
                <a:cs typeface="Noto Sans JP"/>
              </a:rPr>
              <a:t>事業・市場分析</a:t>
            </a:r>
          </a:p>
        </p:txBody>
      </p:sp>
      <p:sp>
        <p:nvSpPr>
          <p:cNvPr id="13" name="TextBox 12"/>
          <p:cNvSpPr txBox="1"/>
          <p:nvPr/>
        </p:nvSpPr>
        <p:spPr>
          <a:xfrm>
            <a:off x="952500" y="3276600"/>
            <a:ext cx="10515600" cy="1066800"/>
          </a:xfrm>
          <a:prstGeom prst="rect">
            <a:avLst/>
          </a:prstGeom>
          <a:noFill/>
        </p:spPr>
        <p:txBody>
          <a:bodyPr wrap="square">
            <a:spAutoFit/>
          </a:bodyPr>
          <a:lstStyle/>
          <a:p>
            <a:pPr algn="l"/>
            <a:r>
              <a:rPr sz="1275" b="0">
                <a:solidFill>
                  <a:srgbClr val="0D1B2A"/>
                </a:solidFill>
                <a:latin typeface="Noto Sans JP"/>
                <a:ea typeface="Noto Sans JP"/>
                <a:cs typeface="Noto Sans JP"/>
              </a:rPr>
              <a:t>  主要事業セグメント別業績
  市場シェアと成長率推移
  競合比較マトリクス</a:t>
            </a:r>
          </a:p>
        </p:txBody>
      </p:sp>
      <p:sp>
        <p:nvSpPr>
          <p:cNvPr id="14" name="Rectangle 13"/>
          <p:cNvSpPr/>
          <p:nvPr/>
        </p:nvSpPr>
        <p:spPr>
          <a:xfrm>
            <a:off x="685800" y="4495800"/>
            <a:ext cx="28575" cy="13716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 y="4495800"/>
            <a:ext cx="1905000" cy="266700"/>
          </a:xfrm>
          <a:prstGeom prst="rect">
            <a:avLst/>
          </a:prstGeom>
          <a:noFill/>
        </p:spPr>
        <p:txBody>
          <a:bodyPr wrap="square">
            <a:spAutoFit/>
          </a:bodyPr>
          <a:lstStyle/>
          <a:p>
            <a:pPr algn="l"/>
            <a:r>
              <a:rPr sz="1650" b="1">
                <a:solidFill>
                  <a:srgbClr val="1565C0"/>
                </a:solidFill>
                <a:latin typeface="Noto Sans JP"/>
                <a:ea typeface="Noto Sans JP"/>
                <a:cs typeface="Noto Sans JP"/>
              </a:rPr>
              <a:t>STRATEGY</a:t>
            </a:r>
          </a:p>
        </p:txBody>
      </p:sp>
      <p:sp>
        <p:nvSpPr>
          <p:cNvPr id="16" name="TextBox 15"/>
          <p:cNvSpPr txBox="1"/>
          <p:nvPr/>
        </p:nvSpPr>
        <p:spPr>
          <a:xfrm>
            <a:off x="2857500" y="4533900"/>
            <a:ext cx="2286000" cy="209550"/>
          </a:xfrm>
          <a:prstGeom prst="rect">
            <a:avLst/>
          </a:prstGeom>
          <a:noFill/>
        </p:spPr>
        <p:txBody>
          <a:bodyPr wrap="square">
            <a:spAutoFit/>
          </a:bodyPr>
          <a:lstStyle/>
          <a:p>
            <a:pPr algn="l"/>
            <a:r>
              <a:rPr sz="975" b="0">
                <a:solidFill>
                  <a:srgbClr val="4A5568"/>
                </a:solidFill>
                <a:latin typeface="Noto Sans JP"/>
                <a:ea typeface="Noto Sans JP"/>
                <a:cs typeface="Noto Sans JP"/>
              </a:rPr>
              <a:t>中期戦略と投資計画</a:t>
            </a:r>
          </a:p>
        </p:txBody>
      </p:sp>
      <p:sp>
        <p:nvSpPr>
          <p:cNvPr id="17" name="TextBox 16"/>
          <p:cNvSpPr txBox="1"/>
          <p:nvPr/>
        </p:nvSpPr>
        <p:spPr>
          <a:xfrm>
            <a:off x="952500" y="4800600"/>
            <a:ext cx="10515600" cy="1066800"/>
          </a:xfrm>
          <a:prstGeom prst="rect">
            <a:avLst/>
          </a:prstGeom>
          <a:noFill/>
        </p:spPr>
        <p:txBody>
          <a:bodyPr wrap="square">
            <a:spAutoFit/>
          </a:bodyPr>
          <a:lstStyle/>
          <a:p>
            <a:pPr algn="l"/>
            <a:r>
              <a:rPr sz="1275" b="0">
                <a:solidFill>
                  <a:srgbClr val="0D1B2A"/>
                </a:solidFill>
                <a:latin typeface="Noto Sans JP"/>
                <a:ea typeface="Noto Sans JP"/>
                <a:cs typeface="Noto Sans JP"/>
              </a:rPr>
              <a:t>  3カ年重点施策
  M&amp;A・アライアンス方針
  ESG・サステナビリティ目標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2026年6月25日　経営戦略部</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13 / 98</a:t>
            </a:r>
          </a:p>
        </p:txBody>
      </p:sp>
      <p:sp>
        <p:nvSpPr>
          <p:cNvPr id="4" name="TextBox 3"/>
          <p:cNvSpPr txBox="1"/>
          <p:nvPr/>
        </p:nvSpPr>
        <p:spPr>
          <a:xfrm>
            <a:off x="685800" y="533400"/>
            <a:ext cx="9296400" cy="685800"/>
          </a:xfrm>
          <a:prstGeom prst="rect">
            <a:avLst/>
          </a:prstGeom>
          <a:noFill/>
        </p:spPr>
        <p:txBody>
          <a:bodyPr wrap="square">
            <a:spAutoFit/>
          </a:bodyPr>
          <a:lstStyle/>
          <a:p>
            <a:pPr algn="l"/>
            <a:r>
              <a:rPr sz="1650" b="0">
                <a:solidFill>
                  <a:srgbClr val="0D1B2A"/>
                </a:solidFill>
                <a:latin typeface="Noto Sans JP"/>
                <a:ea typeface="Noto Sans JP"/>
                <a:cs typeface="Noto Sans JP"/>
              </a:rPr>
              <a:t>デジタル変革推進計画 2026-2028</a:t>
            </a:r>
          </a:p>
        </p:txBody>
      </p:sp>
      <p:sp>
        <p:nvSpPr>
          <p:cNvPr id="5" name="TextBox 4"/>
          <p:cNvSpPr txBox="1"/>
          <p:nvPr/>
        </p:nvSpPr>
        <p:spPr>
          <a:xfrm>
            <a:off x="9982200" y="533400"/>
            <a:ext cx="1524000" cy="685800"/>
          </a:xfrm>
          <a:prstGeom prst="rect">
            <a:avLst/>
          </a:prstGeom>
          <a:noFill/>
        </p:spPr>
        <p:txBody>
          <a:bodyPr wrap="square">
            <a:spAutoFit/>
          </a:bodyPr>
          <a:lstStyle/>
          <a:p>
            <a:pPr algn="r"/>
            <a:r>
              <a:rPr sz="975" b="0">
                <a:solidFill>
                  <a:srgbClr val="1565C0"/>
                </a:solidFill>
                <a:latin typeface="Noto Sans JP"/>
                <a:ea typeface="Noto Sans JP"/>
                <a:cs typeface="Noto Sans JP"/>
              </a:rPr>
              <a:t>Section 2 / 5</a:t>
            </a:r>
          </a:p>
        </p:txBody>
      </p:sp>
      <p:sp>
        <p:nvSpPr>
          <p:cNvPr id="6" name="Rectangle 5"/>
          <p:cNvSpPr/>
          <p:nvPr/>
        </p:nvSpPr>
        <p:spPr>
          <a:xfrm>
            <a:off x="685800" y="1371600"/>
            <a:ext cx="10820400" cy="762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371600"/>
            <a:ext cx="4324350" cy="762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76400"/>
            <a:ext cx="1609725" cy="609600"/>
          </a:xfrm>
          <a:prstGeom prst="rect">
            <a:avLst/>
          </a:prstGeom>
          <a:noFill/>
        </p:spPr>
        <p:txBody>
          <a:bodyPr wrap="square">
            <a:spAutoFit/>
          </a:bodyPr>
          <a:lstStyle/>
          <a:p>
            <a:pPr algn="l"/>
            <a:r>
              <a:rPr sz="750" b="0">
                <a:solidFill>
                  <a:srgbClr val="4A5568"/>
                </a:solidFill>
                <a:latin typeface="Noto Sans JP"/>
                <a:ea typeface="Noto Sans JP"/>
                <a:cs typeface="Noto Sans JP"/>
              </a:rPr>
              <a:t>01 エグゼクティブサマリー</a:t>
            </a:r>
          </a:p>
        </p:txBody>
      </p:sp>
      <p:sp>
        <p:nvSpPr>
          <p:cNvPr id="9" name="TextBox 8"/>
          <p:cNvSpPr txBox="1"/>
          <p:nvPr/>
        </p:nvSpPr>
        <p:spPr>
          <a:xfrm>
            <a:off x="2524125" y="1676400"/>
            <a:ext cx="7134225" cy="685800"/>
          </a:xfrm>
          <a:prstGeom prst="rect">
            <a:avLst/>
          </a:prstGeom>
          <a:noFill/>
        </p:spPr>
        <p:txBody>
          <a:bodyPr wrap="square">
            <a:spAutoFit/>
          </a:bodyPr>
          <a:lstStyle/>
          <a:p>
            <a:pPr algn="ctr"/>
            <a:r>
              <a:rPr sz="4500" b="1">
                <a:solidFill>
                  <a:srgbClr val="1565C0"/>
                </a:solidFill>
                <a:latin typeface="Noto Sans JP"/>
                <a:ea typeface="Noto Sans JP"/>
                <a:cs typeface="Noto Sans JP"/>
              </a:rPr>
              <a:t>02</a:t>
            </a:r>
          </a:p>
        </p:txBody>
      </p:sp>
      <p:sp>
        <p:nvSpPr>
          <p:cNvPr id="10" name="TextBox 9"/>
          <p:cNvSpPr txBox="1"/>
          <p:nvPr/>
        </p:nvSpPr>
        <p:spPr>
          <a:xfrm>
            <a:off x="2524125" y="2514600"/>
            <a:ext cx="7134225" cy="1143000"/>
          </a:xfrm>
          <a:prstGeom prst="rect">
            <a:avLst/>
          </a:prstGeom>
          <a:noFill/>
        </p:spPr>
        <p:txBody>
          <a:bodyPr wrap="square">
            <a:spAutoFit/>
          </a:bodyPr>
          <a:lstStyle/>
          <a:p>
            <a:pPr algn="ctr"/>
            <a:r>
              <a:rPr sz="2850" b="1">
                <a:solidFill>
                  <a:srgbClr val="0D1B2A"/>
                </a:solidFill>
                <a:latin typeface="Noto Sans JP"/>
                <a:ea typeface="Noto Sans JP"/>
                <a:cs typeface="Noto Sans JP"/>
              </a:rPr>
              <a:t>市場環境と競合分析</a:t>
            </a:r>
          </a:p>
        </p:txBody>
      </p:sp>
      <p:sp>
        <p:nvSpPr>
          <p:cNvPr id="11" name="TextBox 10"/>
          <p:cNvSpPr txBox="1"/>
          <p:nvPr/>
        </p:nvSpPr>
        <p:spPr>
          <a:xfrm>
            <a:off x="2524125" y="3810000"/>
            <a:ext cx="7134225" cy="2057400"/>
          </a:xfrm>
          <a:prstGeom prst="rect">
            <a:avLst/>
          </a:prstGeom>
          <a:noFill/>
        </p:spPr>
        <p:txBody>
          <a:bodyPr wrap="square">
            <a:spAutoFit/>
          </a:bodyPr>
          <a:lstStyle/>
          <a:p>
            <a:pPr algn="ctr"/>
            <a:r>
              <a:rPr sz="1275" b="0">
                <a:solidFill>
                  <a:srgbClr val="4A5568"/>
                </a:solidFill>
                <a:latin typeface="Noto Sans JP"/>
                <a:ea typeface="Noto Sans JP"/>
                <a:cs typeface="Noto Sans JP"/>
              </a:rPr>
              <a:t>国内外のデジタル市場動向を整理し、主要競合のポジショニングと自社の優位性を明確化します。</a:t>
            </a:r>
          </a:p>
        </p:txBody>
      </p:sp>
      <p:sp>
        <p:nvSpPr>
          <p:cNvPr id="12" name="TextBox 11"/>
          <p:cNvSpPr txBox="1"/>
          <p:nvPr/>
        </p:nvSpPr>
        <p:spPr>
          <a:xfrm>
            <a:off x="9896475" y="1676400"/>
            <a:ext cx="1609725" cy="609600"/>
          </a:xfrm>
          <a:prstGeom prst="rect">
            <a:avLst/>
          </a:prstGeom>
          <a:noFill/>
        </p:spPr>
        <p:txBody>
          <a:bodyPr wrap="square">
            <a:spAutoFit/>
          </a:bodyPr>
          <a:lstStyle/>
          <a:p>
            <a:pPr algn="r"/>
            <a:r>
              <a:rPr sz="750" b="0">
                <a:solidFill>
                  <a:srgbClr val="4A5568"/>
                </a:solidFill>
                <a:latin typeface="Noto Sans JP"/>
                <a:ea typeface="Noto Sans JP"/>
                <a:cs typeface="Noto Sans JP"/>
              </a:rPr>
              <a:t>03 ソリューション提案</a:t>
            </a:r>
          </a:p>
        </p:txBody>
      </p:sp>
      <p:sp>
        <p:nvSpPr>
          <p:cNvPr id="13" name="TextBox 12"/>
          <p:cNvSpPr txBox="1"/>
          <p:nvPr/>
        </p:nvSpPr>
        <p:spPr>
          <a:xfrm>
            <a:off x="9896475" y="2286000"/>
            <a:ext cx="1609725" cy="609600"/>
          </a:xfrm>
          <a:prstGeom prst="rect">
            <a:avLst/>
          </a:prstGeom>
          <a:noFill/>
        </p:spPr>
        <p:txBody>
          <a:bodyPr wrap="square">
            <a:spAutoFit/>
          </a:bodyPr>
          <a:lstStyle/>
          <a:p>
            <a:pPr algn="r"/>
            <a:r>
              <a:rPr sz="750" b="0">
                <a:solidFill>
                  <a:srgbClr val="4A5568"/>
                </a:solidFill>
                <a:latin typeface="Noto Sans JP"/>
                <a:ea typeface="Noto Sans JP"/>
                <a:cs typeface="Noto Sans JP"/>
              </a:rPr>
              <a:t>04 実行計画</a:t>
            </a:r>
          </a:p>
        </p:txBody>
      </p:sp>
      <p:sp>
        <p:nvSpPr>
          <p:cNvPr id="14" name="TextBox 13"/>
          <p:cNvSpPr txBox="1"/>
          <p:nvPr/>
        </p:nvSpPr>
        <p:spPr>
          <a:xfrm>
            <a:off x="9896475" y="2895600"/>
            <a:ext cx="1609725" cy="609600"/>
          </a:xfrm>
          <a:prstGeom prst="rect">
            <a:avLst/>
          </a:prstGeom>
          <a:noFill/>
        </p:spPr>
        <p:txBody>
          <a:bodyPr wrap="square">
            <a:spAutoFit/>
          </a:bodyPr>
          <a:lstStyle/>
          <a:p>
            <a:pPr algn="r"/>
            <a:r>
              <a:rPr sz="750" b="0">
                <a:solidFill>
                  <a:srgbClr val="4A5568"/>
                </a:solidFill>
                <a:latin typeface="Noto Sans JP"/>
                <a:ea typeface="Noto Sans JP"/>
                <a:cs typeface="Noto Sans JP"/>
              </a:rPr>
              <a:t>05 投資回収計画</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C1F26"/>
                </a:solidFill>
                <a:latin typeface="Noto Sans JP"/>
                <a:ea typeface="Noto Sans JP"/>
                <a:cs typeface="Noto Sans JP"/>
              </a:rPr>
              <a:t>📝 本文リスト</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modern-tech　·　6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14 / 98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 ガレージラボ社内調査 2026年Q2</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15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3000" b="1">
                <a:solidFill>
                  <a:srgbClr val="1C1F26"/>
                </a:solidFill>
                <a:latin typeface="Noto Sans JP"/>
                <a:ea typeface="Noto Sans JP"/>
                <a:cs typeface="Noto Sans JP"/>
              </a:rPr>
              <a:t>AIアシスタント導入で業務効率を30%改善できる</a:t>
            </a:r>
          </a:p>
        </p:txBody>
      </p:sp>
      <p:sp>
        <p:nvSpPr>
          <p:cNvPr id="5" name="Rectangle 4"/>
          <p:cNvSpPr/>
          <p:nvPr/>
        </p:nvSpPr>
        <p:spPr>
          <a:xfrm>
            <a:off x="685800" y="2981325"/>
            <a:ext cx="1082040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8200" y="1952625"/>
            <a:ext cx="533400" cy="5334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952625"/>
            <a:ext cx="533400" cy="533400"/>
          </a:xfrm>
          <a:prstGeom prst="rect">
            <a:avLst/>
          </a:prstGeom>
          <a:noFill/>
        </p:spPr>
        <p:txBody>
          <a:bodyPr wrap="square">
            <a:spAutoFit/>
          </a:bodyPr>
          <a:lstStyle/>
          <a:p>
            <a:pPr algn="ctr"/>
            <a:r>
              <a:rPr sz="1950" b="1">
                <a:solidFill>
                  <a:srgbClr val="FFFFFF"/>
                </a:solidFill>
                <a:latin typeface="Noto Sans JP"/>
                <a:ea typeface="Noto Sans JP"/>
                <a:cs typeface="Noto Sans JP"/>
              </a:rPr>
              <a:t>01</a:t>
            </a:r>
          </a:p>
        </p:txBody>
      </p:sp>
      <p:sp>
        <p:nvSpPr>
          <p:cNvPr id="8" name="TextBox 7"/>
          <p:cNvSpPr txBox="1"/>
          <p:nvPr/>
        </p:nvSpPr>
        <p:spPr>
          <a:xfrm>
            <a:off x="1600200" y="1638300"/>
            <a:ext cx="9753600" cy="304800"/>
          </a:xfrm>
          <a:prstGeom prst="rect">
            <a:avLst/>
          </a:prstGeom>
          <a:noFill/>
        </p:spPr>
        <p:txBody>
          <a:bodyPr wrap="square">
            <a:spAutoFit/>
          </a:bodyPr>
          <a:lstStyle/>
          <a:p>
            <a:pPr algn="l"/>
            <a:r>
              <a:rPr sz="1950" b="1">
                <a:solidFill>
                  <a:srgbClr val="1C1F26"/>
                </a:solidFill>
                <a:latin typeface="Noto Sans JP"/>
                <a:ea typeface="Noto Sans JP"/>
                <a:cs typeface="Noto Sans JP"/>
              </a:rPr>
              <a:t>反復タスクの自動化によるコスト削減</a:t>
            </a:r>
          </a:p>
        </p:txBody>
      </p:sp>
      <p:sp>
        <p:nvSpPr>
          <p:cNvPr id="9" name="TextBox 8"/>
          <p:cNvSpPr txBox="1"/>
          <p:nvPr/>
        </p:nvSpPr>
        <p:spPr>
          <a:xfrm>
            <a:off x="1600200" y="2000250"/>
            <a:ext cx="9753600" cy="1085850"/>
          </a:xfrm>
          <a:prstGeom prst="rect">
            <a:avLst/>
          </a:prstGeom>
          <a:noFill/>
        </p:spPr>
        <p:txBody>
          <a:bodyPr wrap="square">
            <a:spAutoFit/>
          </a:bodyPr>
          <a:lstStyle/>
          <a:p>
            <a:pPr algn="l"/>
            <a:r>
              <a:rPr sz="1350" b="0">
                <a:solidFill>
                  <a:srgbClr val="595F6B"/>
                </a:solidFill>
                <a:latin typeface="Noto Sans JP"/>
                <a:ea typeface="Noto Sans JP"/>
                <a:cs typeface="Noto Sans JP"/>
              </a:rPr>
              <a:t>メール返信・議事録作成・データ集計など定型業務をAIに委譲することで、担当者は戦略的業務に集中できる。月間工数削減の中央値は42時間/人。</a:t>
            </a:r>
          </a:p>
        </p:txBody>
      </p:sp>
      <p:sp>
        <p:nvSpPr>
          <p:cNvPr id="10" name="Rectangle 9"/>
          <p:cNvSpPr/>
          <p:nvPr/>
        </p:nvSpPr>
        <p:spPr>
          <a:xfrm>
            <a:off x="685800" y="4524375"/>
            <a:ext cx="1082040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8200" y="3495675"/>
            <a:ext cx="533400" cy="5334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3495675"/>
            <a:ext cx="533400" cy="533400"/>
          </a:xfrm>
          <a:prstGeom prst="rect">
            <a:avLst/>
          </a:prstGeom>
          <a:noFill/>
        </p:spPr>
        <p:txBody>
          <a:bodyPr wrap="square">
            <a:spAutoFit/>
          </a:bodyPr>
          <a:lstStyle/>
          <a:p>
            <a:pPr algn="ctr"/>
            <a:r>
              <a:rPr sz="1950" b="1">
                <a:solidFill>
                  <a:srgbClr val="FFFFFF"/>
                </a:solidFill>
                <a:latin typeface="Noto Sans JP"/>
                <a:ea typeface="Noto Sans JP"/>
                <a:cs typeface="Noto Sans JP"/>
              </a:rPr>
              <a:t>02</a:t>
            </a:r>
          </a:p>
        </p:txBody>
      </p:sp>
      <p:sp>
        <p:nvSpPr>
          <p:cNvPr id="13" name="TextBox 12"/>
          <p:cNvSpPr txBox="1"/>
          <p:nvPr/>
        </p:nvSpPr>
        <p:spPr>
          <a:xfrm>
            <a:off x="1600200" y="3181350"/>
            <a:ext cx="9753600" cy="304800"/>
          </a:xfrm>
          <a:prstGeom prst="rect">
            <a:avLst/>
          </a:prstGeom>
          <a:noFill/>
        </p:spPr>
        <p:txBody>
          <a:bodyPr wrap="square">
            <a:spAutoFit/>
          </a:bodyPr>
          <a:lstStyle/>
          <a:p>
            <a:pPr algn="l"/>
            <a:r>
              <a:rPr sz="1950" b="1">
                <a:solidFill>
                  <a:srgbClr val="1C1F26"/>
                </a:solidFill>
                <a:latin typeface="Noto Sans JP"/>
                <a:ea typeface="Noto Sans JP"/>
                <a:cs typeface="Noto Sans JP"/>
              </a:rPr>
              <a:t>リアルタイム情報検索で意思決定を加速</a:t>
            </a:r>
          </a:p>
        </p:txBody>
      </p:sp>
      <p:sp>
        <p:nvSpPr>
          <p:cNvPr id="14" name="TextBox 13"/>
          <p:cNvSpPr txBox="1"/>
          <p:nvPr/>
        </p:nvSpPr>
        <p:spPr>
          <a:xfrm>
            <a:off x="1600200" y="3543300"/>
            <a:ext cx="9753600" cy="1085850"/>
          </a:xfrm>
          <a:prstGeom prst="rect">
            <a:avLst/>
          </a:prstGeom>
          <a:noFill/>
        </p:spPr>
        <p:txBody>
          <a:bodyPr wrap="square">
            <a:spAutoFit/>
          </a:bodyPr>
          <a:lstStyle/>
          <a:p>
            <a:pPr algn="l"/>
            <a:r>
              <a:rPr sz="1350" b="0">
                <a:solidFill>
                  <a:srgbClr val="595F6B"/>
                </a:solidFill>
                <a:latin typeface="Noto Sans JP"/>
                <a:ea typeface="Noto Sans JP"/>
                <a:cs typeface="Noto Sans JP"/>
              </a:rPr>
              <a:t>社内ナレッジベースと外部情報を横断検索し、回答を即座に提示。会議前調査の時間を平均68%短縮し、意思決定サイクルを1週間から2日に圧縮。</a:t>
            </a:r>
          </a:p>
        </p:txBody>
      </p:sp>
      <p:sp>
        <p:nvSpPr>
          <p:cNvPr id="15" name="Rectangle 14"/>
          <p:cNvSpPr/>
          <p:nvPr/>
        </p:nvSpPr>
        <p:spPr>
          <a:xfrm>
            <a:off x="838200" y="5038725"/>
            <a:ext cx="533400" cy="5334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 y="5038725"/>
            <a:ext cx="533400" cy="533400"/>
          </a:xfrm>
          <a:prstGeom prst="rect">
            <a:avLst/>
          </a:prstGeom>
          <a:noFill/>
        </p:spPr>
        <p:txBody>
          <a:bodyPr wrap="square">
            <a:spAutoFit/>
          </a:bodyPr>
          <a:lstStyle/>
          <a:p>
            <a:pPr algn="ctr"/>
            <a:r>
              <a:rPr sz="1950" b="1">
                <a:solidFill>
                  <a:srgbClr val="FFFFFF"/>
                </a:solidFill>
                <a:latin typeface="Noto Sans JP"/>
                <a:ea typeface="Noto Sans JP"/>
                <a:cs typeface="Noto Sans JP"/>
              </a:rPr>
              <a:t>03</a:t>
            </a:r>
          </a:p>
        </p:txBody>
      </p:sp>
      <p:sp>
        <p:nvSpPr>
          <p:cNvPr id="17" name="TextBox 16"/>
          <p:cNvSpPr txBox="1"/>
          <p:nvPr/>
        </p:nvSpPr>
        <p:spPr>
          <a:xfrm>
            <a:off x="1600200" y="4724400"/>
            <a:ext cx="9753600" cy="304800"/>
          </a:xfrm>
          <a:prstGeom prst="rect">
            <a:avLst/>
          </a:prstGeom>
          <a:noFill/>
        </p:spPr>
        <p:txBody>
          <a:bodyPr wrap="square">
            <a:spAutoFit/>
          </a:bodyPr>
          <a:lstStyle/>
          <a:p>
            <a:pPr algn="l"/>
            <a:r>
              <a:rPr sz="1950" b="1">
                <a:solidFill>
                  <a:srgbClr val="1C1F26"/>
                </a:solidFill>
                <a:latin typeface="Noto Sans JP"/>
                <a:ea typeface="Noto Sans JP"/>
                <a:cs typeface="Noto Sans JP"/>
              </a:rPr>
              <a:t>個人化された学習支援で人材育成を底上げ</a:t>
            </a:r>
          </a:p>
        </p:txBody>
      </p:sp>
      <p:sp>
        <p:nvSpPr>
          <p:cNvPr id="18" name="TextBox 17"/>
          <p:cNvSpPr txBox="1"/>
          <p:nvPr/>
        </p:nvSpPr>
        <p:spPr>
          <a:xfrm>
            <a:off x="1600200" y="5086350"/>
            <a:ext cx="9753600" cy="1085850"/>
          </a:xfrm>
          <a:prstGeom prst="rect">
            <a:avLst/>
          </a:prstGeom>
          <a:noFill/>
        </p:spPr>
        <p:txBody>
          <a:bodyPr wrap="square">
            <a:spAutoFit/>
          </a:bodyPr>
          <a:lstStyle/>
          <a:p>
            <a:pPr algn="l"/>
            <a:r>
              <a:rPr sz="1350" b="0">
                <a:solidFill>
                  <a:srgbClr val="595F6B"/>
                </a:solidFill>
                <a:latin typeface="Noto Sans JP"/>
                <a:ea typeface="Noto Sans JP"/>
                <a:cs typeface="Noto Sans JP"/>
              </a:rPr>
              <a:t>スキルギャップを自動診断し、最適なラーニングパスを提案。OJT期間を従来の6ヶ月から3ヶ月に短縮した導入企業事例が複数存在する。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自社機能比較表 v3.2 — 2026年6月時点</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16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3000" b="1">
                <a:solidFill>
                  <a:srgbClr val="1C1F26"/>
                </a:solidFill>
                <a:latin typeface="Noto Sans JP"/>
                <a:ea typeface="Noto Sans JP"/>
                <a:cs typeface="Noto Sans JP"/>
              </a:rPr>
              <a:t>4つの差別化機能が競合との明確な距離を生む</a:t>
            </a:r>
          </a:p>
        </p:txBody>
      </p:sp>
      <p:sp>
        <p:nvSpPr>
          <p:cNvPr id="5" name="Rectangle 4"/>
          <p:cNvSpPr/>
          <p:nvPr/>
        </p:nvSpPr>
        <p:spPr>
          <a:xfrm>
            <a:off x="685800" y="1447800"/>
            <a:ext cx="10820400" cy="11239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8200" y="1704975"/>
            <a:ext cx="609600" cy="609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704975"/>
            <a:ext cx="609600" cy="609600"/>
          </a:xfrm>
          <a:prstGeom prst="rect">
            <a:avLst/>
          </a:prstGeom>
          <a:noFill/>
        </p:spPr>
        <p:txBody>
          <a:bodyPr wrap="square">
            <a:spAutoFit/>
          </a:bodyPr>
          <a:lstStyle/>
          <a:p>
            <a:pPr algn="ctr"/>
            <a:r>
              <a:rPr sz="2100" b="0">
                <a:solidFill>
                  <a:srgbClr val="FFFFFF"/>
                </a:solidFill>
                <a:latin typeface="Noto Sans JP"/>
                <a:ea typeface="Noto Sans JP"/>
                <a:cs typeface="Noto Sans JP"/>
              </a:rPr>
              <a:t>🔒</a:t>
            </a:r>
          </a:p>
        </p:txBody>
      </p:sp>
      <p:sp>
        <p:nvSpPr>
          <p:cNvPr id="8" name="TextBox 7"/>
          <p:cNvSpPr txBox="1"/>
          <p:nvPr/>
        </p:nvSpPr>
        <p:spPr>
          <a:xfrm>
            <a:off x="1676400" y="1600200"/>
            <a:ext cx="9677400" cy="285750"/>
          </a:xfrm>
          <a:prstGeom prst="rect">
            <a:avLst/>
          </a:prstGeom>
          <a:noFill/>
        </p:spPr>
        <p:txBody>
          <a:bodyPr wrap="square">
            <a:spAutoFit/>
          </a:bodyPr>
          <a:lstStyle/>
          <a:p>
            <a:pPr algn="l"/>
            <a:r>
              <a:rPr sz="1950" b="1">
                <a:solidFill>
                  <a:srgbClr val="1C1F26"/>
                </a:solidFill>
                <a:latin typeface="Noto Sans JP"/>
                <a:ea typeface="Noto Sans JP"/>
                <a:cs typeface="Noto Sans JP"/>
              </a:rPr>
              <a:t>エンタープライズグレードのセキュリティ</a:t>
            </a:r>
          </a:p>
        </p:txBody>
      </p:sp>
      <p:sp>
        <p:nvSpPr>
          <p:cNvPr id="9" name="TextBox 8"/>
          <p:cNvSpPr txBox="1"/>
          <p:nvPr/>
        </p:nvSpPr>
        <p:spPr>
          <a:xfrm>
            <a:off x="1676400" y="1943100"/>
            <a:ext cx="9677400" cy="552450"/>
          </a:xfrm>
          <a:prstGeom prst="rect">
            <a:avLst/>
          </a:prstGeom>
          <a:noFill/>
        </p:spPr>
        <p:txBody>
          <a:bodyPr wrap="square">
            <a:spAutoFit/>
          </a:bodyPr>
          <a:lstStyle/>
          <a:p>
            <a:pPr algn="l"/>
            <a:r>
              <a:rPr sz="1350" b="0">
                <a:solidFill>
                  <a:srgbClr val="595F6B"/>
                </a:solidFill>
                <a:latin typeface="Noto Sans JP"/>
                <a:ea typeface="Noto Sans JP"/>
                <a:cs typeface="Noto Sans JP"/>
              </a:rPr>
              <a:t>SOC2 Type II認証・ISO27001準拠・ゼロトラストアーキテクチャを標準搭載。国内データセンター完結で金融・医療・公共セクターの厳格な要件にも対応可能。</a:t>
            </a:r>
          </a:p>
        </p:txBody>
      </p:sp>
      <p:sp>
        <p:nvSpPr>
          <p:cNvPr id="10" name="Rectangle 9"/>
          <p:cNvSpPr/>
          <p:nvPr/>
        </p:nvSpPr>
        <p:spPr>
          <a:xfrm>
            <a:off x="685800" y="2609850"/>
            <a:ext cx="10820400" cy="11239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8200" y="2867025"/>
            <a:ext cx="609600" cy="609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2867025"/>
            <a:ext cx="609600" cy="609600"/>
          </a:xfrm>
          <a:prstGeom prst="rect">
            <a:avLst/>
          </a:prstGeom>
          <a:noFill/>
        </p:spPr>
        <p:txBody>
          <a:bodyPr wrap="square">
            <a:spAutoFit/>
          </a:bodyPr>
          <a:lstStyle/>
          <a:p>
            <a:pPr algn="ctr"/>
            <a:r>
              <a:rPr sz="2100" b="0">
                <a:solidFill>
                  <a:srgbClr val="FFFFFF"/>
                </a:solidFill>
                <a:latin typeface="Noto Sans JP"/>
                <a:ea typeface="Noto Sans JP"/>
                <a:cs typeface="Noto Sans JP"/>
              </a:rPr>
              <a:t>⚡</a:t>
            </a:r>
          </a:p>
        </p:txBody>
      </p:sp>
      <p:sp>
        <p:nvSpPr>
          <p:cNvPr id="13" name="TextBox 12"/>
          <p:cNvSpPr txBox="1"/>
          <p:nvPr/>
        </p:nvSpPr>
        <p:spPr>
          <a:xfrm>
            <a:off x="1676400" y="2762250"/>
            <a:ext cx="9677400" cy="285750"/>
          </a:xfrm>
          <a:prstGeom prst="rect">
            <a:avLst/>
          </a:prstGeom>
          <a:noFill/>
        </p:spPr>
        <p:txBody>
          <a:bodyPr wrap="square">
            <a:spAutoFit/>
          </a:bodyPr>
          <a:lstStyle/>
          <a:p>
            <a:pPr algn="l"/>
            <a:r>
              <a:rPr sz="1950" b="1">
                <a:solidFill>
                  <a:srgbClr val="1C1F26"/>
                </a:solidFill>
                <a:latin typeface="Noto Sans JP"/>
                <a:ea typeface="Noto Sans JP"/>
                <a:cs typeface="Noto Sans JP"/>
              </a:rPr>
              <a:t>100ms以下の応答レイテンシ</a:t>
            </a:r>
          </a:p>
        </p:txBody>
      </p:sp>
      <p:sp>
        <p:nvSpPr>
          <p:cNvPr id="14" name="TextBox 13"/>
          <p:cNvSpPr txBox="1"/>
          <p:nvPr/>
        </p:nvSpPr>
        <p:spPr>
          <a:xfrm>
            <a:off x="1676400" y="3105150"/>
            <a:ext cx="9677400" cy="552450"/>
          </a:xfrm>
          <a:prstGeom prst="rect">
            <a:avLst/>
          </a:prstGeom>
          <a:noFill/>
        </p:spPr>
        <p:txBody>
          <a:bodyPr wrap="square">
            <a:spAutoFit/>
          </a:bodyPr>
          <a:lstStyle/>
          <a:p>
            <a:pPr algn="l"/>
            <a:r>
              <a:rPr sz="1350" b="0">
                <a:solidFill>
                  <a:srgbClr val="595F6B"/>
                </a:solidFill>
                <a:latin typeface="Noto Sans JP"/>
                <a:ea typeface="Noto Sans JP"/>
                <a:cs typeface="Noto Sans JP"/>
              </a:rPr>
              <a:t>エッジキャッシュ最適化と専用推論クラスタにより、ピーク負荷時でもP99レイテンシ98ms以下を維持。ユーザー体験の劣化をゼロに近づける。</a:t>
            </a:r>
          </a:p>
        </p:txBody>
      </p:sp>
      <p:sp>
        <p:nvSpPr>
          <p:cNvPr id="15" name="Rectangle 14"/>
          <p:cNvSpPr/>
          <p:nvPr/>
        </p:nvSpPr>
        <p:spPr>
          <a:xfrm>
            <a:off x="685800" y="3771900"/>
            <a:ext cx="10820400" cy="11239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8200" y="4029075"/>
            <a:ext cx="609600" cy="609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200" y="4029075"/>
            <a:ext cx="609600" cy="609600"/>
          </a:xfrm>
          <a:prstGeom prst="rect">
            <a:avLst/>
          </a:prstGeom>
          <a:noFill/>
        </p:spPr>
        <p:txBody>
          <a:bodyPr wrap="square">
            <a:spAutoFit/>
          </a:bodyPr>
          <a:lstStyle/>
          <a:p>
            <a:pPr algn="ctr"/>
            <a:r>
              <a:rPr sz="2100" b="0">
                <a:solidFill>
                  <a:srgbClr val="FFFFFF"/>
                </a:solidFill>
                <a:latin typeface="Noto Sans JP"/>
                <a:ea typeface="Noto Sans JP"/>
                <a:cs typeface="Noto Sans JP"/>
              </a:rPr>
              <a:t>🔗</a:t>
            </a:r>
          </a:p>
        </p:txBody>
      </p:sp>
      <p:sp>
        <p:nvSpPr>
          <p:cNvPr id="18" name="TextBox 17"/>
          <p:cNvSpPr txBox="1"/>
          <p:nvPr/>
        </p:nvSpPr>
        <p:spPr>
          <a:xfrm>
            <a:off x="1676400" y="3924300"/>
            <a:ext cx="9677400" cy="285750"/>
          </a:xfrm>
          <a:prstGeom prst="rect">
            <a:avLst/>
          </a:prstGeom>
          <a:noFill/>
        </p:spPr>
        <p:txBody>
          <a:bodyPr wrap="square">
            <a:spAutoFit/>
          </a:bodyPr>
          <a:lstStyle/>
          <a:p>
            <a:pPr algn="l"/>
            <a:r>
              <a:rPr sz="1950" b="1">
                <a:solidFill>
                  <a:srgbClr val="1C1F26"/>
                </a:solidFill>
                <a:latin typeface="Noto Sans JP"/>
                <a:ea typeface="Noto Sans JP"/>
                <a:cs typeface="Noto Sans JP"/>
              </a:rPr>
              <a:t>既存SaaSとのノーコード統合</a:t>
            </a:r>
          </a:p>
        </p:txBody>
      </p:sp>
      <p:sp>
        <p:nvSpPr>
          <p:cNvPr id="19" name="TextBox 18"/>
          <p:cNvSpPr txBox="1"/>
          <p:nvPr/>
        </p:nvSpPr>
        <p:spPr>
          <a:xfrm>
            <a:off x="1676400" y="4267200"/>
            <a:ext cx="9677400" cy="552450"/>
          </a:xfrm>
          <a:prstGeom prst="rect">
            <a:avLst/>
          </a:prstGeom>
          <a:noFill/>
        </p:spPr>
        <p:txBody>
          <a:bodyPr wrap="square">
            <a:spAutoFit/>
          </a:bodyPr>
          <a:lstStyle/>
          <a:p>
            <a:pPr algn="l"/>
            <a:r>
              <a:rPr sz="1350" b="0">
                <a:solidFill>
                  <a:srgbClr val="595F6B"/>
                </a:solidFill>
                <a:latin typeface="Noto Sans JP"/>
                <a:ea typeface="Noto Sans JP"/>
                <a:cs typeface="Noto Sans JP"/>
              </a:rPr>
              <a:t>Salesforce・kintone・SAP・Google Workspaceなど250以上のコネクタを標準提供。IT部門の工数なしに現場がセルフサービスで連携設定できる。</a:t>
            </a:r>
          </a:p>
        </p:txBody>
      </p:sp>
      <p:sp>
        <p:nvSpPr>
          <p:cNvPr id="20" name="Rectangle 19"/>
          <p:cNvSpPr/>
          <p:nvPr/>
        </p:nvSpPr>
        <p:spPr>
          <a:xfrm>
            <a:off x="685800" y="4933950"/>
            <a:ext cx="10820400" cy="11620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8200" y="5210175"/>
            <a:ext cx="609600" cy="609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 y="5210175"/>
            <a:ext cx="609600" cy="609600"/>
          </a:xfrm>
          <a:prstGeom prst="rect">
            <a:avLst/>
          </a:prstGeom>
          <a:noFill/>
        </p:spPr>
        <p:txBody>
          <a:bodyPr wrap="square">
            <a:spAutoFit/>
          </a:bodyPr>
          <a:lstStyle/>
          <a:p>
            <a:pPr algn="ctr"/>
            <a:r>
              <a:rPr sz="2100" b="0">
                <a:solidFill>
                  <a:srgbClr val="FFFFFF"/>
                </a:solidFill>
                <a:latin typeface="Noto Sans JP"/>
                <a:ea typeface="Noto Sans JP"/>
                <a:cs typeface="Noto Sans JP"/>
              </a:rPr>
              <a:t>📊</a:t>
            </a:r>
          </a:p>
        </p:txBody>
      </p:sp>
      <p:sp>
        <p:nvSpPr>
          <p:cNvPr id="23" name="TextBox 22"/>
          <p:cNvSpPr txBox="1"/>
          <p:nvPr/>
        </p:nvSpPr>
        <p:spPr>
          <a:xfrm>
            <a:off x="1676400" y="5086350"/>
            <a:ext cx="9677400" cy="285750"/>
          </a:xfrm>
          <a:prstGeom prst="rect">
            <a:avLst/>
          </a:prstGeom>
          <a:noFill/>
        </p:spPr>
        <p:txBody>
          <a:bodyPr wrap="square">
            <a:spAutoFit/>
          </a:bodyPr>
          <a:lstStyle/>
          <a:p>
            <a:pPr algn="l"/>
            <a:r>
              <a:rPr sz="1950" b="1">
                <a:solidFill>
                  <a:srgbClr val="1C1F26"/>
                </a:solidFill>
                <a:latin typeface="Noto Sans JP"/>
                <a:ea typeface="Noto Sans JP"/>
                <a:cs typeface="Noto Sans JP"/>
              </a:rPr>
              <a:t>ROIダッシュボードで効果を可視化</a:t>
            </a:r>
          </a:p>
        </p:txBody>
      </p:sp>
      <p:sp>
        <p:nvSpPr>
          <p:cNvPr id="24" name="TextBox 23"/>
          <p:cNvSpPr txBox="1"/>
          <p:nvPr/>
        </p:nvSpPr>
        <p:spPr>
          <a:xfrm>
            <a:off x="1676400" y="5429250"/>
            <a:ext cx="9677400" cy="590550"/>
          </a:xfrm>
          <a:prstGeom prst="rect">
            <a:avLst/>
          </a:prstGeom>
          <a:noFill/>
        </p:spPr>
        <p:txBody>
          <a:bodyPr wrap="square">
            <a:spAutoFit/>
          </a:bodyPr>
          <a:lstStyle/>
          <a:p>
            <a:pPr algn="l"/>
            <a:r>
              <a:rPr sz="1350" b="0">
                <a:solidFill>
                  <a:srgbClr val="595F6B"/>
                </a:solidFill>
                <a:latin typeface="Noto Sans JP"/>
                <a:ea typeface="Noto Sans JP"/>
                <a:cs typeface="Noto Sans JP"/>
              </a:rPr>
              <a:t>工数削減・エラー率・満足度スコアをリアルタイムで集計し、経営層向けのROIレポートを自動生成。継続投資の正当化を定量データでサポート。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導入プロジェクト標準テンプレート v2.1</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17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3000" b="1">
                <a:solidFill>
                  <a:srgbClr val="1C1F26"/>
                </a:solidFill>
                <a:latin typeface="Noto Sans JP"/>
                <a:ea typeface="Noto Sans JP"/>
                <a:cs typeface="Noto Sans JP"/>
              </a:rPr>
              <a:t>3フェーズ展開で6ヶ月以内にフル稼働を実現する</a:t>
            </a:r>
          </a:p>
        </p:txBody>
      </p:sp>
      <p:sp>
        <p:nvSpPr>
          <p:cNvPr id="5" name="Rectangle 4"/>
          <p:cNvSpPr/>
          <p:nvPr/>
        </p:nvSpPr>
        <p:spPr>
          <a:xfrm>
            <a:off x="685800" y="2981325"/>
            <a:ext cx="1082040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48275" y="1524000"/>
            <a:ext cx="19050" cy="13906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3900" y="1990725"/>
            <a:ext cx="457200" cy="457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1990725"/>
            <a:ext cx="457200" cy="457200"/>
          </a:xfrm>
          <a:prstGeom prst="rect">
            <a:avLst/>
          </a:prstGeom>
          <a:noFill/>
        </p:spPr>
        <p:txBody>
          <a:bodyPr wrap="square">
            <a:spAutoFit/>
          </a:bodyPr>
          <a:lstStyle/>
          <a:p>
            <a:pPr algn="ctr"/>
            <a:r>
              <a:rPr sz="975" b="1">
                <a:solidFill>
                  <a:srgbClr val="FFFFFF"/>
                </a:solidFill>
                <a:latin typeface="Noto Sans JP"/>
                <a:ea typeface="Noto Sans JP"/>
                <a:cs typeface="Noto Sans JP"/>
              </a:rPr>
              <a:t>01</a:t>
            </a:r>
          </a:p>
        </p:txBody>
      </p:sp>
      <p:sp>
        <p:nvSpPr>
          <p:cNvPr id="9" name="TextBox 8"/>
          <p:cNvSpPr txBox="1"/>
          <p:nvPr/>
        </p:nvSpPr>
        <p:spPr>
          <a:xfrm>
            <a:off x="1295400" y="1600200"/>
            <a:ext cx="3686175" cy="1238250"/>
          </a:xfrm>
          <a:prstGeom prst="rect">
            <a:avLst/>
          </a:prstGeom>
          <a:noFill/>
        </p:spPr>
        <p:txBody>
          <a:bodyPr wrap="square">
            <a:spAutoFit/>
          </a:bodyPr>
          <a:lstStyle/>
          <a:p>
            <a:pPr algn="l"/>
            <a:r>
              <a:rPr sz="1950" b="1">
                <a:solidFill>
                  <a:srgbClr val="1C1F26"/>
                </a:solidFill>
                <a:latin typeface="Noto Sans JP"/>
                <a:ea typeface="Noto Sans JP"/>
                <a:cs typeface="Noto Sans JP"/>
              </a:rPr>
              <a:t>環境構築・パイロット</a:t>
            </a:r>
          </a:p>
        </p:txBody>
      </p:sp>
      <p:sp>
        <p:nvSpPr>
          <p:cNvPr id="10" name="TextBox 9"/>
          <p:cNvSpPr txBox="1"/>
          <p:nvPr/>
        </p:nvSpPr>
        <p:spPr>
          <a:xfrm>
            <a:off x="5362575" y="156210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テナント設定・SSO連携・初期データ移行を2週間で完了</a:t>
            </a:r>
          </a:p>
        </p:txBody>
      </p:sp>
      <p:sp>
        <p:nvSpPr>
          <p:cNvPr id="11" name="TextBox 10"/>
          <p:cNvSpPr txBox="1"/>
          <p:nvPr/>
        </p:nvSpPr>
        <p:spPr>
          <a:xfrm>
            <a:off x="5362575" y="200025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パイロット部門（20名）でのユースケース検証と改善フィードバック収集</a:t>
            </a:r>
          </a:p>
        </p:txBody>
      </p:sp>
      <p:sp>
        <p:nvSpPr>
          <p:cNvPr id="12" name="TextBox 11"/>
          <p:cNvSpPr txBox="1"/>
          <p:nvPr/>
        </p:nvSpPr>
        <p:spPr>
          <a:xfrm>
            <a:off x="5362575" y="243840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セキュリティ監査レポートの取得と情報セキュリティ委員会への提示</a:t>
            </a:r>
          </a:p>
        </p:txBody>
      </p:sp>
      <p:sp>
        <p:nvSpPr>
          <p:cNvPr id="13" name="Rectangle 12"/>
          <p:cNvSpPr/>
          <p:nvPr/>
        </p:nvSpPr>
        <p:spPr>
          <a:xfrm>
            <a:off x="685800" y="4524375"/>
            <a:ext cx="1082040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48275" y="3067050"/>
            <a:ext cx="19050" cy="13906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3900" y="3533775"/>
            <a:ext cx="457200" cy="457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3533775"/>
            <a:ext cx="457200" cy="457200"/>
          </a:xfrm>
          <a:prstGeom prst="rect">
            <a:avLst/>
          </a:prstGeom>
          <a:noFill/>
        </p:spPr>
        <p:txBody>
          <a:bodyPr wrap="square">
            <a:spAutoFit/>
          </a:bodyPr>
          <a:lstStyle/>
          <a:p>
            <a:pPr algn="ctr"/>
            <a:r>
              <a:rPr sz="975" b="1">
                <a:solidFill>
                  <a:srgbClr val="FFFFFF"/>
                </a:solidFill>
                <a:latin typeface="Noto Sans JP"/>
                <a:ea typeface="Noto Sans JP"/>
                <a:cs typeface="Noto Sans JP"/>
              </a:rPr>
              <a:t>02</a:t>
            </a:r>
          </a:p>
        </p:txBody>
      </p:sp>
      <p:sp>
        <p:nvSpPr>
          <p:cNvPr id="17" name="TextBox 16"/>
          <p:cNvSpPr txBox="1"/>
          <p:nvPr/>
        </p:nvSpPr>
        <p:spPr>
          <a:xfrm>
            <a:off x="1295400" y="3143250"/>
            <a:ext cx="3686175" cy="1238250"/>
          </a:xfrm>
          <a:prstGeom prst="rect">
            <a:avLst/>
          </a:prstGeom>
          <a:noFill/>
        </p:spPr>
        <p:txBody>
          <a:bodyPr wrap="square">
            <a:spAutoFit/>
          </a:bodyPr>
          <a:lstStyle/>
          <a:p>
            <a:pPr algn="l"/>
            <a:r>
              <a:rPr sz="1950" b="1">
                <a:solidFill>
                  <a:srgbClr val="1C1F26"/>
                </a:solidFill>
                <a:latin typeface="Noto Sans JP"/>
                <a:ea typeface="Noto Sans JP"/>
                <a:cs typeface="Noto Sans JP"/>
              </a:rPr>
              <a:t>段階的ロールアウト</a:t>
            </a:r>
          </a:p>
        </p:txBody>
      </p:sp>
      <p:sp>
        <p:nvSpPr>
          <p:cNvPr id="18" name="TextBox 17"/>
          <p:cNvSpPr txBox="1"/>
          <p:nvPr/>
        </p:nvSpPr>
        <p:spPr>
          <a:xfrm>
            <a:off x="5362575" y="310515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部門別展開計画に基づき月次50名ペースで全社展開を実施</a:t>
            </a:r>
          </a:p>
        </p:txBody>
      </p:sp>
      <p:sp>
        <p:nvSpPr>
          <p:cNvPr id="19" name="TextBox 18"/>
          <p:cNvSpPr txBox="1"/>
          <p:nvPr/>
        </p:nvSpPr>
        <p:spPr>
          <a:xfrm>
            <a:off x="5362575" y="354330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チェンジマネジメント研修（オンライン2時間）と社内ヘルプデスク整備</a:t>
            </a:r>
          </a:p>
        </p:txBody>
      </p:sp>
      <p:sp>
        <p:nvSpPr>
          <p:cNvPr id="20" name="TextBox 19"/>
          <p:cNvSpPr txBox="1"/>
          <p:nvPr/>
        </p:nvSpPr>
        <p:spPr>
          <a:xfrm>
            <a:off x="5362575" y="398145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利用率・課題件数をウィークリーで追跡しKPI達成状況を経営報告</a:t>
            </a:r>
          </a:p>
        </p:txBody>
      </p:sp>
      <p:sp>
        <p:nvSpPr>
          <p:cNvPr id="21" name="Rectangle 20"/>
          <p:cNvSpPr/>
          <p:nvPr/>
        </p:nvSpPr>
        <p:spPr>
          <a:xfrm>
            <a:off x="5248275" y="4610100"/>
            <a:ext cx="19050" cy="13906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3900" y="5076825"/>
            <a:ext cx="457200" cy="457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900" y="5076825"/>
            <a:ext cx="457200" cy="457200"/>
          </a:xfrm>
          <a:prstGeom prst="rect">
            <a:avLst/>
          </a:prstGeom>
          <a:noFill/>
        </p:spPr>
        <p:txBody>
          <a:bodyPr wrap="square">
            <a:spAutoFit/>
          </a:bodyPr>
          <a:lstStyle/>
          <a:p>
            <a:pPr algn="ctr"/>
            <a:r>
              <a:rPr sz="975" b="1">
                <a:solidFill>
                  <a:srgbClr val="FFFFFF"/>
                </a:solidFill>
                <a:latin typeface="Noto Sans JP"/>
                <a:ea typeface="Noto Sans JP"/>
                <a:cs typeface="Noto Sans JP"/>
              </a:rPr>
              <a:t>03</a:t>
            </a:r>
          </a:p>
        </p:txBody>
      </p:sp>
      <p:sp>
        <p:nvSpPr>
          <p:cNvPr id="24" name="TextBox 23"/>
          <p:cNvSpPr txBox="1"/>
          <p:nvPr/>
        </p:nvSpPr>
        <p:spPr>
          <a:xfrm>
            <a:off x="1295400" y="4686300"/>
            <a:ext cx="3686175" cy="1238250"/>
          </a:xfrm>
          <a:prstGeom prst="rect">
            <a:avLst/>
          </a:prstGeom>
          <a:noFill/>
        </p:spPr>
        <p:txBody>
          <a:bodyPr wrap="square">
            <a:spAutoFit/>
          </a:bodyPr>
          <a:lstStyle/>
          <a:p>
            <a:pPr algn="l"/>
            <a:r>
              <a:rPr sz="1950" b="1">
                <a:solidFill>
                  <a:srgbClr val="1C1F26"/>
                </a:solidFill>
                <a:latin typeface="Noto Sans JP"/>
                <a:ea typeface="Noto Sans JP"/>
                <a:cs typeface="Noto Sans JP"/>
              </a:rPr>
              <a:t>最適化・継続改善</a:t>
            </a:r>
          </a:p>
        </p:txBody>
      </p:sp>
      <p:sp>
        <p:nvSpPr>
          <p:cNvPr id="25" name="TextBox 24"/>
          <p:cNvSpPr txBox="1"/>
          <p:nvPr/>
        </p:nvSpPr>
        <p:spPr>
          <a:xfrm>
            <a:off x="5362575" y="464820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四半期ごとのユースケース棚卸しと新機能適用優先度評価</a:t>
            </a:r>
          </a:p>
        </p:txBody>
      </p:sp>
      <p:sp>
        <p:nvSpPr>
          <p:cNvPr id="26" name="TextBox 25"/>
          <p:cNvSpPr txBox="1"/>
          <p:nvPr/>
        </p:nvSpPr>
        <p:spPr>
          <a:xfrm>
            <a:off x="5362575" y="508635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AIが自動抽出するインサイトを基に業務プロセス再設計を推進</a:t>
            </a:r>
          </a:p>
        </p:txBody>
      </p:sp>
      <p:sp>
        <p:nvSpPr>
          <p:cNvPr id="27" name="TextBox 26"/>
          <p:cNvSpPr txBox="1"/>
          <p:nvPr/>
        </p:nvSpPr>
        <p:spPr>
          <a:xfrm>
            <a:off x="5362575" y="5524500"/>
            <a:ext cx="6143625" cy="438150"/>
          </a:xfrm>
          <a:prstGeom prst="rect">
            <a:avLst/>
          </a:prstGeom>
          <a:noFill/>
        </p:spPr>
        <p:txBody>
          <a:bodyPr wrap="square">
            <a:spAutoFit/>
          </a:bodyPr>
          <a:lstStyle/>
          <a:p>
            <a:pPr algn="l"/>
            <a:r>
              <a:rPr sz="1350" b="0">
                <a:solidFill>
                  <a:srgbClr val="595F6B"/>
                </a:solidFill>
                <a:latin typeface="Noto Sans JP"/>
                <a:ea typeface="Noto Sans JP"/>
                <a:cs typeface="Noto Sans JP"/>
              </a:rPr>
              <a:t>▶  年次ROI評価レポートで継続投資判断のエビデンスを提供</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料金体系 2026年版 — 税抜表示</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18 / 98</a:t>
            </a:r>
          </a:p>
        </p:txBody>
      </p:sp>
      <p:sp>
        <p:nvSpPr>
          <p:cNvPr id="4" name="TextBox 3"/>
          <p:cNvSpPr txBox="1"/>
          <p:nvPr/>
        </p:nvSpPr>
        <p:spPr>
          <a:xfrm>
            <a:off x="685800" y="533400"/>
            <a:ext cx="10820400" cy="685800"/>
          </a:xfrm>
          <a:prstGeom prst="rect">
            <a:avLst/>
          </a:prstGeom>
          <a:noFill/>
        </p:spPr>
        <p:txBody>
          <a:bodyPr wrap="square">
            <a:spAutoFit/>
          </a:bodyPr>
          <a:lstStyle/>
          <a:p>
            <a:pPr algn="l"/>
            <a:r>
              <a:rPr sz="3000" b="1">
                <a:solidFill>
                  <a:srgbClr val="1C1F26"/>
                </a:solidFill>
                <a:latin typeface="Noto Sans JP"/>
                <a:ea typeface="Noto Sans JP"/>
                <a:cs typeface="Noto Sans JP"/>
              </a:rPr>
              <a:t>3つの顧客セグメントに最適化したプラン体系を提供</a:t>
            </a:r>
          </a:p>
        </p:txBody>
      </p:sp>
      <p:sp>
        <p:nvSpPr>
          <p:cNvPr id="5" name="Rectangle 4"/>
          <p:cNvSpPr/>
          <p:nvPr/>
        </p:nvSpPr>
        <p:spPr>
          <a:xfrm>
            <a:off x="3209925" y="1371600"/>
            <a:ext cx="9525" cy="45720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52600"/>
            <a:ext cx="2457450" cy="228600"/>
          </a:xfrm>
          <a:prstGeom prst="rect">
            <a:avLst/>
          </a:prstGeom>
          <a:noFill/>
        </p:spPr>
        <p:txBody>
          <a:bodyPr wrap="square">
            <a:spAutoFit/>
          </a:bodyPr>
          <a:lstStyle/>
          <a:p>
            <a:pPr algn="l"/>
            <a:r>
              <a:rPr sz="975" b="1">
                <a:solidFill>
                  <a:srgbClr val="6C63FF"/>
                </a:solidFill>
                <a:latin typeface="Noto Sans JP"/>
                <a:ea typeface="Noto Sans JP"/>
                <a:cs typeface="Noto Sans JP"/>
              </a:rPr>
              <a:t>SEGMENT</a:t>
            </a:r>
          </a:p>
        </p:txBody>
      </p:sp>
      <p:sp>
        <p:nvSpPr>
          <p:cNvPr id="7" name="TextBox 6"/>
          <p:cNvSpPr txBox="1"/>
          <p:nvPr/>
        </p:nvSpPr>
        <p:spPr>
          <a:xfrm>
            <a:off x="685800" y="2133600"/>
            <a:ext cx="2457450" cy="3048000"/>
          </a:xfrm>
          <a:prstGeom prst="rect">
            <a:avLst/>
          </a:prstGeom>
          <a:noFill/>
        </p:spPr>
        <p:txBody>
          <a:bodyPr wrap="square">
            <a:spAutoFit/>
          </a:bodyPr>
          <a:lstStyle/>
          <a:p>
            <a:pPr algn="l"/>
            <a:r>
              <a:rPr sz="1950" b="1">
                <a:solidFill>
                  <a:srgbClr val="1C1F26"/>
                </a:solidFill>
                <a:latin typeface="Noto Sans JP"/>
                <a:ea typeface="Noto Sans JP"/>
                <a:cs typeface="Noto Sans JP"/>
              </a:rPr>
              <a:t>規模・成熟度別
最適プラン</a:t>
            </a:r>
          </a:p>
        </p:txBody>
      </p:sp>
      <p:sp>
        <p:nvSpPr>
          <p:cNvPr id="8" name="Rectangle 7"/>
          <p:cNvSpPr/>
          <p:nvPr/>
        </p:nvSpPr>
        <p:spPr>
          <a:xfrm>
            <a:off x="3448050" y="2886075"/>
            <a:ext cx="805815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00450" y="1905000"/>
            <a:ext cx="457200" cy="457200"/>
          </a:xfrm>
          <a:prstGeom prst="rect">
            <a:avLst/>
          </a:prstGeom>
          <a:solidFill>
            <a:srgbClr val="EDEEF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450" y="1905000"/>
            <a:ext cx="457200" cy="457200"/>
          </a:xfrm>
          <a:prstGeom prst="rect">
            <a:avLst/>
          </a:prstGeom>
          <a:noFill/>
        </p:spPr>
        <p:txBody>
          <a:bodyPr wrap="square">
            <a:spAutoFit/>
          </a:bodyPr>
          <a:lstStyle/>
          <a:p>
            <a:pPr algn="ctr"/>
            <a:r>
              <a:rPr sz="1500" b="0">
                <a:solidFill>
                  <a:srgbClr val="1C1F26"/>
                </a:solidFill>
                <a:latin typeface="Noto Sans JP"/>
                <a:ea typeface="Noto Sans JP"/>
                <a:cs typeface="Noto Sans JP"/>
              </a:rPr>
              <a:t>🏢</a:t>
            </a:r>
          </a:p>
        </p:txBody>
      </p:sp>
      <p:sp>
        <p:nvSpPr>
          <p:cNvPr id="11" name="TextBox 10"/>
          <p:cNvSpPr txBox="1"/>
          <p:nvPr/>
        </p:nvSpPr>
        <p:spPr>
          <a:xfrm>
            <a:off x="4210050" y="1485900"/>
            <a:ext cx="7219950" cy="190500"/>
          </a:xfrm>
          <a:prstGeom prst="rect">
            <a:avLst/>
          </a:prstGeom>
          <a:noFill/>
        </p:spPr>
        <p:txBody>
          <a:bodyPr wrap="square">
            <a:spAutoFit/>
          </a:bodyPr>
          <a:lstStyle/>
          <a:p>
            <a:pPr algn="l"/>
            <a:r>
              <a:rPr sz="975" b="1">
                <a:solidFill>
                  <a:srgbClr val="6C63FF"/>
                </a:solidFill>
                <a:latin typeface="Noto Sans JP"/>
                <a:ea typeface="Noto Sans JP"/>
                <a:cs typeface="Noto Sans JP"/>
              </a:rPr>
              <a:t>SMB</a:t>
            </a:r>
          </a:p>
        </p:txBody>
      </p:sp>
      <p:sp>
        <p:nvSpPr>
          <p:cNvPr id="12" name="TextBox 11"/>
          <p:cNvSpPr txBox="1"/>
          <p:nvPr/>
        </p:nvSpPr>
        <p:spPr>
          <a:xfrm>
            <a:off x="4210050" y="1676400"/>
            <a:ext cx="7219950" cy="266700"/>
          </a:xfrm>
          <a:prstGeom prst="rect">
            <a:avLst/>
          </a:prstGeom>
          <a:noFill/>
        </p:spPr>
        <p:txBody>
          <a:bodyPr wrap="square">
            <a:spAutoFit/>
          </a:bodyPr>
          <a:lstStyle/>
          <a:p>
            <a:pPr algn="l"/>
            <a:r>
              <a:rPr sz="1950" b="1">
                <a:solidFill>
                  <a:srgbClr val="1C1F26"/>
                </a:solidFill>
                <a:latin typeface="Noto Sans JP"/>
                <a:ea typeface="Noto Sans JP"/>
                <a:cs typeface="Noto Sans JP"/>
              </a:rPr>
              <a:t>スタートアップ・中小企業</a:t>
            </a:r>
          </a:p>
        </p:txBody>
      </p:sp>
      <p:sp>
        <p:nvSpPr>
          <p:cNvPr id="13" name="TextBox 12"/>
          <p:cNvSpPr txBox="1"/>
          <p:nvPr/>
        </p:nvSpPr>
        <p:spPr>
          <a:xfrm>
            <a:off x="4210050" y="19621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〜300名 / 月額15万円〜</a:t>
            </a:r>
          </a:p>
        </p:txBody>
      </p:sp>
      <p:sp>
        <p:nvSpPr>
          <p:cNvPr id="14" name="TextBox 13"/>
          <p:cNvSpPr txBox="1"/>
          <p:nvPr/>
        </p:nvSpPr>
        <p:spPr>
          <a:xfrm>
            <a:off x="4210050" y="21907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セルフサービス型オンボーディング</a:t>
            </a:r>
          </a:p>
        </p:txBody>
      </p:sp>
      <p:sp>
        <p:nvSpPr>
          <p:cNvPr id="15" name="TextBox 14"/>
          <p:cNvSpPr txBox="1"/>
          <p:nvPr/>
        </p:nvSpPr>
        <p:spPr>
          <a:xfrm>
            <a:off x="4210050" y="240030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標準テンプレート50種類即時利用可</a:t>
            </a:r>
          </a:p>
        </p:txBody>
      </p:sp>
      <p:sp>
        <p:nvSpPr>
          <p:cNvPr id="16" name="Rectangle 15"/>
          <p:cNvSpPr/>
          <p:nvPr/>
        </p:nvSpPr>
        <p:spPr>
          <a:xfrm>
            <a:off x="3448050" y="4410075"/>
            <a:ext cx="8058150"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00450" y="3429000"/>
            <a:ext cx="457200" cy="457200"/>
          </a:xfrm>
          <a:prstGeom prst="rect">
            <a:avLst/>
          </a:prstGeom>
          <a:solidFill>
            <a:srgbClr val="EDEEF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0450" y="3429000"/>
            <a:ext cx="457200" cy="457200"/>
          </a:xfrm>
          <a:prstGeom prst="rect">
            <a:avLst/>
          </a:prstGeom>
          <a:noFill/>
        </p:spPr>
        <p:txBody>
          <a:bodyPr wrap="square">
            <a:spAutoFit/>
          </a:bodyPr>
          <a:lstStyle/>
          <a:p>
            <a:pPr algn="ctr"/>
            <a:r>
              <a:rPr sz="1500" b="0">
                <a:solidFill>
                  <a:srgbClr val="1C1F26"/>
                </a:solidFill>
                <a:latin typeface="Noto Sans JP"/>
                <a:ea typeface="Noto Sans JP"/>
                <a:cs typeface="Noto Sans JP"/>
              </a:rPr>
              <a:t>🏬</a:t>
            </a:r>
          </a:p>
        </p:txBody>
      </p:sp>
      <p:sp>
        <p:nvSpPr>
          <p:cNvPr id="19" name="TextBox 18"/>
          <p:cNvSpPr txBox="1"/>
          <p:nvPr/>
        </p:nvSpPr>
        <p:spPr>
          <a:xfrm>
            <a:off x="4210050" y="3009900"/>
            <a:ext cx="7219950" cy="190500"/>
          </a:xfrm>
          <a:prstGeom prst="rect">
            <a:avLst/>
          </a:prstGeom>
          <a:noFill/>
        </p:spPr>
        <p:txBody>
          <a:bodyPr wrap="square">
            <a:spAutoFit/>
          </a:bodyPr>
          <a:lstStyle/>
          <a:p>
            <a:pPr algn="l"/>
            <a:r>
              <a:rPr sz="975" b="1">
                <a:solidFill>
                  <a:srgbClr val="6C63FF"/>
                </a:solidFill>
                <a:latin typeface="Noto Sans JP"/>
                <a:ea typeface="Noto Sans JP"/>
                <a:cs typeface="Noto Sans JP"/>
              </a:rPr>
              <a:t>MID-MARKET</a:t>
            </a:r>
          </a:p>
        </p:txBody>
      </p:sp>
      <p:sp>
        <p:nvSpPr>
          <p:cNvPr id="20" name="TextBox 19"/>
          <p:cNvSpPr txBox="1"/>
          <p:nvPr/>
        </p:nvSpPr>
        <p:spPr>
          <a:xfrm>
            <a:off x="4210050" y="3200400"/>
            <a:ext cx="7219950" cy="266700"/>
          </a:xfrm>
          <a:prstGeom prst="rect">
            <a:avLst/>
          </a:prstGeom>
          <a:noFill/>
        </p:spPr>
        <p:txBody>
          <a:bodyPr wrap="square">
            <a:spAutoFit/>
          </a:bodyPr>
          <a:lstStyle/>
          <a:p>
            <a:pPr algn="l"/>
            <a:r>
              <a:rPr sz="1950" b="1">
                <a:solidFill>
                  <a:srgbClr val="1C1F26"/>
                </a:solidFill>
                <a:latin typeface="Noto Sans JP"/>
                <a:ea typeface="Noto Sans JP"/>
                <a:cs typeface="Noto Sans JP"/>
              </a:rPr>
              <a:t>中堅・成長企業</a:t>
            </a:r>
          </a:p>
        </p:txBody>
      </p:sp>
      <p:sp>
        <p:nvSpPr>
          <p:cNvPr id="21" name="TextBox 20"/>
          <p:cNvSpPr txBox="1"/>
          <p:nvPr/>
        </p:nvSpPr>
        <p:spPr>
          <a:xfrm>
            <a:off x="4210050" y="34861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300〜3,000名 / 月額80万円〜</a:t>
            </a:r>
          </a:p>
        </p:txBody>
      </p:sp>
      <p:sp>
        <p:nvSpPr>
          <p:cNvPr id="22" name="TextBox 21"/>
          <p:cNvSpPr txBox="1"/>
          <p:nvPr/>
        </p:nvSpPr>
        <p:spPr>
          <a:xfrm>
            <a:off x="4210050" y="37147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専任カスタマーサクセスマネージャー</a:t>
            </a:r>
          </a:p>
        </p:txBody>
      </p:sp>
      <p:sp>
        <p:nvSpPr>
          <p:cNvPr id="23" name="TextBox 22"/>
          <p:cNvSpPr txBox="1"/>
          <p:nvPr/>
        </p:nvSpPr>
        <p:spPr>
          <a:xfrm>
            <a:off x="4210050" y="392430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カスタムワークフロー設計支援込み</a:t>
            </a:r>
          </a:p>
        </p:txBody>
      </p:sp>
      <p:sp>
        <p:nvSpPr>
          <p:cNvPr id="24" name="Rectangle 23"/>
          <p:cNvSpPr/>
          <p:nvPr/>
        </p:nvSpPr>
        <p:spPr>
          <a:xfrm>
            <a:off x="3600450" y="4953000"/>
            <a:ext cx="457200" cy="457200"/>
          </a:xfrm>
          <a:prstGeom prst="rect">
            <a:avLst/>
          </a:prstGeom>
          <a:solidFill>
            <a:srgbClr val="EDEEF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00450" y="4953000"/>
            <a:ext cx="457200" cy="457200"/>
          </a:xfrm>
          <a:prstGeom prst="rect">
            <a:avLst/>
          </a:prstGeom>
          <a:noFill/>
        </p:spPr>
        <p:txBody>
          <a:bodyPr wrap="square">
            <a:spAutoFit/>
          </a:bodyPr>
          <a:lstStyle/>
          <a:p>
            <a:pPr algn="ctr"/>
            <a:r>
              <a:rPr sz="1500" b="0">
                <a:solidFill>
                  <a:srgbClr val="1C1F26"/>
                </a:solidFill>
                <a:latin typeface="Noto Sans JP"/>
                <a:ea typeface="Noto Sans JP"/>
                <a:cs typeface="Noto Sans JP"/>
              </a:rPr>
              <a:t>🏦</a:t>
            </a:r>
          </a:p>
        </p:txBody>
      </p:sp>
      <p:sp>
        <p:nvSpPr>
          <p:cNvPr id="26" name="TextBox 25"/>
          <p:cNvSpPr txBox="1"/>
          <p:nvPr/>
        </p:nvSpPr>
        <p:spPr>
          <a:xfrm>
            <a:off x="4210050" y="4533900"/>
            <a:ext cx="7219950" cy="190500"/>
          </a:xfrm>
          <a:prstGeom prst="rect">
            <a:avLst/>
          </a:prstGeom>
          <a:noFill/>
        </p:spPr>
        <p:txBody>
          <a:bodyPr wrap="square">
            <a:spAutoFit/>
          </a:bodyPr>
          <a:lstStyle/>
          <a:p>
            <a:pPr algn="l"/>
            <a:r>
              <a:rPr sz="975" b="1">
                <a:solidFill>
                  <a:srgbClr val="6C63FF"/>
                </a:solidFill>
                <a:latin typeface="Noto Sans JP"/>
                <a:ea typeface="Noto Sans JP"/>
                <a:cs typeface="Noto Sans JP"/>
              </a:rPr>
              <a:t>ENTERPRISE</a:t>
            </a:r>
          </a:p>
        </p:txBody>
      </p:sp>
      <p:sp>
        <p:nvSpPr>
          <p:cNvPr id="27" name="TextBox 26"/>
          <p:cNvSpPr txBox="1"/>
          <p:nvPr/>
        </p:nvSpPr>
        <p:spPr>
          <a:xfrm>
            <a:off x="4210050" y="4724400"/>
            <a:ext cx="7219950" cy="266700"/>
          </a:xfrm>
          <a:prstGeom prst="rect">
            <a:avLst/>
          </a:prstGeom>
          <a:noFill/>
        </p:spPr>
        <p:txBody>
          <a:bodyPr wrap="square">
            <a:spAutoFit/>
          </a:bodyPr>
          <a:lstStyle/>
          <a:p>
            <a:pPr algn="l"/>
            <a:r>
              <a:rPr sz="1950" b="1">
                <a:solidFill>
                  <a:srgbClr val="1C1F26"/>
                </a:solidFill>
                <a:latin typeface="Noto Sans JP"/>
                <a:ea typeface="Noto Sans JP"/>
                <a:cs typeface="Noto Sans JP"/>
              </a:rPr>
              <a:t>大企業・グループ企業</a:t>
            </a:r>
          </a:p>
        </p:txBody>
      </p:sp>
      <p:sp>
        <p:nvSpPr>
          <p:cNvPr id="28" name="TextBox 27"/>
          <p:cNvSpPr txBox="1"/>
          <p:nvPr/>
        </p:nvSpPr>
        <p:spPr>
          <a:xfrm>
            <a:off x="4210050" y="50101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3,000名以上 / 個別見積</a:t>
            </a:r>
          </a:p>
        </p:txBody>
      </p:sp>
      <p:sp>
        <p:nvSpPr>
          <p:cNvPr id="29" name="TextBox 28"/>
          <p:cNvSpPr txBox="1"/>
          <p:nvPr/>
        </p:nvSpPr>
        <p:spPr>
          <a:xfrm>
            <a:off x="4210050" y="523875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プライベートクラウド/オンプレ対応</a:t>
            </a:r>
          </a:p>
        </p:txBody>
      </p:sp>
      <p:sp>
        <p:nvSpPr>
          <p:cNvPr id="30" name="TextBox 29"/>
          <p:cNvSpPr txBox="1"/>
          <p:nvPr/>
        </p:nvSpPr>
        <p:spPr>
          <a:xfrm>
            <a:off x="4210050" y="5448300"/>
            <a:ext cx="7219950" cy="209550"/>
          </a:xfrm>
          <a:prstGeom prst="rect">
            <a:avLst/>
          </a:prstGeom>
          <a:noFill/>
        </p:spPr>
        <p:txBody>
          <a:bodyPr wrap="square">
            <a:spAutoFit/>
          </a:bodyPr>
          <a:lstStyle/>
          <a:p>
            <a:pPr algn="l"/>
            <a:r>
              <a:rPr sz="975" b="0">
                <a:solidFill>
                  <a:srgbClr val="595F6B"/>
                </a:solidFill>
                <a:latin typeface="Noto Sans JP"/>
                <a:ea typeface="Noto Sans JP"/>
                <a:cs typeface="Noto Sans JP"/>
              </a:rPr>
              <a:t>●  SLA 99.99% + 24時間有人サポート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 経済産業省「DX推進指標」2025年版 / 自社支援事例分析</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19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3000" b="1">
                <a:solidFill>
                  <a:srgbClr val="1C1F26"/>
                </a:solidFill>
                <a:latin typeface="Noto Sans JP"/>
                <a:ea typeface="Noto Sans JP"/>
                <a:cs typeface="Noto Sans JP"/>
              </a:rPr>
              <a:t>日本のSMBがDXに失敗する根本原因と解決策</a:t>
            </a:r>
          </a:p>
        </p:txBody>
      </p:sp>
      <p:sp>
        <p:nvSpPr>
          <p:cNvPr id="5" name="Rectangle 4"/>
          <p:cNvSpPr/>
          <p:nvPr/>
        </p:nvSpPr>
        <p:spPr>
          <a:xfrm>
            <a:off x="685800" y="1447800"/>
            <a:ext cx="38100" cy="2133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0600" y="1600200"/>
            <a:ext cx="10515600" cy="304800"/>
          </a:xfrm>
          <a:prstGeom prst="rect">
            <a:avLst/>
          </a:prstGeom>
          <a:noFill/>
        </p:spPr>
        <p:txBody>
          <a:bodyPr wrap="square">
            <a:spAutoFit/>
          </a:bodyPr>
          <a:lstStyle/>
          <a:p>
            <a:pPr algn="l"/>
            <a:r>
              <a:rPr sz="1950" b="1">
                <a:solidFill>
                  <a:srgbClr val="1C1F26"/>
                </a:solidFill>
                <a:latin typeface="Noto Sans JP"/>
                <a:ea typeface="Noto Sans JP"/>
                <a:cs typeface="Noto Sans JP"/>
              </a:rPr>
              <a:t>なぜ70%のDXプロジェクトが失敗するのか</a:t>
            </a:r>
          </a:p>
        </p:txBody>
      </p:sp>
      <p:sp>
        <p:nvSpPr>
          <p:cNvPr id="7" name="TextBox 6"/>
          <p:cNvSpPr txBox="1"/>
          <p:nvPr/>
        </p:nvSpPr>
        <p:spPr>
          <a:xfrm>
            <a:off x="990600" y="1943100"/>
            <a:ext cx="10515600" cy="1476375"/>
          </a:xfrm>
          <a:prstGeom prst="rect">
            <a:avLst/>
          </a:prstGeom>
          <a:noFill/>
        </p:spPr>
        <p:txBody>
          <a:bodyPr wrap="square">
            <a:spAutoFit/>
          </a:bodyPr>
          <a:lstStyle/>
          <a:p>
            <a:pPr algn="l"/>
            <a:r>
              <a:rPr sz="1350" b="0">
                <a:solidFill>
                  <a:srgbClr val="595F6B"/>
                </a:solidFill>
                <a:latin typeface="Noto Sans JP"/>
                <a:ea typeface="Noto Sans JP"/>
                <a:cs typeface="Noto Sans JP"/>
              </a:rPr>
              <a:t>経済産業省の調査では、国内中小企業のDX推進失敗率は依然として70%超を記録する。主因は「目的不明確なツール導入」「社内推進体制の欠如」「現場の変化抵抗」の三重構造にある。特に、経営層の掛け声だけで現場オーナーシップが醸成されないまま進めるプロジェクトは、導入後6ヶ月以内に利用率が20%未満に低下するケースが多い。</a:t>
            </a:r>
          </a:p>
        </p:txBody>
      </p:sp>
      <p:sp>
        <p:nvSpPr>
          <p:cNvPr id="8" name="Rectangle 7"/>
          <p:cNvSpPr/>
          <p:nvPr/>
        </p:nvSpPr>
        <p:spPr>
          <a:xfrm>
            <a:off x="685800" y="3581400"/>
            <a:ext cx="10820400" cy="762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810000"/>
            <a:ext cx="38100" cy="2286000"/>
          </a:xfrm>
          <a:prstGeom prst="rect">
            <a:avLst/>
          </a:prstGeom>
          <a:solidFill>
            <a:srgbClr val="7C9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0600" y="3962400"/>
            <a:ext cx="10515600" cy="304800"/>
          </a:xfrm>
          <a:prstGeom prst="rect">
            <a:avLst/>
          </a:prstGeom>
          <a:noFill/>
        </p:spPr>
        <p:txBody>
          <a:bodyPr wrap="square">
            <a:spAutoFit/>
          </a:bodyPr>
          <a:lstStyle/>
          <a:p>
            <a:pPr algn="l"/>
            <a:r>
              <a:rPr sz="1950" b="1">
                <a:solidFill>
                  <a:srgbClr val="1C1F26"/>
                </a:solidFill>
                <a:latin typeface="Noto Sans JP"/>
                <a:ea typeface="Noto Sans JP"/>
                <a:cs typeface="Noto Sans JP"/>
              </a:rPr>
              <a:t>成功企業が共通して実践する3つのアクション</a:t>
            </a:r>
          </a:p>
        </p:txBody>
      </p:sp>
      <p:sp>
        <p:nvSpPr>
          <p:cNvPr id="11" name="TextBox 10"/>
          <p:cNvSpPr txBox="1"/>
          <p:nvPr/>
        </p:nvSpPr>
        <p:spPr>
          <a:xfrm>
            <a:off x="990600" y="4305300"/>
            <a:ext cx="10515600" cy="285750"/>
          </a:xfrm>
          <a:prstGeom prst="rect">
            <a:avLst/>
          </a:prstGeom>
          <a:noFill/>
        </p:spPr>
        <p:txBody>
          <a:bodyPr wrap="square">
            <a:spAutoFit/>
          </a:bodyPr>
          <a:lstStyle/>
          <a:p>
            <a:pPr algn="l"/>
            <a:r>
              <a:rPr sz="1350" b="0">
                <a:solidFill>
                  <a:srgbClr val="595F6B"/>
                </a:solidFill>
                <a:latin typeface="Noto Sans JP"/>
                <a:ea typeface="Noto Sans JP"/>
                <a:cs typeface="Noto Sans JP"/>
              </a:rPr>
              <a:t>現場ニーズの仮説検証→スモールスタート→全社展開の順序を守ることで失敗率を大幅に低減できる。</a:t>
            </a:r>
          </a:p>
        </p:txBody>
      </p:sp>
      <p:sp>
        <p:nvSpPr>
          <p:cNvPr id="12" name="Rectangle 11"/>
          <p:cNvSpPr/>
          <p:nvPr/>
        </p:nvSpPr>
        <p:spPr>
          <a:xfrm>
            <a:off x="990600" y="4686300"/>
            <a:ext cx="228600" cy="228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0600" y="4686300"/>
            <a:ext cx="228600" cy="228600"/>
          </a:xfrm>
          <a:prstGeom prst="rect">
            <a:avLst/>
          </a:prstGeom>
          <a:noFill/>
        </p:spPr>
        <p:txBody>
          <a:bodyPr wrap="square">
            <a:spAutoFit/>
          </a:bodyPr>
          <a:lstStyle/>
          <a:p>
            <a:pPr algn="ctr"/>
            <a:r>
              <a:rPr sz="975" b="1">
                <a:solidFill>
                  <a:srgbClr val="FFFFFF"/>
                </a:solidFill>
                <a:latin typeface="Noto Sans JP"/>
                <a:ea typeface="Noto Sans JP"/>
                <a:cs typeface="Noto Sans JP"/>
              </a:rPr>
              <a:t>1</a:t>
            </a:r>
          </a:p>
        </p:txBody>
      </p:sp>
      <p:sp>
        <p:nvSpPr>
          <p:cNvPr id="14" name="TextBox 13"/>
          <p:cNvSpPr txBox="1"/>
          <p:nvPr/>
        </p:nvSpPr>
        <p:spPr>
          <a:xfrm>
            <a:off x="1314450" y="4648200"/>
            <a:ext cx="10191750" cy="457200"/>
          </a:xfrm>
          <a:prstGeom prst="rect">
            <a:avLst/>
          </a:prstGeom>
          <a:noFill/>
        </p:spPr>
        <p:txBody>
          <a:bodyPr wrap="square">
            <a:spAutoFit/>
          </a:bodyPr>
          <a:lstStyle/>
          <a:p>
            <a:pPr algn="l"/>
            <a:r>
              <a:rPr sz="1350" b="0">
                <a:solidFill>
                  <a:srgbClr val="1C1F26"/>
                </a:solidFill>
                <a:latin typeface="Noto Sans JP"/>
                <a:ea typeface="Noto Sans JP"/>
                <a:cs typeface="Noto Sans JP"/>
              </a:rPr>
              <a:t>現場ヒアリングで「痛点トップ3」を特定し、最初の90日で定量改善を実証する</a:t>
            </a:r>
          </a:p>
        </p:txBody>
      </p:sp>
      <p:sp>
        <p:nvSpPr>
          <p:cNvPr id="15" name="Rectangle 14"/>
          <p:cNvSpPr/>
          <p:nvPr/>
        </p:nvSpPr>
        <p:spPr>
          <a:xfrm>
            <a:off x="990600" y="5181600"/>
            <a:ext cx="228600" cy="228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0600" y="5181600"/>
            <a:ext cx="228600" cy="228600"/>
          </a:xfrm>
          <a:prstGeom prst="rect">
            <a:avLst/>
          </a:prstGeom>
          <a:noFill/>
        </p:spPr>
        <p:txBody>
          <a:bodyPr wrap="square">
            <a:spAutoFit/>
          </a:bodyPr>
          <a:lstStyle/>
          <a:p>
            <a:pPr algn="ctr"/>
            <a:r>
              <a:rPr sz="975" b="1">
                <a:solidFill>
                  <a:srgbClr val="FFFFFF"/>
                </a:solidFill>
                <a:latin typeface="Noto Sans JP"/>
                <a:ea typeface="Noto Sans JP"/>
                <a:cs typeface="Noto Sans JP"/>
              </a:rPr>
              <a:t>2</a:t>
            </a:r>
          </a:p>
        </p:txBody>
      </p:sp>
      <p:sp>
        <p:nvSpPr>
          <p:cNvPr id="17" name="TextBox 16"/>
          <p:cNvSpPr txBox="1"/>
          <p:nvPr/>
        </p:nvSpPr>
        <p:spPr>
          <a:xfrm>
            <a:off x="1314450" y="5143500"/>
            <a:ext cx="10191750" cy="457200"/>
          </a:xfrm>
          <a:prstGeom prst="rect">
            <a:avLst/>
          </a:prstGeom>
          <a:noFill/>
        </p:spPr>
        <p:txBody>
          <a:bodyPr wrap="square">
            <a:spAutoFit/>
          </a:bodyPr>
          <a:lstStyle/>
          <a:p>
            <a:pPr algn="l"/>
            <a:r>
              <a:rPr sz="1350" b="0">
                <a:solidFill>
                  <a:srgbClr val="1C1F26"/>
                </a:solidFill>
                <a:latin typeface="Noto Sans JP"/>
                <a:ea typeface="Noto Sans JP"/>
                <a:cs typeface="Noto Sans JP"/>
              </a:rPr>
              <a:t>経営KPIと紐づいたDX指標を設定し、四半期ごとに経営会議でレビューする</a:t>
            </a:r>
          </a:p>
        </p:txBody>
      </p:sp>
      <p:sp>
        <p:nvSpPr>
          <p:cNvPr id="18" name="Rectangle 17"/>
          <p:cNvSpPr/>
          <p:nvPr/>
        </p:nvSpPr>
        <p:spPr>
          <a:xfrm>
            <a:off x="990600" y="5676900"/>
            <a:ext cx="228600" cy="2286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0600" y="5676900"/>
            <a:ext cx="228600" cy="228600"/>
          </a:xfrm>
          <a:prstGeom prst="rect">
            <a:avLst/>
          </a:prstGeom>
          <a:noFill/>
        </p:spPr>
        <p:txBody>
          <a:bodyPr wrap="square">
            <a:spAutoFit/>
          </a:bodyPr>
          <a:lstStyle/>
          <a:p>
            <a:pPr algn="ctr"/>
            <a:r>
              <a:rPr sz="975" b="1">
                <a:solidFill>
                  <a:srgbClr val="FFFFFF"/>
                </a:solidFill>
                <a:latin typeface="Noto Sans JP"/>
                <a:ea typeface="Noto Sans JP"/>
                <a:cs typeface="Noto Sans JP"/>
              </a:rPr>
              <a:t>3</a:t>
            </a:r>
          </a:p>
        </p:txBody>
      </p:sp>
      <p:sp>
        <p:nvSpPr>
          <p:cNvPr id="20" name="TextBox 19"/>
          <p:cNvSpPr txBox="1"/>
          <p:nvPr/>
        </p:nvSpPr>
        <p:spPr>
          <a:xfrm>
            <a:off x="1314450" y="5638800"/>
            <a:ext cx="10191750" cy="457200"/>
          </a:xfrm>
          <a:prstGeom prst="rect">
            <a:avLst/>
          </a:prstGeom>
          <a:noFill/>
        </p:spPr>
        <p:txBody>
          <a:bodyPr wrap="square">
            <a:spAutoFit/>
          </a:bodyPr>
          <a:lstStyle/>
          <a:p>
            <a:pPr algn="l"/>
            <a:r>
              <a:rPr sz="1350" b="0">
                <a:solidFill>
                  <a:srgbClr val="1C1F26"/>
                </a:solidFill>
                <a:latin typeface="Noto Sans JP"/>
                <a:ea typeface="Noto Sans JP"/>
                <a:cs typeface="Noto Sans JP"/>
              </a:rPr>
              <a:t>社内DXチャンピオンを各部門に配置し、現場発のボトムアップ改善を制度化する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導入企業16社の平均値 — 2026年6月時点</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20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3000" b="1">
                <a:solidFill>
                  <a:srgbClr val="1C1F26"/>
                </a:solidFill>
                <a:latin typeface="Noto Sans JP"/>
                <a:ea typeface="Noto Sans JP"/>
                <a:cs typeface="Noto Sans JP"/>
              </a:rPr>
              <a:t>AIチャットボットが顧客対応コストを半減させる</a:t>
            </a:r>
          </a:p>
        </p:txBody>
      </p:sp>
      <p:sp>
        <p:nvSpPr>
          <p:cNvPr id="5" name="Rectangle 4"/>
          <p:cNvSpPr/>
          <p:nvPr/>
        </p:nvSpPr>
        <p:spPr>
          <a:xfrm>
            <a:off x="685800" y="1447800"/>
            <a:ext cx="3457575" cy="46482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543300"/>
            <a:ext cx="3457575" cy="457200"/>
          </a:xfrm>
          <a:prstGeom prst="rect">
            <a:avLst/>
          </a:prstGeom>
          <a:noFill/>
        </p:spPr>
        <p:txBody>
          <a:bodyPr wrap="square">
            <a:spAutoFit/>
          </a:bodyPr>
          <a:lstStyle/>
          <a:p>
            <a:pPr algn="ctr"/>
            <a:r>
              <a:rPr sz="975" b="0">
                <a:solidFill>
                  <a:srgbClr val="595F6B"/>
                </a:solidFill>
                <a:latin typeface="Noto Sans JP"/>
                <a:ea typeface="Noto Sans JP"/>
                <a:cs typeface="Noto Sans JP"/>
              </a:rPr>
              <a:t>PRODUCT SCREENSHOT</a:t>
            </a:r>
          </a:p>
        </p:txBody>
      </p:sp>
      <p:sp>
        <p:nvSpPr>
          <p:cNvPr id="7" name="TextBox 6"/>
          <p:cNvSpPr txBox="1"/>
          <p:nvPr/>
        </p:nvSpPr>
        <p:spPr>
          <a:xfrm>
            <a:off x="4524375" y="1676400"/>
            <a:ext cx="6981825" cy="209550"/>
          </a:xfrm>
          <a:prstGeom prst="rect">
            <a:avLst/>
          </a:prstGeom>
          <a:noFill/>
        </p:spPr>
        <p:txBody>
          <a:bodyPr wrap="square">
            <a:spAutoFit/>
          </a:bodyPr>
          <a:lstStyle/>
          <a:p>
            <a:pPr algn="l"/>
            <a:r>
              <a:rPr sz="975" b="1">
                <a:solidFill>
                  <a:srgbClr val="6C63FF"/>
                </a:solidFill>
                <a:latin typeface="Noto Sans JP"/>
                <a:ea typeface="Noto Sans JP"/>
                <a:cs typeface="Noto Sans JP"/>
              </a:rPr>
              <a:t>FEATURES</a:t>
            </a:r>
          </a:p>
        </p:txBody>
      </p:sp>
      <p:sp>
        <p:nvSpPr>
          <p:cNvPr id="8" name="TextBox 7"/>
          <p:cNvSpPr txBox="1"/>
          <p:nvPr/>
        </p:nvSpPr>
        <p:spPr>
          <a:xfrm>
            <a:off x="4524375" y="1943100"/>
            <a:ext cx="6981825" cy="419100"/>
          </a:xfrm>
          <a:prstGeom prst="rect">
            <a:avLst/>
          </a:prstGeom>
          <a:noFill/>
        </p:spPr>
        <p:txBody>
          <a:bodyPr wrap="square">
            <a:spAutoFit/>
          </a:bodyPr>
          <a:lstStyle/>
          <a:p>
            <a:pPr algn="l"/>
            <a:r>
              <a:rPr sz="1950" b="1">
                <a:solidFill>
                  <a:srgbClr val="1C1F26"/>
                </a:solidFill>
                <a:latin typeface="Noto Sans JP"/>
                <a:ea typeface="Noto Sans JP"/>
                <a:cs typeface="Noto Sans JP"/>
              </a:rPr>
              <a:t>主要機能と導入効果</a:t>
            </a:r>
          </a:p>
        </p:txBody>
      </p:sp>
      <p:sp>
        <p:nvSpPr>
          <p:cNvPr id="9" name="Rectangle 8"/>
          <p:cNvSpPr/>
          <p:nvPr/>
        </p:nvSpPr>
        <p:spPr>
          <a:xfrm>
            <a:off x="4524375" y="2438400"/>
            <a:ext cx="1143000" cy="28575"/>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4375" y="2628900"/>
            <a:ext cx="6905625" cy="828675"/>
          </a:xfrm>
          <a:prstGeom prst="rect">
            <a:avLst/>
          </a:prstGeom>
          <a:noFill/>
        </p:spPr>
        <p:txBody>
          <a:bodyPr wrap="square">
            <a:spAutoFit/>
          </a:bodyPr>
          <a:lstStyle/>
          <a:p>
            <a:pPr algn="l"/>
            <a:r>
              <a:rPr sz="1350" b="0">
                <a:solidFill>
                  <a:srgbClr val="1C1F26"/>
                </a:solidFill>
                <a:latin typeface="Noto Sans JP"/>
                <a:ea typeface="Noto Sans JP"/>
                <a:cs typeface="Noto Sans JP"/>
              </a:rPr>
              <a:t>・  24時間365日の自動一次対応により、問い合わせの65%を人的介入なしに解決。深夜・休日対応コストをゼロ化。</a:t>
            </a:r>
          </a:p>
        </p:txBody>
      </p:sp>
      <p:sp>
        <p:nvSpPr>
          <p:cNvPr id="11" name="TextBox 10"/>
          <p:cNvSpPr txBox="1"/>
          <p:nvPr/>
        </p:nvSpPr>
        <p:spPr>
          <a:xfrm>
            <a:off x="4524375" y="3457575"/>
            <a:ext cx="6905625" cy="828675"/>
          </a:xfrm>
          <a:prstGeom prst="rect">
            <a:avLst/>
          </a:prstGeom>
          <a:noFill/>
        </p:spPr>
        <p:txBody>
          <a:bodyPr wrap="square">
            <a:spAutoFit/>
          </a:bodyPr>
          <a:lstStyle/>
          <a:p>
            <a:pPr algn="l"/>
            <a:r>
              <a:rPr sz="1350" b="0">
                <a:solidFill>
                  <a:srgbClr val="1C1F26"/>
                </a:solidFill>
                <a:latin typeface="Noto Sans JP"/>
                <a:ea typeface="Noto Sans JP"/>
                <a:cs typeface="Noto Sans JP"/>
              </a:rPr>
              <a:t>・  過去の対話履歴と購買データを統合し、個人に最適化した回答を生成。顧客満足度スコア（CSAT）が平均+18pt向上。</a:t>
            </a:r>
          </a:p>
        </p:txBody>
      </p:sp>
      <p:sp>
        <p:nvSpPr>
          <p:cNvPr id="12" name="TextBox 11"/>
          <p:cNvSpPr txBox="1"/>
          <p:nvPr/>
        </p:nvSpPr>
        <p:spPr>
          <a:xfrm>
            <a:off x="4524375" y="4286250"/>
            <a:ext cx="6905625" cy="828675"/>
          </a:xfrm>
          <a:prstGeom prst="rect">
            <a:avLst/>
          </a:prstGeom>
          <a:noFill/>
        </p:spPr>
        <p:txBody>
          <a:bodyPr wrap="square">
            <a:spAutoFit/>
          </a:bodyPr>
          <a:lstStyle/>
          <a:p>
            <a:pPr algn="l"/>
            <a:r>
              <a:rPr sz="1350" b="0">
                <a:solidFill>
                  <a:srgbClr val="1C1F26"/>
                </a:solidFill>
                <a:latin typeface="Noto Sans JP"/>
                <a:ea typeface="Noto Sans JP"/>
                <a:cs typeface="Noto Sans JP"/>
              </a:rPr>
              <a:t>・  エスカレーション自動判定エンジンが複雑な問い合わせを即座に有人対応へ転送。対応品質の均質化を実現。</a:t>
            </a:r>
          </a:p>
        </p:txBody>
      </p:sp>
      <p:sp>
        <p:nvSpPr>
          <p:cNvPr id="13" name="TextBox 12"/>
          <p:cNvSpPr txBox="1"/>
          <p:nvPr/>
        </p:nvSpPr>
        <p:spPr>
          <a:xfrm>
            <a:off x="4524375" y="5114925"/>
            <a:ext cx="6905625" cy="828675"/>
          </a:xfrm>
          <a:prstGeom prst="rect">
            <a:avLst/>
          </a:prstGeom>
          <a:noFill/>
        </p:spPr>
        <p:txBody>
          <a:bodyPr wrap="square">
            <a:spAutoFit/>
          </a:bodyPr>
          <a:lstStyle/>
          <a:p>
            <a:pPr algn="l"/>
            <a:r>
              <a:rPr sz="1350" b="0">
                <a:solidFill>
                  <a:srgbClr val="1C1F26"/>
                </a:solidFill>
                <a:latin typeface="Noto Sans JP"/>
                <a:ea typeface="Noto Sans JP"/>
                <a:cs typeface="Noto Sans JP"/>
              </a:rPr>
              <a:t>・  管理ダッシュボードでよくある質問・未解決率・対応時間をリアルタイム把握。月次改善サイクルをデータドリブンで回せる。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C1F26"/>
                </a:solidFill>
                <a:latin typeface="Noto Sans JP"/>
                <a:ea typeface="Noto Sans JP"/>
                <a:cs typeface="Noto Sans JP"/>
              </a:rPr>
              <a:t>➡️ フロー・ステップ</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modern-tech　·　7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21 / 98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導入プロジェクト標準テンプレート v2.1 — 2026年版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4ステップで完結するAI導入プロセス</a:t>
            </a:r>
          </a:p>
        </p:txBody>
      </p:sp>
      <p:sp>
        <p:nvSpPr>
          <p:cNvPr id="5" name="TextBox 4"/>
          <p:cNvSpPr txBox="1"/>
          <p:nvPr/>
        </p:nvSpPr>
        <p:spPr>
          <a:xfrm>
            <a:off x="685800" y="1447800"/>
            <a:ext cx="10820400" cy="381000"/>
          </a:xfrm>
          <a:prstGeom prst="rect">
            <a:avLst/>
          </a:prstGeom>
          <a:noFill/>
        </p:spPr>
        <p:txBody>
          <a:bodyPr wrap="square">
            <a:spAutoFit/>
          </a:bodyPr>
          <a:lstStyle/>
          <a:p>
            <a:pPr algn="l"/>
            <a:r>
              <a:rPr sz="1350" b="0">
                <a:solidFill>
                  <a:srgbClr val="595F6B"/>
                </a:solidFill>
                <a:latin typeface="Noto Sans JP"/>
                <a:ea typeface="Noto Sans JP"/>
                <a:cs typeface="Noto Sans JP"/>
              </a:rPr>
              <a:t>準備から本番稼働まで最短8週間で完了できます</a:t>
            </a:r>
          </a:p>
        </p:txBody>
      </p:sp>
      <p:sp>
        <p:nvSpPr>
          <p:cNvPr id="6" name="Rounded Rectangle 5"/>
          <p:cNvSpPr/>
          <p:nvPr/>
        </p:nvSpPr>
        <p:spPr>
          <a:xfrm>
            <a:off x="685800" y="1981200"/>
            <a:ext cx="1838325" cy="4114800"/>
          </a:xfrm>
          <a:prstGeom prst="roundRect">
            <a:avLst>
              <a:gd name="adj" fmla="val 3108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28750" y="2362200"/>
            <a:ext cx="342900" cy="3429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0" y="2362200"/>
            <a:ext cx="342900" cy="342900"/>
          </a:xfrm>
          <a:prstGeom prst="rect">
            <a:avLst/>
          </a:prstGeom>
          <a:noFill/>
        </p:spPr>
        <p:txBody>
          <a:bodyPr wrap="none">
            <a:spAutoFit/>
          </a:bodyPr>
          <a:lstStyle/>
          <a:p>
            <a:pPr algn="ctr"/>
            <a:r>
              <a:rPr sz="975" b="1">
                <a:solidFill>
                  <a:srgbClr val="FFFFFF"/>
                </a:solidFill>
                <a:latin typeface="Noto Sans JP"/>
                <a:ea typeface="Noto Sans JP"/>
                <a:cs typeface="Noto Sans JP"/>
              </a:rPr>
              <a:t>01</a:t>
            </a:r>
          </a:p>
        </p:txBody>
      </p:sp>
      <p:sp>
        <p:nvSpPr>
          <p:cNvPr id="9" name="TextBox 8"/>
          <p:cNvSpPr txBox="1"/>
          <p:nvPr/>
        </p:nvSpPr>
        <p:spPr>
          <a:xfrm>
            <a:off x="800100" y="2819400"/>
            <a:ext cx="1609725" cy="685800"/>
          </a:xfrm>
          <a:prstGeom prst="rect">
            <a:avLst/>
          </a:prstGeom>
          <a:noFill/>
        </p:spPr>
        <p:txBody>
          <a:bodyPr wrap="square">
            <a:spAutoFit/>
          </a:bodyPr>
          <a:lstStyle/>
          <a:p>
            <a:pPr algn="ctr"/>
            <a:r>
              <a:rPr sz="1125" b="1">
                <a:solidFill>
                  <a:srgbClr val="1C1F26"/>
                </a:solidFill>
                <a:latin typeface="Noto Sans JP"/>
                <a:ea typeface="Noto Sans JP"/>
                <a:cs typeface="Noto Sans JP"/>
              </a:rPr>
              <a:t>現状調査・課題整理</a:t>
            </a:r>
          </a:p>
        </p:txBody>
      </p:sp>
      <p:sp>
        <p:nvSpPr>
          <p:cNvPr id="10" name="TextBox 9"/>
          <p:cNvSpPr txBox="1"/>
          <p:nvPr/>
        </p:nvSpPr>
        <p:spPr>
          <a:xfrm>
            <a:off x="800100" y="3543300"/>
            <a:ext cx="1609725" cy="2400300"/>
          </a:xfrm>
          <a:prstGeom prst="rect">
            <a:avLst/>
          </a:prstGeom>
          <a:noFill/>
        </p:spPr>
        <p:txBody>
          <a:bodyPr wrap="square">
            <a:spAutoFit/>
          </a:bodyPr>
          <a:lstStyle/>
          <a:p>
            <a:pPr algn="ctr"/>
            <a:r>
              <a:rPr sz="975" b="0">
                <a:solidFill>
                  <a:srgbClr val="595F6B"/>
                </a:solidFill>
                <a:latin typeface="Noto Sans JP"/>
                <a:ea typeface="Noto Sans JP"/>
                <a:cs typeface="Noto Sans JP"/>
              </a:rPr>
              <a:t>業務ヒアリングとデータ棚卸し</a:t>
            </a:r>
          </a:p>
        </p:txBody>
      </p:sp>
      <p:cxnSp>
        <p:nvCxnSpPr>
          <p:cNvPr id="11" name="Connector 10"/>
          <p:cNvCxnSpPr/>
          <p:nvPr/>
        </p:nvCxnSpPr>
        <p:spPr>
          <a:xfrm>
            <a:off x="2543175" y="4038600"/>
            <a:ext cx="190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52725" y="1981200"/>
            <a:ext cx="1838325" cy="4114800"/>
          </a:xfrm>
          <a:prstGeom prst="roundRect">
            <a:avLst>
              <a:gd name="adj" fmla="val 3108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495675" y="2362200"/>
            <a:ext cx="342900" cy="3429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95675" y="2362200"/>
            <a:ext cx="342900" cy="342900"/>
          </a:xfrm>
          <a:prstGeom prst="rect">
            <a:avLst/>
          </a:prstGeom>
          <a:noFill/>
        </p:spPr>
        <p:txBody>
          <a:bodyPr wrap="none">
            <a:spAutoFit/>
          </a:bodyPr>
          <a:lstStyle/>
          <a:p>
            <a:pPr algn="ctr"/>
            <a:r>
              <a:rPr sz="975" b="1">
                <a:solidFill>
                  <a:srgbClr val="FFFFFF"/>
                </a:solidFill>
                <a:latin typeface="Noto Sans JP"/>
                <a:ea typeface="Noto Sans JP"/>
                <a:cs typeface="Noto Sans JP"/>
              </a:rPr>
              <a:t>02</a:t>
            </a:r>
          </a:p>
        </p:txBody>
      </p:sp>
      <p:sp>
        <p:nvSpPr>
          <p:cNvPr id="15" name="TextBox 14"/>
          <p:cNvSpPr txBox="1"/>
          <p:nvPr/>
        </p:nvSpPr>
        <p:spPr>
          <a:xfrm>
            <a:off x="2867025" y="2819400"/>
            <a:ext cx="1609725" cy="685800"/>
          </a:xfrm>
          <a:prstGeom prst="rect">
            <a:avLst/>
          </a:prstGeom>
          <a:noFill/>
        </p:spPr>
        <p:txBody>
          <a:bodyPr wrap="square">
            <a:spAutoFit/>
          </a:bodyPr>
          <a:lstStyle/>
          <a:p>
            <a:pPr algn="ctr"/>
            <a:r>
              <a:rPr sz="1125" b="1">
                <a:solidFill>
                  <a:srgbClr val="1C1F26"/>
                </a:solidFill>
                <a:latin typeface="Noto Sans JP"/>
                <a:ea typeface="Noto Sans JP"/>
                <a:cs typeface="Noto Sans JP"/>
              </a:rPr>
              <a:t>PoC設計・環境構築</a:t>
            </a:r>
          </a:p>
        </p:txBody>
      </p:sp>
      <p:sp>
        <p:nvSpPr>
          <p:cNvPr id="16" name="TextBox 15"/>
          <p:cNvSpPr txBox="1"/>
          <p:nvPr/>
        </p:nvSpPr>
        <p:spPr>
          <a:xfrm>
            <a:off x="2867025" y="3543300"/>
            <a:ext cx="1609725" cy="2400300"/>
          </a:xfrm>
          <a:prstGeom prst="rect">
            <a:avLst/>
          </a:prstGeom>
          <a:noFill/>
        </p:spPr>
        <p:txBody>
          <a:bodyPr wrap="square">
            <a:spAutoFit/>
          </a:bodyPr>
          <a:lstStyle/>
          <a:p>
            <a:pPr algn="ctr"/>
            <a:r>
              <a:rPr sz="975" b="0">
                <a:solidFill>
                  <a:srgbClr val="595F6B"/>
                </a:solidFill>
                <a:latin typeface="Noto Sans JP"/>
                <a:ea typeface="Noto Sans JP"/>
                <a:cs typeface="Noto Sans JP"/>
              </a:rPr>
              <a:t>パイロット環境をセットアップ</a:t>
            </a:r>
          </a:p>
        </p:txBody>
      </p:sp>
      <p:cxnSp>
        <p:nvCxnSpPr>
          <p:cNvPr id="17" name="Connector 16"/>
          <p:cNvCxnSpPr/>
          <p:nvPr/>
        </p:nvCxnSpPr>
        <p:spPr>
          <a:xfrm>
            <a:off x="4610100" y="4038600"/>
            <a:ext cx="190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819650" y="1981200"/>
            <a:ext cx="1838325" cy="4114800"/>
          </a:xfrm>
          <a:prstGeom prst="roundRect">
            <a:avLst>
              <a:gd name="adj" fmla="val 3108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562600" y="2362200"/>
            <a:ext cx="342900" cy="3429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2600" y="2362200"/>
            <a:ext cx="342900" cy="342900"/>
          </a:xfrm>
          <a:prstGeom prst="rect">
            <a:avLst/>
          </a:prstGeom>
          <a:noFill/>
        </p:spPr>
        <p:txBody>
          <a:bodyPr wrap="none">
            <a:spAutoFit/>
          </a:bodyPr>
          <a:lstStyle/>
          <a:p>
            <a:pPr algn="ctr"/>
            <a:r>
              <a:rPr sz="975" b="1">
                <a:solidFill>
                  <a:srgbClr val="FFFFFF"/>
                </a:solidFill>
                <a:latin typeface="Noto Sans JP"/>
                <a:ea typeface="Noto Sans JP"/>
                <a:cs typeface="Noto Sans JP"/>
              </a:rPr>
              <a:t>03</a:t>
            </a:r>
          </a:p>
        </p:txBody>
      </p:sp>
      <p:sp>
        <p:nvSpPr>
          <p:cNvPr id="21" name="TextBox 20"/>
          <p:cNvSpPr txBox="1"/>
          <p:nvPr/>
        </p:nvSpPr>
        <p:spPr>
          <a:xfrm>
            <a:off x="4933950" y="2819400"/>
            <a:ext cx="1609725" cy="685800"/>
          </a:xfrm>
          <a:prstGeom prst="rect">
            <a:avLst/>
          </a:prstGeom>
          <a:noFill/>
        </p:spPr>
        <p:txBody>
          <a:bodyPr wrap="square">
            <a:spAutoFit/>
          </a:bodyPr>
          <a:lstStyle/>
          <a:p>
            <a:pPr algn="ctr"/>
            <a:r>
              <a:rPr sz="1125" b="1">
                <a:solidFill>
                  <a:srgbClr val="1C1F26"/>
                </a:solidFill>
                <a:latin typeface="Noto Sans JP"/>
                <a:ea typeface="Noto Sans JP"/>
                <a:cs typeface="Noto Sans JP"/>
              </a:rPr>
              <a:t>パイロット検証</a:t>
            </a:r>
          </a:p>
        </p:txBody>
      </p:sp>
      <p:sp>
        <p:nvSpPr>
          <p:cNvPr id="22" name="TextBox 21"/>
          <p:cNvSpPr txBox="1"/>
          <p:nvPr/>
        </p:nvSpPr>
        <p:spPr>
          <a:xfrm>
            <a:off x="4933950" y="3543300"/>
            <a:ext cx="1609725" cy="2400300"/>
          </a:xfrm>
          <a:prstGeom prst="rect">
            <a:avLst/>
          </a:prstGeom>
          <a:noFill/>
        </p:spPr>
        <p:txBody>
          <a:bodyPr wrap="square">
            <a:spAutoFit/>
          </a:bodyPr>
          <a:lstStyle/>
          <a:p>
            <a:pPr algn="ctr"/>
            <a:r>
              <a:rPr sz="975" b="0">
                <a:solidFill>
                  <a:srgbClr val="595F6B"/>
                </a:solidFill>
                <a:latin typeface="Noto Sans JP"/>
                <a:ea typeface="Noto Sans JP"/>
                <a:cs typeface="Noto Sans JP"/>
              </a:rPr>
              <a:t>20名で2週間のトライアル実施</a:t>
            </a:r>
          </a:p>
        </p:txBody>
      </p:sp>
      <p:cxnSp>
        <p:nvCxnSpPr>
          <p:cNvPr id="23" name="Connector 22"/>
          <p:cNvCxnSpPr/>
          <p:nvPr/>
        </p:nvCxnSpPr>
        <p:spPr>
          <a:xfrm>
            <a:off x="6677025" y="4038600"/>
            <a:ext cx="190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886575" y="1981200"/>
            <a:ext cx="1838325" cy="4114800"/>
          </a:xfrm>
          <a:prstGeom prst="roundRect">
            <a:avLst>
              <a:gd name="adj" fmla="val 3108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629525" y="2362200"/>
            <a:ext cx="342900" cy="3429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29525" y="2362200"/>
            <a:ext cx="342900" cy="342900"/>
          </a:xfrm>
          <a:prstGeom prst="rect">
            <a:avLst/>
          </a:prstGeom>
          <a:noFill/>
        </p:spPr>
        <p:txBody>
          <a:bodyPr wrap="none">
            <a:spAutoFit/>
          </a:bodyPr>
          <a:lstStyle/>
          <a:p>
            <a:pPr algn="ctr"/>
            <a:r>
              <a:rPr sz="975" b="1">
                <a:solidFill>
                  <a:srgbClr val="FFFFFF"/>
                </a:solidFill>
                <a:latin typeface="Noto Sans JP"/>
                <a:ea typeface="Noto Sans JP"/>
                <a:cs typeface="Noto Sans JP"/>
              </a:rPr>
              <a:t>04</a:t>
            </a:r>
          </a:p>
        </p:txBody>
      </p:sp>
      <p:sp>
        <p:nvSpPr>
          <p:cNvPr id="27" name="TextBox 26"/>
          <p:cNvSpPr txBox="1"/>
          <p:nvPr/>
        </p:nvSpPr>
        <p:spPr>
          <a:xfrm>
            <a:off x="7000875" y="2819400"/>
            <a:ext cx="1609725" cy="685800"/>
          </a:xfrm>
          <a:prstGeom prst="rect">
            <a:avLst/>
          </a:prstGeom>
          <a:noFill/>
        </p:spPr>
        <p:txBody>
          <a:bodyPr wrap="square">
            <a:spAutoFit/>
          </a:bodyPr>
          <a:lstStyle/>
          <a:p>
            <a:pPr algn="ctr"/>
            <a:r>
              <a:rPr sz="1125" b="1">
                <a:solidFill>
                  <a:srgbClr val="1C1F26"/>
                </a:solidFill>
                <a:latin typeface="Noto Sans JP"/>
                <a:ea typeface="Noto Sans JP"/>
                <a:cs typeface="Noto Sans JP"/>
              </a:rPr>
              <a:t>全社展開・定着化</a:t>
            </a:r>
          </a:p>
        </p:txBody>
      </p:sp>
      <p:sp>
        <p:nvSpPr>
          <p:cNvPr id="28" name="TextBox 27"/>
          <p:cNvSpPr txBox="1"/>
          <p:nvPr/>
        </p:nvSpPr>
        <p:spPr>
          <a:xfrm>
            <a:off x="7000875" y="3543300"/>
            <a:ext cx="1609725" cy="2400300"/>
          </a:xfrm>
          <a:prstGeom prst="rect">
            <a:avLst/>
          </a:prstGeom>
          <a:noFill/>
        </p:spPr>
        <p:txBody>
          <a:bodyPr wrap="square">
            <a:spAutoFit/>
          </a:bodyPr>
          <a:lstStyle/>
          <a:p>
            <a:pPr algn="ctr"/>
            <a:r>
              <a:rPr sz="975" b="0">
                <a:solidFill>
                  <a:srgbClr val="595F6B"/>
                </a:solidFill>
                <a:latin typeface="Noto Sans JP"/>
                <a:ea typeface="Noto Sans JP"/>
                <a:cs typeface="Noto Sans JP"/>
              </a:rPr>
              <a:t>段階ロールアウトとKPI追跡</a:t>
            </a:r>
          </a:p>
        </p:txBody>
      </p:sp>
      <p:sp>
        <p:nvSpPr>
          <p:cNvPr id="29" name="Rounded Rectangle 28"/>
          <p:cNvSpPr/>
          <p:nvPr/>
        </p:nvSpPr>
        <p:spPr>
          <a:xfrm>
            <a:off x="8972550" y="1981200"/>
            <a:ext cx="2533650" cy="1981200"/>
          </a:xfrm>
          <a:prstGeom prst="roundRect">
            <a:avLst>
              <a:gd name="adj" fmla="val 2884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86850" y="2057400"/>
            <a:ext cx="2305050" cy="190500"/>
          </a:xfrm>
          <a:prstGeom prst="rect">
            <a:avLst/>
          </a:prstGeom>
          <a:noFill/>
        </p:spPr>
        <p:txBody>
          <a:bodyPr wrap="square">
            <a:spAutoFit/>
          </a:bodyPr>
          <a:lstStyle/>
          <a:p>
            <a:pPr algn="l"/>
            <a:r>
              <a:rPr sz="975" b="1">
                <a:solidFill>
                  <a:srgbClr val="6C63FF"/>
                </a:solidFill>
                <a:latin typeface="Noto Sans JP"/>
                <a:ea typeface="Noto Sans JP"/>
                <a:cs typeface="Noto Sans JP"/>
              </a:rPr>
              <a:t>POINT</a:t>
            </a:r>
          </a:p>
        </p:txBody>
      </p:sp>
      <p:sp>
        <p:nvSpPr>
          <p:cNvPr id="31" name="TextBox 30"/>
          <p:cNvSpPr txBox="1"/>
          <p:nvPr/>
        </p:nvSpPr>
        <p:spPr>
          <a:xfrm>
            <a:off x="9086850" y="2286000"/>
            <a:ext cx="2305050" cy="1600200"/>
          </a:xfrm>
          <a:prstGeom prst="rect">
            <a:avLst/>
          </a:prstGeom>
          <a:noFill/>
        </p:spPr>
        <p:txBody>
          <a:bodyPr wrap="square">
            <a:spAutoFit/>
          </a:bodyPr>
          <a:lstStyle/>
          <a:p>
            <a:pPr algn="l"/>
            <a:r>
              <a:rPr sz="975" b="0">
                <a:solidFill>
                  <a:srgbClr val="1C1F26"/>
                </a:solidFill>
                <a:latin typeface="Noto Sans JP"/>
                <a:ea typeface="Noto Sans JP"/>
                <a:cs typeface="Noto Sans JP"/>
              </a:rPr>
              <a:t>各ステップ完了後にGo/NoGoレビューを実施し、品質を担保します。</a:t>
            </a:r>
          </a:p>
        </p:txBody>
      </p:sp>
      <p:sp>
        <p:nvSpPr>
          <p:cNvPr id="32" name="Rounded Rectangle 31"/>
          <p:cNvSpPr/>
          <p:nvPr/>
        </p:nvSpPr>
        <p:spPr>
          <a:xfrm>
            <a:off x="8972550" y="4114800"/>
            <a:ext cx="2533650" cy="1981200"/>
          </a:xfrm>
          <a:prstGeom prst="roundRect">
            <a:avLst>
              <a:gd name="adj" fmla="val 2884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72550" y="4114800"/>
            <a:ext cx="38100" cy="1981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24950" y="4191000"/>
            <a:ext cx="2266950" cy="190500"/>
          </a:xfrm>
          <a:prstGeom prst="rect">
            <a:avLst/>
          </a:prstGeom>
          <a:noFill/>
        </p:spPr>
        <p:txBody>
          <a:bodyPr wrap="square">
            <a:spAutoFit/>
          </a:bodyPr>
          <a:lstStyle/>
          <a:p>
            <a:pPr algn="l"/>
            <a:r>
              <a:rPr sz="975" b="1">
                <a:solidFill>
                  <a:srgbClr val="595F6B"/>
                </a:solidFill>
                <a:latin typeface="Noto Sans JP"/>
                <a:ea typeface="Noto Sans JP"/>
                <a:cs typeface="Noto Sans JP"/>
              </a:rPr>
              <a:t>NOTE</a:t>
            </a:r>
          </a:p>
        </p:txBody>
      </p:sp>
      <p:sp>
        <p:nvSpPr>
          <p:cNvPr id="35" name="TextBox 34"/>
          <p:cNvSpPr txBox="1"/>
          <p:nvPr/>
        </p:nvSpPr>
        <p:spPr>
          <a:xfrm>
            <a:off x="9124950" y="4419600"/>
            <a:ext cx="2266950" cy="1600200"/>
          </a:xfrm>
          <a:prstGeom prst="rect">
            <a:avLst/>
          </a:prstGeom>
          <a:noFill/>
        </p:spPr>
        <p:txBody>
          <a:bodyPr wrap="square">
            <a:spAutoFit/>
          </a:bodyPr>
          <a:lstStyle/>
          <a:p>
            <a:pPr algn="l"/>
            <a:r>
              <a:rPr sz="975" b="0">
                <a:solidFill>
                  <a:srgbClr val="1C1F26"/>
                </a:solidFill>
                <a:latin typeface="Noto Sans JP"/>
                <a:ea typeface="Noto Sans JP"/>
                <a:cs typeface="Noto Sans JP"/>
              </a:rPr>
              <a:t>SaaSプランは最大300名まで。それ以上はEnterpriseプランへ。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カスタマーサクセス標準フレームワーク 2026年Q2版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顧客サクセスを実現する4つのフェーズ</a:t>
            </a:r>
          </a:p>
        </p:txBody>
      </p:sp>
      <p:sp>
        <p:nvSpPr>
          <p:cNvPr id="5" name="TextBox 4"/>
          <p:cNvSpPr txBox="1"/>
          <p:nvPr/>
        </p:nvSpPr>
        <p:spPr>
          <a:xfrm>
            <a:off x="685800" y="1447800"/>
            <a:ext cx="10820400" cy="381000"/>
          </a:xfrm>
          <a:prstGeom prst="rect">
            <a:avLst/>
          </a:prstGeom>
          <a:noFill/>
        </p:spPr>
        <p:txBody>
          <a:bodyPr wrap="square">
            <a:spAutoFit/>
          </a:bodyPr>
          <a:lstStyle/>
          <a:p>
            <a:pPr algn="l"/>
            <a:r>
              <a:rPr sz="1350" b="0">
                <a:solidFill>
                  <a:srgbClr val="595F6B"/>
                </a:solidFill>
                <a:latin typeface="Noto Sans JP"/>
                <a:ea typeface="Noto Sans JP"/>
                <a:cs typeface="Noto Sans JP"/>
              </a:rPr>
              <a:t>オンボーディングから継続改善まで、一貫したサポート体制で成果を創出</a:t>
            </a:r>
          </a:p>
        </p:txBody>
      </p:sp>
      <p:sp>
        <p:nvSpPr>
          <p:cNvPr id="6" name="Rectangle 5"/>
          <p:cNvSpPr/>
          <p:nvPr/>
        </p:nvSpPr>
        <p:spPr>
          <a:xfrm>
            <a:off x="685800" y="2085975"/>
            <a:ext cx="10820400" cy="1905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24050" y="2038350"/>
            <a:ext cx="114300" cy="1143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8" name="Rounded Rectangle 7"/>
          <p:cNvSpPr/>
          <p:nvPr/>
        </p:nvSpPr>
        <p:spPr>
          <a:xfrm>
            <a:off x="685800" y="2362200"/>
            <a:ext cx="2590800" cy="3657600"/>
          </a:xfrm>
          <a:prstGeom prst="roundRect">
            <a:avLst>
              <a:gd name="adj" fmla="val 2205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2514600"/>
            <a:ext cx="2286000" cy="171450"/>
          </a:xfrm>
          <a:prstGeom prst="rect">
            <a:avLst/>
          </a:prstGeom>
          <a:noFill/>
        </p:spPr>
        <p:txBody>
          <a:bodyPr wrap="square">
            <a:spAutoFit/>
          </a:bodyPr>
          <a:lstStyle/>
          <a:p>
            <a:pPr algn="l"/>
            <a:r>
              <a:rPr sz="825" b="1">
                <a:solidFill>
                  <a:srgbClr val="6C63FF"/>
                </a:solidFill>
                <a:latin typeface="Noto Sans JP"/>
                <a:ea typeface="Noto Sans JP"/>
                <a:cs typeface="Noto Sans JP"/>
              </a:rPr>
              <a:t>STEP 01</a:t>
            </a:r>
          </a:p>
        </p:txBody>
      </p:sp>
      <p:sp>
        <p:nvSpPr>
          <p:cNvPr id="10" name="TextBox 9"/>
          <p:cNvSpPr txBox="1"/>
          <p:nvPr/>
        </p:nvSpPr>
        <p:spPr>
          <a:xfrm>
            <a:off x="838200" y="2724150"/>
            <a:ext cx="2286000" cy="381000"/>
          </a:xfrm>
          <a:prstGeom prst="rect">
            <a:avLst/>
          </a:prstGeom>
          <a:noFill/>
        </p:spPr>
        <p:txBody>
          <a:bodyPr wrap="square">
            <a:spAutoFit/>
          </a:bodyPr>
          <a:lstStyle/>
          <a:p>
            <a:pPr algn="l"/>
            <a:r>
              <a:rPr sz="2400" b="1">
                <a:solidFill>
                  <a:srgbClr val="1C1F26"/>
                </a:solidFill>
                <a:latin typeface="Noto Sans JP"/>
                <a:ea typeface="Noto Sans JP"/>
                <a:cs typeface="Noto Sans JP"/>
              </a:rPr>
              <a:t>01</a:t>
            </a:r>
          </a:p>
        </p:txBody>
      </p:sp>
      <p:sp>
        <p:nvSpPr>
          <p:cNvPr id="11" name="TextBox 10"/>
          <p:cNvSpPr txBox="1"/>
          <p:nvPr/>
        </p:nvSpPr>
        <p:spPr>
          <a:xfrm>
            <a:off x="838200" y="3143250"/>
            <a:ext cx="2286000" cy="495300"/>
          </a:xfrm>
          <a:prstGeom prst="rect">
            <a:avLst/>
          </a:prstGeom>
          <a:noFill/>
        </p:spPr>
        <p:txBody>
          <a:bodyPr wrap="square">
            <a:spAutoFit/>
          </a:bodyPr>
          <a:lstStyle/>
          <a:p>
            <a:pPr algn="l"/>
            <a:r>
              <a:rPr sz="1350" b="1">
                <a:solidFill>
                  <a:srgbClr val="1C1F26"/>
                </a:solidFill>
                <a:latin typeface="Noto Sans JP"/>
                <a:ea typeface="Noto Sans JP"/>
                <a:cs typeface="Noto Sans JP"/>
              </a:rPr>
              <a:t>オンボーディング</a:t>
            </a:r>
          </a:p>
        </p:txBody>
      </p:sp>
      <p:sp>
        <p:nvSpPr>
          <p:cNvPr id="12" name="Rectangle 11"/>
          <p:cNvSpPr/>
          <p:nvPr/>
        </p:nvSpPr>
        <p:spPr>
          <a:xfrm>
            <a:off x="838200" y="3676650"/>
            <a:ext cx="3810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57250" y="38100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14" name="TextBox 13"/>
          <p:cNvSpPr txBox="1"/>
          <p:nvPr/>
        </p:nvSpPr>
        <p:spPr>
          <a:xfrm>
            <a:off x="971550" y="37719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初回キックオフ・目標設定ミーティング</a:t>
            </a:r>
          </a:p>
        </p:txBody>
      </p:sp>
      <p:sp>
        <p:nvSpPr>
          <p:cNvPr id="15" name="Oval 14"/>
          <p:cNvSpPr/>
          <p:nvPr/>
        </p:nvSpPr>
        <p:spPr>
          <a:xfrm>
            <a:off x="857250" y="41529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16" name="TextBox 15"/>
          <p:cNvSpPr txBox="1"/>
          <p:nvPr/>
        </p:nvSpPr>
        <p:spPr>
          <a:xfrm>
            <a:off x="971550" y="41148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管理者権限設定とSSO連携の完了</a:t>
            </a:r>
          </a:p>
        </p:txBody>
      </p:sp>
      <p:sp>
        <p:nvSpPr>
          <p:cNvPr id="17" name="Oval 16"/>
          <p:cNvSpPr/>
          <p:nvPr/>
        </p:nvSpPr>
        <p:spPr>
          <a:xfrm>
            <a:off x="857250" y="44958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18" name="TextBox 17"/>
          <p:cNvSpPr txBox="1"/>
          <p:nvPr/>
        </p:nvSpPr>
        <p:spPr>
          <a:xfrm>
            <a:off x="971550" y="44577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利用ガイドライン策定と社内周知</a:t>
            </a:r>
          </a:p>
        </p:txBody>
      </p:sp>
      <p:sp>
        <p:nvSpPr>
          <p:cNvPr id="19" name="Oval 18"/>
          <p:cNvSpPr/>
          <p:nvPr/>
        </p:nvSpPr>
        <p:spPr>
          <a:xfrm>
            <a:off x="4667250" y="2038350"/>
            <a:ext cx="114300" cy="1143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20" name="Rounded Rectangle 19"/>
          <p:cNvSpPr/>
          <p:nvPr/>
        </p:nvSpPr>
        <p:spPr>
          <a:xfrm>
            <a:off x="3429000" y="2362200"/>
            <a:ext cx="2590800" cy="3657600"/>
          </a:xfrm>
          <a:prstGeom prst="roundRect">
            <a:avLst>
              <a:gd name="adj" fmla="val 2205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81400" y="2514600"/>
            <a:ext cx="2286000" cy="171450"/>
          </a:xfrm>
          <a:prstGeom prst="rect">
            <a:avLst/>
          </a:prstGeom>
          <a:noFill/>
        </p:spPr>
        <p:txBody>
          <a:bodyPr wrap="square">
            <a:spAutoFit/>
          </a:bodyPr>
          <a:lstStyle/>
          <a:p>
            <a:pPr algn="l"/>
            <a:r>
              <a:rPr sz="825" b="1">
                <a:solidFill>
                  <a:srgbClr val="6C63FF"/>
                </a:solidFill>
                <a:latin typeface="Noto Sans JP"/>
                <a:ea typeface="Noto Sans JP"/>
                <a:cs typeface="Noto Sans JP"/>
              </a:rPr>
              <a:t>STEP 02</a:t>
            </a:r>
          </a:p>
        </p:txBody>
      </p:sp>
      <p:sp>
        <p:nvSpPr>
          <p:cNvPr id="22" name="TextBox 21"/>
          <p:cNvSpPr txBox="1"/>
          <p:nvPr/>
        </p:nvSpPr>
        <p:spPr>
          <a:xfrm>
            <a:off x="3581400" y="2724150"/>
            <a:ext cx="2286000" cy="381000"/>
          </a:xfrm>
          <a:prstGeom prst="rect">
            <a:avLst/>
          </a:prstGeom>
          <a:noFill/>
        </p:spPr>
        <p:txBody>
          <a:bodyPr wrap="square">
            <a:spAutoFit/>
          </a:bodyPr>
          <a:lstStyle/>
          <a:p>
            <a:pPr algn="l"/>
            <a:r>
              <a:rPr sz="2400" b="1">
                <a:solidFill>
                  <a:srgbClr val="1C1F26"/>
                </a:solidFill>
                <a:latin typeface="Noto Sans JP"/>
                <a:ea typeface="Noto Sans JP"/>
                <a:cs typeface="Noto Sans JP"/>
              </a:rPr>
              <a:t>02</a:t>
            </a:r>
          </a:p>
        </p:txBody>
      </p:sp>
      <p:sp>
        <p:nvSpPr>
          <p:cNvPr id="23" name="TextBox 22"/>
          <p:cNvSpPr txBox="1"/>
          <p:nvPr/>
        </p:nvSpPr>
        <p:spPr>
          <a:xfrm>
            <a:off x="3581400" y="3143250"/>
            <a:ext cx="2286000" cy="495300"/>
          </a:xfrm>
          <a:prstGeom prst="rect">
            <a:avLst/>
          </a:prstGeom>
          <a:noFill/>
        </p:spPr>
        <p:txBody>
          <a:bodyPr wrap="square">
            <a:spAutoFit/>
          </a:bodyPr>
          <a:lstStyle/>
          <a:p>
            <a:pPr algn="l"/>
            <a:r>
              <a:rPr sz="1350" b="1">
                <a:solidFill>
                  <a:srgbClr val="1C1F26"/>
                </a:solidFill>
                <a:latin typeface="Noto Sans JP"/>
                <a:ea typeface="Noto Sans JP"/>
                <a:cs typeface="Noto Sans JP"/>
              </a:rPr>
              <a:t>スキルアップ研修</a:t>
            </a:r>
          </a:p>
        </p:txBody>
      </p:sp>
      <p:sp>
        <p:nvSpPr>
          <p:cNvPr id="24" name="Rectangle 23"/>
          <p:cNvSpPr/>
          <p:nvPr/>
        </p:nvSpPr>
        <p:spPr>
          <a:xfrm>
            <a:off x="3581400" y="3676650"/>
            <a:ext cx="3810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600450" y="38100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26" name="TextBox 25"/>
          <p:cNvSpPr txBox="1"/>
          <p:nvPr/>
        </p:nvSpPr>
        <p:spPr>
          <a:xfrm>
            <a:off x="3714750" y="37719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オンライン基礎研修（2時間）の全員受講</a:t>
            </a:r>
          </a:p>
        </p:txBody>
      </p:sp>
      <p:sp>
        <p:nvSpPr>
          <p:cNvPr id="27" name="Oval 26"/>
          <p:cNvSpPr/>
          <p:nvPr/>
        </p:nvSpPr>
        <p:spPr>
          <a:xfrm>
            <a:off x="3600450" y="41529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28" name="TextBox 27"/>
          <p:cNvSpPr txBox="1"/>
          <p:nvPr/>
        </p:nvSpPr>
        <p:spPr>
          <a:xfrm>
            <a:off x="3714750" y="41148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ユースケース別ハンズオンワークショップ</a:t>
            </a:r>
          </a:p>
        </p:txBody>
      </p:sp>
      <p:sp>
        <p:nvSpPr>
          <p:cNvPr id="29" name="Oval 28"/>
          <p:cNvSpPr/>
          <p:nvPr/>
        </p:nvSpPr>
        <p:spPr>
          <a:xfrm>
            <a:off x="3600450" y="44958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30" name="TextBox 29"/>
          <p:cNvSpPr txBox="1"/>
          <p:nvPr/>
        </p:nvSpPr>
        <p:spPr>
          <a:xfrm>
            <a:off x="3714750" y="44577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社内チャンピオン認定プログラム完了</a:t>
            </a:r>
          </a:p>
        </p:txBody>
      </p:sp>
      <p:sp>
        <p:nvSpPr>
          <p:cNvPr id="31" name="Oval 30"/>
          <p:cNvSpPr/>
          <p:nvPr/>
        </p:nvSpPr>
        <p:spPr>
          <a:xfrm>
            <a:off x="7410450" y="2038350"/>
            <a:ext cx="114300" cy="1143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32" name="Rounded Rectangle 31"/>
          <p:cNvSpPr/>
          <p:nvPr/>
        </p:nvSpPr>
        <p:spPr>
          <a:xfrm>
            <a:off x="6172200" y="2362200"/>
            <a:ext cx="2590800" cy="3657600"/>
          </a:xfrm>
          <a:prstGeom prst="roundRect">
            <a:avLst>
              <a:gd name="adj" fmla="val 2205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4600" y="2514600"/>
            <a:ext cx="2286000" cy="171450"/>
          </a:xfrm>
          <a:prstGeom prst="rect">
            <a:avLst/>
          </a:prstGeom>
          <a:noFill/>
        </p:spPr>
        <p:txBody>
          <a:bodyPr wrap="square">
            <a:spAutoFit/>
          </a:bodyPr>
          <a:lstStyle/>
          <a:p>
            <a:pPr algn="l"/>
            <a:r>
              <a:rPr sz="825" b="1">
                <a:solidFill>
                  <a:srgbClr val="6C63FF"/>
                </a:solidFill>
                <a:latin typeface="Noto Sans JP"/>
                <a:ea typeface="Noto Sans JP"/>
                <a:cs typeface="Noto Sans JP"/>
              </a:rPr>
              <a:t>STEP 03</a:t>
            </a:r>
          </a:p>
        </p:txBody>
      </p:sp>
      <p:sp>
        <p:nvSpPr>
          <p:cNvPr id="34" name="TextBox 33"/>
          <p:cNvSpPr txBox="1"/>
          <p:nvPr/>
        </p:nvSpPr>
        <p:spPr>
          <a:xfrm>
            <a:off x="6324600" y="2724150"/>
            <a:ext cx="2286000" cy="381000"/>
          </a:xfrm>
          <a:prstGeom prst="rect">
            <a:avLst/>
          </a:prstGeom>
          <a:noFill/>
        </p:spPr>
        <p:txBody>
          <a:bodyPr wrap="square">
            <a:spAutoFit/>
          </a:bodyPr>
          <a:lstStyle/>
          <a:p>
            <a:pPr algn="l"/>
            <a:r>
              <a:rPr sz="2400" b="1">
                <a:solidFill>
                  <a:srgbClr val="1C1F26"/>
                </a:solidFill>
                <a:latin typeface="Noto Sans JP"/>
                <a:ea typeface="Noto Sans JP"/>
                <a:cs typeface="Noto Sans JP"/>
              </a:rPr>
              <a:t>03</a:t>
            </a:r>
          </a:p>
        </p:txBody>
      </p:sp>
      <p:sp>
        <p:nvSpPr>
          <p:cNvPr id="35" name="TextBox 34"/>
          <p:cNvSpPr txBox="1"/>
          <p:nvPr/>
        </p:nvSpPr>
        <p:spPr>
          <a:xfrm>
            <a:off x="6324600" y="3143250"/>
            <a:ext cx="2286000" cy="495300"/>
          </a:xfrm>
          <a:prstGeom prst="rect">
            <a:avLst/>
          </a:prstGeom>
          <a:noFill/>
        </p:spPr>
        <p:txBody>
          <a:bodyPr wrap="square">
            <a:spAutoFit/>
          </a:bodyPr>
          <a:lstStyle/>
          <a:p>
            <a:pPr algn="l"/>
            <a:r>
              <a:rPr sz="1350" b="1">
                <a:solidFill>
                  <a:srgbClr val="1C1F26"/>
                </a:solidFill>
                <a:latin typeface="Noto Sans JP"/>
                <a:ea typeface="Noto Sans JP"/>
                <a:cs typeface="Noto Sans JP"/>
              </a:rPr>
              <a:t>実業務への定着</a:t>
            </a:r>
          </a:p>
        </p:txBody>
      </p:sp>
      <p:sp>
        <p:nvSpPr>
          <p:cNvPr id="36" name="Rectangle 35"/>
          <p:cNvSpPr/>
          <p:nvPr/>
        </p:nvSpPr>
        <p:spPr>
          <a:xfrm>
            <a:off x="6324600" y="3676650"/>
            <a:ext cx="3810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43650" y="38100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38" name="TextBox 37"/>
          <p:cNvSpPr txBox="1"/>
          <p:nvPr/>
        </p:nvSpPr>
        <p:spPr>
          <a:xfrm>
            <a:off x="6457950" y="37719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週次利用率レポートの自動配信開始</a:t>
            </a:r>
          </a:p>
        </p:txBody>
      </p:sp>
      <p:sp>
        <p:nvSpPr>
          <p:cNvPr id="39" name="Oval 38"/>
          <p:cNvSpPr/>
          <p:nvPr/>
        </p:nvSpPr>
        <p:spPr>
          <a:xfrm>
            <a:off x="6343650" y="41529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40" name="TextBox 39"/>
          <p:cNvSpPr txBox="1"/>
          <p:nvPr/>
        </p:nvSpPr>
        <p:spPr>
          <a:xfrm>
            <a:off x="6457950" y="41148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ヘルプデスクQ&amp;A100件以上を自社FAQに蓄積</a:t>
            </a:r>
          </a:p>
        </p:txBody>
      </p:sp>
      <p:sp>
        <p:nvSpPr>
          <p:cNvPr id="41" name="Oval 40"/>
          <p:cNvSpPr/>
          <p:nvPr/>
        </p:nvSpPr>
        <p:spPr>
          <a:xfrm>
            <a:off x="6343650" y="44958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42" name="TextBox 41"/>
          <p:cNvSpPr txBox="1"/>
          <p:nvPr/>
        </p:nvSpPr>
        <p:spPr>
          <a:xfrm>
            <a:off x="6457950" y="44577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部門ごとのユースケース事例集を作成・共有</a:t>
            </a:r>
          </a:p>
        </p:txBody>
      </p:sp>
      <p:sp>
        <p:nvSpPr>
          <p:cNvPr id="43" name="Oval 42"/>
          <p:cNvSpPr/>
          <p:nvPr/>
        </p:nvSpPr>
        <p:spPr>
          <a:xfrm>
            <a:off x="10153650" y="2038350"/>
            <a:ext cx="114300" cy="1143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44" name="Rounded Rectangle 43"/>
          <p:cNvSpPr/>
          <p:nvPr/>
        </p:nvSpPr>
        <p:spPr>
          <a:xfrm>
            <a:off x="8915400" y="2362200"/>
            <a:ext cx="2590800" cy="3657600"/>
          </a:xfrm>
          <a:prstGeom prst="roundRect">
            <a:avLst>
              <a:gd name="adj" fmla="val 2205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67800" y="2514600"/>
            <a:ext cx="2286000" cy="171450"/>
          </a:xfrm>
          <a:prstGeom prst="rect">
            <a:avLst/>
          </a:prstGeom>
          <a:noFill/>
        </p:spPr>
        <p:txBody>
          <a:bodyPr wrap="square">
            <a:spAutoFit/>
          </a:bodyPr>
          <a:lstStyle/>
          <a:p>
            <a:pPr algn="l"/>
            <a:r>
              <a:rPr sz="825" b="1">
                <a:solidFill>
                  <a:srgbClr val="6C63FF"/>
                </a:solidFill>
                <a:latin typeface="Noto Sans JP"/>
                <a:ea typeface="Noto Sans JP"/>
                <a:cs typeface="Noto Sans JP"/>
              </a:rPr>
              <a:t>STEP 04</a:t>
            </a:r>
          </a:p>
        </p:txBody>
      </p:sp>
      <p:sp>
        <p:nvSpPr>
          <p:cNvPr id="46" name="TextBox 45"/>
          <p:cNvSpPr txBox="1"/>
          <p:nvPr/>
        </p:nvSpPr>
        <p:spPr>
          <a:xfrm>
            <a:off x="9067800" y="2724150"/>
            <a:ext cx="2286000" cy="381000"/>
          </a:xfrm>
          <a:prstGeom prst="rect">
            <a:avLst/>
          </a:prstGeom>
          <a:noFill/>
        </p:spPr>
        <p:txBody>
          <a:bodyPr wrap="square">
            <a:spAutoFit/>
          </a:bodyPr>
          <a:lstStyle/>
          <a:p>
            <a:pPr algn="l"/>
            <a:r>
              <a:rPr sz="2400" b="1">
                <a:solidFill>
                  <a:srgbClr val="1C1F26"/>
                </a:solidFill>
                <a:latin typeface="Noto Sans JP"/>
                <a:ea typeface="Noto Sans JP"/>
                <a:cs typeface="Noto Sans JP"/>
              </a:rPr>
              <a:t>04</a:t>
            </a:r>
          </a:p>
        </p:txBody>
      </p:sp>
      <p:sp>
        <p:nvSpPr>
          <p:cNvPr id="47" name="TextBox 46"/>
          <p:cNvSpPr txBox="1"/>
          <p:nvPr/>
        </p:nvSpPr>
        <p:spPr>
          <a:xfrm>
            <a:off x="9067800" y="3143250"/>
            <a:ext cx="2286000" cy="495300"/>
          </a:xfrm>
          <a:prstGeom prst="rect">
            <a:avLst/>
          </a:prstGeom>
          <a:noFill/>
        </p:spPr>
        <p:txBody>
          <a:bodyPr wrap="square">
            <a:spAutoFit/>
          </a:bodyPr>
          <a:lstStyle/>
          <a:p>
            <a:pPr algn="l"/>
            <a:r>
              <a:rPr sz="1350" b="1">
                <a:solidFill>
                  <a:srgbClr val="1C1F26"/>
                </a:solidFill>
                <a:latin typeface="Noto Sans JP"/>
                <a:ea typeface="Noto Sans JP"/>
                <a:cs typeface="Noto Sans JP"/>
              </a:rPr>
              <a:t>継続改善・拡張</a:t>
            </a:r>
          </a:p>
        </p:txBody>
      </p:sp>
      <p:sp>
        <p:nvSpPr>
          <p:cNvPr id="48" name="Rectangle 47"/>
          <p:cNvSpPr/>
          <p:nvPr/>
        </p:nvSpPr>
        <p:spPr>
          <a:xfrm>
            <a:off x="9067800" y="3676650"/>
            <a:ext cx="3810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086850" y="38100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50" name="TextBox 49"/>
          <p:cNvSpPr txBox="1"/>
          <p:nvPr/>
        </p:nvSpPr>
        <p:spPr>
          <a:xfrm>
            <a:off x="9201150" y="37719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四半期ROIレビューで効果を定量評価</a:t>
            </a:r>
          </a:p>
        </p:txBody>
      </p:sp>
      <p:sp>
        <p:nvSpPr>
          <p:cNvPr id="51" name="Oval 50"/>
          <p:cNvSpPr/>
          <p:nvPr/>
        </p:nvSpPr>
        <p:spPr>
          <a:xfrm>
            <a:off x="9086850" y="41529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52" name="TextBox 51"/>
          <p:cNvSpPr txBox="1"/>
          <p:nvPr/>
        </p:nvSpPr>
        <p:spPr>
          <a:xfrm>
            <a:off x="9201150" y="41148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新ユースケース発掘ワークショップの定期開催</a:t>
            </a:r>
          </a:p>
        </p:txBody>
      </p:sp>
      <p:sp>
        <p:nvSpPr>
          <p:cNvPr id="53" name="Oval 52"/>
          <p:cNvSpPr/>
          <p:nvPr/>
        </p:nvSpPr>
        <p:spPr>
          <a:xfrm>
            <a:off x="9086850" y="4495800"/>
            <a:ext cx="57150" cy="5715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54" name="TextBox 53"/>
          <p:cNvSpPr txBox="1"/>
          <p:nvPr/>
        </p:nvSpPr>
        <p:spPr>
          <a:xfrm>
            <a:off x="9201150" y="4457700"/>
            <a:ext cx="2152650" cy="304800"/>
          </a:xfrm>
          <a:prstGeom prst="rect">
            <a:avLst/>
          </a:prstGeom>
          <a:noFill/>
        </p:spPr>
        <p:txBody>
          <a:bodyPr wrap="square">
            <a:spAutoFit/>
          </a:bodyPr>
          <a:lstStyle/>
          <a:p>
            <a:pPr algn="l"/>
            <a:r>
              <a:rPr sz="975" b="0">
                <a:solidFill>
                  <a:srgbClr val="595F6B"/>
                </a:solidFill>
                <a:latin typeface="Noto Sans JP"/>
                <a:ea typeface="Noto Sans JP"/>
                <a:cs typeface="Noto Sans JP"/>
              </a:rPr>
              <a:t>隣接部門・グループ会社への横展開計画策定</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採用プロセス標準ガイドライン 2026年度版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採用選考は5ステップで透明性高く完結する</a:t>
            </a:r>
          </a:p>
        </p:txBody>
      </p:sp>
      <p:sp>
        <p:nvSpPr>
          <p:cNvPr id="5" name="TextBox 4"/>
          <p:cNvSpPr txBox="1"/>
          <p:nvPr/>
        </p:nvSpPr>
        <p:spPr>
          <a:xfrm>
            <a:off x="685800" y="1447800"/>
            <a:ext cx="10820400" cy="304800"/>
          </a:xfrm>
          <a:prstGeom prst="rect">
            <a:avLst/>
          </a:prstGeom>
          <a:noFill/>
        </p:spPr>
        <p:txBody>
          <a:bodyPr wrap="square">
            <a:spAutoFit/>
          </a:bodyPr>
          <a:lstStyle/>
          <a:p>
            <a:pPr algn="l"/>
            <a:r>
              <a:rPr sz="1350" b="0">
                <a:solidFill>
                  <a:srgbClr val="595F6B"/>
                </a:solidFill>
                <a:latin typeface="Noto Sans JP"/>
                <a:ea typeface="Noto Sans JP"/>
                <a:cs typeface="Noto Sans JP"/>
              </a:rPr>
              <a:t>書類審査から内定まで最短3週間のスピード選考を実現します</a:t>
            </a:r>
          </a:p>
        </p:txBody>
      </p:sp>
      <p:sp>
        <p:nvSpPr>
          <p:cNvPr id="6" name="Oval 5"/>
          <p:cNvSpPr/>
          <p:nvPr/>
        </p:nvSpPr>
        <p:spPr>
          <a:xfrm>
            <a:off x="685800" y="2095500"/>
            <a:ext cx="1066800" cy="1066800"/>
          </a:xfrm>
          <a:prstGeom prst="ellipse">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1C1F26"/>
                </a:solidFill>
                <a:latin typeface="Noto Sans JP"/>
                <a:ea typeface="Noto Sans JP"/>
                <a:cs typeface="Noto Sans JP"/>
              </a:rPr>
              <a:t>書類審査</a:t>
            </a:r>
          </a:p>
        </p:txBody>
      </p:sp>
      <p:sp>
        <p:nvSpPr>
          <p:cNvPr id="7" name="TextBox 6"/>
          <p:cNvSpPr txBox="1"/>
          <p:nvPr/>
        </p:nvSpPr>
        <p:spPr>
          <a:xfrm>
            <a:off x="723900" y="2724150"/>
            <a:ext cx="990600" cy="171450"/>
          </a:xfrm>
          <a:prstGeom prst="rect">
            <a:avLst/>
          </a:prstGeom>
          <a:noFill/>
        </p:spPr>
        <p:txBody>
          <a:bodyPr wrap="square">
            <a:spAutoFit/>
          </a:bodyPr>
          <a:lstStyle/>
          <a:p>
            <a:pPr algn="ctr"/>
            <a:r>
              <a:rPr sz="750" b="0">
                <a:solidFill>
                  <a:srgbClr val="595F6B"/>
                </a:solidFill>
                <a:latin typeface="Noto Sans JP"/>
                <a:ea typeface="Noto Sans JP"/>
                <a:cs typeface="Noto Sans JP"/>
              </a:rPr>
              <a:t>3日以内</a:t>
            </a:r>
          </a:p>
        </p:txBody>
      </p:sp>
      <p:cxnSp>
        <p:nvCxnSpPr>
          <p:cNvPr id="8" name="Connector 7"/>
          <p:cNvCxnSpPr/>
          <p:nvPr/>
        </p:nvCxnSpPr>
        <p:spPr>
          <a:xfrm>
            <a:off x="1771650" y="2628900"/>
            <a:ext cx="1333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3124200" y="2095500"/>
            <a:ext cx="1066800" cy="1066800"/>
          </a:xfrm>
          <a:prstGeom prst="ellipse">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1C1F26"/>
                </a:solidFill>
                <a:latin typeface="Noto Sans JP"/>
                <a:ea typeface="Noto Sans JP"/>
                <a:cs typeface="Noto Sans JP"/>
              </a:rPr>
              <a:t>一次面接</a:t>
            </a:r>
          </a:p>
        </p:txBody>
      </p:sp>
      <p:sp>
        <p:nvSpPr>
          <p:cNvPr id="10" name="TextBox 9"/>
          <p:cNvSpPr txBox="1"/>
          <p:nvPr/>
        </p:nvSpPr>
        <p:spPr>
          <a:xfrm>
            <a:off x="3162300" y="2724150"/>
            <a:ext cx="990600" cy="171450"/>
          </a:xfrm>
          <a:prstGeom prst="rect">
            <a:avLst/>
          </a:prstGeom>
          <a:noFill/>
        </p:spPr>
        <p:txBody>
          <a:bodyPr wrap="square">
            <a:spAutoFit/>
          </a:bodyPr>
          <a:lstStyle/>
          <a:p>
            <a:pPr algn="ctr"/>
            <a:r>
              <a:rPr sz="750" b="0">
                <a:solidFill>
                  <a:srgbClr val="595F6B"/>
                </a:solidFill>
                <a:latin typeface="Noto Sans JP"/>
                <a:ea typeface="Noto Sans JP"/>
                <a:cs typeface="Noto Sans JP"/>
              </a:rPr>
              <a:t>オンライン</a:t>
            </a:r>
          </a:p>
        </p:txBody>
      </p:sp>
      <p:cxnSp>
        <p:nvCxnSpPr>
          <p:cNvPr id="11" name="Connector 10"/>
          <p:cNvCxnSpPr/>
          <p:nvPr/>
        </p:nvCxnSpPr>
        <p:spPr>
          <a:xfrm>
            <a:off x="4210050" y="2628900"/>
            <a:ext cx="1333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562600" y="2095500"/>
            <a:ext cx="1066800" cy="1066800"/>
          </a:xfrm>
          <a:prstGeom prst="ellipse">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1C1F26"/>
                </a:solidFill>
                <a:latin typeface="Noto Sans JP"/>
                <a:ea typeface="Noto Sans JP"/>
                <a:cs typeface="Noto Sans JP"/>
              </a:rPr>
              <a:t>適性検査</a:t>
            </a:r>
          </a:p>
        </p:txBody>
      </p:sp>
      <p:sp>
        <p:nvSpPr>
          <p:cNvPr id="13" name="TextBox 12"/>
          <p:cNvSpPr txBox="1"/>
          <p:nvPr/>
        </p:nvSpPr>
        <p:spPr>
          <a:xfrm>
            <a:off x="5600700" y="2724150"/>
            <a:ext cx="990600" cy="171450"/>
          </a:xfrm>
          <a:prstGeom prst="rect">
            <a:avLst/>
          </a:prstGeom>
          <a:noFill/>
        </p:spPr>
        <p:txBody>
          <a:bodyPr wrap="square">
            <a:spAutoFit/>
          </a:bodyPr>
          <a:lstStyle/>
          <a:p>
            <a:pPr algn="ctr"/>
            <a:r>
              <a:rPr sz="750" b="0">
                <a:solidFill>
                  <a:srgbClr val="595F6B"/>
                </a:solidFill>
                <a:latin typeface="Noto Sans JP"/>
                <a:ea typeface="Noto Sans JP"/>
                <a:cs typeface="Noto Sans JP"/>
              </a:rPr>
              <a:t>60分</a:t>
            </a:r>
          </a:p>
        </p:txBody>
      </p:sp>
      <p:cxnSp>
        <p:nvCxnSpPr>
          <p:cNvPr id="14" name="Connector 13"/>
          <p:cNvCxnSpPr/>
          <p:nvPr/>
        </p:nvCxnSpPr>
        <p:spPr>
          <a:xfrm>
            <a:off x="6648450" y="2628900"/>
            <a:ext cx="1333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001000" y="2095500"/>
            <a:ext cx="1066800" cy="1066800"/>
          </a:xfrm>
          <a:prstGeom prst="ellipse">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1C1F26"/>
                </a:solidFill>
                <a:latin typeface="Noto Sans JP"/>
                <a:ea typeface="Noto Sans JP"/>
                <a:cs typeface="Noto Sans JP"/>
              </a:rPr>
              <a:t>最終面接</a:t>
            </a:r>
          </a:p>
        </p:txBody>
      </p:sp>
      <p:sp>
        <p:nvSpPr>
          <p:cNvPr id="16" name="TextBox 15"/>
          <p:cNvSpPr txBox="1"/>
          <p:nvPr/>
        </p:nvSpPr>
        <p:spPr>
          <a:xfrm>
            <a:off x="8039100" y="2724150"/>
            <a:ext cx="990600" cy="171450"/>
          </a:xfrm>
          <a:prstGeom prst="rect">
            <a:avLst/>
          </a:prstGeom>
          <a:noFill/>
        </p:spPr>
        <p:txBody>
          <a:bodyPr wrap="square">
            <a:spAutoFit/>
          </a:bodyPr>
          <a:lstStyle/>
          <a:p>
            <a:pPr algn="ctr"/>
            <a:r>
              <a:rPr sz="750" b="0">
                <a:solidFill>
                  <a:srgbClr val="595F6B"/>
                </a:solidFill>
                <a:latin typeface="Noto Sans JP"/>
                <a:ea typeface="Noto Sans JP"/>
                <a:cs typeface="Noto Sans JP"/>
              </a:rPr>
              <a:t>役員面接</a:t>
            </a:r>
          </a:p>
        </p:txBody>
      </p:sp>
      <p:cxnSp>
        <p:nvCxnSpPr>
          <p:cNvPr id="17" name="Connector 16"/>
          <p:cNvCxnSpPr/>
          <p:nvPr/>
        </p:nvCxnSpPr>
        <p:spPr>
          <a:xfrm>
            <a:off x="9086850" y="2628900"/>
            <a:ext cx="1333500" cy="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0439400" y="2095500"/>
            <a:ext cx="1066800" cy="1066800"/>
          </a:xfrm>
          <a:prstGeom prst="ellipse">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FFFFFF"/>
                </a:solidFill>
                <a:latin typeface="Noto Sans JP"/>
                <a:ea typeface="Noto Sans JP"/>
                <a:cs typeface="Noto Sans JP"/>
              </a:rPr>
              <a:t>内定</a:t>
            </a:r>
          </a:p>
        </p:txBody>
      </p:sp>
      <p:sp>
        <p:nvSpPr>
          <p:cNvPr id="19" name="TextBox 18"/>
          <p:cNvSpPr txBox="1"/>
          <p:nvPr/>
        </p:nvSpPr>
        <p:spPr>
          <a:xfrm>
            <a:off x="10477500" y="2724150"/>
            <a:ext cx="990600" cy="171450"/>
          </a:xfrm>
          <a:prstGeom prst="rect">
            <a:avLst/>
          </a:prstGeom>
          <a:noFill/>
        </p:spPr>
        <p:txBody>
          <a:bodyPr wrap="square">
            <a:spAutoFit/>
          </a:bodyPr>
          <a:lstStyle/>
          <a:p>
            <a:pPr algn="ctr"/>
            <a:r>
              <a:rPr sz="750" b="0">
                <a:solidFill>
                  <a:srgbClr val="FFFFFF"/>
                </a:solidFill>
                <a:latin typeface="Noto Sans JP"/>
                <a:ea typeface="Noto Sans JP"/>
                <a:cs typeface="Noto Sans JP"/>
              </a:rPr>
              <a:t>合格通知</a:t>
            </a:r>
          </a:p>
        </p:txBody>
      </p:sp>
      <p:sp>
        <p:nvSpPr>
          <p:cNvPr id="20" name="TextBox 19"/>
          <p:cNvSpPr txBox="1"/>
          <p:nvPr/>
        </p:nvSpPr>
        <p:spPr>
          <a:xfrm>
            <a:off x="762000" y="3619500"/>
            <a:ext cx="2286000" cy="266700"/>
          </a:xfrm>
          <a:prstGeom prst="rect">
            <a:avLst/>
          </a:prstGeom>
          <a:noFill/>
        </p:spPr>
        <p:txBody>
          <a:bodyPr wrap="square">
            <a:spAutoFit/>
          </a:bodyPr>
          <a:lstStyle/>
          <a:p>
            <a:pPr algn="l"/>
            <a:r>
              <a:rPr sz="1350" b="1">
                <a:solidFill>
                  <a:srgbClr val="1C1F26"/>
                </a:solidFill>
                <a:latin typeface="Noto Sans JP"/>
                <a:ea typeface="Noto Sans JP"/>
                <a:cs typeface="Noto Sans JP"/>
              </a:rPr>
              <a:t>書類審査</a:t>
            </a:r>
          </a:p>
        </p:txBody>
      </p:sp>
      <p:sp>
        <p:nvSpPr>
          <p:cNvPr id="21" name="TextBox 20"/>
          <p:cNvSpPr txBox="1"/>
          <p:nvPr/>
        </p:nvSpPr>
        <p:spPr>
          <a:xfrm>
            <a:off x="762000" y="3905250"/>
            <a:ext cx="2286000" cy="190500"/>
          </a:xfrm>
          <a:prstGeom prst="rect">
            <a:avLst/>
          </a:prstGeom>
          <a:noFill/>
        </p:spPr>
        <p:txBody>
          <a:bodyPr wrap="square">
            <a:spAutoFit/>
          </a:bodyPr>
          <a:lstStyle/>
          <a:p>
            <a:pPr algn="l"/>
            <a:r>
              <a:rPr sz="975" b="0">
                <a:solidFill>
                  <a:srgbClr val="6C63FF"/>
                </a:solidFill>
                <a:latin typeface="Noto Sans JP"/>
                <a:ea typeface="Noto Sans JP"/>
                <a:cs typeface="Noto Sans JP"/>
              </a:rPr>
              <a:t>ES・職務経歴書の審査</a:t>
            </a:r>
          </a:p>
        </p:txBody>
      </p:sp>
      <p:sp>
        <p:nvSpPr>
          <p:cNvPr id="22" name="Rectangle 21"/>
          <p:cNvSpPr/>
          <p:nvPr/>
        </p:nvSpPr>
        <p:spPr>
          <a:xfrm>
            <a:off x="762000" y="4133850"/>
            <a:ext cx="3048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2000" y="426720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6300" y="422910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採用基準に基づくスコアリング</a:t>
            </a:r>
          </a:p>
        </p:txBody>
      </p:sp>
      <p:sp>
        <p:nvSpPr>
          <p:cNvPr id="25" name="Rectangle 24"/>
          <p:cNvSpPr/>
          <p:nvPr/>
        </p:nvSpPr>
        <p:spPr>
          <a:xfrm>
            <a:off x="762000" y="466725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6300" y="462915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AIによる初次スクリーニング</a:t>
            </a:r>
          </a:p>
        </p:txBody>
      </p:sp>
      <p:sp>
        <p:nvSpPr>
          <p:cNvPr id="27" name="TextBox 26"/>
          <p:cNvSpPr txBox="1"/>
          <p:nvPr/>
        </p:nvSpPr>
        <p:spPr>
          <a:xfrm>
            <a:off x="3200400" y="3619500"/>
            <a:ext cx="2286000" cy="266700"/>
          </a:xfrm>
          <a:prstGeom prst="rect">
            <a:avLst/>
          </a:prstGeom>
          <a:noFill/>
        </p:spPr>
        <p:txBody>
          <a:bodyPr wrap="square">
            <a:spAutoFit/>
          </a:bodyPr>
          <a:lstStyle/>
          <a:p>
            <a:pPr algn="l"/>
            <a:r>
              <a:rPr sz="1350" b="1">
                <a:solidFill>
                  <a:srgbClr val="1C1F26"/>
                </a:solidFill>
                <a:latin typeface="Noto Sans JP"/>
                <a:ea typeface="Noto Sans JP"/>
                <a:cs typeface="Noto Sans JP"/>
              </a:rPr>
              <a:t>一次面接</a:t>
            </a:r>
          </a:p>
        </p:txBody>
      </p:sp>
      <p:sp>
        <p:nvSpPr>
          <p:cNvPr id="28" name="TextBox 27"/>
          <p:cNvSpPr txBox="1"/>
          <p:nvPr/>
        </p:nvSpPr>
        <p:spPr>
          <a:xfrm>
            <a:off x="3200400" y="3905250"/>
            <a:ext cx="2286000" cy="190500"/>
          </a:xfrm>
          <a:prstGeom prst="rect">
            <a:avLst/>
          </a:prstGeom>
          <a:noFill/>
        </p:spPr>
        <p:txBody>
          <a:bodyPr wrap="square">
            <a:spAutoFit/>
          </a:bodyPr>
          <a:lstStyle/>
          <a:p>
            <a:pPr algn="l"/>
            <a:r>
              <a:rPr sz="975" b="0">
                <a:solidFill>
                  <a:srgbClr val="6C63FF"/>
                </a:solidFill>
                <a:latin typeface="Noto Sans JP"/>
                <a:ea typeface="Noto Sans JP"/>
                <a:cs typeface="Noto Sans JP"/>
              </a:rPr>
              <a:t>カルチャーフィット確認</a:t>
            </a:r>
          </a:p>
        </p:txBody>
      </p:sp>
      <p:sp>
        <p:nvSpPr>
          <p:cNvPr id="29" name="Rectangle 28"/>
          <p:cNvSpPr/>
          <p:nvPr/>
        </p:nvSpPr>
        <p:spPr>
          <a:xfrm>
            <a:off x="3200400" y="4133850"/>
            <a:ext cx="3048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00400" y="426720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14700" y="422910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30分のオンライン面接</a:t>
            </a:r>
          </a:p>
        </p:txBody>
      </p:sp>
      <p:sp>
        <p:nvSpPr>
          <p:cNvPr id="32" name="Rectangle 31"/>
          <p:cNvSpPr/>
          <p:nvPr/>
        </p:nvSpPr>
        <p:spPr>
          <a:xfrm>
            <a:off x="3200400" y="466725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14700" y="462915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構造化インタビュー実施</a:t>
            </a:r>
          </a:p>
        </p:txBody>
      </p:sp>
      <p:sp>
        <p:nvSpPr>
          <p:cNvPr id="34" name="TextBox 33"/>
          <p:cNvSpPr txBox="1"/>
          <p:nvPr/>
        </p:nvSpPr>
        <p:spPr>
          <a:xfrm>
            <a:off x="5638800" y="3619500"/>
            <a:ext cx="2286000" cy="266700"/>
          </a:xfrm>
          <a:prstGeom prst="rect">
            <a:avLst/>
          </a:prstGeom>
          <a:noFill/>
        </p:spPr>
        <p:txBody>
          <a:bodyPr wrap="square">
            <a:spAutoFit/>
          </a:bodyPr>
          <a:lstStyle/>
          <a:p>
            <a:pPr algn="l"/>
            <a:r>
              <a:rPr sz="1350" b="1">
                <a:solidFill>
                  <a:srgbClr val="1C1F26"/>
                </a:solidFill>
                <a:latin typeface="Noto Sans JP"/>
                <a:ea typeface="Noto Sans JP"/>
                <a:cs typeface="Noto Sans JP"/>
              </a:rPr>
              <a:t>適性検査</a:t>
            </a:r>
          </a:p>
        </p:txBody>
      </p:sp>
      <p:sp>
        <p:nvSpPr>
          <p:cNvPr id="35" name="TextBox 34"/>
          <p:cNvSpPr txBox="1"/>
          <p:nvPr/>
        </p:nvSpPr>
        <p:spPr>
          <a:xfrm>
            <a:off x="5638800" y="3905250"/>
            <a:ext cx="2286000" cy="190500"/>
          </a:xfrm>
          <a:prstGeom prst="rect">
            <a:avLst/>
          </a:prstGeom>
          <a:noFill/>
        </p:spPr>
        <p:txBody>
          <a:bodyPr wrap="square">
            <a:spAutoFit/>
          </a:bodyPr>
          <a:lstStyle/>
          <a:p>
            <a:pPr algn="l"/>
            <a:r>
              <a:rPr sz="975" b="0">
                <a:solidFill>
                  <a:srgbClr val="6C63FF"/>
                </a:solidFill>
                <a:latin typeface="Noto Sans JP"/>
                <a:ea typeface="Noto Sans JP"/>
                <a:cs typeface="Noto Sans JP"/>
              </a:rPr>
              <a:t>論理・性格特性の計測</a:t>
            </a:r>
          </a:p>
        </p:txBody>
      </p:sp>
      <p:sp>
        <p:nvSpPr>
          <p:cNvPr id="36" name="Rectangle 35"/>
          <p:cNvSpPr/>
          <p:nvPr/>
        </p:nvSpPr>
        <p:spPr>
          <a:xfrm>
            <a:off x="5638800" y="4133850"/>
            <a:ext cx="3048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38800" y="426720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53100" y="422910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SPI3オンライン受検</a:t>
            </a:r>
          </a:p>
        </p:txBody>
      </p:sp>
      <p:sp>
        <p:nvSpPr>
          <p:cNvPr id="39" name="Rectangle 38"/>
          <p:cNvSpPr/>
          <p:nvPr/>
        </p:nvSpPr>
        <p:spPr>
          <a:xfrm>
            <a:off x="5638800" y="466725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53100" y="462915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結果は72時間以内に判定</a:t>
            </a:r>
          </a:p>
        </p:txBody>
      </p:sp>
      <p:sp>
        <p:nvSpPr>
          <p:cNvPr id="41" name="TextBox 40"/>
          <p:cNvSpPr txBox="1"/>
          <p:nvPr/>
        </p:nvSpPr>
        <p:spPr>
          <a:xfrm>
            <a:off x="8077200" y="3619500"/>
            <a:ext cx="2286000" cy="266700"/>
          </a:xfrm>
          <a:prstGeom prst="rect">
            <a:avLst/>
          </a:prstGeom>
          <a:noFill/>
        </p:spPr>
        <p:txBody>
          <a:bodyPr wrap="square">
            <a:spAutoFit/>
          </a:bodyPr>
          <a:lstStyle/>
          <a:p>
            <a:pPr algn="l"/>
            <a:r>
              <a:rPr sz="1350" b="1">
                <a:solidFill>
                  <a:srgbClr val="1C1F26"/>
                </a:solidFill>
                <a:latin typeface="Noto Sans JP"/>
                <a:ea typeface="Noto Sans JP"/>
                <a:cs typeface="Noto Sans JP"/>
              </a:rPr>
              <a:t>最終面接</a:t>
            </a:r>
          </a:p>
        </p:txBody>
      </p:sp>
      <p:sp>
        <p:nvSpPr>
          <p:cNvPr id="42" name="TextBox 41"/>
          <p:cNvSpPr txBox="1"/>
          <p:nvPr/>
        </p:nvSpPr>
        <p:spPr>
          <a:xfrm>
            <a:off x="8077200" y="3905250"/>
            <a:ext cx="2286000" cy="190500"/>
          </a:xfrm>
          <a:prstGeom prst="rect">
            <a:avLst/>
          </a:prstGeom>
          <a:noFill/>
        </p:spPr>
        <p:txBody>
          <a:bodyPr wrap="square">
            <a:spAutoFit/>
          </a:bodyPr>
          <a:lstStyle/>
          <a:p>
            <a:pPr algn="l"/>
            <a:r>
              <a:rPr sz="975" b="0">
                <a:solidFill>
                  <a:srgbClr val="6C63FF"/>
                </a:solidFill>
                <a:latin typeface="Noto Sans JP"/>
                <a:ea typeface="Noto Sans JP"/>
                <a:cs typeface="Noto Sans JP"/>
              </a:rPr>
              <a:t>役員・現場マネージャー</a:t>
            </a:r>
          </a:p>
        </p:txBody>
      </p:sp>
      <p:sp>
        <p:nvSpPr>
          <p:cNvPr id="43" name="Rectangle 42"/>
          <p:cNvSpPr/>
          <p:nvPr/>
        </p:nvSpPr>
        <p:spPr>
          <a:xfrm>
            <a:off x="8077200" y="4133850"/>
            <a:ext cx="3048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077200" y="426720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91500" y="422910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事業理解度・意欲の確認</a:t>
            </a:r>
          </a:p>
        </p:txBody>
      </p:sp>
      <p:sp>
        <p:nvSpPr>
          <p:cNvPr id="46" name="Rectangle 45"/>
          <p:cNvSpPr/>
          <p:nvPr/>
        </p:nvSpPr>
        <p:spPr>
          <a:xfrm>
            <a:off x="8077200" y="466725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91500" y="4629150"/>
            <a:ext cx="21717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条件面の最終すり合わせ</a:t>
            </a:r>
          </a:p>
        </p:txBody>
      </p:sp>
      <p:sp>
        <p:nvSpPr>
          <p:cNvPr id="48" name="TextBox 47"/>
          <p:cNvSpPr txBox="1"/>
          <p:nvPr/>
        </p:nvSpPr>
        <p:spPr>
          <a:xfrm>
            <a:off x="10515600" y="3619500"/>
            <a:ext cx="914400" cy="266700"/>
          </a:xfrm>
          <a:prstGeom prst="rect">
            <a:avLst/>
          </a:prstGeom>
          <a:noFill/>
        </p:spPr>
        <p:txBody>
          <a:bodyPr wrap="square">
            <a:spAutoFit/>
          </a:bodyPr>
          <a:lstStyle/>
          <a:p>
            <a:pPr algn="l"/>
            <a:r>
              <a:rPr sz="1350" b="1">
                <a:solidFill>
                  <a:srgbClr val="1C1F26"/>
                </a:solidFill>
                <a:latin typeface="Noto Sans JP"/>
                <a:ea typeface="Noto Sans JP"/>
                <a:cs typeface="Noto Sans JP"/>
              </a:rPr>
              <a:t>内定</a:t>
            </a:r>
          </a:p>
        </p:txBody>
      </p:sp>
      <p:sp>
        <p:nvSpPr>
          <p:cNvPr id="49" name="TextBox 48"/>
          <p:cNvSpPr txBox="1"/>
          <p:nvPr/>
        </p:nvSpPr>
        <p:spPr>
          <a:xfrm>
            <a:off x="10515600" y="3905250"/>
            <a:ext cx="914400" cy="190500"/>
          </a:xfrm>
          <a:prstGeom prst="rect">
            <a:avLst/>
          </a:prstGeom>
          <a:noFill/>
        </p:spPr>
        <p:txBody>
          <a:bodyPr wrap="square">
            <a:spAutoFit/>
          </a:bodyPr>
          <a:lstStyle/>
          <a:p>
            <a:pPr algn="l"/>
            <a:r>
              <a:rPr sz="975" b="0">
                <a:solidFill>
                  <a:srgbClr val="6C63FF"/>
                </a:solidFill>
                <a:latin typeface="Noto Sans JP"/>
                <a:ea typeface="Noto Sans JP"/>
                <a:cs typeface="Noto Sans JP"/>
              </a:rPr>
              <a:t>合格通知と条件提示</a:t>
            </a:r>
          </a:p>
        </p:txBody>
      </p:sp>
      <p:sp>
        <p:nvSpPr>
          <p:cNvPr id="50" name="Rectangle 49"/>
          <p:cNvSpPr/>
          <p:nvPr/>
        </p:nvSpPr>
        <p:spPr>
          <a:xfrm>
            <a:off x="10515600" y="4133850"/>
            <a:ext cx="304800" cy="190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515600" y="426720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629900" y="4229100"/>
            <a:ext cx="8001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オファーレター即日発行</a:t>
            </a:r>
          </a:p>
        </p:txBody>
      </p:sp>
      <p:sp>
        <p:nvSpPr>
          <p:cNvPr id="53" name="Rectangle 52"/>
          <p:cNvSpPr/>
          <p:nvPr/>
        </p:nvSpPr>
        <p:spPr>
          <a:xfrm>
            <a:off x="10515600" y="4667250"/>
            <a:ext cx="57150" cy="571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629900" y="4629150"/>
            <a:ext cx="8001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入社日・条件を確定</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プロダクトロードマップ 2026年度版 — 経営企画室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25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2026年度プロダクトロードマップは計画通り進行中</a:t>
            </a:r>
          </a:p>
        </p:txBody>
      </p:sp>
      <p:sp>
        <p:nvSpPr>
          <p:cNvPr id="5" name="TextBox 4"/>
          <p:cNvSpPr txBox="1"/>
          <p:nvPr/>
        </p:nvSpPr>
        <p:spPr>
          <a:xfrm>
            <a:off x="723900" y="1447800"/>
            <a:ext cx="2628900" cy="304800"/>
          </a:xfrm>
          <a:prstGeom prst="rect">
            <a:avLst/>
          </a:prstGeom>
          <a:noFill/>
        </p:spPr>
        <p:txBody>
          <a:bodyPr wrap="square">
            <a:spAutoFit/>
          </a:bodyPr>
          <a:lstStyle/>
          <a:p>
            <a:pPr algn="ctr"/>
            <a:r>
              <a:rPr sz="975" b="1">
                <a:solidFill>
                  <a:srgbClr val="595F6B"/>
                </a:solidFill>
                <a:latin typeface="Noto Sans JP"/>
                <a:ea typeface="Noto Sans JP"/>
                <a:cs typeface="Noto Sans JP"/>
              </a:rPr>
              <a:t>Q1 (1-3月)</a:t>
            </a:r>
          </a:p>
        </p:txBody>
      </p:sp>
      <p:sp>
        <p:nvSpPr>
          <p:cNvPr id="6" name="Rectangle 5"/>
          <p:cNvSpPr/>
          <p:nvPr/>
        </p:nvSpPr>
        <p:spPr>
          <a:xfrm>
            <a:off x="685800" y="1905000"/>
            <a:ext cx="2705100" cy="3810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390900" y="1447800"/>
            <a:ext cx="9525" cy="3048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1447800"/>
            <a:ext cx="2628900" cy="304800"/>
          </a:xfrm>
          <a:prstGeom prst="rect">
            <a:avLst/>
          </a:prstGeom>
          <a:noFill/>
        </p:spPr>
        <p:txBody>
          <a:bodyPr wrap="square">
            <a:spAutoFit/>
          </a:bodyPr>
          <a:lstStyle/>
          <a:p>
            <a:pPr algn="ctr"/>
            <a:r>
              <a:rPr sz="975" b="1">
                <a:solidFill>
                  <a:srgbClr val="595F6B"/>
                </a:solidFill>
                <a:latin typeface="Noto Sans JP"/>
                <a:ea typeface="Noto Sans JP"/>
                <a:cs typeface="Noto Sans JP"/>
              </a:rPr>
              <a:t>Q2 (4-6月)</a:t>
            </a:r>
          </a:p>
        </p:txBody>
      </p:sp>
      <p:sp>
        <p:nvSpPr>
          <p:cNvPr id="9" name="Rectangle 8"/>
          <p:cNvSpPr/>
          <p:nvPr/>
        </p:nvSpPr>
        <p:spPr>
          <a:xfrm>
            <a:off x="6096000" y="1447800"/>
            <a:ext cx="9525" cy="3048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34100" y="1447800"/>
            <a:ext cx="2628900" cy="304800"/>
          </a:xfrm>
          <a:prstGeom prst="rect">
            <a:avLst/>
          </a:prstGeom>
          <a:noFill/>
        </p:spPr>
        <p:txBody>
          <a:bodyPr wrap="square">
            <a:spAutoFit/>
          </a:bodyPr>
          <a:lstStyle/>
          <a:p>
            <a:pPr algn="ctr"/>
            <a:r>
              <a:rPr sz="975" b="1">
                <a:solidFill>
                  <a:srgbClr val="595F6B"/>
                </a:solidFill>
                <a:latin typeface="Noto Sans JP"/>
                <a:ea typeface="Noto Sans JP"/>
                <a:cs typeface="Noto Sans JP"/>
              </a:rPr>
              <a:t>Q3 (7-9月)</a:t>
            </a:r>
          </a:p>
        </p:txBody>
      </p:sp>
      <p:sp>
        <p:nvSpPr>
          <p:cNvPr id="11" name="Rectangle 10"/>
          <p:cNvSpPr/>
          <p:nvPr/>
        </p:nvSpPr>
        <p:spPr>
          <a:xfrm>
            <a:off x="6096000" y="1905000"/>
            <a:ext cx="2705100" cy="3810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01100" y="1447800"/>
            <a:ext cx="9525" cy="3048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39200" y="1447800"/>
            <a:ext cx="2628900" cy="304800"/>
          </a:xfrm>
          <a:prstGeom prst="rect">
            <a:avLst/>
          </a:prstGeom>
          <a:noFill/>
        </p:spPr>
        <p:txBody>
          <a:bodyPr wrap="square">
            <a:spAutoFit/>
          </a:bodyPr>
          <a:lstStyle/>
          <a:p>
            <a:pPr algn="ctr"/>
            <a:r>
              <a:rPr sz="975" b="1">
                <a:solidFill>
                  <a:srgbClr val="595F6B"/>
                </a:solidFill>
                <a:latin typeface="Noto Sans JP"/>
                <a:ea typeface="Noto Sans JP"/>
                <a:cs typeface="Noto Sans JP"/>
              </a:rPr>
              <a:t>Q4 (10-12月)</a:t>
            </a:r>
          </a:p>
        </p:txBody>
      </p:sp>
      <p:sp>
        <p:nvSpPr>
          <p:cNvPr id="14" name="Rectangle 13"/>
          <p:cNvSpPr/>
          <p:nvPr/>
        </p:nvSpPr>
        <p:spPr>
          <a:xfrm>
            <a:off x="685800" y="3800475"/>
            <a:ext cx="10820400" cy="1905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4950" y="3733800"/>
            <a:ext cx="152400" cy="1524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16" name="TextBox 15"/>
          <p:cNvSpPr txBox="1"/>
          <p:nvPr/>
        </p:nvSpPr>
        <p:spPr>
          <a:xfrm>
            <a:off x="1333500" y="350520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1/15</a:t>
            </a:r>
          </a:p>
        </p:txBody>
      </p:sp>
      <p:sp>
        <p:nvSpPr>
          <p:cNvPr id="17" name="TextBox 16"/>
          <p:cNvSpPr txBox="1"/>
          <p:nvPr/>
        </p:nvSpPr>
        <p:spPr>
          <a:xfrm>
            <a:off x="952500" y="39433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β版リリース</a:t>
            </a:r>
          </a:p>
        </p:txBody>
      </p:sp>
      <p:sp>
        <p:nvSpPr>
          <p:cNvPr id="18" name="TextBox 17"/>
          <p:cNvSpPr txBox="1"/>
          <p:nvPr/>
        </p:nvSpPr>
        <p:spPr>
          <a:xfrm>
            <a:off x="952500" y="4267200"/>
            <a:ext cx="1257300" cy="190500"/>
          </a:xfrm>
          <a:prstGeom prst="rect">
            <a:avLst/>
          </a:prstGeom>
          <a:noFill/>
        </p:spPr>
        <p:txBody>
          <a:bodyPr wrap="square">
            <a:spAutoFit/>
          </a:bodyPr>
          <a:lstStyle/>
          <a:p>
            <a:pPr algn="ctr"/>
            <a:r>
              <a:rPr sz="825" b="0">
                <a:solidFill>
                  <a:srgbClr val="595F6B"/>
                </a:solidFill>
                <a:latin typeface="Noto Sans JP"/>
                <a:ea typeface="Noto Sans JP"/>
                <a:cs typeface="Noto Sans JP"/>
              </a:rPr>
              <a:t>クローズドβ開始</a:t>
            </a:r>
          </a:p>
        </p:txBody>
      </p:sp>
      <p:sp>
        <p:nvSpPr>
          <p:cNvPr id="19" name="Oval 18"/>
          <p:cNvSpPr/>
          <p:nvPr/>
        </p:nvSpPr>
        <p:spPr>
          <a:xfrm>
            <a:off x="2409825" y="3733800"/>
            <a:ext cx="152400" cy="1524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20" name="TextBox 19"/>
          <p:cNvSpPr txBox="1"/>
          <p:nvPr/>
        </p:nvSpPr>
        <p:spPr>
          <a:xfrm>
            <a:off x="1857375" y="31051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GA版公開</a:t>
            </a:r>
          </a:p>
        </p:txBody>
      </p:sp>
      <p:sp>
        <p:nvSpPr>
          <p:cNvPr id="21" name="TextBox 20"/>
          <p:cNvSpPr txBox="1"/>
          <p:nvPr/>
        </p:nvSpPr>
        <p:spPr>
          <a:xfrm>
            <a:off x="1857375" y="3448050"/>
            <a:ext cx="1257300" cy="209550"/>
          </a:xfrm>
          <a:prstGeom prst="rect">
            <a:avLst/>
          </a:prstGeom>
          <a:noFill/>
        </p:spPr>
        <p:txBody>
          <a:bodyPr wrap="square">
            <a:spAutoFit/>
          </a:bodyPr>
          <a:lstStyle/>
          <a:p>
            <a:pPr algn="ctr"/>
            <a:r>
              <a:rPr sz="825" b="0">
                <a:solidFill>
                  <a:srgbClr val="595F6B"/>
                </a:solidFill>
                <a:latin typeface="Noto Sans JP"/>
                <a:ea typeface="Noto Sans JP"/>
                <a:cs typeface="Noto Sans JP"/>
              </a:rPr>
              <a:t>一般提供開始</a:t>
            </a:r>
          </a:p>
        </p:txBody>
      </p:sp>
      <p:sp>
        <p:nvSpPr>
          <p:cNvPr id="22" name="TextBox 21"/>
          <p:cNvSpPr txBox="1"/>
          <p:nvPr/>
        </p:nvSpPr>
        <p:spPr>
          <a:xfrm>
            <a:off x="2238375" y="394335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3/31</a:t>
            </a:r>
          </a:p>
        </p:txBody>
      </p:sp>
      <p:sp>
        <p:nvSpPr>
          <p:cNvPr id="23" name="Oval 22"/>
          <p:cNvSpPr/>
          <p:nvPr/>
        </p:nvSpPr>
        <p:spPr>
          <a:xfrm>
            <a:off x="4210050" y="3733800"/>
            <a:ext cx="152400" cy="1524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24" name="TextBox 23"/>
          <p:cNvSpPr txBox="1"/>
          <p:nvPr/>
        </p:nvSpPr>
        <p:spPr>
          <a:xfrm>
            <a:off x="4038600" y="350520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5/20</a:t>
            </a:r>
          </a:p>
        </p:txBody>
      </p:sp>
      <p:sp>
        <p:nvSpPr>
          <p:cNvPr id="25" name="TextBox 24"/>
          <p:cNvSpPr txBox="1"/>
          <p:nvPr/>
        </p:nvSpPr>
        <p:spPr>
          <a:xfrm>
            <a:off x="3657600" y="39433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API連携機能</a:t>
            </a:r>
          </a:p>
        </p:txBody>
      </p:sp>
      <p:sp>
        <p:nvSpPr>
          <p:cNvPr id="26" name="TextBox 25"/>
          <p:cNvSpPr txBox="1"/>
          <p:nvPr/>
        </p:nvSpPr>
        <p:spPr>
          <a:xfrm>
            <a:off x="3657600" y="4267200"/>
            <a:ext cx="1257300" cy="190500"/>
          </a:xfrm>
          <a:prstGeom prst="rect">
            <a:avLst/>
          </a:prstGeom>
          <a:noFill/>
        </p:spPr>
        <p:txBody>
          <a:bodyPr wrap="square">
            <a:spAutoFit/>
          </a:bodyPr>
          <a:lstStyle/>
          <a:p>
            <a:pPr algn="ctr"/>
            <a:r>
              <a:rPr sz="825" b="0">
                <a:solidFill>
                  <a:srgbClr val="595F6B"/>
                </a:solidFill>
                <a:latin typeface="Noto Sans JP"/>
                <a:ea typeface="Noto Sans JP"/>
                <a:cs typeface="Noto Sans JP"/>
              </a:rPr>
              <a:t>外部連携v1公開</a:t>
            </a:r>
          </a:p>
        </p:txBody>
      </p:sp>
      <p:sp>
        <p:nvSpPr>
          <p:cNvPr id="27" name="Oval 26"/>
          <p:cNvSpPr/>
          <p:nvPr/>
        </p:nvSpPr>
        <p:spPr>
          <a:xfrm>
            <a:off x="5114925" y="3733800"/>
            <a:ext cx="152400" cy="152400"/>
          </a:xfrm>
          <a:prstGeom prst="ellipse">
            <a:avLst/>
          </a:prstGeom>
          <a:no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2475" y="31051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モバイル対応</a:t>
            </a:r>
          </a:p>
        </p:txBody>
      </p:sp>
      <p:sp>
        <p:nvSpPr>
          <p:cNvPr id="29" name="TextBox 28"/>
          <p:cNvSpPr txBox="1"/>
          <p:nvPr/>
        </p:nvSpPr>
        <p:spPr>
          <a:xfrm>
            <a:off x="4562475" y="3448050"/>
            <a:ext cx="1257300" cy="209550"/>
          </a:xfrm>
          <a:prstGeom prst="rect">
            <a:avLst/>
          </a:prstGeom>
          <a:noFill/>
        </p:spPr>
        <p:txBody>
          <a:bodyPr wrap="square">
            <a:spAutoFit/>
          </a:bodyPr>
          <a:lstStyle/>
          <a:p>
            <a:pPr algn="ctr"/>
            <a:r>
              <a:rPr sz="825" b="0">
                <a:solidFill>
                  <a:srgbClr val="595F6B"/>
                </a:solidFill>
                <a:latin typeface="Noto Sans JP"/>
                <a:ea typeface="Noto Sans JP"/>
                <a:cs typeface="Noto Sans JP"/>
              </a:rPr>
              <a:t>iOS/Android</a:t>
            </a:r>
          </a:p>
        </p:txBody>
      </p:sp>
      <p:sp>
        <p:nvSpPr>
          <p:cNvPr id="30" name="TextBox 29"/>
          <p:cNvSpPr txBox="1"/>
          <p:nvPr/>
        </p:nvSpPr>
        <p:spPr>
          <a:xfrm>
            <a:off x="4943475" y="394335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6/30</a:t>
            </a:r>
          </a:p>
        </p:txBody>
      </p:sp>
      <p:sp>
        <p:nvSpPr>
          <p:cNvPr id="31" name="Oval 30"/>
          <p:cNvSpPr/>
          <p:nvPr/>
        </p:nvSpPr>
        <p:spPr>
          <a:xfrm>
            <a:off x="7372350" y="3733800"/>
            <a:ext cx="152400" cy="152400"/>
          </a:xfrm>
          <a:prstGeom prst="ellipse">
            <a:avLst/>
          </a:prstGeom>
          <a:no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00900" y="350520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8/31</a:t>
            </a:r>
          </a:p>
        </p:txBody>
      </p:sp>
      <p:sp>
        <p:nvSpPr>
          <p:cNvPr id="33" name="TextBox 32"/>
          <p:cNvSpPr txBox="1"/>
          <p:nvPr/>
        </p:nvSpPr>
        <p:spPr>
          <a:xfrm>
            <a:off x="6819900" y="39433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エンタープライズ</a:t>
            </a:r>
          </a:p>
        </p:txBody>
      </p:sp>
      <p:sp>
        <p:nvSpPr>
          <p:cNvPr id="34" name="TextBox 33"/>
          <p:cNvSpPr txBox="1"/>
          <p:nvPr/>
        </p:nvSpPr>
        <p:spPr>
          <a:xfrm>
            <a:off x="6819900" y="4267200"/>
            <a:ext cx="1257300" cy="190500"/>
          </a:xfrm>
          <a:prstGeom prst="rect">
            <a:avLst/>
          </a:prstGeom>
          <a:noFill/>
        </p:spPr>
        <p:txBody>
          <a:bodyPr wrap="square">
            <a:spAutoFit/>
          </a:bodyPr>
          <a:lstStyle/>
          <a:p>
            <a:pPr algn="ctr"/>
            <a:r>
              <a:rPr sz="825" b="0">
                <a:solidFill>
                  <a:srgbClr val="595F6B"/>
                </a:solidFill>
                <a:latin typeface="Noto Sans JP"/>
                <a:ea typeface="Noto Sans JP"/>
                <a:cs typeface="Noto Sans JP"/>
              </a:rPr>
              <a:t>大手向け機能追加</a:t>
            </a:r>
          </a:p>
        </p:txBody>
      </p:sp>
      <p:sp>
        <p:nvSpPr>
          <p:cNvPr id="35" name="Oval 34"/>
          <p:cNvSpPr/>
          <p:nvPr/>
        </p:nvSpPr>
        <p:spPr>
          <a:xfrm>
            <a:off x="9620250" y="3733800"/>
            <a:ext cx="152400" cy="152400"/>
          </a:xfrm>
          <a:prstGeom prst="ellipse">
            <a:avLst/>
          </a:prstGeom>
          <a:no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67800" y="31051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海外展開</a:t>
            </a:r>
          </a:p>
        </p:txBody>
      </p:sp>
      <p:sp>
        <p:nvSpPr>
          <p:cNvPr id="37" name="TextBox 36"/>
          <p:cNvSpPr txBox="1"/>
          <p:nvPr/>
        </p:nvSpPr>
        <p:spPr>
          <a:xfrm>
            <a:off x="9067800" y="3448050"/>
            <a:ext cx="1257300" cy="209550"/>
          </a:xfrm>
          <a:prstGeom prst="rect">
            <a:avLst/>
          </a:prstGeom>
          <a:noFill/>
        </p:spPr>
        <p:txBody>
          <a:bodyPr wrap="square">
            <a:spAutoFit/>
          </a:bodyPr>
          <a:lstStyle/>
          <a:p>
            <a:pPr algn="ctr"/>
            <a:r>
              <a:rPr sz="825" b="0">
                <a:solidFill>
                  <a:srgbClr val="595F6B"/>
                </a:solidFill>
                <a:latin typeface="Noto Sans JP"/>
                <a:ea typeface="Noto Sans JP"/>
                <a:cs typeface="Noto Sans JP"/>
              </a:rPr>
              <a:t>英語版リリース</a:t>
            </a:r>
          </a:p>
        </p:txBody>
      </p:sp>
      <p:sp>
        <p:nvSpPr>
          <p:cNvPr id="38" name="TextBox 37"/>
          <p:cNvSpPr txBox="1"/>
          <p:nvPr/>
        </p:nvSpPr>
        <p:spPr>
          <a:xfrm>
            <a:off x="9448800" y="394335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10/1</a:t>
            </a:r>
          </a:p>
        </p:txBody>
      </p:sp>
      <p:sp>
        <p:nvSpPr>
          <p:cNvPr id="39" name="Oval 38"/>
          <p:cNvSpPr/>
          <p:nvPr/>
        </p:nvSpPr>
        <p:spPr>
          <a:xfrm>
            <a:off x="10525125" y="3733800"/>
            <a:ext cx="152400" cy="152400"/>
          </a:xfrm>
          <a:prstGeom prst="ellipse">
            <a:avLst/>
          </a:prstGeom>
          <a:no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53675" y="3505200"/>
            <a:ext cx="495300" cy="171450"/>
          </a:xfrm>
          <a:prstGeom prst="rect">
            <a:avLst/>
          </a:prstGeom>
          <a:noFill/>
        </p:spPr>
        <p:txBody>
          <a:bodyPr wrap="square">
            <a:spAutoFit/>
          </a:bodyPr>
          <a:lstStyle/>
          <a:p>
            <a:pPr algn="ctr"/>
            <a:r>
              <a:rPr sz="825" b="0">
                <a:solidFill>
                  <a:srgbClr val="595F6B"/>
                </a:solidFill>
                <a:latin typeface="Noto Sans JP"/>
                <a:ea typeface="Noto Sans JP"/>
                <a:cs typeface="Noto Sans JP"/>
              </a:rPr>
              <a:t>12/31</a:t>
            </a:r>
          </a:p>
        </p:txBody>
      </p:sp>
      <p:sp>
        <p:nvSpPr>
          <p:cNvPr id="41" name="TextBox 40"/>
          <p:cNvSpPr txBox="1"/>
          <p:nvPr/>
        </p:nvSpPr>
        <p:spPr>
          <a:xfrm>
            <a:off x="9972675" y="3943350"/>
            <a:ext cx="1257300" cy="304800"/>
          </a:xfrm>
          <a:prstGeom prst="rect">
            <a:avLst/>
          </a:prstGeom>
          <a:noFill/>
        </p:spPr>
        <p:txBody>
          <a:bodyPr wrap="none">
            <a:spAutoFit/>
          </a:bodyPr>
          <a:lstStyle/>
          <a:p>
            <a:pPr algn="ctr"/>
            <a:r>
              <a:rPr sz="975" b="1">
                <a:solidFill>
                  <a:srgbClr val="1C1F26"/>
                </a:solidFill>
                <a:latin typeface="Noto Sans JP"/>
                <a:ea typeface="Noto Sans JP"/>
                <a:cs typeface="Noto Sans JP"/>
              </a:rPr>
              <a:t>次世代AI</a:t>
            </a:r>
          </a:p>
        </p:txBody>
      </p:sp>
      <p:sp>
        <p:nvSpPr>
          <p:cNvPr id="42" name="TextBox 41"/>
          <p:cNvSpPr txBox="1"/>
          <p:nvPr/>
        </p:nvSpPr>
        <p:spPr>
          <a:xfrm>
            <a:off x="9972675" y="4267200"/>
            <a:ext cx="1257300" cy="190500"/>
          </a:xfrm>
          <a:prstGeom prst="rect">
            <a:avLst/>
          </a:prstGeom>
          <a:noFill/>
        </p:spPr>
        <p:txBody>
          <a:bodyPr wrap="square">
            <a:spAutoFit/>
          </a:bodyPr>
          <a:lstStyle/>
          <a:p>
            <a:pPr algn="ctr"/>
            <a:r>
              <a:rPr sz="825" b="0">
                <a:solidFill>
                  <a:srgbClr val="595F6B"/>
                </a:solidFill>
                <a:latin typeface="Noto Sans JP"/>
                <a:ea typeface="Noto Sans JP"/>
                <a:cs typeface="Noto Sans JP"/>
              </a:rPr>
              <a:t>LLM v2搭載</a:t>
            </a:r>
          </a:p>
        </p:txBody>
      </p:sp>
      <p:sp>
        <p:nvSpPr>
          <p:cNvPr id="43" name="Oval 42"/>
          <p:cNvSpPr/>
          <p:nvPr/>
        </p:nvSpPr>
        <p:spPr>
          <a:xfrm>
            <a:off x="704850" y="5848350"/>
            <a:ext cx="114300" cy="1143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a:solidFill>
                  <a:srgbClr val="6C63FF"/>
                </a:solidFill>
                <a:latin typeface="Noto Sans JP"/>
                <a:ea typeface="Noto Sans JP"/>
                <a:cs typeface="Noto Sans JP"/>
              </a:rPr>
              <a:t/>
            </a:r>
          </a:p>
        </p:txBody>
      </p:sp>
      <p:sp>
        <p:nvSpPr>
          <p:cNvPr id="44" name="TextBox 43"/>
          <p:cNvSpPr txBox="1"/>
          <p:nvPr/>
        </p:nvSpPr>
        <p:spPr>
          <a:xfrm>
            <a:off x="876300" y="5829300"/>
            <a:ext cx="762000" cy="171450"/>
          </a:xfrm>
          <a:prstGeom prst="rect">
            <a:avLst/>
          </a:prstGeom>
          <a:noFill/>
        </p:spPr>
        <p:txBody>
          <a:bodyPr wrap="square">
            <a:spAutoFit/>
          </a:bodyPr>
          <a:lstStyle/>
          <a:p>
            <a:pPr algn="l"/>
            <a:r>
              <a:rPr sz="975" b="0">
                <a:solidFill>
                  <a:srgbClr val="595F6B"/>
                </a:solidFill>
                <a:latin typeface="Noto Sans JP"/>
                <a:ea typeface="Noto Sans JP"/>
                <a:cs typeface="Noto Sans JP"/>
              </a:rPr>
              <a:t>完了</a:t>
            </a:r>
          </a:p>
        </p:txBody>
      </p:sp>
      <p:sp>
        <p:nvSpPr>
          <p:cNvPr id="45" name="Oval 44"/>
          <p:cNvSpPr/>
          <p:nvPr/>
        </p:nvSpPr>
        <p:spPr>
          <a:xfrm>
            <a:off x="1581150" y="5848350"/>
            <a:ext cx="114300" cy="114300"/>
          </a:xfrm>
          <a:prstGeom prst="ellipse">
            <a:avLst/>
          </a:prstGeom>
          <a:no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790700" y="5829300"/>
            <a:ext cx="762000" cy="171450"/>
          </a:xfrm>
          <a:prstGeom prst="rect">
            <a:avLst/>
          </a:prstGeom>
          <a:noFill/>
        </p:spPr>
        <p:txBody>
          <a:bodyPr wrap="square">
            <a:spAutoFit/>
          </a:bodyPr>
          <a:lstStyle/>
          <a:p>
            <a:pPr algn="l"/>
            <a:r>
              <a:rPr sz="975" b="0">
                <a:solidFill>
                  <a:srgbClr val="595F6B"/>
                </a:solidFill>
                <a:latin typeface="Noto Sans JP"/>
                <a:ea typeface="Noto Sans JP"/>
                <a:cs typeface="Noto Sans JP"/>
              </a:rPr>
              <a:t>予定</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申込・導入フロー標準ドキュメント 2026年版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申込から利用開始まで最短5営業日で完結する</a:t>
            </a:r>
          </a:p>
        </p:txBody>
      </p:sp>
      <p:sp>
        <p:nvSpPr>
          <p:cNvPr id="5" name="Rectangle 4"/>
          <p:cNvSpPr/>
          <p:nvPr/>
        </p:nvSpPr>
        <p:spPr>
          <a:xfrm>
            <a:off x="2286000" y="1371600"/>
            <a:ext cx="9525" cy="4572000"/>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rot="16200000">
            <a:off x="685800" y="1371600"/>
            <a:ext cx="1609725" cy="4572000"/>
          </a:xfrm>
          <a:prstGeom prst="rect">
            <a:avLst/>
          </a:prstGeom>
          <a:noFill/>
        </p:spPr>
        <p:txBody>
          <a:bodyPr wrap="none">
            <a:spAutoFit/>
          </a:bodyPr>
          <a:lstStyle/>
          <a:p>
            <a:pPr algn="ctr"/>
            <a:r>
              <a:rPr sz="975" b="1">
                <a:solidFill>
                  <a:srgbClr val="595F6B"/>
                </a:solidFill>
                <a:latin typeface="Noto Sans JP"/>
                <a:ea typeface="Noto Sans JP"/>
                <a:cs typeface="Noto Sans JP"/>
              </a:rPr>
              <a:t>申込フロー</a:t>
            </a:r>
          </a:p>
        </p:txBody>
      </p:sp>
      <p:sp>
        <p:nvSpPr>
          <p:cNvPr id="7" name="Rounded Rectangle 6"/>
          <p:cNvSpPr/>
          <p:nvPr/>
        </p:nvSpPr>
        <p:spPr>
          <a:xfrm>
            <a:off x="2524125" y="1371600"/>
            <a:ext cx="952500"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24125" y="1409700"/>
            <a:ext cx="952500" cy="152400"/>
          </a:xfrm>
          <a:prstGeom prst="rect">
            <a:avLst/>
          </a:prstGeom>
          <a:noFill/>
        </p:spPr>
        <p:txBody>
          <a:bodyPr wrap="square">
            <a:spAutoFit/>
          </a:bodyPr>
          <a:lstStyle/>
          <a:p>
            <a:pPr algn="ctr"/>
            <a:r>
              <a:rPr sz="750" b="1">
                <a:solidFill>
                  <a:srgbClr val="6C63FF"/>
                </a:solidFill>
                <a:latin typeface="Noto Sans JP"/>
                <a:ea typeface="Noto Sans JP"/>
                <a:cs typeface="Noto Sans JP"/>
              </a:rPr>
              <a:t>STEP</a:t>
            </a:r>
          </a:p>
        </p:txBody>
      </p:sp>
      <p:sp>
        <p:nvSpPr>
          <p:cNvPr id="9" name="TextBox 8"/>
          <p:cNvSpPr txBox="1"/>
          <p:nvPr/>
        </p:nvSpPr>
        <p:spPr>
          <a:xfrm>
            <a:off x="2524125" y="1562100"/>
            <a:ext cx="952500" cy="590550"/>
          </a:xfrm>
          <a:prstGeom prst="rect">
            <a:avLst/>
          </a:prstGeom>
          <a:noFill/>
        </p:spPr>
        <p:txBody>
          <a:bodyPr wrap="square">
            <a:spAutoFit/>
          </a:bodyPr>
          <a:lstStyle/>
          <a:p>
            <a:pPr algn="ctr"/>
            <a:r>
              <a:rPr sz="1950" b="1">
                <a:solidFill>
                  <a:srgbClr val="1C1F26"/>
                </a:solidFill>
                <a:latin typeface="Noto Sans JP"/>
                <a:ea typeface="Noto Sans JP"/>
                <a:cs typeface="Noto Sans JP"/>
              </a:rPr>
              <a:t>1</a:t>
            </a:r>
          </a:p>
        </p:txBody>
      </p:sp>
      <p:sp>
        <p:nvSpPr>
          <p:cNvPr id="10" name="Rounded Rectangle 9"/>
          <p:cNvSpPr/>
          <p:nvPr/>
        </p:nvSpPr>
        <p:spPr>
          <a:xfrm>
            <a:off x="3629025" y="1371600"/>
            <a:ext cx="7877175"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81425" y="1428750"/>
            <a:ext cx="7648575" cy="190500"/>
          </a:xfrm>
          <a:prstGeom prst="rect">
            <a:avLst/>
          </a:prstGeom>
          <a:noFill/>
        </p:spPr>
        <p:txBody>
          <a:bodyPr wrap="square">
            <a:spAutoFit/>
          </a:bodyPr>
          <a:lstStyle/>
          <a:p>
            <a:pPr algn="l"/>
            <a:r>
              <a:rPr sz="975" b="1">
                <a:solidFill>
                  <a:srgbClr val="6C63FF"/>
                </a:solidFill>
                <a:latin typeface="Noto Sans JP"/>
                <a:ea typeface="Noto Sans JP"/>
                <a:cs typeface="Noto Sans JP"/>
              </a:rPr>
              <a:t>STEP 1</a:t>
            </a:r>
          </a:p>
        </p:txBody>
      </p:sp>
      <p:sp>
        <p:nvSpPr>
          <p:cNvPr id="12" name="TextBox 11"/>
          <p:cNvSpPr txBox="1"/>
          <p:nvPr/>
        </p:nvSpPr>
        <p:spPr>
          <a:xfrm>
            <a:off x="3781425" y="1638300"/>
            <a:ext cx="7648575" cy="476250"/>
          </a:xfrm>
          <a:prstGeom prst="rect">
            <a:avLst/>
          </a:prstGeom>
          <a:noFill/>
        </p:spPr>
        <p:txBody>
          <a:bodyPr wrap="square">
            <a:spAutoFit/>
          </a:bodyPr>
          <a:lstStyle/>
          <a:p>
            <a:pPr algn="l"/>
            <a:r>
              <a:rPr sz="1350" b="0">
                <a:solidFill>
                  <a:srgbClr val="1C1F26"/>
                </a:solidFill>
                <a:latin typeface="Noto Sans JP"/>
                <a:ea typeface="Noto Sans JP"/>
                <a:cs typeface="Noto Sans JP"/>
              </a:rPr>
              <a:t>公式サイトから無料トライアルに申し込む（所要2分）</a:t>
            </a:r>
          </a:p>
        </p:txBody>
      </p:sp>
      <p:cxnSp>
        <p:nvCxnSpPr>
          <p:cNvPr id="13" name="Connector 12"/>
          <p:cNvCxnSpPr/>
          <p:nvPr/>
        </p:nvCxnSpPr>
        <p:spPr>
          <a:xfrm>
            <a:off x="3000375" y="2200275"/>
            <a:ext cx="0" cy="9525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524125" y="2305050"/>
            <a:ext cx="952500"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24125" y="2343150"/>
            <a:ext cx="952500" cy="152400"/>
          </a:xfrm>
          <a:prstGeom prst="rect">
            <a:avLst/>
          </a:prstGeom>
          <a:noFill/>
        </p:spPr>
        <p:txBody>
          <a:bodyPr wrap="square">
            <a:spAutoFit/>
          </a:bodyPr>
          <a:lstStyle/>
          <a:p>
            <a:pPr algn="ctr"/>
            <a:r>
              <a:rPr sz="750" b="1">
                <a:solidFill>
                  <a:srgbClr val="6C63FF"/>
                </a:solidFill>
                <a:latin typeface="Noto Sans JP"/>
                <a:ea typeface="Noto Sans JP"/>
                <a:cs typeface="Noto Sans JP"/>
              </a:rPr>
              <a:t>STEP</a:t>
            </a:r>
          </a:p>
        </p:txBody>
      </p:sp>
      <p:sp>
        <p:nvSpPr>
          <p:cNvPr id="16" name="TextBox 15"/>
          <p:cNvSpPr txBox="1"/>
          <p:nvPr/>
        </p:nvSpPr>
        <p:spPr>
          <a:xfrm>
            <a:off x="2524125" y="2495550"/>
            <a:ext cx="952500" cy="590550"/>
          </a:xfrm>
          <a:prstGeom prst="rect">
            <a:avLst/>
          </a:prstGeom>
          <a:noFill/>
        </p:spPr>
        <p:txBody>
          <a:bodyPr wrap="square">
            <a:spAutoFit/>
          </a:bodyPr>
          <a:lstStyle/>
          <a:p>
            <a:pPr algn="ctr"/>
            <a:r>
              <a:rPr sz="1950" b="1">
                <a:solidFill>
                  <a:srgbClr val="1C1F26"/>
                </a:solidFill>
                <a:latin typeface="Noto Sans JP"/>
                <a:ea typeface="Noto Sans JP"/>
                <a:cs typeface="Noto Sans JP"/>
              </a:rPr>
              <a:t>2</a:t>
            </a:r>
          </a:p>
        </p:txBody>
      </p:sp>
      <p:sp>
        <p:nvSpPr>
          <p:cNvPr id="17" name="Rounded Rectangle 16"/>
          <p:cNvSpPr/>
          <p:nvPr/>
        </p:nvSpPr>
        <p:spPr>
          <a:xfrm>
            <a:off x="3629025" y="2305050"/>
            <a:ext cx="7877175"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81425" y="2362200"/>
            <a:ext cx="7648575" cy="190500"/>
          </a:xfrm>
          <a:prstGeom prst="rect">
            <a:avLst/>
          </a:prstGeom>
          <a:noFill/>
        </p:spPr>
        <p:txBody>
          <a:bodyPr wrap="square">
            <a:spAutoFit/>
          </a:bodyPr>
          <a:lstStyle/>
          <a:p>
            <a:pPr algn="l"/>
            <a:r>
              <a:rPr sz="975" b="1">
                <a:solidFill>
                  <a:srgbClr val="6C63FF"/>
                </a:solidFill>
                <a:latin typeface="Noto Sans JP"/>
                <a:ea typeface="Noto Sans JP"/>
                <a:cs typeface="Noto Sans JP"/>
              </a:rPr>
              <a:t>STEP 2</a:t>
            </a:r>
          </a:p>
        </p:txBody>
      </p:sp>
      <p:sp>
        <p:nvSpPr>
          <p:cNvPr id="19" name="TextBox 18"/>
          <p:cNvSpPr txBox="1"/>
          <p:nvPr/>
        </p:nvSpPr>
        <p:spPr>
          <a:xfrm>
            <a:off x="3781425" y="2571750"/>
            <a:ext cx="7648575" cy="476250"/>
          </a:xfrm>
          <a:prstGeom prst="rect">
            <a:avLst/>
          </a:prstGeom>
          <a:noFill/>
        </p:spPr>
        <p:txBody>
          <a:bodyPr wrap="square">
            <a:spAutoFit/>
          </a:bodyPr>
          <a:lstStyle/>
          <a:p>
            <a:pPr algn="l"/>
            <a:r>
              <a:rPr sz="1350" b="0">
                <a:solidFill>
                  <a:srgbClr val="1C1F26"/>
                </a:solidFill>
                <a:latin typeface="Noto Sans JP"/>
                <a:ea typeface="Noto Sans JP"/>
                <a:cs typeface="Noto Sans JP"/>
              </a:rPr>
              <a:t>担当者から1営業日以内にオンボーディング日程の連絡が届く</a:t>
            </a:r>
          </a:p>
        </p:txBody>
      </p:sp>
      <p:cxnSp>
        <p:nvCxnSpPr>
          <p:cNvPr id="20" name="Connector 19"/>
          <p:cNvCxnSpPr/>
          <p:nvPr/>
        </p:nvCxnSpPr>
        <p:spPr>
          <a:xfrm>
            <a:off x="3000375" y="3133725"/>
            <a:ext cx="0" cy="9525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524125" y="3238500"/>
            <a:ext cx="952500"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24125" y="3276600"/>
            <a:ext cx="952500" cy="152400"/>
          </a:xfrm>
          <a:prstGeom prst="rect">
            <a:avLst/>
          </a:prstGeom>
          <a:noFill/>
        </p:spPr>
        <p:txBody>
          <a:bodyPr wrap="square">
            <a:spAutoFit/>
          </a:bodyPr>
          <a:lstStyle/>
          <a:p>
            <a:pPr algn="ctr"/>
            <a:r>
              <a:rPr sz="750" b="1">
                <a:solidFill>
                  <a:srgbClr val="6C63FF"/>
                </a:solidFill>
                <a:latin typeface="Noto Sans JP"/>
                <a:ea typeface="Noto Sans JP"/>
                <a:cs typeface="Noto Sans JP"/>
              </a:rPr>
              <a:t>STEP</a:t>
            </a:r>
          </a:p>
        </p:txBody>
      </p:sp>
      <p:sp>
        <p:nvSpPr>
          <p:cNvPr id="23" name="TextBox 22"/>
          <p:cNvSpPr txBox="1"/>
          <p:nvPr/>
        </p:nvSpPr>
        <p:spPr>
          <a:xfrm>
            <a:off x="2524125" y="3429000"/>
            <a:ext cx="952500" cy="590550"/>
          </a:xfrm>
          <a:prstGeom prst="rect">
            <a:avLst/>
          </a:prstGeom>
          <a:noFill/>
        </p:spPr>
        <p:txBody>
          <a:bodyPr wrap="square">
            <a:spAutoFit/>
          </a:bodyPr>
          <a:lstStyle/>
          <a:p>
            <a:pPr algn="ctr"/>
            <a:r>
              <a:rPr sz="1950" b="1">
                <a:solidFill>
                  <a:srgbClr val="1C1F26"/>
                </a:solidFill>
                <a:latin typeface="Noto Sans JP"/>
                <a:ea typeface="Noto Sans JP"/>
                <a:cs typeface="Noto Sans JP"/>
              </a:rPr>
              <a:t>3</a:t>
            </a:r>
          </a:p>
        </p:txBody>
      </p:sp>
      <p:sp>
        <p:nvSpPr>
          <p:cNvPr id="24" name="Rounded Rectangle 23"/>
          <p:cNvSpPr/>
          <p:nvPr/>
        </p:nvSpPr>
        <p:spPr>
          <a:xfrm>
            <a:off x="3629025" y="3238500"/>
            <a:ext cx="7877175"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81425" y="3295650"/>
            <a:ext cx="7648575" cy="190500"/>
          </a:xfrm>
          <a:prstGeom prst="rect">
            <a:avLst/>
          </a:prstGeom>
          <a:noFill/>
        </p:spPr>
        <p:txBody>
          <a:bodyPr wrap="square">
            <a:spAutoFit/>
          </a:bodyPr>
          <a:lstStyle/>
          <a:p>
            <a:pPr algn="l"/>
            <a:r>
              <a:rPr sz="975" b="1">
                <a:solidFill>
                  <a:srgbClr val="6C63FF"/>
                </a:solidFill>
                <a:latin typeface="Noto Sans JP"/>
                <a:ea typeface="Noto Sans JP"/>
                <a:cs typeface="Noto Sans JP"/>
              </a:rPr>
              <a:t>STEP 3</a:t>
            </a:r>
          </a:p>
        </p:txBody>
      </p:sp>
      <p:sp>
        <p:nvSpPr>
          <p:cNvPr id="26" name="TextBox 25"/>
          <p:cNvSpPr txBox="1"/>
          <p:nvPr/>
        </p:nvSpPr>
        <p:spPr>
          <a:xfrm>
            <a:off x="3781425" y="3505200"/>
            <a:ext cx="7648575" cy="476250"/>
          </a:xfrm>
          <a:prstGeom prst="rect">
            <a:avLst/>
          </a:prstGeom>
          <a:noFill/>
        </p:spPr>
        <p:txBody>
          <a:bodyPr wrap="square">
            <a:spAutoFit/>
          </a:bodyPr>
          <a:lstStyle/>
          <a:p>
            <a:pPr algn="l"/>
            <a:r>
              <a:rPr sz="1350" b="0">
                <a:solidFill>
                  <a:srgbClr val="1C1F26"/>
                </a:solidFill>
                <a:latin typeface="Noto Sans JP"/>
                <a:ea typeface="Noto Sans JP"/>
                <a:cs typeface="Noto Sans JP"/>
              </a:rPr>
              <a:t>60分のオンラインオンボーディングで初期設定と研修を完了する</a:t>
            </a:r>
          </a:p>
        </p:txBody>
      </p:sp>
      <p:cxnSp>
        <p:nvCxnSpPr>
          <p:cNvPr id="27" name="Connector 26"/>
          <p:cNvCxnSpPr/>
          <p:nvPr/>
        </p:nvCxnSpPr>
        <p:spPr>
          <a:xfrm>
            <a:off x="3000375" y="4067175"/>
            <a:ext cx="0" cy="9525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524125" y="4171950"/>
            <a:ext cx="952500"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24125" y="4210050"/>
            <a:ext cx="952500" cy="152400"/>
          </a:xfrm>
          <a:prstGeom prst="rect">
            <a:avLst/>
          </a:prstGeom>
          <a:noFill/>
        </p:spPr>
        <p:txBody>
          <a:bodyPr wrap="square">
            <a:spAutoFit/>
          </a:bodyPr>
          <a:lstStyle/>
          <a:p>
            <a:pPr algn="ctr"/>
            <a:r>
              <a:rPr sz="750" b="1">
                <a:solidFill>
                  <a:srgbClr val="6C63FF"/>
                </a:solidFill>
                <a:latin typeface="Noto Sans JP"/>
                <a:ea typeface="Noto Sans JP"/>
                <a:cs typeface="Noto Sans JP"/>
              </a:rPr>
              <a:t>STEP</a:t>
            </a:r>
          </a:p>
        </p:txBody>
      </p:sp>
      <p:sp>
        <p:nvSpPr>
          <p:cNvPr id="30" name="TextBox 29"/>
          <p:cNvSpPr txBox="1"/>
          <p:nvPr/>
        </p:nvSpPr>
        <p:spPr>
          <a:xfrm>
            <a:off x="2524125" y="4362450"/>
            <a:ext cx="952500" cy="590550"/>
          </a:xfrm>
          <a:prstGeom prst="rect">
            <a:avLst/>
          </a:prstGeom>
          <a:noFill/>
        </p:spPr>
        <p:txBody>
          <a:bodyPr wrap="square">
            <a:spAutoFit/>
          </a:bodyPr>
          <a:lstStyle/>
          <a:p>
            <a:pPr algn="ctr"/>
            <a:r>
              <a:rPr sz="1950" b="1">
                <a:solidFill>
                  <a:srgbClr val="1C1F26"/>
                </a:solidFill>
                <a:latin typeface="Noto Sans JP"/>
                <a:ea typeface="Noto Sans JP"/>
                <a:cs typeface="Noto Sans JP"/>
              </a:rPr>
              <a:t>4</a:t>
            </a:r>
          </a:p>
        </p:txBody>
      </p:sp>
      <p:sp>
        <p:nvSpPr>
          <p:cNvPr id="31" name="Rounded Rectangle 30"/>
          <p:cNvSpPr/>
          <p:nvPr/>
        </p:nvSpPr>
        <p:spPr>
          <a:xfrm>
            <a:off x="3629025" y="4171950"/>
            <a:ext cx="7877175"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81425" y="4229100"/>
            <a:ext cx="7648575" cy="190500"/>
          </a:xfrm>
          <a:prstGeom prst="rect">
            <a:avLst/>
          </a:prstGeom>
          <a:noFill/>
        </p:spPr>
        <p:txBody>
          <a:bodyPr wrap="square">
            <a:spAutoFit/>
          </a:bodyPr>
          <a:lstStyle/>
          <a:p>
            <a:pPr algn="l"/>
            <a:r>
              <a:rPr sz="975" b="1">
                <a:solidFill>
                  <a:srgbClr val="6C63FF"/>
                </a:solidFill>
                <a:latin typeface="Noto Sans JP"/>
                <a:ea typeface="Noto Sans JP"/>
                <a:cs typeface="Noto Sans JP"/>
              </a:rPr>
              <a:t>STEP 4</a:t>
            </a:r>
          </a:p>
        </p:txBody>
      </p:sp>
      <p:sp>
        <p:nvSpPr>
          <p:cNvPr id="33" name="TextBox 32"/>
          <p:cNvSpPr txBox="1"/>
          <p:nvPr/>
        </p:nvSpPr>
        <p:spPr>
          <a:xfrm>
            <a:off x="3781425" y="4438650"/>
            <a:ext cx="7648575" cy="476250"/>
          </a:xfrm>
          <a:prstGeom prst="rect">
            <a:avLst/>
          </a:prstGeom>
          <a:noFill/>
        </p:spPr>
        <p:txBody>
          <a:bodyPr wrap="square">
            <a:spAutoFit/>
          </a:bodyPr>
          <a:lstStyle/>
          <a:p>
            <a:pPr algn="l"/>
            <a:r>
              <a:rPr sz="1350" b="0">
                <a:solidFill>
                  <a:srgbClr val="1C1F26"/>
                </a:solidFill>
                <a:latin typeface="Noto Sans JP"/>
                <a:ea typeface="Noto Sans JP"/>
                <a:cs typeface="Noto Sans JP"/>
              </a:rPr>
              <a:t>管理者権限・SSO・既存SaaS連携を設定して本番環境を構築する</a:t>
            </a:r>
          </a:p>
        </p:txBody>
      </p:sp>
      <p:cxnSp>
        <p:nvCxnSpPr>
          <p:cNvPr id="34" name="Connector 33"/>
          <p:cNvCxnSpPr/>
          <p:nvPr/>
        </p:nvCxnSpPr>
        <p:spPr>
          <a:xfrm>
            <a:off x="3000375" y="5000625"/>
            <a:ext cx="0" cy="9525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2524125" y="5105400"/>
            <a:ext cx="952500" cy="819150"/>
          </a:xfrm>
          <a:prstGeom prst="roundRect">
            <a:avLst>
              <a:gd name="adj" fmla="val 69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24125" y="5143500"/>
            <a:ext cx="952500" cy="152400"/>
          </a:xfrm>
          <a:prstGeom prst="rect">
            <a:avLst/>
          </a:prstGeom>
          <a:noFill/>
        </p:spPr>
        <p:txBody>
          <a:bodyPr wrap="square">
            <a:spAutoFit/>
          </a:bodyPr>
          <a:lstStyle/>
          <a:p>
            <a:pPr algn="ctr"/>
            <a:r>
              <a:rPr sz="750" b="1">
                <a:solidFill>
                  <a:srgbClr val="6C63FF"/>
                </a:solidFill>
                <a:latin typeface="Noto Sans JP"/>
                <a:ea typeface="Noto Sans JP"/>
                <a:cs typeface="Noto Sans JP"/>
              </a:rPr>
              <a:t>STEP</a:t>
            </a:r>
          </a:p>
        </p:txBody>
      </p:sp>
      <p:sp>
        <p:nvSpPr>
          <p:cNvPr id="37" name="TextBox 36"/>
          <p:cNvSpPr txBox="1"/>
          <p:nvPr/>
        </p:nvSpPr>
        <p:spPr>
          <a:xfrm>
            <a:off x="2524125" y="5295900"/>
            <a:ext cx="952500" cy="590550"/>
          </a:xfrm>
          <a:prstGeom prst="rect">
            <a:avLst/>
          </a:prstGeom>
          <a:noFill/>
        </p:spPr>
        <p:txBody>
          <a:bodyPr wrap="square">
            <a:spAutoFit/>
          </a:bodyPr>
          <a:lstStyle/>
          <a:p>
            <a:pPr algn="ctr"/>
            <a:r>
              <a:rPr sz="1950" b="1">
                <a:solidFill>
                  <a:srgbClr val="1C1F26"/>
                </a:solidFill>
                <a:latin typeface="Noto Sans JP"/>
                <a:ea typeface="Noto Sans JP"/>
                <a:cs typeface="Noto Sans JP"/>
              </a:rPr>
              <a:t>5</a:t>
            </a:r>
          </a:p>
        </p:txBody>
      </p:sp>
      <p:sp>
        <p:nvSpPr>
          <p:cNvPr id="38" name="Rounded Rectangle 37"/>
          <p:cNvSpPr/>
          <p:nvPr/>
        </p:nvSpPr>
        <p:spPr>
          <a:xfrm>
            <a:off x="3629025" y="5105400"/>
            <a:ext cx="7877175" cy="819150"/>
          </a:xfrm>
          <a:prstGeom prst="roundRect">
            <a:avLst>
              <a:gd name="adj" fmla="val 697600000"/>
            </a:avLst>
          </a:prstGeom>
          <a:solidFill>
            <a:srgbClr val="1C1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81425" y="5162550"/>
            <a:ext cx="7648575" cy="190500"/>
          </a:xfrm>
          <a:prstGeom prst="rect">
            <a:avLst/>
          </a:prstGeom>
          <a:noFill/>
        </p:spPr>
        <p:txBody>
          <a:bodyPr wrap="square">
            <a:spAutoFit/>
          </a:bodyPr>
          <a:lstStyle/>
          <a:p>
            <a:pPr algn="l"/>
            <a:r>
              <a:rPr sz="975" b="1">
                <a:solidFill>
                  <a:srgbClr val="B0B8CC"/>
                </a:solidFill>
                <a:latin typeface="Noto Sans JP"/>
                <a:ea typeface="Noto Sans JP"/>
                <a:cs typeface="Noto Sans JP"/>
              </a:rPr>
              <a:t>STEP 5 — 利用開始</a:t>
            </a:r>
          </a:p>
        </p:txBody>
      </p:sp>
      <p:sp>
        <p:nvSpPr>
          <p:cNvPr id="40" name="TextBox 39"/>
          <p:cNvSpPr txBox="1"/>
          <p:nvPr/>
        </p:nvSpPr>
        <p:spPr>
          <a:xfrm>
            <a:off x="3781425" y="5372100"/>
            <a:ext cx="7648575" cy="476250"/>
          </a:xfrm>
          <a:prstGeom prst="rect">
            <a:avLst/>
          </a:prstGeom>
          <a:noFill/>
        </p:spPr>
        <p:txBody>
          <a:bodyPr wrap="square">
            <a:spAutoFit/>
          </a:bodyPr>
          <a:lstStyle/>
          <a:p>
            <a:pPr algn="l"/>
            <a:r>
              <a:rPr sz="1350" b="0">
                <a:solidFill>
                  <a:srgbClr val="FFFFFF"/>
                </a:solidFill>
                <a:latin typeface="Noto Sans JP"/>
                <a:ea typeface="Noto Sans JP"/>
                <a:cs typeface="Noto Sans JP"/>
              </a:rPr>
              <a:t>全社展開スタート。カスタマーサクセスが継続支援します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中期経営計画 2024-2027年度版 — 経営企画室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3年間で事業を4フェーズで段階的に拡大する</a:t>
            </a:r>
          </a:p>
        </p:txBody>
      </p:sp>
      <p:sp>
        <p:nvSpPr>
          <p:cNvPr id="5" name="TextBox 4"/>
          <p:cNvSpPr txBox="1"/>
          <p:nvPr/>
        </p:nvSpPr>
        <p:spPr>
          <a:xfrm>
            <a:off x="685800" y="1371600"/>
            <a:ext cx="10820400" cy="381000"/>
          </a:xfrm>
          <a:prstGeom prst="rect">
            <a:avLst/>
          </a:prstGeom>
          <a:noFill/>
        </p:spPr>
        <p:txBody>
          <a:bodyPr wrap="square">
            <a:spAutoFit/>
          </a:bodyPr>
          <a:lstStyle/>
          <a:p>
            <a:pPr algn="l"/>
            <a:r>
              <a:rPr sz="1350" b="0">
                <a:solidFill>
                  <a:srgbClr val="595F6B"/>
                </a:solidFill>
                <a:latin typeface="Noto Sans JP"/>
                <a:ea typeface="Noto Sans JP"/>
                <a:cs typeface="Noto Sans JP"/>
              </a:rPr>
              <a:t>スモールスタートから始め、実績を積み重ねながらスケールします</a:t>
            </a:r>
          </a:p>
        </p:txBody>
      </p:sp>
      <p:sp>
        <p:nvSpPr>
          <p:cNvPr id="6" name="Rounded Rectangle 5"/>
          <p:cNvSpPr/>
          <p:nvPr/>
        </p:nvSpPr>
        <p:spPr>
          <a:xfrm>
            <a:off x="685800" y="4591050"/>
            <a:ext cx="2705100" cy="895350"/>
          </a:xfrm>
          <a:prstGeom prst="roundRect">
            <a:avLst>
              <a:gd name="adj" fmla="val 6382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4591050"/>
            <a:ext cx="2705100" cy="28575"/>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050" y="4724400"/>
            <a:ext cx="2552700" cy="152400"/>
          </a:xfrm>
          <a:prstGeom prst="rect">
            <a:avLst/>
          </a:prstGeom>
          <a:noFill/>
        </p:spPr>
        <p:txBody>
          <a:bodyPr wrap="square">
            <a:spAutoFit/>
          </a:bodyPr>
          <a:lstStyle/>
          <a:p>
            <a:pPr algn="l"/>
            <a:r>
              <a:rPr sz="750" b="1">
                <a:solidFill>
                  <a:srgbClr val="6C63FF"/>
                </a:solidFill>
                <a:latin typeface="Noto Sans JP"/>
                <a:ea typeface="Noto Sans JP"/>
                <a:cs typeface="Noto Sans JP"/>
              </a:rPr>
              <a:t>2024年</a:t>
            </a:r>
          </a:p>
        </p:txBody>
      </p:sp>
      <p:sp>
        <p:nvSpPr>
          <p:cNvPr id="9" name="TextBox 8"/>
          <p:cNvSpPr txBox="1"/>
          <p:nvPr/>
        </p:nvSpPr>
        <p:spPr>
          <a:xfrm>
            <a:off x="781050" y="4895850"/>
            <a:ext cx="2552700" cy="152400"/>
          </a:xfrm>
          <a:prstGeom prst="rect">
            <a:avLst/>
          </a:prstGeom>
          <a:noFill/>
        </p:spPr>
        <p:txBody>
          <a:bodyPr wrap="square">
            <a:spAutoFit/>
          </a:bodyPr>
          <a:lstStyle/>
          <a:p>
            <a:pPr algn="l"/>
            <a:r>
              <a:rPr sz="825" b="0">
                <a:solidFill>
                  <a:srgbClr val="595F6B"/>
                </a:solidFill>
                <a:latin typeface="Noto Sans JP"/>
                <a:ea typeface="Noto Sans JP"/>
                <a:cs typeface="Noto Sans JP"/>
              </a:rPr>
              <a:t>Phase 01</a:t>
            </a:r>
          </a:p>
        </p:txBody>
      </p:sp>
      <p:sp>
        <p:nvSpPr>
          <p:cNvPr id="10" name="TextBox 9"/>
          <p:cNvSpPr txBox="1"/>
          <p:nvPr/>
        </p:nvSpPr>
        <p:spPr>
          <a:xfrm>
            <a:off x="781050" y="5067300"/>
            <a:ext cx="2552700" cy="419100"/>
          </a:xfrm>
          <a:prstGeom prst="rect">
            <a:avLst/>
          </a:prstGeom>
          <a:noFill/>
        </p:spPr>
        <p:txBody>
          <a:bodyPr wrap="square">
            <a:spAutoFit/>
          </a:bodyPr>
          <a:lstStyle/>
          <a:p>
            <a:pPr algn="l"/>
            <a:r>
              <a:rPr sz="1350" b="1">
                <a:solidFill>
                  <a:srgbClr val="1C1F26"/>
                </a:solidFill>
                <a:latin typeface="Noto Sans JP"/>
                <a:ea typeface="Noto Sans JP"/>
                <a:cs typeface="Noto Sans JP"/>
              </a:rPr>
              <a:t>プロダクト検証</a:t>
            </a:r>
          </a:p>
        </p:txBody>
      </p:sp>
      <p:sp>
        <p:nvSpPr>
          <p:cNvPr id="11" name="Rounded Rectangle 10"/>
          <p:cNvSpPr/>
          <p:nvPr/>
        </p:nvSpPr>
        <p:spPr>
          <a:xfrm>
            <a:off x="3390900" y="3695700"/>
            <a:ext cx="2705100" cy="1790700"/>
          </a:xfrm>
          <a:prstGeom prst="roundRect">
            <a:avLst>
              <a:gd name="adj" fmla="val 3191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900" y="3695700"/>
            <a:ext cx="2705100" cy="28575"/>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6150" y="3829050"/>
            <a:ext cx="2552700" cy="152400"/>
          </a:xfrm>
          <a:prstGeom prst="rect">
            <a:avLst/>
          </a:prstGeom>
          <a:noFill/>
        </p:spPr>
        <p:txBody>
          <a:bodyPr wrap="square">
            <a:spAutoFit/>
          </a:bodyPr>
          <a:lstStyle/>
          <a:p>
            <a:pPr algn="l"/>
            <a:r>
              <a:rPr sz="750" b="1">
                <a:solidFill>
                  <a:srgbClr val="6C63FF"/>
                </a:solidFill>
                <a:latin typeface="Noto Sans JP"/>
                <a:ea typeface="Noto Sans JP"/>
                <a:cs typeface="Noto Sans JP"/>
              </a:rPr>
              <a:t>2025年</a:t>
            </a:r>
          </a:p>
        </p:txBody>
      </p:sp>
      <p:sp>
        <p:nvSpPr>
          <p:cNvPr id="14" name="TextBox 13"/>
          <p:cNvSpPr txBox="1"/>
          <p:nvPr/>
        </p:nvSpPr>
        <p:spPr>
          <a:xfrm>
            <a:off x="3486150" y="4000500"/>
            <a:ext cx="2552700" cy="152400"/>
          </a:xfrm>
          <a:prstGeom prst="rect">
            <a:avLst/>
          </a:prstGeom>
          <a:noFill/>
        </p:spPr>
        <p:txBody>
          <a:bodyPr wrap="square">
            <a:spAutoFit/>
          </a:bodyPr>
          <a:lstStyle/>
          <a:p>
            <a:pPr algn="l"/>
            <a:r>
              <a:rPr sz="825" b="0">
                <a:solidFill>
                  <a:srgbClr val="595F6B"/>
                </a:solidFill>
                <a:latin typeface="Noto Sans JP"/>
                <a:ea typeface="Noto Sans JP"/>
                <a:cs typeface="Noto Sans JP"/>
              </a:rPr>
              <a:t>Phase 02</a:t>
            </a:r>
          </a:p>
        </p:txBody>
      </p:sp>
      <p:sp>
        <p:nvSpPr>
          <p:cNvPr id="15" name="TextBox 14"/>
          <p:cNvSpPr txBox="1"/>
          <p:nvPr/>
        </p:nvSpPr>
        <p:spPr>
          <a:xfrm>
            <a:off x="3486150" y="4171950"/>
            <a:ext cx="2552700" cy="419100"/>
          </a:xfrm>
          <a:prstGeom prst="rect">
            <a:avLst/>
          </a:prstGeom>
          <a:noFill/>
        </p:spPr>
        <p:txBody>
          <a:bodyPr wrap="square">
            <a:spAutoFit/>
          </a:bodyPr>
          <a:lstStyle/>
          <a:p>
            <a:pPr algn="l"/>
            <a:r>
              <a:rPr sz="1350" b="1">
                <a:solidFill>
                  <a:srgbClr val="1C1F26"/>
                </a:solidFill>
                <a:latin typeface="Noto Sans JP"/>
                <a:ea typeface="Noto Sans JP"/>
                <a:cs typeface="Noto Sans JP"/>
              </a:rPr>
              <a:t>国内市場浸透</a:t>
            </a:r>
          </a:p>
        </p:txBody>
      </p:sp>
      <p:sp>
        <p:nvSpPr>
          <p:cNvPr id="16" name="TextBox 15"/>
          <p:cNvSpPr txBox="1"/>
          <p:nvPr/>
        </p:nvSpPr>
        <p:spPr>
          <a:xfrm>
            <a:off x="3486150" y="4629150"/>
            <a:ext cx="2552700" cy="781050"/>
          </a:xfrm>
          <a:prstGeom prst="rect">
            <a:avLst/>
          </a:prstGeom>
          <a:noFill/>
        </p:spPr>
        <p:txBody>
          <a:bodyPr wrap="square">
            <a:spAutoFit/>
          </a:bodyPr>
          <a:lstStyle/>
          <a:p>
            <a:pPr algn="l"/>
            <a:r>
              <a:rPr sz="975" b="0">
                <a:solidFill>
                  <a:srgbClr val="595F6B"/>
                </a:solidFill>
                <a:latin typeface="Noto Sans JP"/>
                <a:ea typeface="Noto Sans JP"/>
                <a:cs typeface="Noto Sans JP"/>
              </a:rPr>
              <a:t>SMB向け自社販売とパートナー網を整備。MRR1億円・ARR12億円を達成</a:t>
            </a:r>
          </a:p>
        </p:txBody>
      </p:sp>
      <p:sp>
        <p:nvSpPr>
          <p:cNvPr id="17" name="Rounded Rectangle 16"/>
          <p:cNvSpPr/>
          <p:nvPr/>
        </p:nvSpPr>
        <p:spPr>
          <a:xfrm>
            <a:off x="6096000" y="2800350"/>
            <a:ext cx="2705100" cy="2686050"/>
          </a:xfrm>
          <a:prstGeom prst="roundRect">
            <a:avLst>
              <a:gd name="adj" fmla="val 2127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6000" y="2800350"/>
            <a:ext cx="2705100" cy="28575"/>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1250" y="2933700"/>
            <a:ext cx="2552700" cy="152400"/>
          </a:xfrm>
          <a:prstGeom prst="rect">
            <a:avLst/>
          </a:prstGeom>
          <a:noFill/>
        </p:spPr>
        <p:txBody>
          <a:bodyPr wrap="square">
            <a:spAutoFit/>
          </a:bodyPr>
          <a:lstStyle/>
          <a:p>
            <a:pPr algn="l"/>
            <a:r>
              <a:rPr sz="750" b="1">
                <a:solidFill>
                  <a:srgbClr val="6C63FF"/>
                </a:solidFill>
                <a:latin typeface="Noto Sans JP"/>
                <a:ea typeface="Noto Sans JP"/>
                <a:cs typeface="Noto Sans JP"/>
              </a:rPr>
              <a:t>2026年</a:t>
            </a:r>
          </a:p>
        </p:txBody>
      </p:sp>
      <p:sp>
        <p:nvSpPr>
          <p:cNvPr id="20" name="TextBox 19"/>
          <p:cNvSpPr txBox="1"/>
          <p:nvPr/>
        </p:nvSpPr>
        <p:spPr>
          <a:xfrm>
            <a:off x="6191250" y="3105150"/>
            <a:ext cx="2552700" cy="152400"/>
          </a:xfrm>
          <a:prstGeom prst="rect">
            <a:avLst/>
          </a:prstGeom>
          <a:noFill/>
        </p:spPr>
        <p:txBody>
          <a:bodyPr wrap="square">
            <a:spAutoFit/>
          </a:bodyPr>
          <a:lstStyle/>
          <a:p>
            <a:pPr algn="l"/>
            <a:r>
              <a:rPr sz="825" b="0">
                <a:solidFill>
                  <a:srgbClr val="595F6B"/>
                </a:solidFill>
                <a:latin typeface="Noto Sans JP"/>
                <a:ea typeface="Noto Sans JP"/>
                <a:cs typeface="Noto Sans JP"/>
              </a:rPr>
              <a:t>Phase 03</a:t>
            </a:r>
          </a:p>
        </p:txBody>
      </p:sp>
      <p:sp>
        <p:nvSpPr>
          <p:cNvPr id="21" name="TextBox 20"/>
          <p:cNvSpPr txBox="1"/>
          <p:nvPr/>
        </p:nvSpPr>
        <p:spPr>
          <a:xfrm>
            <a:off x="6191250" y="3276600"/>
            <a:ext cx="2552700" cy="419100"/>
          </a:xfrm>
          <a:prstGeom prst="rect">
            <a:avLst/>
          </a:prstGeom>
          <a:noFill/>
        </p:spPr>
        <p:txBody>
          <a:bodyPr wrap="square">
            <a:spAutoFit/>
          </a:bodyPr>
          <a:lstStyle/>
          <a:p>
            <a:pPr algn="l"/>
            <a:r>
              <a:rPr sz="1350" b="1">
                <a:solidFill>
                  <a:srgbClr val="1C1F26"/>
                </a:solidFill>
                <a:latin typeface="Noto Sans JP"/>
                <a:ea typeface="Noto Sans JP"/>
                <a:cs typeface="Noto Sans JP"/>
              </a:rPr>
              <a:t>エンタープライズ拡張</a:t>
            </a:r>
          </a:p>
        </p:txBody>
      </p:sp>
      <p:sp>
        <p:nvSpPr>
          <p:cNvPr id="22" name="TextBox 21"/>
          <p:cNvSpPr txBox="1"/>
          <p:nvPr/>
        </p:nvSpPr>
        <p:spPr>
          <a:xfrm>
            <a:off x="6191250" y="3733800"/>
            <a:ext cx="2552700" cy="1676400"/>
          </a:xfrm>
          <a:prstGeom prst="rect">
            <a:avLst/>
          </a:prstGeom>
          <a:noFill/>
        </p:spPr>
        <p:txBody>
          <a:bodyPr wrap="square">
            <a:spAutoFit/>
          </a:bodyPr>
          <a:lstStyle/>
          <a:p>
            <a:pPr algn="l"/>
            <a:r>
              <a:rPr sz="975" b="0">
                <a:solidFill>
                  <a:srgbClr val="595F6B"/>
                </a:solidFill>
                <a:latin typeface="Noto Sans JP"/>
                <a:ea typeface="Noto Sans JP"/>
                <a:cs typeface="Noto Sans JP"/>
              </a:rPr>
              <a:t>大手向け機能強化とSI連携を強化。エンタープライズ比率50%超へ引き上げ</a:t>
            </a:r>
          </a:p>
        </p:txBody>
      </p:sp>
      <p:sp>
        <p:nvSpPr>
          <p:cNvPr id="23" name="Rounded Rectangle 22"/>
          <p:cNvSpPr/>
          <p:nvPr/>
        </p:nvSpPr>
        <p:spPr>
          <a:xfrm>
            <a:off x="8801100" y="1905000"/>
            <a:ext cx="2705100" cy="3581400"/>
          </a:xfrm>
          <a:prstGeom prst="roundRect">
            <a:avLst>
              <a:gd name="adj" fmla="val 2112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01100" y="1905000"/>
            <a:ext cx="2705100" cy="28575"/>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96350" y="2038350"/>
            <a:ext cx="2552700" cy="152400"/>
          </a:xfrm>
          <a:prstGeom prst="rect">
            <a:avLst/>
          </a:prstGeom>
          <a:noFill/>
        </p:spPr>
        <p:txBody>
          <a:bodyPr wrap="square">
            <a:spAutoFit/>
          </a:bodyPr>
          <a:lstStyle/>
          <a:p>
            <a:pPr algn="l"/>
            <a:r>
              <a:rPr sz="750" b="1">
                <a:solidFill>
                  <a:srgbClr val="6C63FF"/>
                </a:solidFill>
                <a:latin typeface="Noto Sans JP"/>
                <a:ea typeface="Noto Sans JP"/>
                <a:cs typeface="Noto Sans JP"/>
              </a:rPr>
              <a:t>2027年〜</a:t>
            </a:r>
          </a:p>
        </p:txBody>
      </p:sp>
      <p:sp>
        <p:nvSpPr>
          <p:cNvPr id="26" name="TextBox 25"/>
          <p:cNvSpPr txBox="1"/>
          <p:nvPr/>
        </p:nvSpPr>
        <p:spPr>
          <a:xfrm>
            <a:off x="8896350" y="2209800"/>
            <a:ext cx="2552700" cy="152400"/>
          </a:xfrm>
          <a:prstGeom prst="rect">
            <a:avLst/>
          </a:prstGeom>
          <a:noFill/>
        </p:spPr>
        <p:txBody>
          <a:bodyPr wrap="square">
            <a:spAutoFit/>
          </a:bodyPr>
          <a:lstStyle/>
          <a:p>
            <a:pPr algn="l"/>
            <a:r>
              <a:rPr sz="825" b="0">
                <a:solidFill>
                  <a:srgbClr val="595F6B"/>
                </a:solidFill>
                <a:latin typeface="Noto Sans JP"/>
                <a:ea typeface="Noto Sans JP"/>
                <a:cs typeface="Noto Sans JP"/>
              </a:rPr>
              <a:t>Phase 04</a:t>
            </a:r>
          </a:p>
        </p:txBody>
      </p:sp>
      <p:sp>
        <p:nvSpPr>
          <p:cNvPr id="27" name="TextBox 26"/>
          <p:cNvSpPr txBox="1"/>
          <p:nvPr/>
        </p:nvSpPr>
        <p:spPr>
          <a:xfrm>
            <a:off x="8896350" y="2381250"/>
            <a:ext cx="2552700" cy="419100"/>
          </a:xfrm>
          <a:prstGeom prst="rect">
            <a:avLst/>
          </a:prstGeom>
          <a:noFill/>
        </p:spPr>
        <p:txBody>
          <a:bodyPr wrap="square">
            <a:spAutoFit/>
          </a:bodyPr>
          <a:lstStyle/>
          <a:p>
            <a:pPr algn="l"/>
            <a:r>
              <a:rPr sz="1350" b="1">
                <a:solidFill>
                  <a:srgbClr val="1C1F26"/>
                </a:solidFill>
                <a:latin typeface="Noto Sans JP"/>
                <a:ea typeface="Noto Sans JP"/>
                <a:cs typeface="Noto Sans JP"/>
              </a:rPr>
              <a:t>グローバル展開</a:t>
            </a:r>
          </a:p>
        </p:txBody>
      </p:sp>
      <p:sp>
        <p:nvSpPr>
          <p:cNvPr id="28" name="TextBox 27"/>
          <p:cNvSpPr txBox="1"/>
          <p:nvPr/>
        </p:nvSpPr>
        <p:spPr>
          <a:xfrm>
            <a:off x="8896350" y="2838450"/>
            <a:ext cx="2552700" cy="2571750"/>
          </a:xfrm>
          <a:prstGeom prst="rect">
            <a:avLst/>
          </a:prstGeom>
          <a:noFill/>
        </p:spPr>
        <p:txBody>
          <a:bodyPr wrap="square">
            <a:spAutoFit/>
          </a:bodyPr>
          <a:lstStyle/>
          <a:p>
            <a:pPr algn="l"/>
            <a:r>
              <a:rPr sz="975" b="0">
                <a:solidFill>
                  <a:srgbClr val="595F6B"/>
                </a:solidFill>
                <a:latin typeface="Noto Sans JP"/>
                <a:ea typeface="Noto Sans JP"/>
                <a:cs typeface="Noto Sans JP"/>
              </a:rPr>
              <a:t>東南アジアを起点に英語圏への展開。グローバルARR50億円を目指す</a:t>
            </a:r>
          </a:p>
        </p:txBody>
      </p:sp>
      <p:sp>
        <p:nvSpPr>
          <p:cNvPr id="29" name="Rounded Rectangle 28"/>
          <p:cNvSpPr/>
          <p:nvPr/>
        </p:nvSpPr>
        <p:spPr>
          <a:xfrm>
            <a:off x="685800" y="5486400"/>
            <a:ext cx="10820400" cy="247650"/>
          </a:xfrm>
          <a:prstGeom prst="roundRect">
            <a:avLst>
              <a:gd name="adj" fmla="val 230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5486400"/>
            <a:ext cx="38100" cy="2476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5505450"/>
            <a:ext cx="106299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横断施策：データ基盤・セキュリティ強化（全フェーズ継続実施）</a:t>
            </a:r>
          </a:p>
        </p:txBody>
      </p:sp>
      <p:sp>
        <p:nvSpPr>
          <p:cNvPr id="32" name="Rounded Rectangle 31"/>
          <p:cNvSpPr/>
          <p:nvPr/>
        </p:nvSpPr>
        <p:spPr>
          <a:xfrm>
            <a:off x="685800" y="5753100"/>
            <a:ext cx="10820400" cy="247650"/>
          </a:xfrm>
          <a:prstGeom prst="roundRect">
            <a:avLst>
              <a:gd name="adj" fmla="val 23076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 y="5753100"/>
            <a:ext cx="38100" cy="24765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200" y="5772150"/>
            <a:ext cx="106299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横断施策：パートナーエコシステム構築（Phase 02〜継続）</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自社顧客データ集計 2026年Q1（n=142社）</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28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AIと人的サポートの組み合わせが顧客満足度を最大化する</a:t>
            </a:r>
          </a:p>
        </p:txBody>
      </p:sp>
      <p:sp>
        <p:nvSpPr>
          <p:cNvPr id="5" name="TextBox 4"/>
          <p:cNvSpPr txBox="1"/>
          <p:nvPr/>
        </p:nvSpPr>
        <p:spPr>
          <a:xfrm>
            <a:off x="685800" y="1447800"/>
            <a:ext cx="10820400" cy="457200"/>
          </a:xfrm>
          <a:prstGeom prst="rect">
            <a:avLst/>
          </a:prstGeom>
          <a:noFill/>
        </p:spPr>
        <p:txBody>
          <a:bodyPr wrap="square">
            <a:spAutoFit/>
          </a:bodyPr>
          <a:lstStyle/>
          <a:p>
            <a:pPr algn="l"/>
            <a:r>
              <a:rPr sz="1350" b="0">
                <a:solidFill>
                  <a:srgbClr val="595F6B"/>
                </a:solidFill>
                <a:latin typeface="Noto Sans JP"/>
                <a:ea typeface="Noto Sans JP"/>
                <a:cs typeface="Noto Sans JP"/>
              </a:rPr>
              <a:t>2つのコア機能が連動することで、単独では実現できない顧客体験を生み出します</a:t>
            </a:r>
          </a:p>
        </p:txBody>
      </p:sp>
      <p:sp>
        <p:nvSpPr>
          <p:cNvPr id="6" name="Rounded Rectangle 5"/>
          <p:cNvSpPr/>
          <p:nvPr/>
        </p:nvSpPr>
        <p:spPr>
          <a:xfrm>
            <a:off x="685800" y="2057400"/>
            <a:ext cx="5295900" cy="1981200"/>
          </a:xfrm>
          <a:prstGeom prst="roundRect">
            <a:avLst>
              <a:gd name="adj" fmla="val 2884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7250" y="2228850"/>
            <a:ext cx="4991100" cy="171450"/>
          </a:xfrm>
          <a:prstGeom prst="rect">
            <a:avLst/>
          </a:prstGeom>
          <a:noFill/>
        </p:spPr>
        <p:txBody>
          <a:bodyPr wrap="square">
            <a:spAutoFit/>
          </a:bodyPr>
          <a:lstStyle/>
          <a:p>
            <a:pPr algn="l"/>
            <a:r>
              <a:rPr sz="975" b="1">
                <a:solidFill>
                  <a:srgbClr val="6C63FF"/>
                </a:solidFill>
                <a:latin typeface="Noto Sans JP"/>
                <a:ea typeface="Noto Sans JP"/>
                <a:cs typeface="Noto Sans JP"/>
              </a:rPr>
              <a:t>機能 01</a:t>
            </a:r>
          </a:p>
        </p:txBody>
      </p:sp>
      <p:sp>
        <p:nvSpPr>
          <p:cNvPr id="8" name="TextBox 7"/>
          <p:cNvSpPr txBox="1"/>
          <p:nvPr/>
        </p:nvSpPr>
        <p:spPr>
          <a:xfrm>
            <a:off x="857250" y="2438400"/>
            <a:ext cx="4991100" cy="457200"/>
          </a:xfrm>
          <a:prstGeom prst="rect">
            <a:avLst/>
          </a:prstGeom>
          <a:noFill/>
        </p:spPr>
        <p:txBody>
          <a:bodyPr wrap="square">
            <a:spAutoFit/>
          </a:bodyPr>
          <a:lstStyle/>
          <a:p>
            <a:pPr algn="l"/>
            <a:r>
              <a:rPr sz="1950" b="1">
                <a:solidFill>
                  <a:srgbClr val="1C1F26"/>
                </a:solidFill>
                <a:latin typeface="Noto Sans JP"/>
                <a:ea typeface="Noto Sans JP"/>
                <a:cs typeface="Noto Sans JP"/>
              </a:rPr>
              <a:t>AI自動回答エンジン</a:t>
            </a:r>
          </a:p>
        </p:txBody>
      </p:sp>
      <p:sp>
        <p:nvSpPr>
          <p:cNvPr id="9" name="TextBox 8"/>
          <p:cNvSpPr txBox="1"/>
          <p:nvPr/>
        </p:nvSpPr>
        <p:spPr>
          <a:xfrm>
            <a:off x="857250" y="2933700"/>
            <a:ext cx="4991100" cy="990600"/>
          </a:xfrm>
          <a:prstGeom prst="rect">
            <a:avLst/>
          </a:prstGeom>
          <a:noFill/>
        </p:spPr>
        <p:txBody>
          <a:bodyPr wrap="square">
            <a:spAutoFit/>
          </a:bodyPr>
          <a:lstStyle/>
          <a:p>
            <a:pPr algn="l"/>
            <a:r>
              <a:rPr sz="975" b="0">
                <a:solidFill>
                  <a:srgbClr val="595F6B"/>
                </a:solidFill>
                <a:latin typeface="Noto Sans JP"/>
                <a:ea typeface="Noto Sans JP"/>
                <a:cs typeface="Noto Sans JP"/>
              </a:rPr>
              <a:t>24時間365日、問い合わせの65%をゼロ人的介入で解決。深夜・休日も一貫した品質で対応し、顧客の待ち時間を平均8時間から即時へ短縮します。</a:t>
            </a:r>
          </a:p>
        </p:txBody>
      </p:sp>
      <p:sp>
        <p:nvSpPr>
          <p:cNvPr id="10" name="Rounded Rectangle 9"/>
          <p:cNvSpPr/>
          <p:nvPr/>
        </p:nvSpPr>
        <p:spPr>
          <a:xfrm>
            <a:off x="6210300" y="2057400"/>
            <a:ext cx="5295900" cy="1981200"/>
          </a:xfrm>
          <a:prstGeom prst="roundRect">
            <a:avLst>
              <a:gd name="adj" fmla="val 2884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1750" y="2228850"/>
            <a:ext cx="4991100" cy="171450"/>
          </a:xfrm>
          <a:prstGeom prst="rect">
            <a:avLst/>
          </a:prstGeom>
          <a:noFill/>
        </p:spPr>
        <p:txBody>
          <a:bodyPr wrap="square">
            <a:spAutoFit/>
          </a:bodyPr>
          <a:lstStyle/>
          <a:p>
            <a:pPr algn="l"/>
            <a:r>
              <a:rPr sz="975" b="1">
                <a:solidFill>
                  <a:srgbClr val="6C63FF"/>
                </a:solidFill>
                <a:latin typeface="Noto Sans JP"/>
                <a:ea typeface="Noto Sans JP"/>
                <a:cs typeface="Noto Sans JP"/>
              </a:rPr>
              <a:t>機能 02</a:t>
            </a:r>
          </a:p>
        </p:txBody>
      </p:sp>
      <p:sp>
        <p:nvSpPr>
          <p:cNvPr id="12" name="TextBox 11"/>
          <p:cNvSpPr txBox="1"/>
          <p:nvPr/>
        </p:nvSpPr>
        <p:spPr>
          <a:xfrm>
            <a:off x="6381750" y="2438400"/>
            <a:ext cx="4991100" cy="457200"/>
          </a:xfrm>
          <a:prstGeom prst="rect">
            <a:avLst/>
          </a:prstGeom>
          <a:noFill/>
        </p:spPr>
        <p:txBody>
          <a:bodyPr wrap="square">
            <a:spAutoFit/>
          </a:bodyPr>
          <a:lstStyle/>
          <a:p>
            <a:pPr algn="l"/>
            <a:r>
              <a:rPr sz="1950" b="1">
                <a:solidFill>
                  <a:srgbClr val="1C1F26"/>
                </a:solidFill>
                <a:latin typeface="Noto Sans JP"/>
                <a:ea typeface="Noto Sans JP"/>
                <a:cs typeface="Noto Sans JP"/>
              </a:rPr>
              <a:t>専任CSMによる伴走支援</a:t>
            </a:r>
          </a:p>
        </p:txBody>
      </p:sp>
      <p:sp>
        <p:nvSpPr>
          <p:cNvPr id="13" name="TextBox 12"/>
          <p:cNvSpPr txBox="1"/>
          <p:nvPr/>
        </p:nvSpPr>
        <p:spPr>
          <a:xfrm>
            <a:off x="6381750" y="2933700"/>
            <a:ext cx="4991100" cy="990600"/>
          </a:xfrm>
          <a:prstGeom prst="rect">
            <a:avLst/>
          </a:prstGeom>
          <a:noFill/>
        </p:spPr>
        <p:txBody>
          <a:bodyPr wrap="square">
            <a:spAutoFit/>
          </a:bodyPr>
          <a:lstStyle/>
          <a:p>
            <a:pPr algn="l"/>
            <a:r>
              <a:rPr sz="975" b="0">
                <a:solidFill>
                  <a:srgbClr val="595F6B"/>
                </a:solidFill>
                <a:latin typeface="Noto Sans JP"/>
                <a:ea typeface="Noto Sans JP"/>
                <a:cs typeface="Noto Sans JP"/>
              </a:rPr>
              <a:t>月次レビューとオンサイト研修で継続的な改善を推進。利用率が低迷する前に先手を打ち、解約リスクを早期に検知・対処します。</a:t>
            </a:r>
          </a:p>
        </p:txBody>
      </p:sp>
      <p:cxnSp>
        <p:nvCxnSpPr>
          <p:cNvPr id="14" name="Connector 13"/>
          <p:cNvCxnSpPr/>
          <p:nvPr/>
        </p:nvCxnSpPr>
        <p:spPr>
          <a:xfrm>
            <a:off x="3333750" y="4191000"/>
            <a:ext cx="2762250" cy="45720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6096000" y="4191000"/>
            <a:ext cx="2762250" cy="457200"/>
          </a:xfrm>
          <a:prstGeom prst="line">
            <a:avLst/>
          </a:prstGeom>
          <a:ln w="19050">
            <a:solidFill>
              <a:srgbClr val="595F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 y="4800600"/>
            <a:ext cx="10820400" cy="1066800"/>
          </a:xfrm>
          <a:prstGeom prst="roundRect">
            <a:avLst>
              <a:gd name="adj" fmla="val 535700000"/>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4800600"/>
            <a:ext cx="38100" cy="10668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 y="5219700"/>
            <a:ext cx="571500" cy="228600"/>
          </a:xfrm>
          <a:prstGeom prst="rect">
            <a:avLst/>
          </a:prstGeom>
          <a:noFill/>
        </p:spPr>
        <p:txBody>
          <a:bodyPr wrap="square">
            <a:spAutoFit/>
          </a:bodyPr>
          <a:lstStyle/>
          <a:p>
            <a:pPr algn="l"/>
            <a:r>
              <a:rPr sz="975" b="1">
                <a:solidFill>
                  <a:srgbClr val="6C63FF"/>
                </a:solidFill>
                <a:latin typeface="Noto Sans JP"/>
                <a:ea typeface="Noto Sans JP"/>
                <a:cs typeface="Noto Sans JP"/>
              </a:rPr>
              <a:t>実績</a:t>
            </a:r>
          </a:p>
        </p:txBody>
      </p:sp>
      <p:sp>
        <p:nvSpPr>
          <p:cNvPr id="19" name="TextBox 18"/>
          <p:cNvSpPr txBox="1"/>
          <p:nvPr/>
        </p:nvSpPr>
        <p:spPr>
          <a:xfrm>
            <a:off x="1447800" y="4953000"/>
            <a:ext cx="9906000" cy="762000"/>
          </a:xfrm>
          <a:prstGeom prst="rect">
            <a:avLst/>
          </a:prstGeom>
          <a:noFill/>
        </p:spPr>
        <p:txBody>
          <a:bodyPr wrap="square">
            <a:spAutoFit/>
          </a:bodyPr>
          <a:lstStyle/>
          <a:p>
            <a:pPr algn="l"/>
            <a:r>
              <a:rPr sz="1950" b="1">
                <a:solidFill>
                  <a:srgbClr val="1C1F26"/>
                </a:solidFill>
                <a:latin typeface="Noto Sans JP"/>
                <a:ea typeface="Noto Sans JP"/>
                <a:cs typeface="Noto Sans JP"/>
              </a:rPr>
              <a:t>顧客満足度スコア（CSAT）93点、年間解約率1.2%以下を継続達成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A2332"/>
                </a:solidFill>
                <a:latin typeface="Noto Serif JP"/>
                <a:ea typeface="Noto Serif JP"/>
                <a:cs typeface="Noto Serif JP"/>
              </a:rPr>
              <a:t>🔄 ダイアグラム</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A6675"/>
                </a:solidFill>
                <a:latin typeface="Noto Sans JP"/>
                <a:ea typeface="Noto Sans JP"/>
                <a:cs typeface="Noto Sans JP"/>
              </a:rPr>
              <a:t>strategy-consulting　·　7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29 / 98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品質管理推進室 2026年度版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30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PDCAサイクルの継続的運用で品質改善を加速する</a:t>
            </a:r>
          </a:p>
        </p:txBody>
      </p:sp>
      <p:sp>
        <p:nvSpPr>
          <p:cNvPr id="5" name="TextBox 4"/>
          <p:cNvSpPr txBox="1"/>
          <p:nvPr/>
        </p:nvSpPr>
        <p:spPr>
          <a:xfrm>
            <a:off x="685800" y="1447800"/>
            <a:ext cx="10820400" cy="381000"/>
          </a:xfrm>
          <a:prstGeom prst="rect">
            <a:avLst/>
          </a:prstGeom>
          <a:noFill/>
        </p:spPr>
        <p:txBody>
          <a:bodyPr wrap="square">
            <a:spAutoFit/>
          </a:bodyPr>
          <a:lstStyle/>
          <a:p>
            <a:pPr algn="l"/>
            <a:r>
              <a:rPr sz="1350" b="0">
                <a:solidFill>
                  <a:srgbClr val="5A6675"/>
                </a:solidFill>
                <a:latin typeface="Noto Sans JP"/>
                <a:ea typeface="Noto Sans JP"/>
                <a:cs typeface="Noto Sans JP"/>
              </a:rPr>
              <a:t>4フェーズの改善ループを組織全体で定着させ、年間生産性15%向上を目指す</a:t>
            </a:r>
          </a:p>
        </p:txBody>
      </p:sp>
      <p:cxnSp>
        <p:nvCxnSpPr>
          <p:cNvPr id="6" name="Connector 5"/>
          <p:cNvCxnSpPr/>
          <p:nvPr/>
        </p:nvCxnSpPr>
        <p:spPr>
          <a:xfrm>
            <a:off x="6284585" y="3084185"/>
            <a:ext cx="727730" cy="727730"/>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6284585" y="4189085"/>
            <a:ext cx="727730" cy="727730"/>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5179685" y="4189085"/>
            <a:ext cx="727730" cy="727730"/>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5179685" y="3084185"/>
            <a:ext cx="727730" cy="727730"/>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096000" y="2609850"/>
            <a:ext cx="0" cy="28575"/>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143500" y="1943100"/>
            <a:ext cx="1905000" cy="647700"/>
          </a:xfrm>
          <a:prstGeom prst="rect">
            <a:avLst/>
          </a:prstGeom>
          <a:solidFill>
            <a:srgbClr val="FFFFFF"/>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9700" y="2000250"/>
            <a:ext cx="1752600" cy="228600"/>
          </a:xfrm>
          <a:prstGeom prst="rect">
            <a:avLst/>
          </a:prstGeom>
          <a:noFill/>
        </p:spPr>
        <p:txBody>
          <a:bodyPr wrap="square">
            <a:spAutoFit/>
          </a:bodyPr>
          <a:lstStyle/>
          <a:p>
            <a:pPr algn="l"/>
            <a:r>
              <a:rPr sz="1350" b="1">
                <a:solidFill>
                  <a:srgbClr val="1A2332"/>
                </a:solidFill>
                <a:latin typeface="Noto Serif JP"/>
                <a:ea typeface="Noto Serif JP"/>
                <a:cs typeface="Noto Serif JP"/>
              </a:rPr>
              <a:t>Plan（計画）</a:t>
            </a:r>
          </a:p>
        </p:txBody>
      </p:sp>
      <p:sp>
        <p:nvSpPr>
          <p:cNvPr id="13" name="TextBox 12"/>
          <p:cNvSpPr txBox="1"/>
          <p:nvPr/>
        </p:nvSpPr>
        <p:spPr>
          <a:xfrm>
            <a:off x="5219700" y="2247900"/>
            <a:ext cx="1752600" cy="304800"/>
          </a:xfrm>
          <a:prstGeom prst="rect">
            <a:avLst/>
          </a:prstGeom>
          <a:noFill/>
        </p:spPr>
        <p:txBody>
          <a:bodyPr wrap="square">
            <a:spAutoFit/>
          </a:bodyPr>
          <a:lstStyle/>
          <a:p>
            <a:pPr algn="l"/>
            <a:r>
              <a:rPr sz="975" b="0">
                <a:solidFill>
                  <a:srgbClr val="5A6675"/>
                </a:solidFill>
                <a:latin typeface="Noto Sans JP"/>
                <a:ea typeface="Noto Sans JP"/>
                <a:cs typeface="Noto Sans JP"/>
              </a:rPr>
              <a:t>課題を特定し目標値を設定</a:t>
            </a:r>
          </a:p>
        </p:txBody>
      </p:sp>
      <p:cxnSp>
        <p:nvCxnSpPr>
          <p:cNvPr id="14" name="Connector 13"/>
          <p:cNvCxnSpPr/>
          <p:nvPr/>
        </p:nvCxnSpPr>
        <p:spPr>
          <a:xfrm>
            <a:off x="7458075" y="4000500"/>
            <a:ext cx="28575" cy="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505700" y="3676650"/>
            <a:ext cx="1905000" cy="647700"/>
          </a:xfrm>
          <a:prstGeom prst="rect">
            <a:avLst/>
          </a:prstGeom>
          <a:solidFill>
            <a:srgbClr val="FFFFFF"/>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1900" y="3733800"/>
            <a:ext cx="1752600" cy="228600"/>
          </a:xfrm>
          <a:prstGeom prst="rect">
            <a:avLst/>
          </a:prstGeom>
          <a:noFill/>
        </p:spPr>
        <p:txBody>
          <a:bodyPr wrap="square">
            <a:spAutoFit/>
          </a:bodyPr>
          <a:lstStyle/>
          <a:p>
            <a:pPr algn="l"/>
            <a:r>
              <a:rPr sz="1350" b="1">
                <a:solidFill>
                  <a:srgbClr val="1A2332"/>
                </a:solidFill>
                <a:latin typeface="Noto Serif JP"/>
                <a:ea typeface="Noto Serif JP"/>
                <a:cs typeface="Noto Serif JP"/>
              </a:rPr>
              <a:t>Do（実行）</a:t>
            </a:r>
          </a:p>
        </p:txBody>
      </p:sp>
      <p:sp>
        <p:nvSpPr>
          <p:cNvPr id="17" name="TextBox 16"/>
          <p:cNvSpPr txBox="1"/>
          <p:nvPr/>
        </p:nvSpPr>
        <p:spPr>
          <a:xfrm>
            <a:off x="7581900" y="3981450"/>
            <a:ext cx="1752600" cy="304800"/>
          </a:xfrm>
          <a:prstGeom prst="rect">
            <a:avLst/>
          </a:prstGeom>
          <a:noFill/>
        </p:spPr>
        <p:txBody>
          <a:bodyPr wrap="square">
            <a:spAutoFit/>
          </a:bodyPr>
          <a:lstStyle/>
          <a:p>
            <a:pPr algn="l"/>
            <a:r>
              <a:rPr sz="975" b="0">
                <a:solidFill>
                  <a:srgbClr val="5A6675"/>
                </a:solidFill>
                <a:latin typeface="Noto Sans JP"/>
                <a:ea typeface="Noto Sans JP"/>
                <a:cs typeface="Noto Sans JP"/>
              </a:rPr>
              <a:t>施策を現場で試験運用</a:t>
            </a:r>
          </a:p>
        </p:txBody>
      </p:sp>
      <p:cxnSp>
        <p:nvCxnSpPr>
          <p:cNvPr id="18" name="Connector 17"/>
          <p:cNvCxnSpPr/>
          <p:nvPr/>
        </p:nvCxnSpPr>
        <p:spPr>
          <a:xfrm>
            <a:off x="6096000" y="5362575"/>
            <a:ext cx="0" cy="28575"/>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43500" y="5410200"/>
            <a:ext cx="1905000" cy="647700"/>
          </a:xfrm>
          <a:prstGeom prst="rect">
            <a:avLst/>
          </a:prstGeom>
          <a:solidFill>
            <a:srgbClr val="FFFFFF"/>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9700" y="5467350"/>
            <a:ext cx="1752600" cy="228600"/>
          </a:xfrm>
          <a:prstGeom prst="rect">
            <a:avLst/>
          </a:prstGeom>
          <a:noFill/>
        </p:spPr>
        <p:txBody>
          <a:bodyPr wrap="square">
            <a:spAutoFit/>
          </a:bodyPr>
          <a:lstStyle/>
          <a:p>
            <a:pPr algn="l"/>
            <a:r>
              <a:rPr sz="1350" b="1">
                <a:solidFill>
                  <a:srgbClr val="1A2332"/>
                </a:solidFill>
                <a:latin typeface="Noto Serif JP"/>
                <a:ea typeface="Noto Serif JP"/>
                <a:cs typeface="Noto Serif JP"/>
              </a:rPr>
              <a:t>Check（確認）</a:t>
            </a:r>
          </a:p>
        </p:txBody>
      </p:sp>
      <p:sp>
        <p:nvSpPr>
          <p:cNvPr id="21" name="TextBox 20"/>
          <p:cNvSpPr txBox="1"/>
          <p:nvPr/>
        </p:nvSpPr>
        <p:spPr>
          <a:xfrm>
            <a:off x="5219700" y="5715000"/>
            <a:ext cx="1752600" cy="304800"/>
          </a:xfrm>
          <a:prstGeom prst="rect">
            <a:avLst/>
          </a:prstGeom>
          <a:noFill/>
        </p:spPr>
        <p:txBody>
          <a:bodyPr wrap="square">
            <a:spAutoFit/>
          </a:bodyPr>
          <a:lstStyle/>
          <a:p>
            <a:pPr algn="l"/>
            <a:r>
              <a:rPr sz="975" b="0">
                <a:solidFill>
                  <a:srgbClr val="5A6675"/>
                </a:solidFill>
                <a:latin typeface="Noto Sans JP"/>
                <a:ea typeface="Noto Sans JP"/>
                <a:cs typeface="Noto Sans JP"/>
              </a:rPr>
              <a:t>KPI実績と目標を照合</a:t>
            </a:r>
          </a:p>
        </p:txBody>
      </p:sp>
      <p:cxnSp>
        <p:nvCxnSpPr>
          <p:cNvPr id="22" name="Connector 21"/>
          <p:cNvCxnSpPr/>
          <p:nvPr/>
        </p:nvCxnSpPr>
        <p:spPr>
          <a:xfrm flipH="1">
            <a:off x="4705350" y="4000500"/>
            <a:ext cx="28575" cy="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2781300" y="3676650"/>
            <a:ext cx="1905000" cy="647700"/>
          </a:xfrm>
          <a:prstGeom prst="rect">
            <a:avLst/>
          </a:prstGeom>
          <a:solidFill>
            <a:srgbClr val="FFFFFF"/>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0" y="3733800"/>
            <a:ext cx="1752600" cy="228600"/>
          </a:xfrm>
          <a:prstGeom prst="rect">
            <a:avLst/>
          </a:prstGeom>
          <a:noFill/>
        </p:spPr>
        <p:txBody>
          <a:bodyPr wrap="square">
            <a:spAutoFit/>
          </a:bodyPr>
          <a:lstStyle/>
          <a:p>
            <a:pPr algn="l"/>
            <a:r>
              <a:rPr sz="1350" b="1">
                <a:solidFill>
                  <a:srgbClr val="1A2332"/>
                </a:solidFill>
                <a:latin typeface="Noto Serif JP"/>
                <a:ea typeface="Noto Serif JP"/>
                <a:cs typeface="Noto Serif JP"/>
              </a:rPr>
              <a:t>Act（改善）</a:t>
            </a:r>
          </a:p>
        </p:txBody>
      </p:sp>
      <p:sp>
        <p:nvSpPr>
          <p:cNvPr id="25" name="TextBox 24"/>
          <p:cNvSpPr txBox="1"/>
          <p:nvPr/>
        </p:nvSpPr>
        <p:spPr>
          <a:xfrm>
            <a:off x="2857500" y="3981450"/>
            <a:ext cx="1752600" cy="304800"/>
          </a:xfrm>
          <a:prstGeom prst="rect">
            <a:avLst/>
          </a:prstGeom>
          <a:noFill/>
        </p:spPr>
        <p:txBody>
          <a:bodyPr wrap="square">
            <a:spAutoFit/>
          </a:bodyPr>
          <a:lstStyle/>
          <a:p>
            <a:pPr algn="l"/>
            <a:r>
              <a:rPr sz="975" b="0">
                <a:solidFill>
                  <a:srgbClr val="5A6675"/>
                </a:solidFill>
                <a:latin typeface="Noto Sans JP"/>
                <a:ea typeface="Noto Sans JP"/>
                <a:cs typeface="Noto Sans JP"/>
              </a:rPr>
              <a:t>標準化または修正を決定</a:t>
            </a:r>
          </a:p>
        </p:txBody>
      </p:sp>
      <p:sp>
        <p:nvSpPr>
          <p:cNvPr id="26" name="Oval 25"/>
          <p:cNvSpPr/>
          <p:nvPr/>
        </p:nvSpPr>
        <p:spPr>
          <a:xfrm>
            <a:off x="5867400" y="2667000"/>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867400" y="2667000"/>
            <a:ext cx="457200" cy="457200"/>
          </a:xfrm>
          <a:prstGeom prst="rect">
            <a:avLst/>
          </a:prstGeom>
          <a:noFill/>
        </p:spPr>
        <p:txBody>
          <a:bodyPr wrap="none" anchor="ctr">
            <a:spAutoFit/>
          </a:bodyPr>
          <a:lstStyle/>
          <a:p>
            <a:pPr algn="ctr"/>
            <a:r>
              <a:rPr sz="900" b="1">
                <a:solidFill>
                  <a:srgbClr val="1A2332"/>
                </a:solidFill>
                <a:latin typeface="Noto Serif JP"/>
                <a:ea typeface="Noto Serif JP"/>
                <a:cs typeface="Noto Serif JP"/>
              </a:rPr>
              <a:t>1</a:t>
            </a:r>
          </a:p>
        </p:txBody>
      </p:sp>
      <p:sp>
        <p:nvSpPr>
          <p:cNvPr id="28" name="Oval 27"/>
          <p:cNvSpPr/>
          <p:nvPr/>
        </p:nvSpPr>
        <p:spPr>
          <a:xfrm>
            <a:off x="6972300" y="3771900"/>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972300" y="3771900"/>
            <a:ext cx="457200" cy="457200"/>
          </a:xfrm>
          <a:prstGeom prst="rect">
            <a:avLst/>
          </a:prstGeom>
          <a:noFill/>
        </p:spPr>
        <p:txBody>
          <a:bodyPr wrap="none" anchor="ctr">
            <a:spAutoFit/>
          </a:bodyPr>
          <a:lstStyle/>
          <a:p>
            <a:pPr algn="ctr"/>
            <a:r>
              <a:rPr sz="900" b="1">
                <a:solidFill>
                  <a:srgbClr val="1A2332"/>
                </a:solidFill>
                <a:latin typeface="Noto Serif JP"/>
                <a:ea typeface="Noto Serif JP"/>
                <a:cs typeface="Noto Serif JP"/>
              </a:rPr>
              <a:t>2</a:t>
            </a:r>
          </a:p>
        </p:txBody>
      </p:sp>
      <p:sp>
        <p:nvSpPr>
          <p:cNvPr id="30" name="Oval 29"/>
          <p:cNvSpPr/>
          <p:nvPr/>
        </p:nvSpPr>
        <p:spPr>
          <a:xfrm>
            <a:off x="5867400" y="4876800"/>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867400" y="4876800"/>
            <a:ext cx="457200" cy="457200"/>
          </a:xfrm>
          <a:prstGeom prst="rect">
            <a:avLst/>
          </a:prstGeom>
          <a:noFill/>
        </p:spPr>
        <p:txBody>
          <a:bodyPr wrap="none" anchor="ctr">
            <a:spAutoFit/>
          </a:bodyPr>
          <a:lstStyle/>
          <a:p>
            <a:pPr algn="ctr"/>
            <a:r>
              <a:rPr sz="900" b="1">
                <a:solidFill>
                  <a:srgbClr val="1A2332"/>
                </a:solidFill>
                <a:latin typeface="Noto Serif JP"/>
                <a:ea typeface="Noto Serif JP"/>
                <a:cs typeface="Noto Serif JP"/>
              </a:rPr>
              <a:t>3</a:t>
            </a:r>
          </a:p>
        </p:txBody>
      </p:sp>
      <p:sp>
        <p:nvSpPr>
          <p:cNvPr id="32" name="Oval 31"/>
          <p:cNvSpPr/>
          <p:nvPr/>
        </p:nvSpPr>
        <p:spPr>
          <a:xfrm>
            <a:off x="4762500" y="3771900"/>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762500" y="3771900"/>
            <a:ext cx="457200" cy="457200"/>
          </a:xfrm>
          <a:prstGeom prst="rect">
            <a:avLst/>
          </a:prstGeom>
          <a:noFill/>
        </p:spPr>
        <p:txBody>
          <a:bodyPr wrap="none" anchor="ctr">
            <a:spAutoFit/>
          </a:bodyPr>
          <a:lstStyle/>
          <a:p>
            <a:pPr algn="ctr"/>
            <a:r>
              <a:rPr sz="900" b="1">
                <a:solidFill>
                  <a:srgbClr val="1A2332"/>
                </a:solidFill>
                <a:latin typeface="Noto Serif JP"/>
                <a:ea typeface="Noto Serif JP"/>
                <a:cs typeface="Noto Serif JP"/>
              </a:rPr>
              <a:t>4</a:t>
            </a:r>
          </a:p>
        </p:txBody>
      </p:sp>
      <p:sp>
        <p:nvSpPr>
          <p:cNvPr id="34" name="Oval 33"/>
          <p:cNvSpPr/>
          <p:nvPr/>
        </p:nvSpPr>
        <p:spPr>
          <a:xfrm>
            <a:off x="5486400" y="3390900"/>
            <a:ext cx="1219200" cy="12192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FFFFFF"/>
                </a:solidFill>
                <a:latin typeface="Noto Sans JP"/>
                <a:ea typeface="Noto Sans JP"/>
                <a:cs typeface="Noto Sans JP"/>
              </a:rPr>
              <a:t>改善</a:t>
            </a:r>
          </a:p>
          <a:p>
            <a:pPr algn="ctr"/>
            <a:r>
              <a:rPr sz="1350">
                <a:solidFill>
                  <a:srgbClr val="FFFFFF"/>
                </a:solidFill>
                <a:latin typeface="Noto Sans JP"/>
                <a:ea typeface="Noto Sans JP"/>
                <a:cs typeface="Noto Sans JP"/>
              </a:rPr>
              <a:t>サイクル</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DX推進委員会 2026年Q2</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31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DX推進の5つの柱がすべての変革施策を支える</a:t>
            </a:r>
          </a:p>
        </p:txBody>
      </p:sp>
      <p:sp>
        <p:nvSpPr>
          <p:cNvPr id="5" name="TextBox 4"/>
          <p:cNvSpPr txBox="1"/>
          <p:nvPr/>
        </p:nvSpPr>
        <p:spPr>
          <a:xfrm>
            <a:off x="685800" y="1447800"/>
            <a:ext cx="10820400" cy="381000"/>
          </a:xfrm>
          <a:prstGeom prst="rect">
            <a:avLst/>
          </a:prstGeom>
          <a:noFill/>
        </p:spPr>
        <p:txBody>
          <a:bodyPr wrap="square">
            <a:spAutoFit/>
          </a:bodyPr>
          <a:lstStyle/>
          <a:p>
            <a:pPr algn="l"/>
            <a:r>
              <a:rPr sz="1350" b="0">
                <a:solidFill>
                  <a:srgbClr val="5A6675"/>
                </a:solidFill>
                <a:latin typeface="Noto Sans JP"/>
                <a:ea typeface="Noto Sans JP"/>
                <a:cs typeface="Noto Sans JP"/>
              </a:rPr>
              <a:t>テクノロジー・人材・プロセス・データ・ガバナンスを横断的に整備する</a:t>
            </a:r>
          </a:p>
        </p:txBody>
      </p:sp>
      <p:cxnSp>
        <p:nvCxnSpPr>
          <p:cNvPr id="6" name="Connector 5"/>
          <p:cNvCxnSpPr/>
          <p:nvPr/>
        </p:nvCxnSpPr>
        <p:spPr>
          <a:xfrm flipV="1">
            <a:off x="6096000" y="2781300"/>
            <a:ext cx="0" cy="895350"/>
          </a:xfrm>
          <a:prstGeom prst="line">
            <a:avLst/>
          </a:prstGeom>
          <a:ln w="19050">
            <a:solidFill>
              <a:srgbClr val="5A6675"/>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867400" y="2305050"/>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67400" y="2305050"/>
            <a:ext cx="457200" cy="4572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01</a:t>
            </a:r>
          </a:p>
        </p:txBody>
      </p:sp>
      <p:sp>
        <p:nvSpPr>
          <p:cNvPr id="9" name="TextBox 8"/>
          <p:cNvSpPr txBox="1"/>
          <p:nvPr/>
        </p:nvSpPr>
        <p:spPr>
          <a:xfrm>
            <a:off x="5067300" y="1866900"/>
            <a:ext cx="2057400" cy="381000"/>
          </a:xfrm>
          <a:prstGeom prst="rect">
            <a:avLst/>
          </a:prstGeom>
          <a:noFill/>
        </p:spPr>
        <p:txBody>
          <a:bodyPr wrap="square">
            <a:spAutoFit/>
          </a:bodyPr>
          <a:lstStyle/>
          <a:p>
            <a:pPr algn="ctr"/>
            <a:r>
              <a:rPr sz="1350" b="1">
                <a:solidFill>
                  <a:srgbClr val="1A2332"/>
                </a:solidFill>
                <a:latin typeface="Noto Serif JP"/>
                <a:ea typeface="Noto Serif JP"/>
                <a:cs typeface="Noto Serif JP"/>
              </a:rPr>
              <a:t>テクノロジー刷新</a:t>
            </a:r>
          </a:p>
        </p:txBody>
      </p:sp>
      <p:sp>
        <p:nvSpPr>
          <p:cNvPr id="10" name="TextBox 9"/>
          <p:cNvSpPr txBox="1"/>
          <p:nvPr/>
        </p:nvSpPr>
        <p:spPr>
          <a:xfrm>
            <a:off x="5067300" y="2266950"/>
            <a:ext cx="2057400" cy="228600"/>
          </a:xfrm>
          <a:prstGeom prst="rect">
            <a:avLst/>
          </a:prstGeom>
          <a:noFill/>
        </p:spPr>
        <p:txBody>
          <a:bodyPr wrap="square">
            <a:spAutoFit/>
          </a:bodyPr>
          <a:lstStyle/>
          <a:p>
            <a:pPr algn="ctr"/>
            <a:r>
              <a:rPr sz="975" b="0">
                <a:solidFill>
                  <a:srgbClr val="5A6675"/>
                </a:solidFill>
                <a:latin typeface="Noto Sans JP"/>
                <a:ea typeface="Noto Sans JP"/>
                <a:cs typeface="Noto Sans JP"/>
              </a:rPr>
              <a:t>クラウド移行・AI基盤の整備</a:t>
            </a:r>
          </a:p>
        </p:txBody>
      </p:sp>
      <p:cxnSp>
        <p:nvCxnSpPr>
          <p:cNvPr id="11" name="Connector 10"/>
          <p:cNvCxnSpPr/>
          <p:nvPr/>
        </p:nvCxnSpPr>
        <p:spPr>
          <a:xfrm flipV="1">
            <a:off x="6730117" y="3860685"/>
            <a:ext cx="851528" cy="276678"/>
          </a:xfrm>
          <a:prstGeom prst="line">
            <a:avLst/>
          </a:prstGeom>
          <a:ln w="19050">
            <a:solidFill>
              <a:srgbClr val="5A667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7588575" y="3555556"/>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588575" y="3555556"/>
            <a:ext cx="457200" cy="4572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02</a:t>
            </a:r>
          </a:p>
        </p:txBody>
      </p:sp>
      <p:sp>
        <p:nvSpPr>
          <p:cNvPr id="14" name="TextBox 13"/>
          <p:cNvSpPr txBox="1"/>
          <p:nvPr/>
        </p:nvSpPr>
        <p:spPr>
          <a:xfrm>
            <a:off x="8160075" y="3460306"/>
            <a:ext cx="2057400" cy="381000"/>
          </a:xfrm>
          <a:prstGeom prst="rect">
            <a:avLst/>
          </a:prstGeom>
          <a:noFill/>
        </p:spPr>
        <p:txBody>
          <a:bodyPr wrap="square">
            <a:spAutoFit/>
          </a:bodyPr>
          <a:lstStyle/>
          <a:p>
            <a:pPr algn="l"/>
            <a:r>
              <a:rPr sz="1350" b="1">
                <a:solidFill>
                  <a:srgbClr val="1A2332"/>
                </a:solidFill>
                <a:latin typeface="Noto Serif JP"/>
                <a:ea typeface="Noto Serif JP"/>
                <a:cs typeface="Noto Serif JP"/>
              </a:rPr>
              <a:t>人材・組織変革</a:t>
            </a:r>
          </a:p>
        </p:txBody>
      </p:sp>
      <p:sp>
        <p:nvSpPr>
          <p:cNvPr id="15" name="TextBox 14"/>
          <p:cNvSpPr txBox="1"/>
          <p:nvPr/>
        </p:nvSpPr>
        <p:spPr>
          <a:xfrm>
            <a:off x="8160075" y="3860356"/>
            <a:ext cx="20574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デジタル人材の育成と採用</a:t>
            </a:r>
          </a:p>
        </p:txBody>
      </p:sp>
      <p:cxnSp>
        <p:nvCxnSpPr>
          <p:cNvPr id="16" name="Connector 15"/>
          <p:cNvCxnSpPr/>
          <p:nvPr/>
        </p:nvCxnSpPr>
        <p:spPr>
          <a:xfrm>
            <a:off x="6487906" y="4882812"/>
            <a:ext cx="526273" cy="724353"/>
          </a:xfrm>
          <a:prstGeom prst="line">
            <a:avLst/>
          </a:prstGeom>
          <a:ln w="19050">
            <a:solidFill>
              <a:srgbClr val="5A6675"/>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931144" y="5578919"/>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31144" y="5578919"/>
            <a:ext cx="457200" cy="4572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03</a:t>
            </a:r>
          </a:p>
        </p:txBody>
      </p:sp>
      <p:sp>
        <p:nvSpPr>
          <p:cNvPr id="19" name="TextBox 18"/>
          <p:cNvSpPr txBox="1"/>
          <p:nvPr/>
        </p:nvSpPr>
        <p:spPr>
          <a:xfrm>
            <a:off x="7502644" y="5391150"/>
            <a:ext cx="2057400" cy="381000"/>
          </a:xfrm>
          <a:prstGeom prst="rect">
            <a:avLst/>
          </a:prstGeom>
          <a:noFill/>
        </p:spPr>
        <p:txBody>
          <a:bodyPr wrap="square">
            <a:spAutoFit/>
          </a:bodyPr>
          <a:lstStyle/>
          <a:p>
            <a:pPr algn="l"/>
            <a:r>
              <a:rPr sz="1350" b="1">
                <a:solidFill>
                  <a:srgbClr val="1A2332"/>
                </a:solidFill>
                <a:latin typeface="Noto Serif JP"/>
                <a:ea typeface="Noto Serif JP"/>
                <a:cs typeface="Noto Serif JP"/>
              </a:rPr>
              <a:t>プロセス最適化</a:t>
            </a:r>
          </a:p>
        </p:txBody>
      </p:sp>
      <p:sp>
        <p:nvSpPr>
          <p:cNvPr id="20" name="TextBox 19"/>
          <p:cNvSpPr txBox="1"/>
          <p:nvPr/>
        </p:nvSpPr>
        <p:spPr>
          <a:xfrm>
            <a:off x="7502644" y="5791200"/>
            <a:ext cx="20574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業務フローの自動化と標準化</a:t>
            </a:r>
          </a:p>
        </p:txBody>
      </p:sp>
      <p:cxnSp>
        <p:nvCxnSpPr>
          <p:cNvPr id="21" name="Connector 20"/>
          <p:cNvCxnSpPr/>
          <p:nvPr/>
        </p:nvCxnSpPr>
        <p:spPr>
          <a:xfrm flipH="1">
            <a:off x="5177821" y="4882812"/>
            <a:ext cx="526273" cy="724353"/>
          </a:xfrm>
          <a:prstGeom prst="line">
            <a:avLst/>
          </a:prstGeom>
          <a:ln w="19050">
            <a:solidFill>
              <a:srgbClr val="5A6675"/>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803656" y="5578919"/>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803656" y="5578919"/>
            <a:ext cx="457200" cy="4572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04</a:t>
            </a:r>
          </a:p>
        </p:txBody>
      </p:sp>
      <p:sp>
        <p:nvSpPr>
          <p:cNvPr id="24" name="TextBox 23"/>
          <p:cNvSpPr txBox="1"/>
          <p:nvPr/>
        </p:nvSpPr>
        <p:spPr>
          <a:xfrm>
            <a:off x="2631956" y="5391150"/>
            <a:ext cx="2057400" cy="381000"/>
          </a:xfrm>
          <a:prstGeom prst="rect">
            <a:avLst/>
          </a:prstGeom>
          <a:noFill/>
        </p:spPr>
        <p:txBody>
          <a:bodyPr wrap="square">
            <a:spAutoFit/>
          </a:bodyPr>
          <a:lstStyle/>
          <a:p>
            <a:pPr algn="r"/>
            <a:r>
              <a:rPr sz="1350" b="1">
                <a:solidFill>
                  <a:srgbClr val="1A2332"/>
                </a:solidFill>
                <a:latin typeface="Noto Serif JP"/>
                <a:ea typeface="Noto Serif JP"/>
                <a:cs typeface="Noto Serif JP"/>
              </a:rPr>
              <a:t>データ利活用</a:t>
            </a:r>
          </a:p>
        </p:txBody>
      </p:sp>
      <p:sp>
        <p:nvSpPr>
          <p:cNvPr id="25" name="TextBox 24"/>
          <p:cNvSpPr txBox="1"/>
          <p:nvPr/>
        </p:nvSpPr>
        <p:spPr>
          <a:xfrm>
            <a:off x="2631956" y="5791200"/>
            <a:ext cx="20574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統合データ基盤とBI導入</a:t>
            </a:r>
          </a:p>
        </p:txBody>
      </p:sp>
      <p:cxnSp>
        <p:nvCxnSpPr>
          <p:cNvPr id="26" name="Connector 25"/>
          <p:cNvCxnSpPr/>
          <p:nvPr/>
        </p:nvCxnSpPr>
        <p:spPr>
          <a:xfrm flipH="1" flipV="1">
            <a:off x="4610355" y="3860685"/>
            <a:ext cx="851528" cy="276678"/>
          </a:xfrm>
          <a:prstGeom prst="line">
            <a:avLst/>
          </a:prstGeom>
          <a:ln w="19050">
            <a:solidFill>
              <a:srgbClr val="5A6675"/>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146225" y="3555556"/>
            <a:ext cx="457200" cy="4572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146225" y="3555556"/>
            <a:ext cx="457200" cy="4572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05</a:t>
            </a:r>
          </a:p>
        </p:txBody>
      </p:sp>
      <p:sp>
        <p:nvSpPr>
          <p:cNvPr id="29" name="TextBox 28"/>
          <p:cNvSpPr txBox="1"/>
          <p:nvPr/>
        </p:nvSpPr>
        <p:spPr>
          <a:xfrm>
            <a:off x="1974525" y="3460306"/>
            <a:ext cx="2057400" cy="381000"/>
          </a:xfrm>
          <a:prstGeom prst="rect">
            <a:avLst/>
          </a:prstGeom>
          <a:noFill/>
        </p:spPr>
        <p:txBody>
          <a:bodyPr wrap="square">
            <a:spAutoFit/>
          </a:bodyPr>
          <a:lstStyle/>
          <a:p>
            <a:pPr algn="r"/>
            <a:r>
              <a:rPr sz="1350" b="1">
                <a:solidFill>
                  <a:srgbClr val="1A2332"/>
                </a:solidFill>
                <a:latin typeface="Noto Serif JP"/>
                <a:ea typeface="Noto Serif JP"/>
                <a:cs typeface="Noto Serif JP"/>
              </a:rPr>
              <a:t>ガバナンス強化</a:t>
            </a:r>
          </a:p>
        </p:txBody>
      </p:sp>
      <p:sp>
        <p:nvSpPr>
          <p:cNvPr id="30" name="TextBox 29"/>
          <p:cNvSpPr txBox="1"/>
          <p:nvPr/>
        </p:nvSpPr>
        <p:spPr>
          <a:xfrm>
            <a:off x="1974525" y="3860356"/>
            <a:ext cx="20574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セキュリティとリスク管理体制</a:t>
            </a:r>
          </a:p>
        </p:txBody>
      </p:sp>
      <p:sp>
        <p:nvSpPr>
          <p:cNvPr id="31" name="Oval 30"/>
          <p:cNvSpPr/>
          <p:nvPr/>
        </p:nvSpPr>
        <p:spPr>
          <a:xfrm>
            <a:off x="5448300" y="3695700"/>
            <a:ext cx="1295400" cy="12954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Noto Serif JP"/>
                <a:ea typeface="Noto Serif JP"/>
                <a:cs typeface="Noto Serif JP"/>
              </a:rPr>
              <a:t>DX</a:t>
            </a:r>
          </a:p>
          <a:p>
            <a:pPr algn="ctr"/>
            <a:r>
              <a:rPr sz="1800" b="1">
                <a:solidFill>
                  <a:srgbClr val="FFFFFF"/>
                </a:solidFill>
                <a:latin typeface="Noto Serif JP"/>
                <a:ea typeface="Noto Serif JP"/>
                <a:cs typeface="Noto Serif JP"/>
              </a:rPr>
              <a:t>推進</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経営企画室 コーポレートバリュー改訂版 2026年</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4つのコア・バリューがすべての意思決定の基盤となる</a:t>
            </a:r>
          </a:p>
        </p:txBody>
      </p:sp>
      <p:sp>
        <p:nvSpPr>
          <p:cNvPr id="5" name="Rectangle 4"/>
          <p:cNvSpPr/>
          <p:nvPr/>
        </p:nvSpPr>
        <p:spPr>
          <a:xfrm>
            <a:off x="685800" y="1447800"/>
            <a:ext cx="5295900" cy="2743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1676400"/>
            <a:ext cx="4914900" cy="304800"/>
          </a:xfrm>
          <a:prstGeom prst="rect">
            <a:avLst/>
          </a:prstGeom>
          <a:noFill/>
        </p:spPr>
        <p:txBody>
          <a:bodyPr wrap="square">
            <a:spAutoFit/>
          </a:bodyPr>
          <a:lstStyle/>
          <a:p>
            <a:pPr algn="l"/>
            <a:r>
              <a:rPr sz="1800" b="1">
                <a:solidFill>
                  <a:srgbClr val="1A2332"/>
                </a:solidFill>
                <a:latin typeface="Noto Serif JP"/>
                <a:ea typeface="Noto Serif JP"/>
                <a:cs typeface="Noto Serif JP"/>
              </a:rPr>
              <a:t>顧客中心主義</a:t>
            </a:r>
          </a:p>
        </p:txBody>
      </p:sp>
      <p:sp>
        <p:nvSpPr>
          <p:cNvPr id="7" name="TextBox 6"/>
          <p:cNvSpPr txBox="1"/>
          <p:nvPr/>
        </p:nvSpPr>
        <p:spPr>
          <a:xfrm>
            <a:off x="876300" y="2019300"/>
            <a:ext cx="4914900" cy="2095500"/>
          </a:xfrm>
          <a:prstGeom prst="rect">
            <a:avLst/>
          </a:prstGeom>
          <a:noFill/>
        </p:spPr>
        <p:txBody>
          <a:bodyPr wrap="square">
            <a:spAutoFit/>
          </a:bodyPr>
          <a:lstStyle/>
          <a:p>
            <a:pPr algn="l"/>
            <a:r>
              <a:rPr sz="1350" b="0">
                <a:solidFill>
                  <a:srgbClr val="5A6675"/>
                </a:solidFill>
                <a:latin typeface="Noto Sans JP"/>
                <a:ea typeface="Noto Sans JP"/>
                <a:cs typeface="Noto Sans JP"/>
              </a:rPr>
              <a:t>すべての施策は顧客価値の最大化を起点に設計する。NPS向上を最優先 KPI として位置付ける。</a:t>
            </a:r>
          </a:p>
        </p:txBody>
      </p:sp>
      <p:sp>
        <p:nvSpPr>
          <p:cNvPr id="8" name="Rectangle 7"/>
          <p:cNvSpPr/>
          <p:nvPr/>
        </p:nvSpPr>
        <p:spPr>
          <a:xfrm>
            <a:off x="6210300" y="1447800"/>
            <a:ext cx="5295900" cy="2743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76400"/>
            <a:ext cx="4914900" cy="304800"/>
          </a:xfrm>
          <a:prstGeom prst="rect">
            <a:avLst/>
          </a:prstGeom>
          <a:noFill/>
        </p:spPr>
        <p:txBody>
          <a:bodyPr wrap="square">
            <a:spAutoFit/>
          </a:bodyPr>
          <a:lstStyle/>
          <a:p>
            <a:pPr algn="l"/>
            <a:r>
              <a:rPr sz="1800" b="1">
                <a:solidFill>
                  <a:srgbClr val="1A2332"/>
                </a:solidFill>
                <a:latin typeface="Noto Serif JP"/>
                <a:ea typeface="Noto Serif JP"/>
                <a:cs typeface="Noto Serif JP"/>
              </a:rPr>
              <a:t>スピードと実行力</a:t>
            </a:r>
          </a:p>
        </p:txBody>
      </p:sp>
      <p:sp>
        <p:nvSpPr>
          <p:cNvPr id="10" name="TextBox 9"/>
          <p:cNvSpPr txBox="1"/>
          <p:nvPr/>
        </p:nvSpPr>
        <p:spPr>
          <a:xfrm>
            <a:off x="6400800" y="2019300"/>
            <a:ext cx="4914900" cy="2095500"/>
          </a:xfrm>
          <a:prstGeom prst="rect">
            <a:avLst/>
          </a:prstGeom>
          <a:noFill/>
        </p:spPr>
        <p:txBody>
          <a:bodyPr wrap="square">
            <a:spAutoFit/>
          </a:bodyPr>
          <a:lstStyle/>
          <a:p>
            <a:pPr algn="l"/>
            <a:r>
              <a:rPr sz="1350" b="0">
                <a:solidFill>
                  <a:srgbClr val="5A6675"/>
                </a:solidFill>
                <a:latin typeface="Noto Sans JP"/>
                <a:ea typeface="Noto Sans JP"/>
                <a:cs typeface="Noto Sans JP"/>
              </a:rPr>
              <a:t>意思決定のサイクルを短縮し、完璧主義よりも俊敏な実行を優先する文化を醸成する。</a:t>
            </a:r>
          </a:p>
        </p:txBody>
      </p:sp>
      <p:sp>
        <p:nvSpPr>
          <p:cNvPr id="11" name="Rectangle 10"/>
          <p:cNvSpPr/>
          <p:nvPr/>
        </p:nvSpPr>
        <p:spPr>
          <a:xfrm>
            <a:off x="685800" y="4419600"/>
            <a:ext cx="5295900"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6300" y="4610100"/>
            <a:ext cx="4914900" cy="304800"/>
          </a:xfrm>
          <a:prstGeom prst="rect">
            <a:avLst/>
          </a:prstGeom>
          <a:noFill/>
        </p:spPr>
        <p:txBody>
          <a:bodyPr wrap="square">
            <a:spAutoFit/>
          </a:bodyPr>
          <a:lstStyle/>
          <a:p>
            <a:pPr algn="l"/>
            <a:r>
              <a:rPr sz="1800" b="1">
                <a:solidFill>
                  <a:srgbClr val="1A2332"/>
                </a:solidFill>
                <a:latin typeface="Noto Serif JP"/>
                <a:ea typeface="Noto Serif JP"/>
                <a:cs typeface="Noto Serif JP"/>
              </a:rPr>
              <a:t>データドリブン</a:t>
            </a:r>
          </a:p>
        </p:txBody>
      </p:sp>
      <p:sp>
        <p:nvSpPr>
          <p:cNvPr id="13" name="TextBox 12"/>
          <p:cNvSpPr txBox="1"/>
          <p:nvPr/>
        </p:nvSpPr>
        <p:spPr>
          <a:xfrm>
            <a:off x="876300" y="4953000"/>
            <a:ext cx="4914900" cy="1066800"/>
          </a:xfrm>
          <a:prstGeom prst="rect">
            <a:avLst/>
          </a:prstGeom>
          <a:noFill/>
        </p:spPr>
        <p:txBody>
          <a:bodyPr wrap="square">
            <a:spAutoFit/>
          </a:bodyPr>
          <a:lstStyle/>
          <a:p>
            <a:pPr algn="l"/>
            <a:r>
              <a:rPr sz="1350" b="0">
                <a:solidFill>
                  <a:srgbClr val="5A6675"/>
                </a:solidFill>
                <a:latin typeface="Noto Sans JP"/>
                <a:ea typeface="Noto Sans JP"/>
                <a:cs typeface="Noto Sans JP"/>
              </a:rPr>
              <a:t>勘や経験に頼らず、定量データと実験結果を根拠に戦略を修正する。</a:t>
            </a:r>
          </a:p>
        </p:txBody>
      </p:sp>
      <p:sp>
        <p:nvSpPr>
          <p:cNvPr id="14" name="Rectangle 13"/>
          <p:cNvSpPr/>
          <p:nvPr/>
        </p:nvSpPr>
        <p:spPr>
          <a:xfrm>
            <a:off x="6210300" y="4419600"/>
            <a:ext cx="5295900"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610100"/>
            <a:ext cx="4914900" cy="304800"/>
          </a:xfrm>
          <a:prstGeom prst="rect">
            <a:avLst/>
          </a:prstGeom>
          <a:noFill/>
        </p:spPr>
        <p:txBody>
          <a:bodyPr wrap="square">
            <a:spAutoFit/>
          </a:bodyPr>
          <a:lstStyle/>
          <a:p>
            <a:pPr algn="l"/>
            <a:r>
              <a:rPr sz="1800" b="1">
                <a:solidFill>
                  <a:srgbClr val="1A2332"/>
                </a:solidFill>
                <a:latin typeface="Noto Serif JP"/>
                <a:ea typeface="Noto Serif JP"/>
                <a:cs typeface="Noto Serif JP"/>
              </a:rPr>
              <a:t>多様性と包摂</a:t>
            </a:r>
          </a:p>
        </p:txBody>
      </p:sp>
      <p:sp>
        <p:nvSpPr>
          <p:cNvPr id="16" name="TextBox 15"/>
          <p:cNvSpPr txBox="1"/>
          <p:nvPr/>
        </p:nvSpPr>
        <p:spPr>
          <a:xfrm>
            <a:off x="6400800" y="4953000"/>
            <a:ext cx="4914900" cy="1066800"/>
          </a:xfrm>
          <a:prstGeom prst="rect">
            <a:avLst/>
          </a:prstGeom>
          <a:noFill/>
        </p:spPr>
        <p:txBody>
          <a:bodyPr wrap="square">
            <a:spAutoFit/>
          </a:bodyPr>
          <a:lstStyle/>
          <a:p>
            <a:pPr algn="l"/>
            <a:r>
              <a:rPr sz="1350" b="0">
                <a:solidFill>
                  <a:srgbClr val="5A6675"/>
                </a:solidFill>
                <a:latin typeface="Noto Sans JP"/>
                <a:ea typeface="Noto Sans JP"/>
                <a:cs typeface="Noto Sans JP"/>
              </a:rPr>
              <a:t>異なるバックグラウンドの視点を意思決定に取り込み、イノベーションを加速する。</a:t>
            </a:r>
          </a:p>
        </p:txBody>
      </p:sp>
      <p:cxnSp>
        <p:nvCxnSpPr>
          <p:cNvPr id="17" name="Connector 16"/>
          <p:cNvCxnSpPr/>
          <p:nvPr/>
        </p:nvCxnSpPr>
        <p:spPr>
          <a:xfrm flipH="1">
            <a:off x="5600700" y="3713289"/>
            <a:ext cx="142380" cy="96711"/>
          </a:xfrm>
          <a:prstGeom prst="line">
            <a:avLst/>
          </a:prstGeom>
          <a:ln w="9525">
            <a:solidFill>
              <a:srgbClr val="3C6E9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63479" y="3719774"/>
            <a:ext cx="127821" cy="90226"/>
          </a:xfrm>
          <a:prstGeom prst="line">
            <a:avLst/>
          </a:prstGeom>
          <a:ln w="9525">
            <a:solidFill>
              <a:srgbClr val="3C6E9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5600700" y="3876869"/>
            <a:ext cx="349698" cy="923731"/>
          </a:xfrm>
          <a:prstGeom prst="line">
            <a:avLst/>
          </a:prstGeom>
          <a:ln w="9525">
            <a:solidFill>
              <a:srgbClr val="3C6E9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55496" y="3878785"/>
            <a:ext cx="335804" cy="921815"/>
          </a:xfrm>
          <a:prstGeom prst="line">
            <a:avLst/>
          </a:prstGeom>
          <a:ln w="9525">
            <a:solidFill>
              <a:srgbClr val="3C6E91"/>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667375" y="3028950"/>
            <a:ext cx="876300" cy="8763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75" b="1">
                <a:solidFill>
                  <a:srgbClr val="FFFFFF"/>
                </a:solidFill>
                <a:latin typeface="Noto Sans JP"/>
                <a:ea typeface="Noto Sans JP"/>
                <a:cs typeface="Noto Sans JP"/>
              </a:rPr>
              <a:t>企業</a:t>
            </a:r>
          </a:p>
          <a:p>
            <a:pPr algn="ctr"/>
            <a:r>
              <a:rPr sz="975" b="1">
                <a:solidFill>
                  <a:srgbClr val="FFFFFF"/>
                </a:solidFill>
                <a:latin typeface="Noto Sans JP"/>
                <a:ea typeface="Noto Sans JP"/>
                <a:cs typeface="Noto Sans JP"/>
              </a:rPr>
              <a:t>理念</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事業開発室 戦略会議資料 2026年6月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新規事業開発プログラムが6つの競争優位を創出する</a:t>
            </a:r>
          </a:p>
        </p:txBody>
      </p:sp>
      <p:cxnSp>
        <p:nvCxnSpPr>
          <p:cNvPr id="5" name="Connector 4"/>
          <p:cNvCxnSpPr/>
          <p:nvPr/>
        </p:nvCxnSpPr>
        <p:spPr>
          <a:xfrm flipV="1">
            <a:off x="3657600" y="1809750"/>
            <a:ext cx="714375" cy="184785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657600" y="2552700"/>
            <a:ext cx="714375" cy="110490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3657600" y="3276600"/>
            <a:ext cx="714375" cy="38100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657600" y="3657600"/>
            <a:ext cx="714375" cy="36195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3657600"/>
            <a:ext cx="714375" cy="108585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657600" y="3657600"/>
            <a:ext cx="714375" cy="1828800"/>
          </a:xfrm>
          <a:prstGeom prst="line">
            <a:avLst/>
          </a:prstGeom>
          <a:ln w="12700">
            <a:solidFill>
              <a:srgbClr val="5A6675"/>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4371975" y="1657350"/>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71975" y="1657350"/>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01</a:t>
            </a:r>
          </a:p>
        </p:txBody>
      </p:sp>
      <p:sp>
        <p:nvSpPr>
          <p:cNvPr id="13" name="TextBox 12"/>
          <p:cNvSpPr txBox="1"/>
          <p:nvPr/>
        </p:nvSpPr>
        <p:spPr>
          <a:xfrm>
            <a:off x="4810125" y="1504950"/>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市場先行優位</a:t>
            </a:r>
          </a:p>
        </p:txBody>
      </p:sp>
      <p:sp>
        <p:nvSpPr>
          <p:cNvPr id="14" name="TextBox 13"/>
          <p:cNvSpPr txBox="1"/>
          <p:nvPr/>
        </p:nvSpPr>
        <p:spPr>
          <a:xfrm>
            <a:off x="4810125" y="1790700"/>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競合に先駆けたローンチで認知度を確立</a:t>
            </a:r>
          </a:p>
        </p:txBody>
      </p:sp>
      <p:sp>
        <p:nvSpPr>
          <p:cNvPr id="15" name="Rectangle 14"/>
          <p:cNvSpPr/>
          <p:nvPr/>
        </p:nvSpPr>
        <p:spPr>
          <a:xfrm>
            <a:off x="4810125" y="2171700"/>
            <a:ext cx="66960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71975" y="2390775"/>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71975" y="2390775"/>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02</a:t>
            </a:r>
          </a:p>
        </p:txBody>
      </p:sp>
      <p:sp>
        <p:nvSpPr>
          <p:cNvPr id="18" name="TextBox 17"/>
          <p:cNvSpPr txBox="1"/>
          <p:nvPr/>
        </p:nvSpPr>
        <p:spPr>
          <a:xfrm>
            <a:off x="4810125" y="2238375"/>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知財・特許の蓄積</a:t>
            </a:r>
          </a:p>
        </p:txBody>
      </p:sp>
      <p:sp>
        <p:nvSpPr>
          <p:cNvPr id="19" name="TextBox 18"/>
          <p:cNvSpPr txBox="1"/>
          <p:nvPr/>
        </p:nvSpPr>
        <p:spPr>
          <a:xfrm>
            <a:off x="4810125" y="2524125"/>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コア技術を権利化し参入障壁を構築</a:t>
            </a:r>
          </a:p>
        </p:txBody>
      </p:sp>
      <p:sp>
        <p:nvSpPr>
          <p:cNvPr id="20" name="Rectangle 19"/>
          <p:cNvSpPr/>
          <p:nvPr/>
        </p:nvSpPr>
        <p:spPr>
          <a:xfrm>
            <a:off x="4810125" y="2905125"/>
            <a:ext cx="66960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371975" y="3124200"/>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71975" y="3124200"/>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03</a:t>
            </a:r>
          </a:p>
        </p:txBody>
      </p:sp>
      <p:sp>
        <p:nvSpPr>
          <p:cNvPr id="23" name="TextBox 22"/>
          <p:cNvSpPr txBox="1"/>
          <p:nvPr/>
        </p:nvSpPr>
        <p:spPr>
          <a:xfrm>
            <a:off x="4810125" y="2971800"/>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エコシステム形成</a:t>
            </a:r>
          </a:p>
        </p:txBody>
      </p:sp>
      <p:sp>
        <p:nvSpPr>
          <p:cNvPr id="24" name="TextBox 23"/>
          <p:cNvSpPr txBox="1"/>
          <p:nvPr/>
        </p:nvSpPr>
        <p:spPr>
          <a:xfrm>
            <a:off x="4810125" y="3257550"/>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パートナー網の早期整備で普及を加速</a:t>
            </a:r>
          </a:p>
        </p:txBody>
      </p:sp>
      <p:sp>
        <p:nvSpPr>
          <p:cNvPr id="25" name="Rectangle 24"/>
          <p:cNvSpPr/>
          <p:nvPr/>
        </p:nvSpPr>
        <p:spPr>
          <a:xfrm>
            <a:off x="4810125" y="3638550"/>
            <a:ext cx="66960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371975" y="3857625"/>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371975" y="3857625"/>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04</a:t>
            </a:r>
          </a:p>
        </p:txBody>
      </p:sp>
      <p:sp>
        <p:nvSpPr>
          <p:cNvPr id="28" name="TextBox 27"/>
          <p:cNvSpPr txBox="1"/>
          <p:nvPr/>
        </p:nvSpPr>
        <p:spPr>
          <a:xfrm>
            <a:off x="4810125" y="3705225"/>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顧客データの独占</a:t>
            </a:r>
          </a:p>
        </p:txBody>
      </p:sp>
      <p:sp>
        <p:nvSpPr>
          <p:cNvPr id="29" name="TextBox 28"/>
          <p:cNvSpPr txBox="1"/>
          <p:nvPr/>
        </p:nvSpPr>
        <p:spPr>
          <a:xfrm>
            <a:off x="4810125" y="3990975"/>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利用データを製品改善サイクルに還流</a:t>
            </a:r>
          </a:p>
        </p:txBody>
      </p:sp>
      <p:sp>
        <p:nvSpPr>
          <p:cNvPr id="30" name="Rectangle 29"/>
          <p:cNvSpPr/>
          <p:nvPr/>
        </p:nvSpPr>
        <p:spPr>
          <a:xfrm>
            <a:off x="4810125" y="4371975"/>
            <a:ext cx="66960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371975" y="4591050"/>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371975" y="4591050"/>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05</a:t>
            </a:r>
          </a:p>
        </p:txBody>
      </p:sp>
      <p:sp>
        <p:nvSpPr>
          <p:cNvPr id="33" name="TextBox 32"/>
          <p:cNvSpPr txBox="1"/>
          <p:nvPr/>
        </p:nvSpPr>
        <p:spPr>
          <a:xfrm>
            <a:off x="4810125" y="4438650"/>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ブランド差別化</a:t>
            </a:r>
          </a:p>
        </p:txBody>
      </p:sp>
      <p:sp>
        <p:nvSpPr>
          <p:cNvPr id="34" name="TextBox 33"/>
          <p:cNvSpPr txBox="1"/>
          <p:nvPr/>
        </p:nvSpPr>
        <p:spPr>
          <a:xfrm>
            <a:off x="4810125" y="4724400"/>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イノベーター企業としての社会的信頼醸成</a:t>
            </a:r>
          </a:p>
        </p:txBody>
      </p:sp>
      <p:sp>
        <p:nvSpPr>
          <p:cNvPr id="35" name="Rectangle 34"/>
          <p:cNvSpPr/>
          <p:nvPr/>
        </p:nvSpPr>
        <p:spPr>
          <a:xfrm>
            <a:off x="4810125" y="5105400"/>
            <a:ext cx="66960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371975" y="5324475"/>
            <a:ext cx="304800" cy="3048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371975" y="5324475"/>
            <a:ext cx="304800" cy="304800"/>
          </a:xfrm>
          <a:prstGeom prst="rect">
            <a:avLst/>
          </a:prstGeom>
          <a:noFill/>
        </p:spPr>
        <p:txBody>
          <a:bodyPr wrap="none" anchor="ctr">
            <a:spAutoFit/>
          </a:bodyPr>
          <a:lstStyle/>
          <a:p>
            <a:pPr algn="ctr"/>
            <a:r>
              <a:rPr sz="800" b="1">
                <a:solidFill>
                  <a:srgbClr val="FFFFFF"/>
                </a:solidFill>
                <a:latin typeface="Noto Sans JP"/>
                <a:ea typeface="Noto Sans JP"/>
                <a:cs typeface="Noto Sans JP"/>
              </a:rPr>
              <a:t>06</a:t>
            </a:r>
          </a:p>
        </p:txBody>
      </p:sp>
      <p:sp>
        <p:nvSpPr>
          <p:cNvPr id="38" name="TextBox 37"/>
          <p:cNvSpPr txBox="1"/>
          <p:nvPr/>
        </p:nvSpPr>
        <p:spPr>
          <a:xfrm>
            <a:off x="4810125" y="5172075"/>
            <a:ext cx="66960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収益多様化</a:t>
            </a:r>
          </a:p>
        </p:txBody>
      </p:sp>
      <p:sp>
        <p:nvSpPr>
          <p:cNvPr id="39" name="TextBox 38"/>
          <p:cNvSpPr txBox="1"/>
          <p:nvPr/>
        </p:nvSpPr>
        <p:spPr>
          <a:xfrm>
            <a:off x="4810125" y="5457825"/>
            <a:ext cx="6696075" cy="333375"/>
          </a:xfrm>
          <a:prstGeom prst="rect">
            <a:avLst/>
          </a:prstGeom>
          <a:noFill/>
        </p:spPr>
        <p:txBody>
          <a:bodyPr wrap="square">
            <a:spAutoFit/>
          </a:bodyPr>
          <a:lstStyle/>
          <a:p>
            <a:pPr algn="l"/>
            <a:r>
              <a:rPr sz="975" b="0">
                <a:solidFill>
                  <a:srgbClr val="5A6675"/>
                </a:solidFill>
                <a:latin typeface="Noto Sans JP"/>
                <a:ea typeface="Noto Sans JP"/>
                <a:cs typeface="Noto Sans JP"/>
              </a:rPr>
              <a:t>SaaS・ライセンス・コンサルの複合収益化</a:t>
            </a:r>
          </a:p>
        </p:txBody>
      </p:sp>
      <p:sp>
        <p:nvSpPr>
          <p:cNvPr id="40" name="Oval 39"/>
          <p:cNvSpPr/>
          <p:nvPr/>
        </p:nvSpPr>
        <p:spPr>
          <a:xfrm>
            <a:off x="1181100" y="2419350"/>
            <a:ext cx="2476500" cy="24765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Noto Serif JP"/>
                <a:ea typeface="Noto Serif JP"/>
                <a:cs typeface="Noto Serif JP"/>
              </a:rPr>
              <a:t>新規</a:t>
            </a:r>
          </a:p>
          <a:p>
            <a:pPr algn="ctr"/>
            <a:r>
              <a:rPr sz="1800" b="1">
                <a:solidFill>
                  <a:srgbClr val="FFFFFF"/>
                </a:solidFill>
                <a:latin typeface="Noto Serif JP"/>
                <a:ea typeface="Noto Serif JP"/>
                <a:cs typeface="Noto Serif JP"/>
              </a:rPr>
              <a:t>事業</a:t>
            </a:r>
          </a:p>
          <a:p>
            <a:pPr algn="ctr"/>
            <a:r>
              <a:rPr sz="1800" b="1">
                <a:solidFill>
                  <a:srgbClr val="FFFFFF"/>
                </a:solidFill>
                <a:latin typeface="Noto Serif JP"/>
                <a:ea typeface="Noto Serif JP"/>
                <a:cs typeface="Noto Serif JP"/>
              </a:rPr>
              <a:t>開発</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データ基盤刷新プロジェクト 2026年Q3計画</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5つのデータソースが統合分析プラットフォームに集約される</a:t>
            </a:r>
          </a:p>
        </p:txBody>
      </p:sp>
      <p:cxnSp>
        <p:nvCxnSpPr>
          <p:cNvPr id="5" name="Connector 4"/>
          <p:cNvCxnSpPr/>
          <p:nvPr/>
        </p:nvCxnSpPr>
        <p:spPr>
          <a:xfrm>
            <a:off x="6096000" y="1828800"/>
            <a:ext cx="0" cy="2666048"/>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5294295" y="3145123"/>
            <a:ext cx="2613468" cy="823854"/>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5600519" y="3118100"/>
            <a:ext cx="1615212" cy="2156877"/>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976269" y="3118100"/>
            <a:ext cx="1615212" cy="2156877"/>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284237" y="3145123"/>
            <a:ext cx="2613468" cy="823854"/>
          </a:xfrm>
          <a:prstGeom prst="line">
            <a:avLst/>
          </a:prstGeom>
          <a:ln w="254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829300" y="1276350"/>
            <a:ext cx="533400" cy="5334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829300" y="1276350"/>
            <a:ext cx="533400" cy="5334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01</a:t>
            </a:r>
          </a:p>
        </p:txBody>
      </p:sp>
      <p:sp>
        <p:nvSpPr>
          <p:cNvPr id="12" name="TextBox 11"/>
          <p:cNvSpPr txBox="1"/>
          <p:nvPr/>
        </p:nvSpPr>
        <p:spPr>
          <a:xfrm>
            <a:off x="5219700" y="1447800"/>
            <a:ext cx="1752600" cy="304800"/>
          </a:xfrm>
          <a:prstGeom prst="rect">
            <a:avLst/>
          </a:prstGeom>
          <a:noFill/>
        </p:spPr>
        <p:txBody>
          <a:bodyPr wrap="square">
            <a:spAutoFit/>
          </a:bodyPr>
          <a:lstStyle/>
          <a:p>
            <a:pPr algn="ctr"/>
            <a:r>
              <a:rPr sz="1350" b="1">
                <a:solidFill>
                  <a:srgbClr val="1A2332"/>
                </a:solidFill>
                <a:latin typeface="Noto Serif JP"/>
                <a:ea typeface="Noto Serif JP"/>
                <a:cs typeface="Noto Serif JP"/>
              </a:rPr>
              <a:t>購買・取引データ</a:t>
            </a:r>
          </a:p>
        </p:txBody>
      </p:sp>
      <p:sp>
        <p:nvSpPr>
          <p:cNvPr id="13" name="TextBox 12"/>
          <p:cNvSpPr txBox="1"/>
          <p:nvPr/>
        </p:nvSpPr>
        <p:spPr>
          <a:xfrm>
            <a:off x="5219700" y="1771650"/>
            <a:ext cx="1752600" cy="190500"/>
          </a:xfrm>
          <a:prstGeom prst="rect">
            <a:avLst/>
          </a:prstGeom>
          <a:noFill/>
        </p:spPr>
        <p:txBody>
          <a:bodyPr wrap="square">
            <a:spAutoFit/>
          </a:bodyPr>
          <a:lstStyle/>
          <a:p>
            <a:pPr algn="ctr"/>
            <a:r>
              <a:rPr sz="975" b="0">
                <a:solidFill>
                  <a:srgbClr val="5A6675"/>
                </a:solidFill>
                <a:latin typeface="Noto Sans JP"/>
                <a:ea typeface="Noto Sans JP"/>
                <a:cs typeface="Noto Sans JP"/>
              </a:rPr>
              <a:t>POSシステム連携</a:t>
            </a:r>
          </a:p>
        </p:txBody>
      </p:sp>
      <p:sp>
        <p:nvSpPr>
          <p:cNvPr id="14" name="Oval 13"/>
          <p:cNvSpPr/>
          <p:nvPr/>
        </p:nvSpPr>
        <p:spPr>
          <a:xfrm>
            <a:off x="7912827" y="2790121"/>
            <a:ext cx="533400" cy="5334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912827" y="2790121"/>
            <a:ext cx="533400" cy="5334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02</a:t>
            </a:r>
          </a:p>
        </p:txBody>
      </p:sp>
      <p:sp>
        <p:nvSpPr>
          <p:cNvPr id="16" name="TextBox 15"/>
          <p:cNvSpPr txBox="1"/>
          <p:nvPr/>
        </p:nvSpPr>
        <p:spPr>
          <a:xfrm>
            <a:off x="8522427" y="2790121"/>
            <a:ext cx="1752600" cy="304800"/>
          </a:xfrm>
          <a:prstGeom prst="rect">
            <a:avLst/>
          </a:prstGeom>
          <a:noFill/>
        </p:spPr>
        <p:txBody>
          <a:bodyPr wrap="square">
            <a:spAutoFit/>
          </a:bodyPr>
          <a:lstStyle/>
          <a:p>
            <a:pPr algn="l"/>
            <a:r>
              <a:rPr sz="1350" b="1">
                <a:solidFill>
                  <a:srgbClr val="1A2332"/>
                </a:solidFill>
                <a:latin typeface="Noto Serif JP"/>
                <a:ea typeface="Noto Serif JP"/>
                <a:cs typeface="Noto Serif JP"/>
              </a:rPr>
              <a:t>Web行動ログ</a:t>
            </a:r>
          </a:p>
        </p:txBody>
      </p:sp>
      <p:sp>
        <p:nvSpPr>
          <p:cNvPr id="17" name="TextBox 16"/>
          <p:cNvSpPr txBox="1"/>
          <p:nvPr/>
        </p:nvSpPr>
        <p:spPr>
          <a:xfrm>
            <a:off x="8522427" y="3113971"/>
            <a:ext cx="1752600" cy="190500"/>
          </a:xfrm>
          <a:prstGeom prst="rect">
            <a:avLst/>
          </a:prstGeom>
          <a:noFill/>
        </p:spPr>
        <p:txBody>
          <a:bodyPr wrap="square">
            <a:spAutoFit/>
          </a:bodyPr>
          <a:lstStyle/>
          <a:p>
            <a:pPr algn="l"/>
            <a:r>
              <a:rPr sz="975" b="0">
                <a:solidFill>
                  <a:srgbClr val="5A6675"/>
                </a:solidFill>
                <a:latin typeface="Noto Sans JP"/>
                <a:ea typeface="Noto Sans JP"/>
                <a:cs typeface="Noto Sans JP"/>
              </a:rPr>
              <a:t>GA4 / CDPから取得</a:t>
            </a:r>
          </a:p>
        </p:txBody>
      </p:sp>
      <p:sp>
        <p:nvSpPr>
          <p:cNvPr id="18" name="Oval 17"/>
          <p:cNvSpPr/>
          <p:nvPr/>
        </p:nvSpPr>
        <p:spPr>
          <a:xfrm>
            <a:off x="7116991" y="5239454"/>
            <a:ext cx="533400" cy="5334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116991" y="5239454"/>
            <a:ext cx="533400" cy="5334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03</a:t>
            </a:r>
          </a:p>
        </p:txBody>
      </p:sp>
      <p:sp>
        <p:nvSpPr>
          <p:cNvPr id="20" name="TextBox 19"/>
          <p:cNvSpPr txBox="1"/>
          <p:nvPr/>
        </p:nvSpPr>
        <p:spPr>
          <a:xfrm>
            <a:off x="7726591" y="5239454"/>
            <a:ext cx="1752600" cy="304800"/>
          </a:xfrm>
          <a:prstGeom prst="rect">
            <a:avLst/>
          </a:prstGeom>
          <a:noFill/>
        </p:spPr>
        <p:txBody>
          <a:bodyPr wrap="square">
            <a:spAutoFit/>
          </a:bodyPr>
          <a:lstStyle/>
          <a:p>
            <a:pPr algn="l"/>
            <a:r>
              <a:rPr sz="1350" b="1">
                <a:solidFill>
                  <a:srgbClr val="1A2332"/>
                </a:solidFill>
                <a:latin typeface="Noto Serif JP"/>
                <a:ea typeface="Noto Serif JP"/>
                <a:cs typeface="Noto Serif JP"/>
              </a:rPr>
              <a:t>顧客アンケート</a:t>
            </a:r>
          </a:p>
        </p:txBody>
      </p:sp>
      <p:sp>
        <p:nvSpPr>
          <p:cNvPr id="21" name="TextBox 20"/>
          <p:cNvSpPr txBox="1"/>
          <p:nvPr/>
        </p:nvSpPr>
        <p:spPr>
          <a:xfrm>
            <a:off x="7726591" y="5563304"/>
            <a:ext cx="1752600" cy="190500"/>
          </a:xfrm>
          <a:prstGeom prst="rect">
            <a:avLst/>
          </a:prstGeom>
          <a:noFill/>
        </p:spPr>
        <p:txBody>
          <a:bodyPr wrap="square">
            <a:spAutoFit/>
          </a:bodyPr>
          <a:lstStyle/>
          <a:p>
            <a:pPr algn="l"/>
            <a:r>
              <a:rPr sz="975" b="0">
                <a:solidFill>
                  <a:srgbClr val="5A6675"/>
                </a:solidFill>
                <a:latin typeface="Noto Sans JP"/>
                <a:ea typeface="Noto Sans JP"/>
                <a:cs typeface="Noto Sans JP"/>
              </a:rPr>
              <a:t>NPS・CSAT定期調査</a:t>
            </a:r>
          </a:p>
        </p:txBody>
      </p:sp>
      <p:sp>
        <p:nvSpPr>
          <p:cNvPr id="22" name="Oval 21"/>
          <p:cNvSpPr/>
          <p:nvPr/>
        </p:nvSpPr>
        <p:spPr>
          <a:xfrm>
            <a:off x="4541609" y="5239454"/>
            <a:ext cx="533400" cy="5334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541609" y="5239454"/>
            <a:ext cx="533400" cy="5334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04</a:t>
            </a:r>
          </a:p>
        </p:txBody>
      </p:sp>
      <p:sp>
        <p:nvSpPr>
          <p:cNvPr id="24" name="TextBox 23"/>
          <p:cNvSpPr txBox="1"/>
          <p:nvPr/>
        </p:nvSpPr>
        <p:spPr>
          <a:xfrm>
            <a:off x="2712809" y="5239454"/>
            <a:ext cx="1752600" cy="304800"/>
          </a:xfrm>
          <a:prstGeom prst="rect">
            <a:avLst/>
          </a:prstGeom>
          <a:noFill/>
        </p:spPr>
        <p:txBody>
          <a:bodyPr wrap="square">
            <a:spAutoFit/>
          </a:bodyPr>
          <a:lstStyle/>
          <a:p>
            <a:pPr algn="r"/>
            <a:r>
              <a:rPr sz="1350" b="1">
                <a:solidFill>
                  <a:srgbClr val="1A2332"/>
                </a:solidFill>
                <a:latin typeface="Noto Serif JP"/>
                <a:ea typeface="Noto Serif JP"/>
                <a:cs typeface="Noto Serif JP"/>
              </a:rPr>
              <a:t>SNS・口コミ</a:t>
            </a:r>
          </a:p>
        </p:txBody>
      </p:sp>
      <p:sp>
        <p:nvSpPr>
          <p:cNvPr id="25" name="TextBox 24"/>
          <p:cNvSpPr txBox="1"/>
          <p:nvPr/>
        </p:nvSpPr>
        <p:spPr>
          <a:xfrm>
            <a:off x="2712809" y="5563304"/>
            <a:ext cx="1752600" cy="190500"/>
          </a:xfrm>
          <a:prstGeom prst="rect">
            <a:avLst/>
          </a:prstGeom>
          <a:noFill/>
        </p:spPr>
        <p:txBody>
          <a:bodyPr wrap="square">
            <a:spAutoFit/>
          </a:bodyPr>
          <a:lstStyle/>
          <a:p>
            <a:pPr algn="r"/>
            <a:r>
              <a:rPr sz="975" b="0">
                <a:solidFill>
                  <a:srgbClr val="5A6675"/>
                </a:solidFill>
                <a:latin typeface="Noto Sans JP"/>
                <a:ea typeface="Noto Sans JP"/>
                <a:cs typeface="Noto Sans JP"/>
              </a:rPr>
              <a:t>ソーシャルリスニング</a:t>
            </a:r>
          </a:p>
        </p:txBody>
      </p:sp>
      <p:sp>
        <p:nvSpPr>
          <p:cNvPr id="26" name="Oval 25"/>
          <p:cNvSpPr/>
          <p:nvPr/>
        </p:nvSpPr>
        <p:spPr>
          <a:xfrm>
            <a:off x="3745773" y="2790121"/>
            <a:ext cx="533400" cy="533400"/>
          </a:xfrm>
          <a:prstGeom prst="ellipse">
            <a:avLst/>
          </a:prstGeom>
          <a:solidFill>
            <a:srgbClr val="F4F6F8"/>
          </a:solidFill>
          <a:ln w="1905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745773" y="2790121"/>
            <a:ext cx="533400" cy="533400"/>
          </a:xfrm>
          <a:prstGeom prst="rect">
            <a:avLst/>
          </a:prstGeom>
          <a:noFill/>
        </p:spPr>
        <p:txBody>
          <a:bodyPr wrap="none" anchor="ctr">
            <a:spAutoFit/>
          </a:bodyPr>
          <a:lstStyle/>
          <a:p>
            <a:pPr algn="ctr"/>
            <a:r>
              <a:rPr sz="800" b="1">
                <a:solidFill>
                  <a:srgbClr val="0A2540"/>
                </a:solidFill>
                <a:latin typeface="Noto Sans JP"/>
                <a:ea typeface="Noto Sans JP"/>
                <a:cs typeface="Noto Sans JP"/>
              </a:rPr>
              <a:t>05</a:t>
            </a:r>
          </a:p>
        </p:txBody>
      </p:sp>
      <p:sp>
        <p:nvSpPr>
          <p:cNvPr id="28" name="TextBox 27"/>
          <p:cNvSpPr txBox="1"/>
          <p:nvPr/>
        </p:nvSpPr>
        <p:spPr>
          <a:xfrm>
            <a:off x="1916973" y="2790121"/>
            <a:ext cx="1752600" cy="304800"/>
          </a:xfrm>
          <a:prstGeom prst="rect">
            <a:avLst/>
          </a:prstGeom>
          <a:noFill/>
        </p:spPr>
        <p:txBody>
          <a:bodyPr wrap="square">
            <a:spAutoFit/>
          </a:bodyPr>
          <a:lstStyle/>
          <a:p>
            <a:pPr algn="r"/>
            <a:r>
              <a:rPr sz="1350" b="1">
                <a:solidFill>
                  <a:srgbClr val="1A2332"/>
                </a:solidFill>
                <a:latin typeface="Noto Serif JP"/>
                <a:ea typeface="Noto Serif JP"/>
                <a:cs typeface="Noto Serif JP"/>
              </a:rPr>
              <a:t>外部マーケット情報</a:t>
            </a:r>
          </a:p>
        </p:txBody>
      </p:sp>
      <p:sp>
        <p:nvSpPr>
          <p:cNvPr id="29" name="TextBox 28"/>
          <p:cNvSpPr txBox="1"/>
          <p:nvPr/>
        </p:nvSpPr>
        <p:spPr>
          <a:xfrm>
            <a:off x="1916973" y="3113971"/>
            <a:ext cx="1752600" cy="190500"/>
          </a:xfrm>
          <a:prstGeom prst="rect">
            <a:avLst/>
          </a:prstGeom>
          <a:noFill/>
        </p:spPr>
        <p:txBody>
          <a:bodyPr wrap="square">
            <a:spAutoFit/>
          </a:bodyPr>
          <a:lstStyle/>
          <a:p>
            <a:pPr algn="r"/>
            <a:r>
              <a:rPr sz="975" b="0">
                <a:solidFill>
                  <a:srgbClr val="5A6675"/>
                </a:solidFill>
                <a:latin typeface="Noto Sans JP"/>
                <a:ea typeface="Noto Sans JP"/>
                <a:cs typeface="Noto Sans JP"/>
              </a:rPr>
              <a:t>調査会社データ提携</a:t>
            </a:r>
          </a:p>
        </p:txBody>
      </p:sp>
      <p:sp>
        <p:nvSpPr>
          <p:cNvPr id="30" name="Rounded Rectangle 29"/>
          <p:cNvSpPr/>
          <p:nvPr/>
        </p:nvSpPr>
        <p:spPr>
          <a:xfrm>
            <a:off x="4972050" y="2838450"/>
            <a:ext cx="2247900" cy="179070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Noto Serif JP"/>
                <a:ea typeface="Noto Serif JP"/>
                <a:cs typeface="Noto Serif JP"/>
              </a:rPr>
              <a:t>統合</a:t>
            </a:r>
          </a:p>
          <a:p>
            <a:pPr algn="ctr"/>
            <a:r>
              <a:rPr sz="1800" b="1">
                <a:solidFill>
                  <a:srgbClr val="FFFFFF"/>
                </a:solidFill>
                <a:latin typeface="Noto Serif JP"/>
                <a:ea typeface="Noto Serif JP"/>
                <a:cs typeface="Noto Serif JP"/>
              </a:rPr>
              <a:t>分析</a:t>
            </a:r>
          </a:p>
          <a:p>
            <a:pPr algn="ctr"/>
            <a:r>
              <a:rPr sz="1800" b="1">
                <a:solidFill>
                  <a:srgbClr val="FFFFFF"/>
                </a:solidFill>
                <a:latin typeface="Noto Serif JP"/>
                <a:ea typeface="Noto Serif JP"/>
                <a:cs typeface="Noto Serif JP"/>
              </a:rPr>
              <a:t>PF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2026年6月 組織改編後の体制図</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35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新経営体制のもと4事業部門が一体で成長戦略を推進する</a:t>
            </a:r>
          </a:p>
        </p:txBody>
      </p:sp>
      <p:sp>
        <p:nvSpPr>
          <p:cNvPr id="5" name="Rectangle 4"/>
          <p:cNvSpPr/>
          <p:nvPr/>
        </p:nvSpPr>
        <p:spPr>
          <a:xfrm>
            <a:off x="4229100" y="1666875"/>
            <a:ext cx="3733800"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81375" y="188595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38500" y="2200275"/>
            <a:ext cx="16192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28975" y="220980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81375" y="188595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90900" y="2200275"/>
            <a:ext cx="176212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33975" y="220980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1375" y="188595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90900" y="2200275"/>
            <a:ext cx="366712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38975" y="220980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1375" y="188595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90900" y="2200275"/>
            <a:ext cx="557212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43975" y="2209800"/>
            <a:ext cx="19050" cy="33337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28975" y="2952750"/>
            <a:ext cx="19050" cy="4762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33975" y="2952750"/>
            <a:ext cx="19050" cy="4762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38975" y="2952750"/>
            <a:ext cx="19050" cy="4762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43975" y="2952750"/>
            <a:ext cx="19050" cy="4762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552700" y="1466850"/>
            <a:ext cx="1676400" cy="419100"/>
          </a:xfrm>
          <a:prstGeom prst="roundRect">
            <a:avLst>
              <a:gd name="adj" fmla="val 16667"/>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FFFFFF"/>
                </a:solidFill>
                <a:latin typeface="Noto Serif JP"/>
                <a:ea typeface="Noto Serif JP"/>
                <a:cs typeface="Noto Serif JP"/>
              </a:rPr>
              <a:t>取締役会</a:t>
            </a:r>
          </a:p>
        </p:txBody>
      </p:sp>
      <p:sp>
        <p:nvSpPr>
          <p:cNvPr id="23" name="Rounded Rectangle 22"/>
          <p:cNvSpPr/>
          <p:nvPr/>
        </p:nvSpPr>
        <p:spPr>
          <a:xfrm>
            <a:off x="7962900" y="1466850"/>
            <a:ext cx="1676400" cy="419100"/>
          </a:xfrm>
          <a:prstGeom prst="roundRect">
            <a:avLst>
              <a:gd name="adj" fmla="val 16667"/>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FFFFFF"/>
                </a:solidFill>
                <a:latin typeface="Noto Serif JP"/>
                <a:ea typeface="Noto Serif JP"/>
                <a:cs typeface="Noto Serif JP"/>
              </a:rPr>
              <a:t>監査役会</a:t>
            </a:r>
          </a:p>
        </p:txBody>
      </p:sp>
      <p:sp>
        <p:nvSpPr>
          <p:cNvPr id="24" name="Rounded Rectangle 23"/>
          <p:cNvSpPr/>
          <p:nvPr/>
        </p:nvSpPr>
        <p:spPr>
          <a:xfrm>
            <a:off x="2362200" y="2533650"/>
            <a:ext cx="1752600" cy="419100"/>
          </a:xfrm>
          <a:prstGeom prst="roundRect">
            <a:avLst>
              <a:gd name="adj" fmla="val 16667"/>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1A2332"/>
                </a:solidFill>
                <a:latin typeface="Noto Serif JP"/>
                <a:ea typeface="Noto Serif JP"/>
                <a:cs typeface="Noto Serif JP"/>
              </a:rPr>
              <a:t>事業開発部</a:t>
            </a:r>
          </a:p>
        </p:txBody>
      </p:sp>
      <p:sp>
        <p:nvSpPr>
          <p:cNvPr id="25" name="Rounded Rectangle 24"/>
          <p:cNvSpPr/>
          <p:nvPr/>
        </p:nvSpPr>
        <p:spPr>
          <a:xfrm>
            <a:off x="4267200" y="2533650"/>
            <a:ext cx="1752600" cy="419100"/>
          </a:xfrm>
          <a:prstGeom prst="roundRect">
            <a:avLst>
              <a:gd name="adj" fmla="val 16667"/>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1A2332"/>
                </a:solidFill>
                <a:latin typeface="Noto Serif JP"/>
                <a:ea typeface="Noto Serif JP"/>
                <a:cs typeface="Noto Serif JP"/>
              </a:rPr>
              <a:t>プロダクト部</a:t>
            </a:r>
          </a:p>
        </p:txBody>
      </p:sp>
      <p:sp>
        <p:nvSpPr>
          <p:cNvPr id="26" name="Rounded Rectangle 25"/>
          <p:cNvSpPr/>
          <p:nvPr/>
        </p:nvSpPr>
        <p:spPr>
          <a:xfrm>
            <a:off x="6172200" y="2533650"/>
            <a:ext cx="1752600" cy="419100"/>
          </a:xfrm>
          <a:prstGeom prst="roundRect">
            <a:avLst>
              <a:gd name="adj" fmla="val 16667"/>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1A2332"/>
                </a:solidFill>
                <a:latin typeface="Noto Serif JP"/>
                <a:ea typeface="Noto Serif JP"/>
                <a:cs typeface="Noto Serif JP"/>
              </a:rPr>
              <a:t>営業・マーケ部</a:t>
            </a:r>
          </a:p>
        </p:txBody>
      </p:sp>
      <p:sp>
        <p:nvSpPr>
          <p:cNvPr id="27" name="Rounded Rectangle 26"/>
          <p:cNvSpPr/>
          <p:nvPr/>
        </p:nvSpPr>
        <p:spPr>
          <a:xfrm>
            <a:off x="8077200" y="2533650"/>
            <a:ext cx="1752600" cy="419100"/>
          </a:xfrm>
          <a:prstGeom prst="roundRect">
            <a:avLst>
              <a:gd name="adj" fmla="val 16667"/>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1A2332"/>
                </a:solidFill>
                <a:latin typeface="Noto Serif JP"/>
                <a:ea typeface="Noto Serif JP"/>
                <a:cs typeface="Noto Serif JP"/>
              </a:rPr>
              <a:t>管理部</a:t>
            </a:r>
          </a:p>
        </p:txBody>
      </p:sp>
      <p:sp>
        <p:nvSpPr>
          <p:cNvPr id="28" name="Rectangle 27"/>
          <p:cNvSpPr/>
          <p:nvPr/>
        </p:nvSpPr>
        <p:spPr>
          <a:xfrm>
            <a:off x="2362200" y="3429000"/>
            <a:ext cx="1752600" cy="2514600"/>
          </a:xfrm>
          <a:prstGeom prst="rect">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438400" y="34671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新規事業企画</a:t>
            </a:r>
          </a:p>
        </p:txBody>
      </p:sp>
      <p:sp>
        <p:nvSpPr>
          <p:cNvPr id="30" name="Rectangle 29"/>
          <p:cNvSpPr/>
          <p:nvPr/>
        </p:nvSpPr>
        <p:spPr>
          <a:xfrm>
            <a:off x="2400300" y="40481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38400" y="40957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M&amp;Aリサーチ</a:t>
            </a:r>
          </a:p>
        </p:txBody>
      </p:sp>
      <p:sp>
        <p:nvSpPr>
          <p:cNvPr id="32" name="Rectangle 31"/>
          <p:cNvSpPr/>
          <p:nvPr/>
        </p:nvSpPr>
        <p:spPr>
          <a:xfrm>
            <a:off x="2400300" y="467677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38400" y="47244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VC・提携窓口</a:t>
            </a:r>
          </a:p>
        </p:txBody>
      </p:sp>
      <p:sp>
        <p:nvSpPr>
          <p:cNvPr id="34" name="Rectangle 33"/>
          <p:cNvSpPr/>
          <p:nvPr/>
        </p:nvSpPr>
        <p:spPr>
          <a:xfrm>
            <a:off x="2400300" y="53054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38400" y="53530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市場調査・分析</a:t>
            </a:r>
          </a:p>
        </p:txBody>
      </p:sp>
      <p:sp>
        <p:nvSpPr>
          <p:cNvPr id="36" name="Rectangle 35"/>
          <p:cNvSpPr/>
          <p:nvPr/>
        </p:nvSpPr>
        <p:spPr>
          <a:xfrm>
            <a:off x="4267200" y="3429000"/>
            <a:ext cx="1752600" cy="2514600"/>
          </a:xfrm>
          <a:prstGeom prst="rect">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43400" y="34671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プロダクトマネジメント</a:t>
            </a:r>
          </a:p>
        </p:txBody>
      </p:sp>
      <p:sp>
        <p:nvSpPr>
          <p:cNvPr id="38" name="Rectangle 37"/>
          <p:cNvSpPr/>
          <p:nvPr/>
        </p:nvSpPr>
        <p:spPr>
          <a:xfrm>
            <a:off x="4305300" y="40481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40957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UX/UIデザイン</a:t>
            </a:r>
          </a:p>
        </p:txBody>
      </p:sp>
      <p:sp>
        <p:nvSpPr>
          <p:cNvPr id="40" name="Rectangle 39"/>
          <p:cNvSpPr/>
          <p:nvPr/>
        </p:nvSpPr>
        <p:spPr>
          <a:xfrm>
            <a:off x="4305300" y="467677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47244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エンジニアリング</a:t>
            </a:r>
          </a:p>
        </p:txBody>
      </p:sp>
      <p:sp>
        <p:nvSpPr>
          <p:cNvPr id="42" name="Rectangle 41"/>
          <p:cNvSpPr/>
          <p:nvPr/>
        </p:nvSpPr>
        <p:spPr>
          <a:xfrm>
            <a:off x="4305300" y="53054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43400" y="53530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QA・リリース管理</a:t>
            </a:r>
          </a:p>
        </p:txBody>
      </p:sp>
      <p:sp>
        <p:nvSpPr>
          <p:cNvPr id="44" name="Rectangle 43"/>
          <p:cNvSpPr/>
          <p:nvPr/>
        </p:nvSpPr>
        <p:spPr>
          <a:xfrm>
            <a:off x="6172200" y="3429000"/>
            <a:ext cx="1752600" cy="2514600"/>
          </a:xfrm>
          <a:prstGeom prst="rect">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48400" y="34671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法人営業</a:t>
            </a:r>
          </a:p>
        </p:txBody>
      </p:sp>
      <p:sp>
        <p:nvSpPr>
          <p:cNvPr id="46" name="Rectangle 45"/>
          <p:cNvSpPr/>
          <p:nvPr/>
        </p:nvSpPr>
        <p:spPr>
          <a:xfrm>
            <a:off x="6210300" y="40481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8400" y="40957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インサイドセールス</a:t>
            </a:r>
          </a:p>
        </p:txBody>
      </p:sp>
      <p:sp>
        <p:nvSpPr>
          <p:cNvPr id="48" name="Rectangle 47"/>
          <p:cNvSpPr/>
          <p:nvPr/>
        </p:nvSpPr>
        <p:spPr>
          <a:xfrm>
            <a:off x="6210300" y="467677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48400" y="47244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マーケティング</a:t>
            </a:r>
          </a:p>
        </p:txBody>
      </p:sp>
      <p:sp>
        <p:nvSpPr>
          <p:cNvPr id="50" name="Rectangle 49"/>
          <p:cNvSpPr/>
          <p:nvPr/>
        </p:nvSpPr>
        <p:spPr>
          <a:xfrm>
            <a:off x="6210300" y="53054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53530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カスタマーサクセス</a:t>
            </a:r>
          </a:p>
        </p:txBody>
      </p:sp>
      <p:sp>
        <p:nvSpPr>
          <p:cNvPr id="52" name="Rectangle 51"/>
          <p:cNvSpPr/>
          <p:nvPr/>
        </p:nvSpPr>
        <p:spPr>
          <a:xfrm>
            <a:off x="8077200" y="3429000"/>
            <a:ext cx="1752600" cy="2514600"/>
          </a:xfrm>
          <a:prstGeom prst="rect">
            <a:avLst/>
          </a:prstGeom>
          <a:solidFill>
            <a:srgbClr val="F4F6F8"/>
          </a:solidFill>
          <a:ln w="12700">
            <a:solidFill>
              <a:srgbClr val="3C6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53400" y="34671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経営企画・IR</a:t>
            </a:r>
          </a:p>
        </p:txBody>
      </p:sp>
      <p:sp>
        <p:nvSpPr>
          <p:cNvPr id="54" name="Rectangle 53"/>
          <p:cNvSpPr/>
          <p:nvPr/>
        </p:nvSpPr>
        <p:spPr>
          <a:xfrm>
            <a:off x="8115300" y="40481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53400" y="40957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財務・経理</a:t>
            </a:r>
          </a:p>
        </p:txBody>
      </p:sp>
      <p:sp>
        <p:nvSpPr>
          <p:cNvPr id="56" name="Rectangle 55"/>
          <p:cNvSpPr/>
          <p:nvPr/>
        </p:nvSpPr>
        <p:spPr>
          <a:xfrm>
            <a:off x="8115300" y="467677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53400" y="472440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人事・総務</a:t>
            </a:r>
          </a:p>
        </p:txBody>
      </p:sp>
      <p:sp>
        <p:nvSpPr>
          <p:cNvPr id="58" name="Rectangle 57"/>
          <p:cNvSpPr/>
          <p:nvPr/>
        </p:nvSpPr>
        <p:spPr>
          <a:xfrm>
            <a:off x="8115300" y="5305425"/>
            <a:ext cx="16764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53400" y="5353050"/>
            <a:ext cx="1600200" cy="552450"/>
          </a:xfrm>
          <a:prstGeom prst="rect">
            <a:avLst/>
          </a:prstGeom>
          <a:noFill/>
        </p:spPr>
        <p:txBody>
          <a:bodyPr wrap="square">
            <a:spAutoFit/>
          </a:bodyPr>
          <a:lstStyle/>
          <a:p>
            <a:pPr algn="l"/>
            <a:r>
              <a:rPr sz="975" b="0">
                <a:solidFill>
                  <a:srgbClr val="1A2332"/>
                </a:solidFill>
                <a:latin typeface="Noto Sans JP"/>
                <a:ea typeface="Noto Sans JP"/>
                <a:cs typeface="Noto Sans JP"/>
              </a:rPr>
              <a:t>法務・コンプライアンス</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ESG戦略レポート 2026年版 — サステナビリティ推進室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36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企業と社会の相互還元が持続的な競争優位を生み出す</a:t>
            </a:r>
          </a:p>
        </p:txBody>
      </p:sp>
      <p:sp>
        <p:nvSpPr>
          <p:cNvPr id="5" name="Oval 4"/>
          <p:cNvSpPr/>
          <p:nvPr/>
        </p:nvSpPr>
        <p:spPr>
          <a:xfrm>
            <a:off x="728662" y="2043112"/>
            <a:ext cx="3381375" cy="3381375"/>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a:solidFill>
                  <a:srgbClr val="FFFFFF"/>
                </a:solidFill>
                <a:latin typeface="Noto Sans JP"/>
                <a:ea typeface="Noto Sans JP"/>
                <a:cs typeface="Noto Sans JP"/>
              </a:rPr>
              <a:t/>
            </a:r>
          </a:p>
        </p:txBody>
      </p:sp>
      <p:sp>
        <p:nvSpPr>
          <p:cNvPr id="6" name="Oval 5"/>
          <p:cNvSpPr/>
          <p:nvPr/>
        </p:nvSpPr>
        <p:spPr>
          <a:xfrm>
            <a:off x="8091488" y="2043112"/>
            <a:ext cx="3381375" cy="3381375"/>
          </a:xfrm>
          <a:prstGeom prst="ellipse">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a:solidFill>
                  <a:srgbClr val="1A2332"/>
                </a:solidFill>
                <a:latin typeface="Noto Sans JP"/>
                <a:ea typeface="Noto Sans JP"/>
                <a:cs typeface="Noto Sans JP"/>
              </a:rPr>
              <a:t/>
            </a:r>
          </a:p>
        </p:txBody>
      </p:sp>
      <p:sp>
        <p:nvSpPr>
          <p:cNvPr id="7" name="TextBox 6"/>
          <p:cNvSpPr txBox="1"/>
          <p:nvPr/>
        </p:nvSpPr>
        <p:spPr>
          <a:xfrm>
            <a:off x="728662" y="2757488"/>
            <a:ext cx="3381375" cy="342900"/>
          </a:xfrm>
          <a:prstGeom prst="rect">
            <a:avLst/>
          </a:prstGeom>
          <a:noFill/>
        </p:spPr>
        <p:txBody>
          <a:bodyPr wrap="square">
            <a:spAutoFit/>
          </a:bodyPr>
          <a:lstStyle/>
          <a:p>
            <a:pPr algn="ctr"/>
            <a:r>
              <a:rPr sz="1800" b="1">
                <a:solidFill>
                  <a:srgbClr val="FFFFFF"/>
                </a:solidFill>
                <a:latin typeface="Noto Serif JP"/>
                <a:ea typeface="Noto Serif JP"/>
                <a:cs typeface="Noto Serif JP"/>
              </a:rPr>
              <a:t>企業</a:t>
            </a:r>
          </a:p>
        </p:txBody>
      </p:sp>
      <p:sp>
        <p:nvSpPr>
          <p:cNvPr id="8" name="TextBox 7"/>
          <p:cNvSpPr txBox="1"/>
          <p:nvPr/>
        </p:nvSpPr>
        <p:spPr>
          <a:xfrm>
            <a:off x="8091488" y="2757488"/>
            <a:ext cx="3381375" cy="342900"/>
          </a:xfrm>
          <a:prstGeom prst="rect">
            <a:avLst/>
          </a:prstGeom>
          <a:noFill/>
        </p:spPr>
        <p:txBody>
          <a:bodyPr wrap="square">
            <a:spAutoFit/>
          </a:bodyPr>
          <a:lstStyle/>
          <a:p>
            <a:pPr algn="ctr"/>
            <a:r>
              <a:rPr sz="1800" b="1">
                <a:solidFill>
                  <a:srgbClr val="1A2332"/>
                </a:solidFill>
                <a:latin typeface="Noto Serif JP"/>
                <a:ea typeface="Noto Serif JP"/>
                <a:cs typeface="Noto Serif JP"/>
              </a:rPr>
              <a:t>社会</a:t>
            </a:r>
          </a:p>
        </p:txBody>
      </p:sp>
      <p:sp>
        <p:nvSpPr>
          <p:cNvPr id="9" name="Rectangle 8"/>
          <p:cNvSpPr/>
          <p:nvPr/>
        </p:nvSpPr>
        <p:spPr>
          <a:xfrm>
            <a:off x="1371600" y="3695700"/>
            <a:ext cx="2095500" cy="247650"/>
          </a:xfrm>
          <a:prstGeom prst="rect">
            <a:avLst/>
          </a:prstGeom>
          <a:solidFill>
            <a:srgbClr val="3C6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9700" y="3714750"/>
            <a:ext cx="2019300" cy="209550"/>
          </a:xfrm>
          <a:prstGeom prst="rect">
            <a:avLst/>
          </a:prstGeom>
          <a:noFill/>
        </p:spPr>
        <p:txBody>
          <a:bodyPr wrap="square">
            <a:spAutoFit/>
          </a:bodyPr>
          <a:lstStyle/>
          <a:p>
            <a:pPr algn="ctr"/>
            <a:r>
              <a:rPr sz="975" b="0">
                <a:solidFill>
                  <a:srgbClr val="FFFFFF"/>
                </a:solidFill>
                <a:latin typeface="Noto Sans JP"/>
                <a:ea typeface="Noto Sans JP"/>
                <a:cs typeface="Noto Sans JP"/>
              </a:rPr>
              <a:t>技術・ノウハウ</a:t>
            </a:r>
          </a:p>
        </p:txBody>
      </p:sp>
      <p:sp>
        <p:nvSpPr>
          <p:cNvPr id="11" name="Rectangle 10"/>
          <p:cNvSpPr/>
          <p:nvPr/>
        </p:nvSpPr>
        <p:spPr>
          <a:xfrm>
            <a:off x="1371600" y="3990975"/>
            <a:ext cx="2095500" cy="247650"/>
          </a:xfrm>
          <a:prstGeom prst="rect">
            <a:avLst/>
          </a:prstGeom>
          <a:solidFill>
            <a:srgbClr val="3C6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09700" y="4010025"/>
            <a:ext cx="2019300" cy="209550"/>
          </a:xfrm>
          <a:prstGeom prst="rect">
            <a:avLst/>
          </a:prstGeom>
          <a:noFill/>
        </p:spPr>
        <p:txBody>
          <a:bodyPr wrap="square">
            <a:spAutoFit/>
          </a:bodyPr>
          <a:lstStyle/>
          <a:p>
            <a:pPr algn="ctr"/>
            <a:r>
              <a:rPr sz="975" b="0">
                <a:solidFill>
                  <a:srgbClr val="FFFFFF"/>
                </a:solidFill>
                <a:latin typeface="Noto Sans JP"/>
                <a:ea typeface="Noto Sans JP"/>
                <a:cs typeface="Noto Sans JP"/>
              </a:rPr>
              <a:t>雇用・所得創出</a:t>
            </a:r>
          </a:p>
        </p:txBody>
      </p:sp>
      <p:sp>
        <p:nvSpPr>
          <p:cNvPr id="13" name="Rectangle 12"/>
          <p:cNvSpPr/>
          <p:nvPr/>
        </p:nvSpPr>
        <p:spPr>
          <a:xfrm>
            <a:off x="1371600" y="4286250"/>
            <a:ext cx="2095500" cy="247650"/>
          </a:xfrm>
          <a:prstGeom prst="rect">
            <a:avLst/>
          </a:prstGeom>
          <a:solidFill>
            <a:srgbClr val="3C6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09700" y="4305300"/>
            <a:ext cx="2019300" cy="209550"/>
          </a:xfrm>
          <a:prstGeom prst="rect">
            <a:avLst/>
          </a:prstGeom>
          <a:noFill/>
        </p:spPr>
        <p:txBody>
          <a:bodyPr wrap="square">
            <a:spAutoFit/>
          </a:bodyPr>
          <a:lstStyle/>
          <a:p>
            <a:pPr algn="ctr"/>
            <a:r>
              <a:rPr sz="975" b="0">
                <a:solidFill>
                  <a:srgbClr val="FFFFFF"/>
                </a:solidFill>
                <a:latin typeface="Noto Sans JP"/>
                <a:ea typeface="Noto Sans JP"/>
                <a:cs typeface="Noto Sans JP"/>
              </a:rPr>
              <a:t>税収への貢献</a:t>
            </a:r>
          </a:p>
        </p:txBody>
      </p:sp>
      <p:sp>
        <p:nvSpPr>
          <p:cNvPr id="15" name="Rectangle 14"/>
          <p:cNvSpPr/>
          <p:nvPr/>
        </p:nvSpPr>
        <p:spPr>
          <a:xfrm>
            <a:off x="8734425" y="3695700"/>
            <a:ext cx="2095500" cy="2476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2525" y="3714750"/>
            <a:ext cx="2019300" cy="209550"/>
          </a:xfrm>
          <a:prstGeom prst="rect">
            <a:avLst/>
          </a:prstGeom>
          <a:noFill/>
        </p:spPr>
        <p:txBody>
          <a:bodyPr wrap="square">
            <a:spAutoFit/>
          </a:bodyPr>
          <a:lstStyle/>
          <a:p>
            <a:pPr algn="ctr"/>
            <a:r>
              <a:rPr sz="975" b="0">
                <a:solidFill>
                  <a:srgbClr val="1A2332"/>
                </a:solidFill>
                <a:latin typeface="Noto Sans JP"/>
                <a:ea typeface="Noto Sans JP"/>
                <a:cs typeface="Noto Sans JP"/>
              </a:rPr>
              <a:t>優秀な人材供給</a:t>
            </a:r>
          </a:p>
        </p:txBody>
      </p:sp>
      <p:sp>
        <p:nvSpPr>
          <p:cNvPr id="17" name="Rectangle 16"/>
          <p:cNvSpPr/>
          <p:nvPr/>
        </p:nvSpPr>
        <p:spPr>
          <a:xfrm>
            <a:off x="8734425" y="3990975"/>
            <a:ext cx="2095500" cy="2476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2525" y="4010025"/>
            <a:ext cx="2019300" cy="209550"/>
          </a:xfrm>
          <a:prstGeom prst="rect">
            <a:avLst/>
          </a:prstGeom>
          <a:noFill/>
        </p:spPr>
        <p:txBody>
          <a:bodyPr wrap="square">
            <a:spAutoFit/>
          </a:bodyPr>
          <a:lstStyle/>
          <a:p>
            <a:pPr algn="ctr"/>
            <a:r>
              <a:rPr sz="975" b="0">
                <a:solidFill>
                  <a:srgbClr val="1A2332"/>
                </a:solidFill>
                <a:latin typeface="Noto Sans JP"/>
                <a:ea typeface="Noto Sans JP"/>
                <a:cs typeface="Noto Sans JP"/>
              </a:rPr>
              <a:t>インフラ・規制整備</a:t>
            </a:r>
          </a:p>
        </p:txBody>
      </p:sp>
      <p:sp>
        <p:nvSpPr>
          <p:cNvPr id="19" name="Rectangle 18"/>
          <p:cNvSpPr/>
          <p:nvPr/>
        </p:nvSpPr>
        <p:spPr>
          <a:xfrm>
            <a:off x="8734425" y="4286250"/>
            <a:ext cx="2095500" cy="2476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2525" y="4305300"/>
            <a:ext cx="2019300" cy="209550"/>
          </a:xfrm>
          <a:prstGeom prst="rect">
            <a:avLst/>
          </a:prstGeom>
          <a:noFill/>
        </p:spPr>
        <p:txBody>
          <a:bodyPr wrap="square">
            <a:spAutoFit/>
          </a:bodyPr>
          <a:lstStyle/>
          <a:p>
            <a:pPr algn="ctr"/>
            <a:r>
              <a:rPr sz="975" b="0">
                <a:solidFill>
                  <a:srgbClr val="1A2332"/>
                </a:solidFill>
                <a:latin typeface="Noto Sans JP"/>
                <a:ea typeface="Noto Sans JP"/>
                <a:cs typeface="Noto Sans JP"/>
              </a:rPr>
              <a:t>信頼・ブランド基盤</a:t>
            </a:r>
          </a:p>
        </p:txBody>
      </p:sp>
      <p:cxnSp>
        <p:nvCxnSpPr>
          <p:cNvPr id="21" name="Connector 20"/>
          <p:cNvCxnSpPr/>
          <p:nvPr/>
        </p:nvCxnSpPr>
        <p:spPr>
          <a:xfrm>
            <a:off x="4186238" y="3486150"/>
            <a:ext cx="3829050" cy="0"/>
          </a:xfrm>
          <a:prstGeom prst="line">
            <a:avLst/>
          </a:prstGeom>
          <a:ln w="381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4186238" y="3981450"/>
            <a:ext cx="3829050" cy="0"/>
          </a:xfrm>
          <a:prstGeom prst="line">
            <a:avLst/>
          </a:prstGeom>
          <a:ln w="38100">
            <a:solidFill>
              <a:srgbClr val="3C6E9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71975" y="3219450"/>
            <a:ext cx="3457575" cy="228600"/>
          </a:xfrm>
          <a:prstGeom prst="rect">
            <a:avLst/>
          </a:prstGeom>
          <a:noFill/>
        </p:spPr>
        <p:txBody>
          <a:bodyPr wrap="square">
            <a:spAutoFit/>
          </a:bodyPr>
          <a:lstStyle/>
          <a:p>
            <a:pPr algn="ctr"/>
            <a:r>
              <a:rPr sz="975" b="0">
                <a:solidFill>
                  <a:srgbClr val="5A6675"/>
                </a:solidFill>
                <a:latin typeface="Noto Sans JP"/>
                <a:ea typeface="Noto Sans JP"/>
                <a:cs typeface="Noto Sans JP"/>
              </a:rPr>
              <a:t>価値・製品・サービスの提供</a:t>
            </a:r>
          </a:p>
        </p:txBody>
      </p:sp>
      <p:sp>
        <p:nvSpPr>
          <p:cNvPr id="24" name="TextBox 23"/>
          <p:cNvSpPr txBox="1"/>
          <p:nvPr/>
        </p:nvSpPr>
        <p:spPr>
          <a:xfrm>
            <a:off x="4371975" y="4076700"/>
            <a:ext cx="3457575" cy="228600"/>
          </a:xfrm>
          <a:prstGeom prst="rect">
            <a:avLst/>
          </a:prstGeom>
          <a:noFill/>
        </p:spPr>
        <p:txBody>
          <a:bodyPr wrap="square">
            <a:spAutoFit/>
          </a:bodyPr>
          <a:lstStyle/>
          <a:p>
            <a:pPr algn="ctr"/>
            <a:r>
              <a:rPr sz="975" b="0">
                <a:solidFill>
                  <a:srgbClr val="5A6675"/>
                </a:solidFill>
                <a:latin typeface="Noto Sans JP"/>
                <a:ea typeface="Noto Sans JP"/>
                <a:cs typeface="Noto Sans JP"/>
              </a:rPr>
              <a:t>市場・リソース・正統性の付与</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FF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5400" b="1">
                <a:solidFill>
                  <a:srgbClr val="150A2E"/>
                </a:solidFill>
                <a:latin typeface="Noto Sans JP"/>
                <a:ea typeface="Noto Sans JP"/>
                <a:cs typeface="Noto Sans JP"/>
              </a:rPr>
              <a:t>🃏 カードグリッド</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4A3D6B"/>
                </a:solidFill>
                <a:latin typeface="Noto Sans JP"/>
                <a:ea typeface="Noto Sans JP"/>
                <a:cs typeface="Noto Sans JP"/>
              </a:rPr>
              <a:t>vibrant-pitch　·　7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37 / 98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自社市場戦略資料 2026年Q2 — プロダクト戦略室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38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4つの差別化戦略が日本市場での急成長を支える</a:t>
            </a:r>
          </a:p>
        </p:txBody>
      </p:sp>
      <p:sp>
        <p:nvSpPr>
          <p:cNvPr id="5" name="Rectangle 4"/>
          <p:cNvSpPr/>
          <p:nvPr/>
        </p:nvSpPr>
        <p:spPr>
          <a:xfrm>
            <a:off x="685800" y="1447800"/>
            <a:ext cx="52959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7250" y="16383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7250" y="16383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01</a:t>
            </a:r>
          </a:p>
        </p:txBody>
      </p:sp>
      <p:sp>
        <p:nvSpPr>
          <p:cNvPr id="8" name="TextBox 7"/>
          <p:cNvSpPr txBox="1"/>
          <p:nvPr/>
        </p:nvSpPr>
        <p:spPr>
          <a:xfrm>
            <a:off x="857250" y="1924050"/>
            <a:ext cx="4953000" cy="571500"/>
          </a:xfrm>
          <a:prstGeom prst="rect">
            <a:avLst/>
          </a:prstGeom>
          <a:noFill/>
        </p:spPr>
        <p:txBody>
          <a:bodyPr wrap="square">
            <a:spAutoFit/>
          </a:bodyPr>
          <a:lstStyle/>
          <a:p>
            <a:pPr algn="l"/>
            <a:r>
              <a:rPr sz="1950" b="1">
                <a:solidFill>
                  <a:srgbClr val="150A2E"/>
                </a:solidFill>
                <a:latin typeface="Noto Sans JP"/>
                <a:ea typeface="Noto Sans JP"/>
                <a:cs typeface="Noto Sans JP"/>
              </a:rPr>
              <a:t>ローカライズドUX</a:t>
            </a:r>
          </a:p>
        </p:txBody>
      </p:sp>
      <p:sp>
        <p:nvSpPr>
          <p:cNvPr id="9" name="TextBox 8"/>
          <p:cNvSpPr txBox="1"/>
          <p:nvPr/>
        </p:nvSpPr>
        <p:spPr>
          <a:xfrm>
            <a:off x="857250" y="2495550"/>
            <a:ext cx="4953000" cy="895350"/>
          </a:xfrm>
          <a:prstGeom prst="rect">
            <a:avLst/>
          </a:prstGeom>
          <a:noFill/>
        </p:spPr>
        <p:txBody>
          <a:bodyPr wrap="square">
            <a:spAutoFit/>
          </a:bodyPr>
          <a:lstStyle/>
          <a:p>
            <a:pPr algn="l"/>
            <a:r>
              <a:rPr sz="1350" b="0">
                <a:solidFill>
                  <a:srgbClr val="4A3D6B"/>
                </a:solidFill>
                <a:latin typeface="Noto Sans JP"/>
                <a:ea typeface="Noto Sans JP"/>
                <a:cs typeface="Noto Sans JP"/>
              </a:rPr>
              <a:t>日本語UIを最優先設計し、漢字・ひらがな混在に最適化。直感的な操作で現場定着率を従来比+45%改善。</a:t>
            </a:r>
          </a:p>
        </p:txBody>
      </p:sp>
      <p:sp>
        <p:nvSpPr>
          <p:cNvPr id="10" name="Rectangle 9"/>
          <p:cNvSpPr/>
          <p:nvPr/>
        </p:nvSpPr>
        <p:spPr>
          <a:xfrm>
            <a:off x="6210300" y="1447800"/>
            <a:ext cx="52959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81750" y="16383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1750" y="16383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02</a:t>
            </a:r>
          </a:p>
        </p:txBody>
      </p:sp>
      <p:sp>
        <p:nvSpPr>
          <p:cNvPr id="13" name="TextBox 12"/>
          <p:cNvSpPr txBox="1"/>
          <p:nvPr/>
        </p:nvSpPr>
        <p:spPr>
          <a:xfrm>
            <a:off x="6381750" y="1924050"/>
            <a:ext cx="4953000" cy="571500"/>
          </a:xfrm>
          <a:prstGeom prst="rect">
            <a:avLst/>
          </a:prstGeom>
          <a:noFill/>
        </p:spPr>
        <p:txBody>
          <a:bodyPr wrap="square">
            <a:spAutoFit/>
          </a:bodyPr>
          <a:lstStyle/>
          <a:p>
            <a:pPr algn="l"/>
            <a:r>
              <a:rPr sz="1950" b="1">
                <a:solidFill>
                  <a:srgbClr val="150A2E"/>
                </a:solidFill>
                <a:latin typeface="Noto Sans JP"/>
                <a:ea typeface="Noto Sans JP"/>
                <a:cs typeface="Noto Sans JP"/>
              </a:rPr>
              <a:t>国内データ完結</a:t>
            </a:r>
          </a:p>
        </p:txBody>
      </p:sp>
      <p:sp>
        <p:nvSpPr>
          <p:cNvPr id="14" name="TextBox 13"/>
          <p:cNvSpPr txBox="1"/>
          <p:nvPr/>
        </p:nvSpPr>
        <p:spPr>
          <a:xfrm>
            <a:off x="6381750" y="2495550"/>
            <a:ext cx="4953000" cy="895350"/>
          </a:xfrm>
          <a:prstGeom prst="rect">
            <a:avLst/>
          </a:prstGeom>
          <a:noFill/>
        </p:spPr>
        <p:txBody>
          <a:bodyPr wrap="square">
            <a:spAutoFit/>
          </a:bodyPr>
          <a:lstStyle/>
          <a:p>
            <a:pPr algn="l"/>
            <a:r>
              <a:rPr sz="1350" b="0">
                <a:solidFill>
                  <a:srgbClr val="4A3D6B"/>
                </a:solidFill>
                <a:latin typeface="Noto Sans JP"/>
                <a:ea typeface="Noto Sans JP"/>
                <a:cs typeface="Noto Sans JP"/>
              </a:rPr>
              <a:t>全データを国内3リージョンで完結処理。金融・医療・行政の厳格なデータ主権要件に100%対応する。</a:t>
            </a:r>
          </a:p>
        </p:txBody>
      </p:sp>
      <p:sp>
        <p:nvSpPr>
          <p:cNvPr id="15" name="Rectangle 14"/>
          <p:cNvSpPr/>
          <p:nvPr/>
        </p:nvSpPr>
        <p:spPr>
          <a:xfrm>
            <a:off x="685800" y="3810000"/>
            <a:ext cx="52959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7250" y="40005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7250" y="40005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03</a:t>
            </a:r>
          </a:p>
        </p:txBody>
      </p:sp>
      <p:sp>
        <p:nvSpPr>
          <p:cNvPr id="18" name="TextBox 17"/>
          <p:cNvSpPr txBox="1"/>
          <p:nvPr/>
        </p:nvSpPr>
        <p:spPr>
          <a:xfrm>
            <a:off x="857250" y="4286250"/>
            <a:ext cx="4953000" cy="571500"/>
          </a:xfrm>
          <a:prstGeom prst="rect">
            <a:avLst/>
          </a:prstGeom>
          <a:noFill/>
        </p:spPr>
        <p:txBody>
          <a:bodyPr wrap="square">
            <a:spAutoFit/>
          </a:bodyPr>
          <a:lstStyle/>
          <a:p>
            <a:pPr algn="l"/>
            <a:r>
              <a:rPr sz="1950" b="1">
                <a:solidFill>
                  <a:srgbClr val="150A2E"/>
                </a:solidFill>
                <a:latin typeface="Noto Sans JP"/>
                <a:ea typeface="Noto Sans JP"/>
                <a:cs typeface="Noto Sans JP"/>
              </a:rPr>
              <a:t>パートナー販売網</a:t>
            </a:r>
          </a:p>
        </p:txBody>
      </p:sp>
      <p:sp>
        <p:nvSpPr>
          <p:cNvPr id="19" name="TextBox 18"/>
          <p:cNvSpPr txBox="1"/>
          <p:nvPr/>
        </p:nvSpPr>
        <p:spPr>
          <a:xfrm>
            <a:off x="857250" y="4857750"/>
            <a:ext cx="4953000" cy="895350"/>
          </a:xfrm>
          <a:prstGeom prst="rect">
            <a:avLst/>
          </a:prstGeom>
          <a:noFill/>
        </p:spPr>
        <p:txBody>
          <a:bodyPr wrap="square">
            <a:spAutoFit/>
          </a:bodyPr>
          <a:lstStyle/>
          <a:p>
            <a:pPr algn="l"/>
            <a:r>
              <a:rPr sz="1350" b="0">
                <a:solidFill>
                  <a:srgbClr val="4A3D6B"/>
                </a:solidFill>
                <a:latin typeface="Noto Sans JP"/>
                <a:ea typeface="Noto Sans JP"/>
                <a:cs typeface="Noto Sans JP"/>
              </a:rPr>
              <a:t>全国150社のSIパートナーと連携し、地方中堅企業へのリーチを確保。間接販売比率60%超を目指す。</a:t>
            </a:r>
          </a:p>
        </p:txBody>
      </p:sp>
      <p:sp>
        <p:nvSpPr>
          <p:cNvPr id="20" name="Rectangle 19"/>
          <p:cNvSpPr/>
          <p:nvPr/>
        </p:nvSpPr>
        <p:spPr>
          <a:xfrm>
            <a:off x="6210300" y="3810000"/>
            <a:ext cx="52959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81750" y="40005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1750" y="40005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04</a:t>
            </a:r>
          </a:p>
        </p:txBody>
      </p:sp>
      <p:sp>
        <p:nvSpPr>
          <p:cNvPr id="23" name="TextBox 22"/>
          <p:cNvSpPr txBox="1"/>
          <p:nvPr/>
        </p:nvSpPr>
        <p:spPr>
          <a:xfrm>
            <a:off x="6381750" y="4286250"/>
            <a:ext cx="4953000" cy="571500"/>
          </a:xfrm>
          <a:prstGeom prst="rect">
            <a:avLst/>
          </a:prstGeom>
          <a:noFill/>
        </p:spPr>
        <p:txBody>
          <a:bodyPr wrap="square">
            <a:spAutoFit/>
          </a:bodyPr>
          <a:lstStyle/>
          <a:p>
            <a:pPr algn="l"/>
            <a:r>
              <a:rPr sz="1950" b="1">
                <a:solidFill>
                  <a:srgbClr val="150A2E"/>
                </a:solidFill>
                <a:latin typeface="Noto Sans JP"/>
                <a:ea typeface="Noto Sans JP"/>
                <a:cs typeface="Noto Sans JP"/>
              </a:rPr>
              <a:t>24時間有人サポート</a:t>
            </a:r>
          </a:p>
        </p:txBody>
      </p:sp>
      <p:sp>
        <p:nvSpPr>
          <p:cNvPr id="24" name="TextBox 23"/>
          <p:cNvSpPr txBox="1"/>
          <p:nvPr/>
        </p:nvSpPr>
        <p:spPr>
          <a:xfrm>
            <a:off x="6381750" y="4857750"/>
            <a:ext cx="4953000" cy="895350"/>
          </a:xfrm>
          <a:prstGeom prst="rect">
            <a:avLst/>
          </a:prstGeom>
          <a:noFill/>
        </p:spPr>
        <p:txBody>
          <a:bodyPr wrap="square">
            <a:spAutoFit/>
          </a:bodyPr>
          <a:lstStyle/>
          <a:p>
            <a:pPr algn="l"/>
            <a:r>
              <a:rPr sz="1350" b="0">
                <a:solidFill>
                  <a:srgbClr val="4A3D6B"/>
                </a:solidFill>
                <a:latin typeface="Noto Sans JP"/>
                <a:ea typeface="Noto Sans JP"/>
                <a:cs typeface="Noto Sans JP"/>
              </a:rPr>
              <a:t>日本語ネイティブのCSMが365日対応。導入後6ヶ月の解約率を業界平均の1/3に抑制している。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機能ロードマップ v4.1 — 2026年6月時点</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39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6つのAI機能が業務全体の生産性を底上げする</a:t>
            </a:r>
          </a:p>
        </p:txBody>
      </p:sp>
      <p:sp>
        <p:nvSpPr>
          <p:cNvPr id="5" name="Rectangle 4"/>
          <p:cNvSpPr/>
          <p:nvPr/>
        </p:nvSpPr>
        <p:spPr>
          <a:xfrm>
            <a:off x="685800" y="14478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8200" y="16192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6192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01</a:t>
            </a:r>
          </a:p>
        </p:txBody>
      </p:sp>
      <p:sp>
        <p:nvSpPr>
          <p:cNvPr id="8" name="TextBox 7"/>
          <p:cNvSpPr txBox="1"/>
          <p:nvPr/>
        </p:nvSpPr>
        <p:spPr>
          <a:xfrm>
            <a:off x="838200" y="18859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自動議事録</a:t>
            </a:r>
          </a:p>
        </p:txBody>
      </p:sp>
      <p:sp>
        <p:nvSpPr>
          <p:cNvPr id="9" name="TextBox 8"/>
          <p:cNvSpPr txBox="1"/>
          <p:nvPr/>
        </p:nvSpPr>
        <p:spPr>
          <a:xfrm>
            <a:off x="838200" y="23812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会議音声をリアルタイムで文字起こし・要約。アクション項目を自動抽出しタスク管理ツールへ連携。</a:t>
            </a:r>
          </a:p>
        </p:txBody>
      </p:sp>
      <p:sp>
        <p:nvSpPr>
          <p:cNvPr id="10" name="Rectangle 9"/>
          <p:cNvSpPr/>
          <p:nvPr/>
        </p:nvSpPr>
        <p:spPr>
          <a:xfrm>
            <a:off x="4368800" y="14478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1200" y="16192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16192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02</a:t>
            </a:r>
          </a:p>
        </p:txBody>
      </p:sp>
      <p:sp>
        <p:nvSpPr>
          <p:cNvPr id="13" name="TextBox 12"/>
          <p:cNvSpPr txBox="1"/>
          <p:nvPr/>
        </p:nvSpPr>
        <p:spPr>
          <a:xfrm>
            <a:off x="4521200" y="18859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メール自動返信</a:t>
            </a:r>
          </a:p>
        </p:txBody>
      </p:sp>
      <p:sp>
        <p:nvSpPr>
          <p:cNvPr id="14" name="TextBox 13"/>
          <p:cNvSpPr txBox="1"/>
          <p:nvPr/>
        </p:nvSpPr>
        <p:spPr>
          <a:xfrm>
            <a:off x="4521200" y="23812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受信メールの意図を解析し、過去対応履歴を参照した草稿を即座に生成。返信時間を平均75%短縮。</a:t>
            </a:r>
          </a:p>
        </p:txBody>
      </p:sp>
      <p:sp>
        <p:nvSpPr>
          <p:cNvPr id="15" name="Rectangle 14"/>
          <p:cNvSpPr/>
          <p:nvPr/>
        </p:nvSpPr>
        <p:spPr>
          <a:xfrm>
            <a:off x="8051800" y="14478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4200" y="16192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4200" y="16192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03</a:t>
            </a:r>
          </a:p>
        </p:txBody>
      </p:sp>
      <p:sp>
        <p:nvSpPr>
          <p:cNvPr id="18" name="TextBox 17"/>
          <p:cNvSpPr txBox="1"/>
          <p:nvPr/>
        </p:nvSpPr>
        <p:spPr>
          <a:xfrm>
            <a:off x="8204200" y="18859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社内検索AI</a:t>
            </a:r>
          </a:p>
        </p:txBody>
      </p:sp>
      <p:sp>
        <p:nvSpPr>
          <p:cNvPr id="19" name="TextBox 18"/>
          <p:cNvSpPr txBox="1"/>
          <p:nvPr/>
        </p:nvSpPr>
        <p:spPr>
          <a:xfrm>
            <a:off x="8204200" y="23812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Confluence・Google Drive・kintoneを横断検索。自然言語クエリで必要な文書を秒速で発見できる。</a:t>
            </a:r>
          </a:p>
        </p:txBody>
      </p:sp>
      <p:sp>
        <p:nvSpPr>
          <p:cNvPr id="20" name="Rectangle 19"/>
          <p:cNvSpPr/>
          <p:nvPr/>
        </p:nvSpPr>
        <p:spPr>
          <a:xfrm>
            <a:off x="685800" y="38100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8200" y="39814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 y="39814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04</a:t>
            </a:r>
          </a:p>
        </p:txBody>
      </p:sp>
      <p:sp>
        <p:nvSpPr>
          <p:cNvPr id="23" name="TextBox 22"/>
          <p:cNvSpPr txBox="1"/>
          <p:nvPr/>
        </p:nvSpPr>
        <p:spPr>
          <a:xfrm>
            <a:off x="838200" y="42481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レポート生成</a:t>
            </a:r>
          </a:p>
        </p:txBody>
      </p:sp>
      <p:sp>
        <p:nvSpPr>
          <p:cNvPr id="24" name="TextBox 23"/>
          <p:cNvSpPr txBox="1"/>
          <p:nvPr/>
        </p:nvSpPr>
        <p:spPr>
          <a:xfrm>
            <a:off x="838200" y="47434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週次・月次データを自動集計し、ナラティブ付きのPDFレポートを生成。作成工数を月8時間削減。</a:t>
            </a:r>
          </a:p>
        </p:txBody>
      </p:sp>
      <p:sp>
        <p:nvSpPr>
          <p:cNvPr id="25" name="Rectangle 24"/>
          <p:cNvSpPr/>
          <p:nvPr/>
        </p:nvSpPr>
        <p:spPr>
          <a:xfrm>
            <a:off x="4368800" y="38100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1200" y="39814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1200" y="39814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05</a:t>
            </a:r>
          </a:p>
        </p:txBody>
      </p:sp>
      <p:sp>
        <p:nvSpPr>
          <p:cNvPr id="28" name="TextBox 27"/>
          <p:cNvSpPr txBox="1"/>
          <p:nvPr/>
        </p:nvSpPr>
        <p:spPr>
          <a:xfrm>
            <a:off x="4521200" y="42481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AI研修コーチ</a:t>
            </a:r>
          </a:p>
        </p:txBody>
      </p:sp>
      <p:sp>
        <p:nvSpPr>
          <p:cNvPr id="29" name="TextBox 28"/>
          <p:cNvSpPr txBox="1"/>
          <p:nvPr/>
        </p:nvSpPr>
        <p:spPr>
          <a:xfrm>
            <a:off x="4521200" y="47434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スキルギャップ診断に基づき個別化された学習プランを提示。新人OJT期間を6ヶ月から3ヶ月に圧縮。</a:t>
            </a:r>
          </a:p>
        </p:txBody>
      </p:sp>
      <p:sp>
        <p:nvSpPr>
          <p:cNvPr id="30" name="Rectangle 29"/>
          <p:cNvSpPr/>
          <p:nvPr/>
        </p:nvSpPr>
        <p:spPr>
          <a:xfrm>
            <a:off x="8051800" y="3810000"/>
            <a:ext cx="345440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04200" y="39814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04200" y="39814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06</a:t>
            </a:r>
          </a:p>
        </p:txBody>
      </p:sp>
      <p:sp>
        <p:nvSpPr>
          <p:cNvPr id="33" name="TextBox 32"/>
          <p:cNvSpPr txBox="1"/>
          <p:nvPr/>
        </p:nvSpPr>
        <p:spPr>
          <a:xfrm>
            <a:off x="8204200" y="4248150"/>
            <a:ext cx="3149600" cy="495300"/>
          </a:xfrm>
          <a:prstGeom prst="rect">
            <a:avLst/>
          </a:prstGeom>
          <a:noFill/>
        </p:spPr>
        <p:txBody>
          <a:bodyPr wrap="square">
            <a:spAutoFit/>
          </a:bodyPr>
          <a:lstStyle/>
          <a:p>
            <a:pPr algn="l"/>
            <a:r>
              <a:rPr sz="1500" b="1">
                <a:solidFill>
                  <a:srgbClr val="150A2E"/>
                </a:solidFill>
                <a:latin typeface="Noto Sans JP"/>
                <a:ea typeface="Noto Sans JP"/>
                <a:cs typeface="Noto Sans JP"/>
              </a:rPr>
              <a:t>異常検知</a:t>
            </a:r>
          </a:p>
        </p:txBody>
      </p:sp>
      <p:sp>
        <p:nvSpPr>
          <p:cNvPr id="34" name="TextBox 33"/>
          <p:cNvSpPr txBox="1"/>
          <p:nvPr/>
        </p:nvSpPr>
        <p:spPr>
          <a:xfrm>
            <a:off x="8204200" y="4743450"/>
            <a:ext cx="3149600" cy="1028700"/>
          </a:xfrm>
          <a:prstGeom prst="rect">
            <a:avLst/>
          </a:prstGeom>
          <a:noFill/>
        </p:spPr>
        <p:txBody>
          <a:bodyPr wrap="square">
            <a:spAutoFit/>
          </a:bodyPr>
          <a:lstStyle/>
          <a:p>
            <a:pPr algn="l"/>
            <a:r>
              <a:rPr sz="1350" b="0">
                <a:solidFill>
                  <a:srgbClr val="4A3D6B"/>
                </a:solidFill>
                <a:latin typeface="Noto Sans JP"/>
                <a:ea typeface="Noto Sans JP"/>
                <a:cs typeface="Noto Sans JP"/>
              </a:rPr>
              <a:t>売上・在庫・顧客行動データの異常を自動検知し、担当者にSlack通知。問題の早期発見率+60%。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導入実績データベース 2026年6月末時点（n=142社中 代表事例）</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40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8つの導入実績が信頼性と汎用性を証明する</a:t>
            </a:r>
          </a:p>
        </p:txBody>
      </p:sp>
      <p:sp>
        <p:nvSpPr>
          <p:cNvPr id="5" name="Rectangle 4"/>
          <p:cNvSpPr/>
          <p:nvPr/>
        </p:nvSpPr>
        <p:spPr>
          <a:xfrm>
            <a:off x="685800" y="14478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00100" y="15811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 y="15811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01</a:t>
            </a:r>
          </a:p>
        </p:txBody>
      </p:sp>
      <p:sp>
        <p:nvSpPr>
          <p:cNvPr id="8" name="TextBox 7"/>
          <p:cNvSpPr txBox="1"/>
          <p:nvPr/>
        </p:nvSpPr>
        <p:spPr>
          <a:xfrm>
            <a:off x="800100" y="18097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製造業A社</a:t>
            </a:r>
          </a:p>
        </p:txBody>
      </p:sp>
      <p:sp>
        <p:nvSpPr>
          <p:cNvPr id="9" name="TextBox 8"/>
          <p:cNvSpPr txBox="1"/>
          <p:nvPr/>
        </p:nvSpPr>
        <p:spPr>
          <a:xfrm>
            <a:off x="800100" y="22479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品質検査工数-40%、不良率-18%</a:t>
            </a:r>
          </a:p>
        </p:txBody>
      </p:sp>
      <p:sp>
        <p:nvSpPr>
          <p:cNvPr id="10" name="Rectangle 9"/>
          <p:cNvSpPr/>
          <p:nvPr/>
        </p:nvSpPr>
        <p:spPr>
          <a:xfrm>
            <a:off x="3448050" y="14478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62350" y="15811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2350" y="15811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02</a:t>
            </a:r>
          </a:p>
        </p:txBody>
      </p:sp>
      <p:sp>
        <p:nvSpPr>
          <p:cNvPr id="13" name="TextBox 12"/>
          <p:cNvSpPr txBox="1"/>
          <p:nvPr/>
        </p:nvSpPr>
        <p:spPr>
          <a:xfrm>
            <a:off x="3562350" y="18097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流通B社</a:t>
            </a:r>
          </a:p>
        </p:txBody>
      </p:sp>
      <p:sp>
        <p:nvSpPr>
          <p:cNvPr id="14" name="TextBox 13"/>
          <p:cNvSpPr txBox="1"/>
          <p:nvPr/>
        </p:nvSpPr>
        <p:spPr>
          <a:xfrm>
            <a:off x="3562350" y="22479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在庫精度+32%、欠品ロス年3億円削減</a:t>
            </a:r>
          </a:p>
        </p:txBody>
      </p:sp>
      <p:sp>
        <p:nvSpPr>
          <p:cNvPr id="15" name="Rectangle 14"/>
          <p:cNvSpPr/>
          <p:nvPr/>
        </p:nvSpPr>
        <p:spPr>
          <a:xfrm>
            <a:off x="6210300" y="14478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24600" y="15811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600" y="15811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03</a:t>
            </a:r>
          </a:p>
        </p:txBody>
      </p:sp>
      <p:sp>
        <p:nvSpPr>
          <p:cNvPr id="18" name="TextBox 17"/>
          <p:cNvSpPr txBox="1"/>
          <p:nvPr/>
        </p:nvSpPr>
        <p:spPr>
          <a:xfrm>
            <a:off x="6324600" y="18097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金融C社</a:t>
            </a:r>
          </a:p>
        </p:txBody>
      </p:sp>
      <p:sp>
        <p:nvSpPr>
          <p:cNvPr id="19" name="TextBox 18"/>
          <p:cNvSpPr txBox="1"/>
          <p:nvPr/>
        </p:nvSpPr>
        <p:spPr>
          <a:xfrm>
            <a:off x="6324600" y="22479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審査時間5日→8時間、顧客満足度+22pt</a:t>
            </a:r>
          </a:p>
        </p:txBody>
      </p:sp>
      <p:sp>
        <p:nvSpPr>
          <p:cNvPr id="20" name="Rectangle 19"/>
          <p:cNvSpPr/>
          <p:nvPr/>
        </p:nvSpPr>
        <p:spPr>
          <a:xfrm>
            <a:off x="8972550" y="14478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86850" y="15811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86850" y="15811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04</a:t>
            </a:r>
          </a:p>
        </p:txBody>
      </p:sp>
      <p:sp>
        <p:nvSpPr>
          <p:cNvPr id="23" name="TextBox 22"/>
          <p:cNvSpPr txBox="1"/>
          <p:nvPr/>
        </p:nvSpPr>
        <p:spPr>
          <a:xfrm>
            <a:off x="9086850" y="18097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医療D社</a:t>
            </a:r>
          </a:p>
        </p:txBody>
      </p:sp>
      <p:sp>
        <p:nvSpPr>
          <p:cNvPr id="24" name="TextBox 23"/>
          <p:cNvSpPr txBox="1"/>
          <p:nvPr/>
        </p:nvSpPr>
        <p:spPr>
          <a:xfrm>
            <a:off x="9086850" y="22479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カルテ入力工数-55%、医師負担を大幅軽減</a:t>
            </a:r>
          </a:p>
        </p:txBody>
      </p:sp>
      <p:sp>
        <p:nvSpPr>
          <p:cNvPr id="25" name="Rectangle 24"/>
          <p:cNvSpPr/>
          <p:nvPr/>
        </p:nvSpPr>
        <p:spPr>
          <a:xfrm>
            <a:off x="685800" y="38100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0100" y="39433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 y="39433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05</a:t>
            </a:r>
          </a:p>
        </p:txBody>
      </p:sp>
      <p:sp>
        <p:nvSpPr>
          <p:cNvPr id="28" name="TextBox 27"/>
          <p:cNvSpPr txBox="1"/>
          <p:nvPr/>
        </p:nvSpPr>
        <p:spPr>
          <a:xfrm>
            <a:off x="800100" y="41719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小売E社</a:t>
            </a:r>
          </a:p>
        </p:txBody>
      </p:sp>
      <p:sp>
        <p:nvSpPr>
          <p:cNvPr id="29" name="TextBox 28"/>
          <p:cNvSpPr txBox="1"/>
          <p:nvPr/>
        </p:nvSpPr>
        <p:spPr>
          <a:xfrm>
            <a:off x="800100" y="46101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レコメンド精度+47%、客単価+15%向上</a:t>
            </a:r>
          </a:p>
        </p:txBody>
      </p:sp>
      <p:sp>
        <p:nvSpPr>
          <p:cNvPr id="30" name="Rectangle 29"/>
          <p:cNvSpPr/>
          <p:nvPr/>
        </p:nvSpPr>
        <p:spPr>
          <a:xfrm>
            <a:off x="3448050" y="38100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62350" y="39433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62350" y="39433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06</a:t>
            </a:r>
          </a:p>
        </p:txBody>
      </p:sp>
      <p:sp>
        <p:nvSpPr>
          <p:cNvPr id="33" name="TextBox 32"/>
          <p:cNvSpPr txBox="1"/>
          <p:nvPr/>
        </p:nvSpPr>
        <p:spPr>
          <a:xfrm>
            <a:off x="3562350" y="41719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不動産F社</a:t>
            </a:r>
          </a:p>
        </p:txBody>
      </p:sp>
      <p:sp>
        <p:nvSpPr>
          <p:cNvPr id="34" name="TextBox 33"/>
          <p:cNvSpPr txBox="1"/>
          <p:nvPr/>
        </p:nvSpPr>
        <p:spPr>
          <a:xfrm>
            <a:off x="3562350" y="46101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物件提案自動化、成約率+28%を達成</a:t>
            </a:r>
          </a:p>
        </p:txBody>
      </p:sp>
      <p:sp>
        <p:nvSpPr>
          <p:cNvPr id="35" name="Rectangle 34"/>
          <p:cNvSpPr/>
          <p:nvPr/>
        </p:nvSpPr>
        <p:spPr>
          <a:xfrm>
            <a:off x="6210300" y="38100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24600" y="39433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24600" y="39433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07</a:t>
            </a:r>
          </a:p>
        </p:txBody>
      </p:sp>
      <p:sp>
        <p:nvSpPr>
          <p:cNvPr id="38" name="TextBox 37"/>
          <p:cNvSpPr txBox="1"/>
          <p:nvPr/>
        </p:nvSpPr>
        <p:spPr>
          <a:xfrm>
            <a:off x="6324600" y="41719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物流G社</a:t>
            </a:r>
          </a:p>
        </p:txBody>
      </p:sp>
      <p:sp>
        <p:nvSpPr>
          <p:cNvPr id="39" name="TextBox 38"/>
          <p:cNvSpPr txBox="1"/>
          <p:nvPr/>
        </p:nvSpPr>
        <p:spPr>
          <a:xfrm>
            <a:off x="6324600" y="46101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配車最適化で燃料費-12%、CO₂排出削減</a:t>
            </a:r>
          </a:p>
        </p:txBody>
      </p:sp>
      <p:sp>
        <p:nvSpPr>
          <p:cNvPr id="40" name="Rectangle 39"/>
          <p:cNvSpPr/>
          <p:nvPr/>
        </p:nvSpPr>
        <p:spPr>
          <a:xfrm>
            <a:off x="8972550" y="3810000"/>
            <a:ext cx="2533650" cy="21336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086850" y="394335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86850" y="394335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08</a:t>
            </a:r>
          </a:p>
        </p:txBody>
      </p:sp>
      <p:sp>
        <p:nvSpPr>
          <p:cNvPr id="43" name="TextBox 42"/>
          <p:cNvSpPr txBox="1"/>
          <p:nvPr/>
        </p:nvSpPr>
        <p:spPr>
          <a:xfrm>
            <a:off x="9086850" y="4171950"/>
            <a:ext cx="23050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教育H社</a:t>
            </a:r>
          </a:p>
        </p:txBody>
      </p:sp>
      <p:sp>
        <p:nvSpPr>
          <p:cNvPr id="44" name="TextBox 43"/>
          <p:cNvSpPr txBox="1"/>
          <p:nvPr/>
        </p:nvSpPr>
        <p:spPr>
          <a:xfrm>
            <a:off x="9086850" y="4610100"/>
            <a:ext cx="2305050" cy="1200150"/>
          </a:xfrm>
          <a:prstGeom prst="rect">
            <a:avLst/>
          </a:prstGeom>
          <a:noFill/>
        </p:spPr>
        <p:txBody>
          <a:bodyPr wrap="square">
            <a:spAutoFit/>
          </a:bodyPr>
          <a:lstStyle/>
          <a:p>
            <a:pPr algn="l"/>
            <a:r>
              <a:rPr sz="1125" b="0">
                <a:solidFill>
                  <a:srgbClr val="4A3D6B"/>
                </a:solidFill>
                <a:latin typeface="Noto Sans JP"/>
                <a:ea typeface="Noto Sans JP"/>
                <a:cs typeface="Noto Sans JP"/>
              </a:rPr>
              <a:t>学習継続率+38%、コース完了率2倍に向上</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料金体系 2026年度版 — 税抜表示 / 最低契約期間12ヶ月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41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3つのプランで規模に合わせたAI活用を実現する</a:t>
            </a:r>
          </a:p>
        </p:txBody>
      </p:sp>
      <p:sp>
        <p:nvSpPr>
          <p:cNvPr id="5" name="TextBox 4"/>
          <p:cNvSpPr txBox="1"/>
          <p:nvPr/>
        </p:nvSpPr>
        <p:spPr>
          <a:xfrm>
            <a:off x="685800" y="1447800"/>
            <a:ext cx="10820400" cy="304800"/>
          </a:xfrm>
          <a:prstGeom prst="rect">
            <a:avLst/>
          </a:prstGeom>
          <a:noFill/>
        </p:spPr>
        <p:txBody>
          <a:bodyPr wrap="square">
            <a:spAutoFit/>
          </a:bodyPr>
          <a:lstStyle/>
          <a:p>
            <a:pPr algn="l"/>
            <a:r>
              <a:rPr sz="1350" b="0">
                <a:solidFill>
                  <a:srgbClr val="4A3D6B"/>
                </a:solidFill>
                <a:latin typeface="Noto Sans JP"/>
                <a:ea typeface="Noto Sans JP"/>
                <a:cs typeface="Noto Sans JP"/>
              </a:rPr>
              <a:t>スタートアップから大企業まで、成長フェーズに最適なプランを選択できます</a:t>
            </a:r>
          </a:p>
        </p:txBody>
      </p:sp>
      <p:sp>
        <p:nvSpPr>
          <p:cNvPr id="6" name="Rectangle 5"/>
          <p:cNvSpPr/>
          <p:nvPr/>
        </p:nvSpPr>
        <p:spPr>
          <a:xfrm>
            <a:off x="685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46300" y="2209800"/>
            <a:ext cx="533400" cy="5334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6300" y="2209800"/>
            <a:ext cx="533400" cy="533400"/>
          </a:xfrm>
          <a:prstGeom prst="rect">
            <a:avLst/>
          </a:prstGeom>
          <a:noFill/>
        </p:spPr>
        <p:txBody>
          <a:bodyPr wrap="square">
            <a:spAutoFit/>
          </a:bodyPr>
          <a:lstStyle/>
          <a:p>
            <a:pPr algn="ctr"/>
            <a:r>
              <a:rPr sz="1500" b="0">
                <a:solidFill>
                  <a:srgbClr val="150A2E"/>
                </a:solidFill>
                <a:latin typeface="Noto Sans JP"/>
                <a:ea typeface="Noto Sans JP"/>
                <a:cs typeface="Noto Sans JP"/>
              </a:rPr>
              <a:t>🚀</a:t>
            </a:r>
          </a:p>
        </p:txBody>
      </p:sp>
      <p:sp>
        <p:nvSpPr>
          <p:cNvPr id="9" name="TextBox 8"/>
          <p:cNvSpPr txBox="1"/>
          <p:nvPr/>
        </p:nvSpPr>
        <p:spPr>
          <a:xfrm>
            <a:off x="876300" y="2876550"/>
            <a:ext cx="30734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Starter</a:t>
            </a:r>
          </a:p>
        </p:txBody>
      </p:sp>
      <p:sp>
        <p:nvSpPr>
          <p:cNvPr id="10" name="TextBox 9"/>
          <p:cNvSpPr txBox="1"/>
          <p:nvPr/>
        </p:nvSpPr>
        <p:spPr>
          <a:xfrm>
            <a:off x="876300" y="3371850"/>
            <a:ext cx="3073400" cy="2076450"/>
          </a:xfrm>
          <a:prstGeom prst="rect">
            <a:avLst/>
          </a:prstGeom>
          <a:noFill/>
        </p:spPr>
        <p:txBody>
          <a:bodyPr wrap="square">
            <a:spAutoFit/>
          </a:bodyPr>
          <a:lstStyle/>
          <a:p>
            <a:pPr algn="ctr"/>
            <a:r>
              <a:rPr sz="1350" b="0">
                <a:solidFill>
                  <a:srgbClr val="4A3D6B"/>
                </a:solidFill>
                <a:latin typeface="Noto Sans JP"/>
                <a:ea typeface="Noto Sans JP"/>
                <a:cs typeface="Noto Sans JP"/>
              </a:rPr>
              <a:t>〜50名 / 月額8万円
セルフオンボーディング、標準テンプレート30種、メールサポート付き。SMBが即日スタートできる設計。</a:t>
            </a:r>
          </a:p>
        </p:txBody>
      </p:sp>
      <p:sp>
        <p:nvSpPr>
          <p:cNvPr id="11" name="Rectangle 10"/>
          <p:cNvSpPr/>
          <p:nvPr/>
        </p:nvSpPr>
        <p:spPr>
          <a:xfrm>
            <a:off x="1066800" y="5600700"/>
            <a:ext cx="2692400" cy="266700"/>
          </a:xfrm>
          <a:prstGeom prst="rect">
            <a:avLst/>
          </a:prstGeom>
          <a:solidFill>
            <a:srgbClr val="F5F0FF"/>
          </a:solidFill>
          <a:ln w="1270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6800" y="5600700"/>
            <a:ext cx="2692400" cy="266700"/>
          </a:xfrm>
          <a:prstGeom prst="rect">
            <a:avLst/>
          </a:prstGeom>
          <a:noFill/>
        </p:spPr>
        <p:txBody>
          <a:bodyPr wrap="square">
            <a:spAutoFit/>
          </a:bodyPr>
          <a:lstStyle/>
          <a:p>
            <a:pPr algn="ctr"/>
            <a:r>
              <a:rPr sz="975" b="1">
                <a:solidFill>
                  <a:srgbClr val="6600FF"/>
                </a:solidFill>
                <a:latin typeface="Noto Sans JP"/>
                <a:ea typeface="Noto Sans JP"/>
                <a:cs typeface="Noto Sans JP"/>
              </a:rPr>
              <a:t>無料トライアル</a:t>
            </a:r>
          </a:p>
        </p:txBody>
      </p:sp>
      <p:sp>
        <p:nvSpPr>
          <p:cNvPr id="13" name="Rectangle 12"/>
          <p:cNvSpPr/>
          <p:nvPr/>
        </p:nvSpPr>
        <p:spPr>
          <a:xfrm>
            <a:off x="4368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29300" y="2209800"/>
            <a:ext cx="533400" cy="5334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0" y="2209800"/>
            <a:ext cx="533400" cy="533400"/>
          </a:xfrm>
          <a:prstGeom prst="rect">
            <a:avLst/>
          </a:prstGeom>
          <a:noFill/>
        </p:spPr>
        <p:txBody>
          <a:bodyPr wrap="square">
            <a:spAutoFit/>
          </a:bodyPr>
          <a:lstStyle/>
          <a:p>
            <a:pPr algn="ctr"/>
            <a:r>
              <a:rPr sz="1500" b="0">
                <a:solidFill>
                  <a:srgbClr val="150A2E"/>
                </a:solidFill>
                <a:latin typeface="Noto Sans JP"/>
                <a:ea typeface="Noto Sans JP"/>
                <a:cs typeface="Noto Sans JP"/>
              </a:rPr>
              <a:t>⚡</a:t>
            </a:r>
          </a:p>
        </p:txBody>
      </p:sp>
      <p:sp>
        <p:nvSpPr>
          <p:cNvPr id="16" name="TextBox 15"/>
          <p:cNvSpPr txBox="1"/>
          <p:nvPr/>
        </p:nvSpPr>
        <p:spPr>
          <a:xfrm>
            <a:off x="4559300" y="2876550"/>
            <a:ext cx="30734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Growth</a:t>
            </a:r>
          </a:p>
        </p:txBody>
      </p:sp>
      <p:sp>
        <p:nvSpPr>
          <p:cNvPr id="17" name="TextBox 16"/>
          <p:cNvSpPr txBox="1"/>
          <p:nvPr/>
        </p:nvSpPr>
        <p:spPr>
          <a:xfrm>
            <a:off x="4559300" y="3371850"/>
            <a:ext cx="3073400" cy="2076450"/>
          </a:xfrm>
          <a:prstGeom prst="rect">
            <a:avLst/>
          </a:prstGeom>
          <a:noFill/>
        </p:spPr>
        <p:txBody>
          <a:bodyPr wrap="square">
            <a:spAutoFit/>
          </a:bodyPr>
          <a:lstStyle/>
          <a:p>
            <a:pPr algn="ctr"/>
            <a:r>
              <a:rPr sz="1350" b="0">
                <a:solidFill>
                  <a:srgbClr val="4A3D6B"/>
                </a:solidFill>
                <a:latin typeface="Noto Sans JP"/>
                <a:ea typeface="Noto Sans JP"/>
                <a:cs typeface="Noto Sans JP"/>
              </a:rPr>
              <a:t>〜500名 / 月額40万円
専任CSM・カスタムワークフロー・API連携込み。中堅企業の全社展開を徹底サポートします。</a:t>
            </a:r>
          </a:p>
        </p:txBody>
      </p:sp>
      <p:sp>
        <p:nvSpPr>
          <p:cNvPr id="18" name="Rectangle 17"/>
          <p:cNvSpPr/>
          <p:nvPr/>
        </p:nvSpPr>
        <p:spPr>
          <a:xfrm>
            <a:off x="4749800" y="5600700"/>
            <a:ext cx="2692400" cy="266700"/>
          </a:xfrm>
          <a:prstGeom prst="rect">
            <a:avLst/>
          </a:prstGeom>
          <a:solidFill>
            <a:srgbClr val="F5F0FF"/>
          </a:solidFill>
          <a:ln w="1270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49800" y="5600700"/>
            <a:ext cx="2692400" cy="266700"/>
          </a:xfrm>
          <a:prstGeom prst="rect">
            <a:avLst/>
          </a:prstGeom>
          <a:noFill/>
        </p:spPr>
        <p:txBody>
          <a:bodyPr wrap="square">
            <a:spAutoFit/>
          </a:bodyPr>
          <a:lstStyle/>
          <a:p>
            <a:pPr algn="ctr"/>
            <a:r>
              <a:rPr sz="975" b="1">
                <a:solidFill>
                  <a:srgbClr val="6600FF"/>
                </a:solidFill>
                <a:latin typeface="Noto Sans JP"/>
                <a:ea typeface="Noto Sans JP"/>
                <a:cs typeface="Noto Sans JP"/>
              </a:rPr>
              <a:t>デモを申し込む</a:t>
            </a:r>
          </a:p>
        </p:txBody>
      </p:sp>
      <p:sp>
        <p:nvSpPr>
          <p:cNvPr id="20" name="Rectangle 19"/>
          <p:cNvSpPr/>
          <p:nvPr/>
        </p:nvSpPr>
        <p:spPr>
          <a:xfrm>
            <a:off x="8051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12300" y="2209800"/>
            <a:ext cx="533400" cy="5334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12300" y="2209800"/>
            <a:ext cx="533400" cy="533400"/>
          </a:xfrm>
          <a:prstGeom prst="rect">
            <a:avLst/>
          </a:prstGeom>
          <a:noFill/>
        </p:spPr>
        <p:txBody>
          <a:bodyPr wrap="square">
            <a:spAutoFit/>
          </a:bodyPr>
          <a:lstStyle/>
          <a:p>
            <a:pPr algn="ctr"/>
            <a:r>
              <a:rPr sz="1500" b="0">
                <a:solidFill>
                  <a:srgbClr val="150A2E"/>
                </a:solidFill>
                <a:latin typeface="Noto Sans JP"/>
                <a:ea typeface="Noto Sans JP"/>
                <a:cs typeface="Noto Sans JP"/>
              </a:rPr>
              <a:t>🏢</a:t>
            </a:r>
          </a:p>
        </p:txBody>
      </p:sp>
      <p:sp>
        <p:nvSpPr>
          <p:cNvPr id="23" name="TextBox 22"/>
          <p:cNvSpPr txBox="1"/>
          <p:nvPr/>
        </p:nvSpPr>
        <p:spPr>
          <a:xfrm>
            <a:off x="8242300" y="2876550"/>
            <a:ext cx="30734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Enterprise</a:t>
            </a:r>
          </a:p>
        </p:txBody>
      </p:sp>
      <p:sp>
        <p:nvSpPr>
          <p:cNvPr id="24" name="TextBox 23"/>
          <p:cNvSpPr txBox="1"/>
          <p:nvPr/>
        </p:nvSpPr>
        <p:spPr>
          <a:xfrm>
            <a:off x="8242300" y="3371850"/>
            <a:ext cx="3073400" cy="2076450"/>
          </a:xfrm>
          <a:prstGeom prst="rect">
            <a:avLst/>
          </a:prstGeom>
          <a:noFill/>
        </p:spPr>
        <p:txBody>
          <a:bodyPr wrap="square">
            <a:spAutoFit/>
          </a:bodyPr>
          <a:lstStyle/>
          <a:p>
            <a:pPr algn="ctr"/>
            <a:r>
              <a:rPr sz="1350" b="0">
                <a:solidFill>
                  <a:srgbClr val="4A3D6B"/>
                </a:solidFill>
                <a:latin typeface="Noto Sans JP"/>
                <a:ea typeface="Noto Sans JP"/>
                <a:cs typeface="Noto Sans JP"/>
              </a:rPr>
              <a:t>500名以上 / 個別見積
プライベートクラウド・SLA 99.99%・24時間有人サポート。大企業の厳格な要件に完全対応します。</a:t>
            </a:r>
          </a:p>
        </p:txBody>
      </p:sp>
      <p:sp>
        <p:nvSpPr>
          <p:cNvPr id="25" name="Rectangle 24"/>
          <p:cNvSpPr/>
          <p:nvPr/>
        </p:nvSpPr>
        <p:spPr>
          <a:xfrm>
            <a:off x="8432800" y="5600700"/>
            <a:ext cx="2692400" cy="266700"/>
          </a:xfrm>
          <a:prstGeom prst="rect">
            <a:avLst/>
          </a:prstGeom>
          <a:solidFill>
            <a:srgbClr val="F5F0FF"/>
          </a:solidFill>
          <a:ln w="1270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32800" y="5600700"/>
            <a:ext cx="2692400" cy="266700"/>
          </a:xfrm>
          <a:prstGeom prst="rect">
            <a:avLst/>
          </a:prstGeom>
          <a:noFill/>
        </p:spPr>
        <p:txBody>
          <a:bodyPr wrap="square">
            <a:spAutoFit/>
          </a:bodyPr>
          <a:lstStyle/>
          <a:p>
            <a:pPr algn="ctr"/>
            <a:r>
              <a:rPr sz="975" b="1">
                <a:solidFill>
                  <a:srgbClr val="6600FF"/>
                </a:solidFill>
                <a:latin typeface="Noto Sans JP"/>
                <a:ea typeface="Noto Sans JP"/>
                <a:cs typeface="Noto Sans JP"/>
              </a:rPr>
              <a:t>営業に相談</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プロジェクト標準テンプレート v2.1 — カスタマーサクセス部</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42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3つの導入フェーズで確実に成果を積み上げる</a:t>
            </a:r>
          </a:p>
        </p:txBody>
      </p:sp>
      <p:sp>
        <p:nvSpPr>
          <p:cNvPr id="5" name="Rectangle 4"/>
          <p:cNvSpPr/>
          <p:nvPr/>
        </p:nvSpPr>
        <p:spPr>
          <a:xfrm>
            <a:off x="685800" y="1600200"/>
            <a:ext cx="4000500" cy="19050"/>
          </a:xfrm>
          <a:prstGeom prst="rect">
            <a:avLst/>
          </a:prstGeom>
          <a:solidFill>
            <a:srgbClr val="4A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76375"/>
            <a:ext cx="10820400" cy="304800"/>
          </a:xfrm>
          <a:prstGeom prst="rect">
            <a:avLst/>
          </a:prstGeom>
          <a:noFill/>
        </p:spPr>
        <p:txBody>
          <a:bodyPr wrap="square">
            <a:spAutoFit/>
          </a:bodyPr>
          <a:lstStyle/>
          <a:p>
            <a:pPr algn="ctr"/>
            <a:r>
              <a:rPr sz="1050" b="1">
                <a:solidFill>
                  <a:srgbClr val="4A3D6B"/>
                </a:solidFill>
                <a:latin typeface="Noto Sans JP"/>
                <a:ea typeface="Noto Sans JP"/>
                <a:cs typeface="Noto Sans JP"/>
              </a:rPr>
              <a:t>導入ロードマップ</a:t>
            </a:r>
          </a:p>
        </p:txBody>
      </p:sp>
      <p:sp>
        <p:nvSpPr>
          <p:cNvPr id="7" name="Rectangle 6"/>
          <p:cNvSpPr/>
          <p:nvPr/>
        </p:nvSpPr>
        <p:spPr>
          <a:xfrm>
            <a:off x="7505700" y="1600200"/>
            <a:ext cx="4000500" cy="19050"/>
          </a:xfrm>
          <a:prstGeom prst="rect">
            <a:avLst/>
          </a:prstGeom>
          <a:solidFill>
            <a:srgbClr val="4A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81200"/>
            <a:ext cx="3454400" cy="3048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81200"/>
            <a:ext cx="3454400" cy="304800"/>
          </a:xfrm>
          <a:prstGeom prst="rect">
            <a:avLst/>
          </a:prstGeom>
          <a:noFill/>
        </p:spPr>
        <p:txBody>
          <a:bodyPr wrap="square">
            <a:spAutoFit/>
          </a:bodyPr>
          <a:lstStyle/>
          <a:p>
            <a:pPr algn="ctr"/>
            <a:r>
              <a:rPr sz="1050" b="1">
                <a:solidFill>
                  <a:srgbClr val="FFFFFF"/>
                </a:solidFill>
                <a:latin typeface="Noto Sans JP"/>
                <a:ea typeface="Noto Sans JP"/>
                <a:cs typeface="Noto Sans JP"/>
              </a:rPr>
              <a:t>01</a:t>
            </a:r>
          </a:p>
        </p:txBody>
      </p:sp>
      <p:sp>
        <p:nvSpPr>
          <p:cNvPr id="11" name="Oval 10"/>
          <p:cNvSpPr/>
          <p:nvPr/>
        </p:nvSpPr>
        <p:spPr>
          <a:xfrm>
            <a:off x="2184400" y="2438400"/>
            <a:ext cx="457200" cy="457200"/>
          </a:xfrm>
          <a:prstGeom prst="ellipse">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84400" y="2438400"/>
            <a:ext cx="457200" cy="457200"/>
          </a:xfrm>
          <a:prstGeom prst="rect">
            <a:avLst/>
          </a:prstGeom>
          <a:noFill/>
        </p:spPr>
        <p:txBody>
          <a:bodyPr wrap="square">
            <a:spAutoFit/>
          </a:bodyPr>
          <a:lstStyle/>
          <a:p>
            <a:pPr algn="ctr"/>
            <a:r>
              <a:rPr sz="1350" b="0">
                <a:solidFill>
                  <a:srgbClr val="150A2E"/>
                </a:solidFill>
                <a:latin typeface="Noto Sans JP"/>
                <a:ea typeface="Noto Sans JP"/>
                <a:cs typeface="Noto Sans JP"/>
              </a:rPr>
              <a:t>🔍</a:t>
            </a:r>
          </a:p>
        </p:txBody>
      </p:sp>
      <p:sp>
        <p:nvSpPr>
          <p:cNvPr id="13" name="TextBox 12"/>
          <p:cNvSpPr txBox="1"/>
          <p:nvPr/>
        </p:nvSpPr>
        <p:spPr>
          <a:xfrm>
            <a:off x="857250" y="3009900"/>
            <a:ext cx="31115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PoC検証フェーズ</a:t>
            </a:r>
          </a:p>
        </p:txBody>
      </p:sp>
      <p:sp>
        <p:nvSpPr>
          <p:cNvPr id="14" name="TextBox 13"/>
          <p:cNvSpPr txBox="1"/>
          <p:nvPr/>
        </p:nvSpPr>
        <p:spPr>
          <a:xfrm>
            <a:off x="857250" y="3505200"/>
            <a:ext cx="3111500" cy="2438400"/>
          </a:xfrm>
          <a:prstGeom prst="rect">
            <a:avLst/>
          </a:prstGeom>
          <a:noFill/>
        </p:spPr>
        <p:txBody>
          <a:bodyPr wrap="square">
            <a:spAutoFit/>
          </a:bodyPr>
          <a:lstStyle/>
          <a:p>
            <a:pPr algn="ctr"/>
            <a:r>
              <a:rPr sz="1350" b="0">
                <a:solidFill>
                  <a:srgbClr val="4A3D6B"/>
                </a:solidFill>
                <a:latin typeface="Noto Sans JP"/>
                <a:ea typeface="Noto Sans JP"/>
                <a:cs typeface="Noto Sans JP"/>
              </a:rPr>
              <a:t>対象業務を絞り込み、2週間のパイロットで定量効果を検証。リスクを最小化しながらROI仮説を確認します。</a:t>
            </a:r>
          </a:p>
        </p:txBody>
      </p:sp>
      <p:sp>
        <p:nvSpPr>
          <p:cNvPr id="15" name="Rectangle 14"/>
          <p:cNvSpPr/>
          <p:nvPr/>
        </p:nvSpPr>
        <p:spPr>
          <a:xfrm>
            <a:off x="4368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8800" y="1981200"/>
            <a:ext cx="3454400" cy="3048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8800" y="1981200"/>
            <a:ext cx="3454400" cy="304800"/>
          </a:xfrm>
          <a:prstGeom prst="rect">
            <a:avLst/>
          </a:prstGeom>
          <a:noFill/>
        </p:spPr>
        <p:txBody>
          <a:bodyPr wrap="square">
            <a:spAutoFit/>
          </a:bodyPr>
          <a:lstStyle/>
          <a:p>
            <a:pPr algn="ctr"/>
            <a:r>
              <a:rPr sz="1050" b="1">
                <a:solidFill>
                  <a:srgbClr val="FFFFFF"/>
                </a:solidFill>
                <a:latin typeface="Noto Sans JP"/>
                <a:ea typeface="Noto Sans JP"/>
                <a:cs typeface="Noto Sans JP"/>
              </a:rPr>
              <a:t>02</a:t>
            </a:r>
          </a:p>
        </p:txBody>
      </p:sp>
      <p:sp>
        <p:nvSpPr>
          <p:cNvPr id="18" name="Oval 17"/>
          <p:cNvSpPr/>
          <p:nvPr/>
        </p:nvSpPr>
        <p:spPr>
          <a:xfrm>
            <a:off x="5867400" y="2438400"/>
            <a:ext cx="457200" cy="457200"/>
          </a:xfrm>
          <a:prstGeom prst="ellipse">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67400" y="2438400"/>
            <a:ext cx="457200" cy="457200"/>
          </a:xfrm>
          <a:prstGeom prst="rect">
            <a:avLst/>
          </a:prstGeom>
          <a:noFill/>
        </p:spPr>
        <p:txBody>
          <a:bodyPr wrap="square">
            <a:spAutoFit/>
          </a:bodyPr>
          <a:lstStyle/>
          <a:p>
            <a:pPr algn="ctr"/>
            <a:r>
              <a:rPr sz="1350" b="0">
                <a:solidFill>
                  <a:srgbClr val="150A2E"/>
                </a:solidFill>
                <a:latin typeface="Noto Sans JP"/>
                <a:ea typeface="Noto Sans JP"/>
                <a:cs typeface="Noto Sans JP"/>
              </a:rPr>
              <a:t>📈</a:t>
            </a:r>
          </a:p>
        </p:txBody>
      </p:sp>
      <p:sp>
        <p:nvSpPr>
          <p:cNvPr id="20" name="TextBox 19"/>
          <p:cNvSpPr txBox="1"/>
          <p:nvPr/>
        </p:nvSpPr>
        <p:spPr>
          <a:xfrm>
            <a:off x="4540250" y="3009900"/>
            <a:ext cx="31115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部門展開フェーズ</a:t>
            </a:r>
          </a:p>
        </p:txBody>
      </p:sp>
      <p:sp>
        <p:nvSpPr>
          <p:cNvPr id="21" name="TextBox 20"/>
          <p:cNvSpPr txBox="1"/>
          <p:nvPr/>
        </p:nvSpPr>
        <p:spPr>
          <a:xfrm>
            <a:off x="4540250" y="3505200"/>
            <a:ext cx="3111500" cy="2438400"/>
          </a:xfrm>
          <a:prstGeom prst="rect">
            <a:avLst/>
          </a:prstGeom>
          <a:noFill/>
        </p:spPr>
        <p:txBody>
          <a:bodyPr wrap="square">
            <a:spAutoFit/>
          </a:bodyPr>
          <a:lstStyle/>
          <a:p>
            <a:pPr algn="ctr"/>
            <a:r>
              <a:rPr sz="1350" b="0">
                <a:solidFill>
                  <a:srgbClr val="4A3D6B"/>
                </a:solidFill>
                <a:latin typeface="Noto Sans JP"/>
                <a:ea typeface="Noto Sans JP"/>
                <a:cs typeface="Noto Sans JP"/>
              </a:rPr>
              <a:t>パイロット部門から水平展開し、月次50名ペースでロールアウト。チェンジマネジメント研修と並行実施します。</a:t>
            </a:r>
          </a:p>
        </p:txBody>
      </p:sp>
      <p:sp>
        <p:nvSpPr>
          <p:cNvPr id="22" name="Rectangle 21"/>
          <p:cNvSpPr/>
          <p:nvPr/>
        </p:nvSpPr>
        <p:spPr>
          <a:xfrm>
            <a:off x="8051800" y="1981200"/>
            <a:ext cx="34544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51800" y="1981200"/>
            <a:ext cx="3454400" cy="3048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51800" y="1981200"/>
            <a:ext cx="3454400" cy="304800"/>
          </a:xfrm>
          <a:prstGeom prst="rect">
            <a:avLst/>
          </a:prstGeom>
          <a:noFill/>
        </p:spPr>
        <p:txBody>
          <a:bodyPr wrap="square">
            <a:spAutoFit/>
          </a:bodyPr>
          <a:lstStyle/>
          <a:p>
            <a:pPr algn="ctr"/>
            <a:r>
              <a:rPr sz="1050" b="1">
                <a:solidFill>
                  <a:srgbClr val="FFFFFF"/>
                </a:solidFill>
                <a:latin typeface="Noto Sans JP"/>
                <a:ea typeface="Noto Sans JP"/>
                <a:cs typeface="Noto Sans JP"/>
              </a:rPr>
              <a:t>03</a:t>
            </a:r>
          </a:p>
        </p:txBody>
      </p:sp>
      <p:sp>
        <p:nvSpPr>
          <p:cNvPr id="25" name="Oval 24"/>
          <p:cNvSpPr/>
          <p:nvPr/>
        </p:nvSpPr>
        <p:spPr>
          <a:xfrm>
            <a:off x="9550400" y="2438400"/>
            <a:ext cx="457200" cy="457200"/>
          </a:xfrm>
          <a:prstGeom prst="ellipse">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50400" y="2438400"/>
            <a:ext cx="457200" cy="457200"/>
          </a:xfrm>
          <a:prstGeom prst="rect">
            <a:avLst/>
          </a:prstGeom>
          <a:noFill/>
        </p:spPr>
        <p:txBody>
          <a:bodyPr wrap="square">
            <a:spAutoFit/>
          </a:bodyPr>
          <a:lstStyle/>
          <a:p>
            <a:pPr algn="ctr"/>
            <a:r>
              <a:rPr sz="1350" b="0">
                <a:solidFill>
                  <a:srgbClr val="150A2E"/>
                </a:solidFill>
                <a:latin typeface="Noto Sans JP"/>
                <a:ea typeface="Noto Sans JP"/>
                <a:cs typeface="Noto Sans JP"/>
              </a:rPr>
              <a:t>🌐</a:t>
            </a:r>
          </a:p>
        </p:txBody>
      </p:sp>
      <p:sp>
        <p:nvSpPr>
          <p:cNvPr id="27" name="TextBox 26"/>
          <p:cNvSpPr txBox="1"/>
          <p:nvPr/>
        </p:nvSpPr>
        <p:spPr>
          <a:xfrm>
            <a:off x="8223250" y="3009900"/>
            <a:ext cx="3111500" cy="495300"/>
          </a:xfrm>
          <a:prstGeom prst="rect">
            <a:avLst/>
          </a:prstGeom>
          <a:noFill/>
        </p:spPr>
        <p:txBody>
          <a:bodyPr wrap="square">
            <a:spAutoFit/>
          </a:bodyPr>
          <a:lstStyle/>
          <a:p>
            <a:pPr algn="ctr"/>
            <a:r>
              <a:rPr sz="1950" b="1">
                <a:solidFill>
                  <a:srgbClr val="150A2E"/>
                </a:solidFill>
                <a:latin typeface="Noto Sans JP"/>
                <a:ea typeface="Noto Sans JP"/>
                <a:cs typeface="Noto Sans JP"/>
              </a:rPr>
              <a:t>全社定着フェーズ</a:t>
            </a:r>
          </a:p>
        </p:txBody>
      </p:sp>
      <p:sp>
        <p:nvSpPr>
          <p:cNvPr id="28" name="TextBox 27"/>
          <p:cNvSpPr txBox="1"/>
          <p:nvPr/>
        </p:nvSpPr>
        <p:spPr>
          <a:xfrm>
            <a:off x="8223250" y="3505200"/>
            <a:ext cx="3111500" cy="2438400"/>
          </a:xfrm>
          <a:prstGeom prst="rect">
            <a:avLst/>
          </a:prstGeom>
          <a:noFill/>
        </p:spPr>
        <p:txBody>
          <a:bodyPr wrap="square">
            <a:spAutoFit/>
          </a:bodyPr>
          <a:lstStyle/>
          <a:p>
            <a:pPr algn="ctr"/>
            <a:r>
              <a:rPr sz="1350" b="0">
                <a:solidFill>
                  <a:srgbClr val="4A3D6B"/>
                </a:solidFill>
                <a:latin typeface="Noto Sans JP"/>
                <a:ea typeface="Noto Sans JP"/>
                <a:cs typeface="Noto Sans JP"/>
              </a:rPr>
              <a:t>全部門への展開完了後、四半期ごとにROIレビューを実施。継続改善サイクルで投資効果を最大化します。</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自社支援事例 142社の平均値 — 2026年Q1実績データ</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43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導入前後の業務コスト構造が根本から変わる</a:t>
            </a:r>
          </a:p>
        </p:txBody>
      </p:sp>
      <p:sp>
        <p:nvSpPr>
          <p:cNvPr id="5" name="TextBox 4"/>
          <p:cNvSpPr txBox="1"/>
          <p:nvPr/>
        </p:nvSpPr>
        <p:spPr>
          <a:xfrm>
            <a:off x="685800" y="1447800"/>
            <a:ext cx="10820400" cy="304800"/>
          </a:xfrm>
          <a:prstGeom prst="rect">
            <a:avLst/>
          </a:prstGeom>
          <a:noFill/>
        </p:spPr>
        <p:txBody>
          <a:bodyPr wrap="square">
            <a:spAutoFit/>
          </a:bodyPr>
          <a:lstStyle/>
          <a:p>
            <a:pPr algn="l"/>
            <a:r>
              <a:rPr sz="1350" b="0">
                <a:solidFill>
                  <a:srgbClr val="4A3D6B"/>
                </a:solidFill>
                <a:latin typeface="Noto Sans JP"/>
                <a:ea typeface="Noto Sans JP"/>
                <a:cs typeface="Noto Sans JP"/>
              </a:rPr>
              <a:t>手作業中心の現状と、AI導入後の姿を定量比較します</a:t>
            </a:r>
          </a:p>
        </p:txBody>
      </p:sp>
      <p:sp>
        <p:nvSpPr>
          <p:cNvPr id="6" name="Rectangle 5"/>
          <p:cNvSpPr/>
          <p:nvPr/>
        </p:nvSpPr>
        <p:spPr>
          <a:xfrm>
            <a:off x="685800" y="1981200"/>
            <a:ext cx="52959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47900"/>
            <a:ext cx="4838700" cy="495300"/>
          </a:xfrm>
          <a:prstGeom prst="rect">
            <a:avLst/>
          </a:prstGeom>
          <a:noFill/>
        </p:spPr>
        <p:txBody>
          <a:bodyPr wrap="square">
            <a:spAutoFit/>
          </a:bodyPr>
          <a:lstStyle/>
          <a:p>
            <a:pPr algn="l"/>
            <a:r>
              <a:rPr sz="1950" b="1">
                <a:solidFill>
                  <a:srgbClr val="150A2E"/>
                </a:solidFill>
                <a:latin typeface="Noto Sans JP"/>
                <a:ea typeface="Noto Sans JP"/>
                <a:cs typeface="Noto Sans JP"/>
              </a:rPr>
              <a:t>Before — 導入前の課題</a:t>
            </a:r>
          </a:p>
        </p:txBody>
      </p:sp>
      <p:sp>
        <p:nvSpPr>
          <p:cNvPr id="8" name="TextBox 7"/>
          <p:cNvSpPr txBox="1"/>
          <p:nvPr/>
        </p:nvSpPr>
        <p:spPr>
          <a:xfrm>
            <a:off x="914400" y="2857500"/>
            <a:ext cx="4838700" cy="2971800"/>
          </a:xfrm>
          <a:prstGeom prst="rect">
            <a:avLst/>
          </a:prstGeom>
          <a:noFill/>
        </p:spPr>
        <p:txBody>
          <a:bodyPr wrap="square">
            <a:spAutoFit/>
          </a:bodyPr>
          <a:lstStyle/>
          <a:p>
            <a:pPr algn="l"/>
            <a:r>
              <a:rPr sz="1350" b="0">
                <a:solidFill>
                  <a:srgbClr val="4A3D6B"/>
                </a:solidFill>
                <a:latin typeface="Noto Sans JP"/>
                <a:ea typeface="Noto Sans JP"/>
                <a:cs typeface="Noto Sans JP"/>
              </a:rPr>
              <a:t>データ集計・レポート作成・メール返信に週40時間以上を費やす。判断の遅れが商機を失わせ、担当者の残業時間は月平均32時間に達する。人的ミスによる手戻りコストも年間換算で1社あたり約800万円に上る。</a:t>
            </a:r>
          </a:p>
        </p:txBody>
      </p:sp>
      <p:sp>
        <p:nvSpPr>
          <p:cNvPr id="9" name="Rectangle 8"/>
          <p:cNvSpPr/>
          <p:nvPr/>
        </p:nvSpPr>
        <p:spPr>
          <a:xfrm>
            <a:off x="6210300" y="1981200"/>
            <a:ext cx="529590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8900" y="2247900"/>
            <a:ext cx="4838700" cy="495300"/>
          </a:xfrm>
          <a:prstGeom prst="rect">
            <a:avLst/>
          </a:prstGeom>
          <a:noFill/>
        </p:spPr>
        <p:txBody>
          <a:bodyPr wrap="square">
            <a:spAutoFit/>
          </a:bodyPr>
          <a:lstStyle/>
          <a:p>
            <a:pPr algn="l"/>
            <a:r>
              <a:rPr sz="1950" b="1">
                <a:solidFill>
                  <a:srgbClr val="150A2E"/>
                </a:solidFill>
                <a:latin typeface="Noto Sans JP"/>
                <a:ea typeface="Noto Sans JP"/>
                <a:cs typeface="Noto Sans JP"/>
              </a:rPr>
              <a:t>After — AI導入後の変化</a:t>
            </a:r>
          </a:p>
        </p:txBody>
      </p:sp>
      <p:sp>
        <p:nvSpPr>
          <p:cNvPr id="11" name="TextBox 10"/>
          <p:cNvSpPr txBox="1"/>
          <p:nvPr/>
        </p:nvSpPr>
        <p:spPr>
          <a:xfrm>
            <a:off x="6438900" y="2857500"/>
            <a:ext cx="4838700" cy="2971800"/>
          </a:xfrm>
          <a:prstGeom prst="rect">
            <a:avLst/>
          </a:prstGeom>
          <a:noFill/>
        </p:spPr>
        <p:txBody>
          <a:bodyPr wrap="square">
            <a:spAutoFit/>
          </a:bodyPr>
          <a:lstStyle/>
          <a:p>
            <a:pPr algn="l"/>
            <a:r>
              <a:rPr sz="1350" b="0">
                <a:solidFill>
                  <a:srgbClr val="4A3D6B"/>
                </a:solidFill>
                <a:latin typeface="Noto Sans JP"/>
                <a:ea typeface="Noto Sans JP"/>
                <a:cs typeface="Noto Sans JP"/>
              </a:rPr>
              <a:t>定型業務の70%を自動化し、担当者は戦略業務に集中できる。意思決定速度は3倍に向上し、エラー率は85%減少。浮いた工数を新規事業開発・顧客接点強化に再投資し、収益成長を加速させる。</a:t>
            </a:r>
          </a:p>
        </p:txBody>
      </p:sp>
      <p:sp>
        <p:nvSpPr>
          <p:cNvPr id="12" name="Oval 11"/>
          <p:cNvSpPr/>
          <p:nvPr/>
        </p:nvSpPr>
        <p:spPr>
          <a:xfrm>
            <a:off x="5867400" y="3810000"/>
            <a:ext cx="457200" cy="457200"/>
          </a:xfrm>
          <a:prstGeom prst="ellipse">
            <a:avLst/>
          </a:prstGeom>
          <a:solidFill>
            <a:srgbClr val="FFFFFF"/>
          </a:solidFill>
          <a:ln w="2540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67400" y="3810000"/>
            <a:ext cx="457200" cy="457200"/>
          </a:xfrm>
          <a:prstGeom prst="rect">
            <a:avLst/>
          </a:prstGeom>
          <a:noFill/>
        </p:spPr>
        <p:txBody>
          <a:bodyPr wrap="square">
            <a:spAutoFit/>
          </a:bodyPr>
          <a:lstStyle/>
          <a:p>
            <a:pPr algn="ctr"/>
            <a:r>
              <a:rPr sz="1650" b="1">
                <a:solidFill>
                  <a:srgbClr val="6600FF"/>
                </a:solidFill>
                <a:latin typeface="Noto Sans JP"/>
                <a:ea typeface="Noto Sans JP"/>
                <a:cs typeface="Noto Sans JP"/>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自社顧客データ集計 2026年Q1（n=142社）/ 社内機能比較表 v3.2</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44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4つのコア機能が定量的な成果を創出する</a:t>
            </a:r>
          </a:p>
        </p:txBody>
      </p:sp>
      <p:sp>
        <p:nvSpPr>
          <p:cNvPr id="5" name="TextBox 4"/>
          <p:cNvSpPr txBox="1"/>
          <p:nvPr/>
        </p:nvSpPr>
        <p:spPr>
          <a:xfrm>
            <a:off x="685800" y="1447800"/>
            <a:ext cx="10820400" cy="304800"/>
          </a:xfrm>
          <a:prstGeom prst="rect">
            <a:avLst/>
          </a:prstGeom>
          <a:noFill/>
        </p:spPr>
        <p:txBody>
          <a:bodyPr wrap="square">
            <a:spAutoFit/>
          </a:bodyPr>
          <a:lstStyle/>
          <a:p>
            <a:pPr algn="l"/>
            <a:r>
              <a:rPr sz="1350" b="0">
                <a:solidFill>
                  <a:srgbClr val="4A3D6B"/>
                </a:solidFill>
                <a:latin typeface="Noto Sans JP"/>
                <a:ea typeface="Noto Sans JP"/>
                <a:cs typeface="Noto Sans JP"/>
              </a:rPr>
              <a:t>導入企業の実測値に基づく平均効果です（n=142社、導入後12ヶ月時点）</a:t>
            </a:r>
          </a:p>
        </p:txBody>
      </p:sp>
      <p:sp>
        <p:nvSpPr>
          <p:cNvPr id="6" name="Rectangle 5"/>
          <p:cNvSpPr/>
          <p:nvPr/>
        </p:nvSpPr>
        <p:spPr>
          <a:xfrm>
            <a:off x="685800" y="1981200"/>
            <a:ext cx="253365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9150" y="21336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9150" y="21336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01</a:t>
            </a:r>
          </a:p>
        </p:txBody>
      </p:sp>
      <p:sp>
        <p:nvSpPr>
          <p:cNvPr id="9" name="Rectangle 8"/>
          <p:cNvSpPr/>
          <p:nvPr/>
        </p:nvSpPr>
        <p:spPr>
          <a:xfrm>
            <a:off x="1181100" y="2114550"/>
            <a:ext cx="266700" cy="2667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1100" y="2114550"/>
            <a:ext cx="266700" cy="266700"/>
          </a:xfrm>
          <a:prstGeom prst="rect">
            <a:avLst/>
          </a:prstGeom>
          <a:noFill/>
        </p:spPr>
        <p:txBody>
          <a:bodyPr wrap="square">
            <a:spAutoFit/>
          </a:bodyPr>
          <a:lstStyle/>
          <a:p>
            <a:pPr algn="ctr"/>
            <a:r>
              <a:rPr sz="1500" b="0">
                <a:solidFill>
                  <a:srgbClr val="150A2E"/>
                </a:solidFill>
                <a:latin typeface="Noto Sans JP"/>
                <a:ea typeface="Noto Sans JP"/>
                <a:cs typeface="Noto Sans JP"/>
              </a:rPr>
              <a:t>🤖</a:t>
            </a:r>
          </a:p>
        </p:txBody>
      </p:sp>
      <p:sp>
        <p:nvSpPr>
          <p:cNvPr id="11" name="TextBox 10"/>
          <p:cNvSpPr txBox="1"/>
          <p:nvPr/>
        </p:nvSpPr>
        <p:spPr>
          <a:xfrm>
            <a:off x="819150" y="2381250"/>
            <a:ext cx="22669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AI自動回答</a:t>
            </a:r>
          </a:p>
        </p:txBody>
      </p:sp>
      <p:sp>
        <p:nvSpPr>
          <p:cNvPr id="12" name="TextBox 11"/>
          <p:cNvSpPr txBox="1"/>
          <p:nvPr/>
        </p:nvSpPr>
        <p:spPr>
          <a:xfrm>
            <a:off x="819150" y="2819400"/>
            <a:ext cx="2266950" cy="2190750"/>
          </a:xfrm>
          <a:prstGeom prst="rect">
            <a:avLst/>
          </a:prstGeom>
          <a:noFill/>
        </p:spPr>
        <p:txBody>
          <a:bodyPr wrap="square">
            <a:spAutoFit/>
          </a:bodyPr>
          <a:lstStyle/>
          <a:p>
            <a:pPr algn="l"/>
            <a:r>
              <a:rPr sz="1050" b="0">
                <a:solidFill>
                  <a:srgbClr val="4A3D6B"/>
                </a:solidFill>
                <a:latin typeface="Noto Sans JP"/>
                <a:ea typeface="Noto Sans JP"/>
                <a:cs typeface="Noto Sans JP"/>
              </a:rPr>
              <a:t>問い合わせの65%を人的介入なしに解決。深夜・休日も一定品質を維持。</a:t>
            </a:r>
          </a:p>
        </p:txBody>
      </p:sp>
      <p:sp>
        <p:nvSpPr>
          <p:cNvPr id="13" name="Rectangle 12"/>
          <p:cNvSpPr/>
          <p:nvPr/>
        </p:nvSpPr>
        <p:spPr>
          <a:xfrm>
            <a:off x="819150" y="5010150"/>
            <a:ext cx="22669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150" y="5086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自動解決率</a:t>
            </a:r>
          </a:p>
        </p:txBody>
      </p:sp>
      <p:sp>
        <p:nvSpPr>
          <p:cNvPr id="15" name="TextBox 14"/>
          <p:cNvSpPr txBox="1"/>
          <p:nvPr/>
        </p:nvSpPr>
        <p:spPr>
          <a:xfrm>
            <a:off x="819150" y="5238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65%</a:t>
            </a:r>
          </a:p>
        </p:txBody>
      </p:sp>
      <p:sp>
        <p:nvSpPr>
          <p:cNvPr id="16" name="TextBox 15"/>
          <p:cNvSpPr txBox="1"/>
          <p:nvPr/>
        </p:nvSpPr>
        <p:spPr>
          <a:xfrm>
            <a:off x="819150" y="5467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初回応答時間</a:t>
            </a:r>
          </a:p>
        </p:txBody>
      </p:sp>
      <p:sp>
        <p:nvSpPr>
          <p:cNvPr id="17" name="TextBox 16"/>
          <p:cNvSpPr txBox="1"/>
          <p:nvPr/>
        </p:nvSpPr>
        <p:spPr>
          <a:xfrm>
            <a:off x="819150" y="5619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即時</a:t>
            </a:r>
          </a:p>
        </p:txBody>
      </p:sp>
      <p:sp>
        <p:nvSpPr>
          <p:cNvPr id="18" name="Rectangle 17"/>
          <p:cNvSpPr/>
          <p:nvPr/>
        </p:nvSpPr>
        <p:spPr>
          <a:xfrm>
            <a:off x="3448050" y="1981200"/>
            <a:ext cx="253365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581400" y="21336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1400" y="21336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02</a:t>
            </a:r>
          </a:p>
        </p:txBody>
      </p:sp>
      <p:sp>
        <p:nvSpPr>
          <p:cNvPr id="21" name="Rectangle 20"/>
          <p:cNvSpPr/>
          <p:nvPr/>
        </p:nvSpPr>
        <p:spPr>
          <a:xfrm>
            <a:off x="3943350" y="2114550"/>
            <a:ext cx="266700" cy="2667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43350" y="2114550"/>
            <a:ext cx="266700" cy="266700"/>
          </a:xfrm>
          <a:prstGeom prst="rect">
            <a:avLst/>
          </a:prstGeom>
          <a:noFill/>
        </p:spPr>
        <p:txBody>
          <a:bodyPr wrap="square">
            <a:spAutoFit/>
          </a:bodyPr>
          <a:lstStyle/>
          <a:p>
            <a:pPr algn="ctr"/>
            <a:r>
              <a:rPr sz="1500" b="0">
                <a:solidFill>
                  <a:srgbClr val="150A2E"/>
                </a:solidFill>
                <a:latin typeface="Noto Sans JP"/>
                <a:ea typeface="Noto Sans JP"/>
                <a:cs typeface="Noto Sans JP"/>
              </a:rPr>
              <a:t>📊</a:t>
            </a:r>
          </a:p>
        </p:txBody>
      </p:sp>
      <p:sp>
        <p:nvSpPr>
          <p:cNvPr id="23" name="TextBox 22"/>
          <p:cNvSpPr txBox="1"/>
          <p:nvPr/>
        </p:nvSpPr>
        <p:spPr>
          <a:xfrm>
            <a:off x="3581400" y="2381250"/>
            <a:ext cx="22669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ROIダッシュボード</a:t>
            </a:r>
          </a:p>
        </p:txBody>
      </p:sp>
      <p:sp>
        <p:nvSpPr>
          <p:cNvPr id="24" name="TextBox 23"/>
          <p:cNvSpPr txBox="1"/>
          <p:nvPr/>
        </p:nvSpPr>
        <p:spPr>
          <a:xfrm>
            <a:off x="3581400" y="2819400"/>
            <a:ext cx="2266950" cy="2190750"/>
          </a:xfrm>
          <a:prstGeom prst="rect">
            <a:avLst/>
          </a:prstGeom>
          <a:noFill/>
        </p:spPr>
        <p:txBody>
          <a:bodyPr wrap="square">
            <a:spAutoFit/>
          </a:bodyPr>
          <a:lstStyle/>
          <a:p>
            <a:pPr algn="l"/>
            <a:r>
              <a:rPr sz="1050" b="0">
                <a:solidFill>
                  <a:srgbClr val="4A3D6B"/>
                </a:solidFill>
                <a:latin typeface="Noto Sans JP"/>
                <a:ea typeface="Noto Sans JP"/>
                <a:cs typeface="Noto Sans JP"/>
              </a:rPr>
              <a:t>工数削減・エラー率・満足度スコアをリアルタイム集計しレポート自動生成。</a:t>
            </a:r>
          </a:p>
        </p:txBody>
      </p:sp>
      <p:sp>
        <p:nvSpPr>
          <p:cNvPr id="25" name="Rectangle 24"/>
          <p:cNvSpPr/>
          <p:nvPr/>
        </p:nvSpPr>
        <p:spPr>
          <a:xfrm>
            <a:off x="3581400" y="5010150"/>
            <a:ext cx="22669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81400" y="5086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月次工数削減</a:t>
            </a:r>
          </a:p>
        </p:txBody>
      </p:sp>
      <p:sp>
        <p:nvSpPr>
          <p:cNvPr id="27" name="TextBox 26"/>
          <p:cNvSpPr txBox="1"/>
          <p:nvPr/>
        </p:nvSpPr>
        <p:spPr>
          <a:xfrm>
            <a:off x="3581400" y="5238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42h/人</a:t>
            </a:r>
          </a:p>
        </p:txBody>
      </p:sp>
      <p:sp>
        <p:nvSpPr>
          <p:cNvPr id="28" name="TextBox 27"/>
          <p:cNvSpPr txBox="1"/>
          <p:nvPr/>
        </p:nvSpPr>
        <p:spPr>
          <a:xfrm>
            <a:off x="3581400" y="5467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レポート生成時間</a:t>
            </a:r>
          </a:p>
        </p:txBody>
      </p:sp>
      <p:sp>
        <p:nvSpPr>
          <p:cNvPr id="29" name="TextBox 28"/>
          <p:cNvSpPr txBox="1"/>
          <p:nvPr/>
        </p:nvSpPr>
        <p:spPr>
          <a:xfrm>
            <a:off x="3581400" y="5619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-90%</a:t>
            </a:r>
          </a:p>
        </p:txBody>
      </p:sp>
      <p:sp>
        <p:nvSpPr>
          <p:cNvPr id="30" name="Rectangle 29"/>
          <p:cNvSpPr/>
          <p:nvPr/>
        </p:nvSpPr>
        <p:spPr>
          <a:xfrm>
            <a:off x="6210300" y="1981200"/>
            <a:ext cx="253365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43650" y="21336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43650" y="21336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03</a:t>
            </a:r>
          </a:p>
        </p:txBody>
      </p:sp>
      <p:sp>
        <p:nvSpPr>
          <p:cNvPr id="33" name="Rectangle 32"/>
          <p:cNvSpPr/>
          <p:nvPr/>
        </p:nvSpPr>
        <p:spPr>
          <a:xfrm>
            <a:off x="6705600" y="2114550"/>
            <a:ext cx="266700" cy="2667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5600" y="2114550"/>
            <a:ext cx="266700" cy="266700"/>
          </a:xfrm>
          <a:prstGeom prst="rect">
            <a:avLst/>
          </a:prstGeom>
          <a:noFill/>
        </p:spPr>
        <p:txBody>
          <a:bodyPr wrap="square">
            <a:spAutoFit/>
          </a:bodyPr>
          <a:lstStyle/>
          <a:p>
            <a:pPr algn="ctr"/>
            <a:r>
              <a:rPr sz="1500" b="0">
                <a:solidFill>
                  <a:srgbClr val="150A2E"/>
                </a:solidFill>
                <a:latin typeface="Noto Sans JP"/>
                <a:ea typeface="Noto Sans JP"/>
                <a:cs typeface="Noto Sans JP"/>
              </a:rPr>
              <a:t>🔗</a:t>
            </a:r>
          </a:p>
        </p:txBody>
      </p:sp>
      <p:sp>
        <p:nvSpPr>
          <p:cNvPr id="35" name="TextBox 34"/>
          <p:cNvSpPr txBox="1"/>
          <p:nvPr/>
        </p:nvSpPr>
        <p:spPr>
          <a:xfrm>
            <a:off x="6343650" y="2381250"/>
            <a:ext cx="22669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ノーコード連携</a:t>
            </a:r>
          </a:p>
        </p:txBody>
      </p:sp>
      <p:sp>
        <p:nvSpPr>
          <p:cNvPr id="36" name="TextBox 35"/>
          <p:cNvSpPr txBox="1"/>
          <p:nvPr/>
        </p:nvSpPr>
        <p:spPr>
          <a:xfrm>
            <a:off x="6343650" y="2819400"/>
            <a:ext cx="2266950" cy="2190750"/>
          </a:xfrm>
          <a:prstGeom prst="rect">
            <a:avLst/>
          </a:prstGeom>
          <a:noFill/>
        </p:spPr>
        <p:txBody>
          <a:bodyPr wrap="square">
            <a:spAutoFit/>
          </a:bodyPr>
          <a:lstStyle/>
          <a:p>
            <a:pPr algn="l"/>
            <a:r>
              <a:rPr sz="1050" b="0">
                <a:solidFill>
                  <a:srgbClr val="4A3D6B"/>
                </a:solidFill>
                <a:latin typeface="Noto Sans JP"/>
                <a:ea typeface="Noto Sans JP"/>
                <a:cs typeface="Noto Sans JP"/>
              </a:rPr>
              <a:t>Salesforce・kintone・SAPなど250以上のコネクタをIT部門不要でセルフ設定。</a:t>
            </a:r>
          </a:p>
        </p:txBody>
      </p:sp>
      <p:sp>
        <p:nvSpPr>
          <p:cNvPr id="37" name="Rectangle 36"/>
          <p:cNvSpPr/>
          <p:nvPr/>
        </p:nvSpPr>
        <p:spPr>
          <a:xfrm>
            <a:off x="6343650" y="5010150"/>
            <a:ext cx="22669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43650" y="5086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連携完了日数</a:t>
            </a:r>
          </a:p>
        </p:txBody>
      </p:sp>
      <p:sp>
        <p:nvSpPr>
          <p:cNvPr id="39" name="TextBox 38"/>
          <p:cNvSpPr txBox="1"/>
          <p:nvPr/>
        </p:nvSpPr>
        <p:spPr>
          <a:xfrm>
            <a:off x="6343650" y="5238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2日</a:t>
            </a:r>
          </a:p>
        </p:txBody>
      </p:sp>
      <p:sp>
        <p:nvSpPr>
          <p:cNvPr id="40" name="TextBox 39"/>
          <p:cNvSpPr txBox="1"/>
          <p:nvPr/>
        </p:nvSpPr>
        <p:spPr>
          <a:xfrm>
            <a:off x="6343650" y="5467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対応コネクタ数</a:t>
            </a:r>
          </a:p>
        </p:txBody>
      </p:sp>
      <p:sp>
        <p:nvSpPr>
          <p:cNvPr id="41" name="TextBox 40"/>
          <p:cNvSpPr txBox="1"/>
          <p:nvPr/>
        </p:nvSpPr>
        <p:spPr>
          <a:xfrm>
            <a:off x="6343650" y="5619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250+</a:t>
            </a:r>
          </a:p>
        </p:txBody>
      </p:sp>
      <p:sp>
        <p:nvSpPr>
          <p:cNvPr id="42" name="Rectangle 41"/>
          <p:cNvSpPr/>
          <p:nvPr/>
        </p:nvSpPr>
        <p:spPr>
          <a:xfrm>
            <a:off x="8972550" y="1981200"/>
            <a:ext cx="2533650" cy="41148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105900" y="2133600"/>
            <a:ext cx="3048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05900" y="2133600"/>
            <a:ext cx="304800" cy="190500"/>
          </a:xfrm>
          <a:prstGeom prst="rect">
            <a:avLst/>
          </a:prstGeom>
          <a:noFill/>
        </p:spPr>
        <p:txBody>
          <a:bodyPr wrap="square">
            <a:spAutoFit/>
          </a:bodyPr>
          <a:lstStyle/>
          <a:p>
            <a:pPr algn="ctr"/>
            <a:r>
              <a:rPr sz="750" b="1">
                <a:solidFill>
                  <a:srgbClr val="FFFFFF"/>
                </a:solidFill>
                <a:latin typeface="Noto Sans JP"/>
                <a:ea typeface="Noto Sans JP"/>
                <a:cs typeface="Noto Sans JP"/>
              </a:rPr>
              <a:t>04</a:t>
            </a:r>
          </a:p>
        </p:txBody>
      </p:sp>
      <p:sp>
        <p:nvSpPr>
          <p:cNvPr id="45" name="Rectangle 44"/>
          <p:cNvSpPr/>
          <p:nvPr/>
        </p:nvSpPr>
        <p:spPr>
          <a:xfrm>
            <a:off x="9467850" y="2114550"/>
            <a:ext cx="266700" cy="2667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67850" y="2114550"/>
            <a:ext cx="266700" cy="266700"/>
          </a:xfrm>
          <a:prstGeom prst="rect">
            <a:avLst/>
          </a:prstGeom>
          <a:noFill/>
        </p:spPr>
        <p:txBody>
          <a:bodyPr wrap="square">
            <a:spAutoFit/>
          </a:bodyPr>
          <a:lstStyle/>
          <a:p>
            <a:pPr algn="ctr"/>
            <a:r>
              <a:rPr sz="1500" b="0">
                <a:solidFill>
                  <a:srgbClr val="150A2E"/>
                </a:solidFill>
                <a:latin typeface="Noto Sans JP"/>
                <a:ea typeface="Noto Sans JP"/>
                <a:cs typeface="Noto Sans JP"/>
              </a:rPr>
              <a:t>🛡️</a:t>
            </a:r>
          </a:p>
        </p:txBody>
      </p:sp>
      <p:sp>
        <p:nvSpPr>
          <p:cNvPr id="47" name="TextBox 46"/>
          <p:cNvSpPr txBox="1"/>
          <p:nvPr/>
        </p:nvSpPr>
        <p:spPr>
          <a:xfrm>
            <a:off x="9105900" y="2381250"/>
            <a:ext cx="2266950" cy="438150"/>
          </a:xfrm>
          <a:prstGeom prst="rect">
            <a:avLst/>
          </a:prstGeom>
          <a:noFill/>
        </p:spPr>
        <p:txBody>
          <a:bodyPr wrap="square">
            <a:spAutoFit/>
          </a:bodyPr>
          <a:lstStyle/>
          <a:p>
            <a:pPr algn="l"/>
            <a:r>
              <a:rPr sz="1275" b="1">
                <a:solidFill>
                  <a:srgbClr val="150A2E"/>
                </a:solidFill>
                <a:latin typeface="Noto Sans JP"/>
                <a:ea typeface="Noto Sans JP"/>
                <a:cs typeface="Noto Sans JP"/>
              </a:rPr>
              <a:t>セキュリティ基盤</a:t>
            </a:r>
          </a:p>
        </p:txBody>
      </p:sp>
      <p:sp>
        <p:nvSpPr>
          <p:cNvPr id="48" name="TextBox 47"/>
          <p:cNvSpPr txBox="1"/>
          <p:nvPr/>
        </p:nvSpPr>
        <p:spPr>
          <a:xfrm>
            <a:off x="9105900" y="2819400"/>
            <a:ext cx="2266950" cy="2190750"/>
          </a:xfrm>
          <a:prstGeom prst="rect">
            <a:avLst/>
          </a:prstGeom>
          <a:noFill/>
        </p:spPr>
        <p:txBody>
          <a:bodyPr wrap="square">
            <a:spAutoFit/>
          </a:bodyPr>
          <a:lstStyle/>
          <a:p>
            <a:pPr algn="l"/>
            <a:r>
              <a:rPr sz="1050" b="0">
                <a:solidFill>
                  <a:srgbClr val="4A3D6B"/>
                </a:solidFill>
                <a:latin typeface="Noto Sans JP"/>
                <a:ea typeface="Noto Sans JP"/>
                <a:cs typeface="Noto Sans JP"/>
              </a:rPr>
              <a:t>SOC2 Type II・ISO27001準拠。国内データセンター完結で金融・医療対応。</a:t>
            </a:r>
          </a:p>
        </p:txBody>
      </p:sp>
      <p:sp>
        <p:nvSpPr>
          <p:cNvPr id="49" name="Rectangle 48"/>
          <p:cNvSpPr/>
          <p:nvPr/>
        </p:nvSpPr>
        <p:spPr>
          <a:xfrm>
            <a:off x="9105900" y="5010150"/>
            <a:ext cx="22669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05900" y="5086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SLA稼働率</a:t>
            </a:r>
          </a:p>
        </p:txBody>
      </p:sp>
      <p:sp>
        <p:nvSpPr>
          <p:cNvPr id="51" name="TextBox 50"/>
          <p:cNvSpPr txBox="1"/>
          <p:nvPr/>
        </p:nvSpPr>
        <p:spPr>
          <a:xfrm>
            <a:off x="9105900" y="5238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99.99%</a:t>
            </a:r>
          </a:p>
        </p:txBody>
      </p:sp>
      <p:sp>
        <p:nvSpPr>
          <p:cNvPr id="52" name="TextBox 51"/>
          <p:cNvSpPr txBox="1"/>
          <p:nvPr/>
        </p:nvSpPr>
        <p:spPr>
          <a:xfrm>
            <a:off x="9105900" y="5467350"/>
            <a:ext cx="2266950" cy="152400"/>
          </a:xfrm>
          <a:prstGeom prst="rect">
            <a:avLst/>
          </a:prstGeom>
          <a:noFill/>
        </p:spPr>
        <p:txBody>
          <a:bodyPr wrap="none">
            <a:spAutoFit/>
          </a:bodyPr>
          <a:lstStyle/>
          <a:p>
            <a:pPr algn="l"/>
            <a:r>
              <a:rPr sz="900" b="0">
                <a:solidFill>
                  <a:srgbClr val="4A3D6B"/>
                </a:solidFill>
                <a:latin typeface="Noto Sans JP"/>
                <a:ea typeface="Noto Sans JP"/>
                <a:cs typeface="Noto Sans JP"/>
              </a:rPr>
              <a:t>セキュリティ認証</a:t>
            </a:r>
          </a:p>
        </p:txBody>
      </p:sp>
      <p:sp>
        <p:nvSpPr>
          <p:cNvPr id="53" name="TextBox 52"/>
          <p:cNvSpPr txBox="1"/>
          <p:nvPr/>
        </p:nvSpPr>
        <p:spPr>
          <a:xfrm>
            <a:off x="9105900" y="5619750"/>
            <a:ext cx="2266950" cy="209550"/>
          </a:xfrm>
          <a:prstGeom prst="rect">
            <a:avLst/>
          </a:prstGeom>
          <a:noFill/>
        </p:spPr>
        <p:txBody>
          <a:bodyPr wrap="none">
            <a:spAutoFit/>
          </a:bodyPr>
          <a:lstStyle/>
          <a:p>
            <a:pPr algn="l"/>
            <a:r>
              <a:rPr sz="1350" b="1">
                <a:solidFill>
                  <a:srgbClr val="6600FF"/>
                </a:solidFill>
                <a:latin typeface="Noto Sans JP"/>
                <a:ea typeface="Noto Sans JP"/>
                <a:cs typeface="Noto Sans JP"/>
              </a:rPr>
              <a:t>3種</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A2332"/>
                </a:solidFill>
                <a:latin typeface="Noto Serif JP"/>
                <a:ea typeface="Noto Serif JP"/>
                <a:cs typeface="Noto Serif JP"/>
              </a:rPr>
              <a:t>📈 チャート・データ</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A6675"/>
                </a:solidFill>
                <a:latin typeface="Noto Sans JP"/>
                <a:ea typeface="Noto Sans JP"/>
                <a:cs typeface="Noto Sans JP"/>
              </a:rPr>
              <a:t>strategy-consulting　·　7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45 / 98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出典：矢野経済研究所「国内SaaS市場規模調査」2025年版 / IDC Japan 推計値</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46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775" b="1">
                <a:solidFill>
                  <a:srgbClr val="1A2332"/>
                </a:solidFill>
                <a:latin typeface="Noto Serif JP"/>
                <a:ea typeface="Noto Serif JP"/>
                <a:cs typeface="Noto Serif JP"/>
              </a:rPr>
              <a:t>国内SaaS市場は2025年に¥1.2兆を突破し、5年間でCAGR 18%を達成</a:t>
            </a:r>
          </a:p>
        </p:txBody>
      </p:sp>
      <p:sp>
        <p:nvSpPr>
          <p:cNvPr id="5" name="Rectangle 4"/>
          <p:cNvSpPr/>
          <p:nvPr/>
        </p:nvSpPr>
        <p:spPr>
          <a:xfrm>
            <a:off x="7896225" y="1524000"/>
            <a:ext cx="3600450" cy="60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72425" y="1543050"/>
            <a:ext cx="3448050" cy="285750"/>
          </a:xfrm>
          <a:prstGeom prst="rect">
            <a:avLst/>
          </a:prstGeom>
          <a:noFill/>
        </p:spPr>
        <p:txBody>
          <a:bodyPr wrap="square">
            <a:spAutoFit/>
          </a:bodyPr>
          <a:lstStyle/>
          <a:p>
            <a:pPr algn="ctr"/>
            <a:r>
              <a:rPr sz="1800" b="1">
                <a:solidFill>
                  <a:srgbClr val="0A2540"/>
                </a:solidFill>
                <a:latin typeface="Noto Serif JP"/>
                <a:ea typeface="Noto Serif JP"/>
                <a:cs typeface="Noto Serif JP"/>
              </a:rPr>
              <a:t>¥1.2兆</a:t>
            </a:r>
          </a:p>
        </p:txBody>
      </p:sp>
      <p:sp>
        <p:nvSpPr>
          <p:cNvPr id="7" name="TextBox 6"/>
          <p:cNvSpPr txBox="1"/>
          <p:nvPr/>
        </p:nvSpPr>
        <p:spPr>
          <a:xfrm>
            <a:off x="7972425" y="1866900"/>
            <a:ext cx="3448050" cy="228600"/>
          </a:xfrm>
          <a:prstGeom prst="rect">
            <a:avLst/>
          </a:prstGeom>
          <a:noFill/>
        </p:spPr>
        <p:txBody>
          <a:bodyPr wrap="square">
            <a:spAutoFit/>
          </a:bodyPr>
          <a:lstStyle/>
          <a:p>
            <a:pPr algn="ctr"/>
            <a:r>
              <a:rPr sz="975" b="0">
                <a:solidFill>
                  <a:srgbClr val="5A6675"/>
                </a:solidFill>
                <a:latin typeface="Noto Sans JP"/>
                <a:ea typeface="Noto Sans JP"/>
                <a:cs typeface="Noto Sans JP"/>
              </a:rPr>
              <a:t>+18% CAGR　FY2025</a:t>
            </a:r>
          </a:p>
        </p:txBody>
      </p:sp>
      <p:graphicFrame>
        <p:nvGraphicFramePr>
          <p:cNvPr id="8" name="Chart 7"/>
          <p:cNvGraphicFramePr>
            <a:graphicFrameLocks noGrp="1"/>
          </p:cNvGraphicFramePr>
          <p:nvPr/>
        </p:nvGraphicFramePr>
        <p:xfrm>
          <a:off x="685800" y="2209800"/>
          <a:ext cx="10820400"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出典：矢野経済研究所「企業規模別SaaS市場動向」2025年版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47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エンタープライズとSMBで成長軌跡が分岐し、2025年にはエンタープライズが逆転</a:t>
            </a:r>
          </a:p>
        </p:txBody>
      </p:sp>
      <p:graphicFrame>
        <p:nvGraphicFramePr>
          <p:cNvPr id="5" name="Chart 4"/>
          <p:cNvGraphicFramePr>
            <a:graphicFrameLocks noGrp="1"/>
          </p:cNvGraphicFramePr>
          <p:nvPr/>
        </p:nvGraphicFramePr>
        <p:xfrm>
          <a:off x="685800" y="1524000"/>
          <a:ext cx="6086475" cy="4724400"/>
        </p:xfrm>
        <a:graphic>
          <a:graphicData uri="http://schemas.openxmlformats.org/drawingml/2006/chart">
            <c:chart xmlns:c="http://schemas.openxmlformats.org/drawingml/2006/chart" r:id="rId2"/>
          </a:graphicData>
        </a:graphic>
      </p:graphicFrame>
      <p:sp>
        <p:nvSpPr>
          <p:cNvPr id="6" name="Rectangle 5"/>
          <p:cNvSpPr/>
          <p:nvPr/>
        </p:nvSpPr>
        <p:spPr>
          <a:xfrm>
            <a:off x="7000875" y="1581150"/>
            <a:ext cx="95250" cy="9525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53275" y="1524000"/>
            <a:ext cx="4124325"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エンタープライズ（500名以上）</a:t>
            </a:r>
          </a:p>
        </p:txBody>
      </p:sp>
      <p:sp>
        <p:nvSpPr>
          <p:cNvPr id="8" name="TextBox 7"/>
          <p:cNvSpPr txBox="1"/>
          <p:nvPr/>
        </p:nvSpPr>
        <p:spPr>
          <a:xfrm>
            <a:off x="7153275" y="1790700"/>
            <a:ext cx="412432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DX推進予算の拡大とガバナンス強化ニーズを背景に年率30%超の成長。2025年に初めてSMBセグメントを上回る。</a:t>
            </a:r>
          </a:p>
        </p:txBody>
      </p:sp>
      <p:sp>
        <p:nvSpPr>
          <p:cNvPr id="9" name="Rectangle 8"/>
          <p:cNvSpPr/>
          <p:nvPr/>
        </p:nvSpPr>
        <p:spPr>
          <a:xfrm>
            <a:off x="7000875" y="2419350"/>
            <a:ext cx="95250" cy="95250"/>
          </a:xfrm>
          <a:prstGeom prst="rect">
            <a:avLst/>
          </a:prstGeom>
          <a:solidFill>
            <a:srgbClr val="3C6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53275" y="2362200"/>
            <a:ext cx="4124325"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SMB（~499名）</a:t>
            </a:r>
          </a:p>
        </p:txBody>
      </p:sp>
      <p:sp>
        <p:nvSpPr>
          <p:cNvPr id="11" name="TextBox 10"/>
          <p:cNvSpPr txBox="1"/>
          <p:nvPr/>
        </p:nvSpPr>
        <p:spPr>
          <a:xfrm>
            <a:off x="7153275" y="2628900"/>
            <a:ext cx="412432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補助金活用で2022年に一時加速も、価格競争激化で成長鈍化。2024年以降は年率6%台に低下。</a:t>
            </a:r>
          </a:p>
        </p:txBody>
      </p:sp>
      <p:sp>
        <p:nvSpPr>
          <p:cNvPr id="12" name="Rectangle 11"/>
          <p:cNvSpPr/>
          <p:nvPr/>
        </p:nvSpPr>
        <p:spPr>
          <a:xfrm>
            <a:off x="7000875" y="3200400"/>
            <a:ext cx="4276725" cy="914400"/>
          </a:xfrm>
          <a:prstGeom prst="rect">
            <a:avLst/>
          </a:prstGeom>
          <a:noFill/>
          <a:ln w="19050">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96125" y="3257550"/>
            <a:ext cx="4086225" cy="285750"/>
          </a:xfrm>
          <a:prstGeom prst="rect">
            <a:avLst/>
          </a:prstGeom>
          <a:noFill/>
        </p:spPr>
        <p:txBody>
          <a:bodyPr wrap="square">
            <a:spAutoFit/>
          </a:bodyPr>
          <a:lstStyle/>
          <a:p>
            <a:pPr algn="l"/>
            <a:r>
              <a:rPr sz="1800" b="1">
                <a:solidFill>
                  <a:srgbClr val="0A2540"/>
                </a:solidFill>
                <a:latin typeface="Noto Serif JP"/>
                <a:ea typeface="Noto Serif JP"/>
                <a:cs typeface="Noto Serif JP"/>
              </a:rPr>
              <a:t>¥3,950億</a:t>
            </a:r>
          </a:p>
        </p:txBody>
      </p:sp>
      <p:sp>
        <p:nvSpPr>
          <p:cNvPr id="14" name="TextBox 13"/>
          <p:cNvSpPr txBox="1"/>
          <p:nvPr/>
        </p:nvSpPr>
        <p:spPr>
          <a:xfrm>
            <a:off x="7096125" y="3562350"/>
            <a:ext cx="408622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エンタープライズは2025年に¥3,950億に達し、前年比+27%で過去最高を更新</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出典：デロイト トーマツ「国内HR Tech市場調査」2025年10月 / 自社推計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48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HR SaaS市場はタレント管理が28%を占め、最大セグメントとして成長を牽引</a:t>
            </a:r>
          </a:p>
        </p:txBody>
      </p:sp>
      <p:graphicFrame>
        <p:nvGraphicFramePr>
          <p:cNvPr id="5" name="Chart 4"/>
          <p:cNvGraphicFramePr>
            <a:graphicFrameLocks noGrp="1"/>
          </p:cNvGraphicFramePr>
          <p:nvPr/>
        </p:nvGraphicFramePr>
        <p:xfrm>
          <a:off x="685800" y="1524000"/>
          <a:ext cx="4276725" cy="4191000"/>
        </p:xfrm>
        <a:graphic>
          <a:graphicData uri="http://schemas.openxmlformats.org/drawingml/2006/chart">
            <c:chart xmlns:c="http://schemas.openxmlformats.org/drawingml/2006/chart" r:id="rId2"/>
          </a:graphicData>
        </a:graphic>
      </p:graphicFrame>
      <p:sp>
        <p:nvSpPr>
          <p:cNvPr id="6" name="TextBox 5"/>
          <p:cNvSpPr txBox="1"/>
          <p:nvPr/>
        </p:nvSpPr>
        <p:spPr>
          <a:xfrm>
            <a:off x="1462088" y="3276600"/>
            <a:ext cx="2724150" cy="685800"/>
          </a:xfrm>
          <a:prstGeom prst="rect">
            <a:avLst/>
          </a:prstGeom>
          <a:noFill/>
        </p:spPr>
        <p:txBody>
          <a:bodyPr wrap="square">
            <a:spAutoFit/>
          </a:bodyPr>
          <a:lstStyle/>
          <a:p>
            <a:pPr algn="ctr"/>
            <a:r>
              <a:rPr sz="1350" b="1">
                <a:solidFill>
                  <a:srgbClr val="1A2332"/>
                </a:solidFill>
                <a:latin typeface="Noto Serif JP"/>
                <a:ea typeface="Noto Serif JP"/>
                <a:cs typeface="Noto Serif JP"/>
              </a:rPr>
              <a:t>¥4,200億
HR SaaS</a:t>
            </a:r>
          </a:p>
        </p:txBody>
      </p:sp>
      <p:sp>
        <p:nvSpPr>
          <p:cNvPr id="7" name="TextBox 6"/>
          <p:cNvSpPr txBox="1"/>
          <p:nvPr/>
        </p:nvSpPr>
        <p:spPr>
          <a:xfrm>
            <a:off x="685800" y="5791200"/>
            <a:ext cx="4276725" cy="304800"/>
          </a:xfrm>
          <a:prstGeom prst="rect">
            <a:avLst/>
          </a:prstGeom>
          <a:noFill/>
        </p:spPr>
        <p:txBody>
          <a:bodyPr wrap="square">
            <a:spAutoFit/>
          </a:bodyPr>
          <a:lstStyle/>
          <a:p>
            <a:pPr algn="l"/>
            <a:r>
              <a:rPr sz="975" b="0">
                <a:solidFill>
                  <a:srgbClr val="5A6675"/>
                </a:solidFill>
                <a:latin typeface="Noto Sans JP"/>
                <a:ea typeface="Noto Sans JP"/>
                <a:cs typeface="Noto Sans JP"/>
              </a:rPr>
              <a:t>2025年度 国内HR SaaS市場 構成比</a:t>
            </a:r>
          </a:p>
        </p:txBody>
      </p:sp>
      <p:sp>
        <p:nvSpPr>
          <p:cNvPr id="8" name="Rectangle 7"/>
          <p:cNvSpPr/>
          <p:nvPr/>
        </p:nvSpPr>
        <p:spPr>
          <a:xfrm>
            <a:off x="5191125" y="1562100"/>
            <a:ext cx="95250" cy="9525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43525" y="1524000"/>
            <a:ext cx="5229225" cy="247650"/>
          </a:xfrm>
          <a:prstGeom prst="rect">
            <a:avLst/>
          </a:prstGeom>
          <a:noFill/>
        </p:spPr>
        <p:txBody>
          <a:bodyPr wrap="square">
            <a:spAutoFit/>
          </a:bodyPr>
          <a:lstStyle/>
          <a:p>
            <a:pPr algn="l"/>
            <a:r>
              <a:rPr sz="1800" b="1">
                <a:solidFill>
                  <a:srgbClr val="1A2332"/>
                </a:solidFill>
                <a:latin typeface="Noto Serif JP"/>
                <a:ea typeface="Noto Serif JP"/>
                <a:cs typeface="Noto Serif JP"/>
              </a:rPr>
              <a:t>タレント管理</a:t>
            </a:r>
          </a:p>
        </p:txBody>
      </p:sp>
      <p:sp>
        <p:nvSpPr>
          <p:cNvPr id="10" name="TextBox 9"/>
          <p:cNvSpPr txBox="1"/>
          <p:nvPr/>
        </p:nvSpPr>
        <p:spPr>
          <a:xfrm>
            <a:off x="10515600" y="1524000"/>
            <a:ext cx="762000" cy="247650"/>
          </a:xfrm>
          <a:prstGeom prst="rect">
            <a:avLst/>
          </a:prstGeom>
          <a:noFill/>
        </p:spPr>
        <p:txBody>
          <a:bodyPr wrap="square">
            <a:spAutoFit/>
          </a:bodyPr>
          <a:lstStyle/>
          <a:p>
            <a:pPr algn="r"/>
            <a:r>
              <a:rPr sz="1800" b="1">
                <a:solidFill>
                  <a:srgbClr val="0A2540"/>
                </a:solidFill>
                <a:latin typeface="Noto Serif JP"/>
                <a:ea typeface="Noto Serif JP"/>
                <a:cs typeface="Noto Serif JP"/>
              </a:rPr>
              <a:t>28%</a:t>
            </a:r>
          </a:p>
        </p:txBody>
      </p:sp>
      <p:sp>
        <p:nvSpPr>
          <p:cNvPr id="11" name="TextBox 10"/>
          <p:cNvSpPr txBox="1"/>
          <p:nvPr/>
        </p:nvSpPr>
        <p:spPr>
          <a:xfrm>
            <a:off x="5343525" y="1771650"/>
            <a:ext cx="593407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スキルマップ・1on1管理需要急増。エンタープライズ導入が全体成長を牽引。</a:t>
            </a:r>
          </a:p>
        </p:txBody>
      </p:sp>
      <p:sp>
        <p:nvSpPr>
          <p:cNvPr id="12" name="Rectangle 11"/>
          <p:cNvSpPr/>
          <p:nvPr/>
        </p:nvSpPr>
        <p:spPr>
          <a:xfrm>
            <a:off x="5191125" y="2400300"/>
            <a:ext cx="60864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91125" y="2476500"/>
            <a:ext cx="95250" cy="95250"/>
          </a:xfrm>
          <a:prstGeom prst="rect">
            <a:avLst/>
          </a:prstGeom>
          <a:solidFill>
            <a:srgbClr val="3C6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3525" y="2438400"/>
            <a:ext cx="5229225" cy="247650"/>
          </a:xfrm>
          <a:prstGeom prst="rect">
            <a:avLst/>
          </a:prstGeom>
          <a:noFill/>
        </p:spPr>
        <p:txBody>
          <a:bodyPr wrap="square">
            <a:spAutoFit/>
          </a:bodyPr>
          <a:lstStyle/>
          <a:p>
            <a:pPr algn="l"/>
            <a:r>
              <a:rPr sz="1800" b="1">
                <a:solidFill>
                  <a:srgbClr val="1A2332"/>
                </a:solidFill>
                <a:latin typeface="Noto Serif JP"/>
                <a:ea typeface="Noto Serif JP"/>
                <a:cs typeface="Noto Serif JP"/>
              </a:rPr>
              <a:t>勤怠・労務</a:t>
            </a:r>
          </a:p>
        </p:txBody>
      </p:sp>
      <p:sp>
        <p:nvSpPr>
          <p:cNvPr id="15" name="TextBox 14"/>
          <p:cNvSpPr txBox="1"/>
          <p:nvPr/>
        </p:nvSpPr>
        <p:spPr>
          <a:xfrm>
            <a:off x="10515600" y="2438400"/>
            <a:ext cx="762000" cy="247650"/>
          </a:xfrm>
          <a:prstGeom prst="rect">
            <a:avLst/>
          </a:prstGeom>
          <a:noFill/>
        </p:spPr>
        <p:txBody>
          <a:bodyPr wrap="square">
            <a:spAutoFit/>
          </a:bodyPr>
          <a:lstStyle/>
          <a:p>
            <a:pPr algn="r"/>
            <a:r>
              <a:rPr sz="1800" b="1">
                <a:solidFill>
                  <a:srgbClr val="0A2540"/>
                </a:solidFill>
                <a:latin typeface="Noto Serif JP"/>
                <a:ea typeface="Noto Serif JP"/>
                <a:cs typeface="Noto Serif JP"/>
              </a:rPr>
              <a:t>24%</a:t>
            </a:r>
          </a:p>
        </p:txBody>
      </p:sp>
      <p:sp>
        <p:nvSpPr>
          <p:cNvPr id="16" name="TextBox 15"/>
          <p:cNvSpPr txBox="1"/>
          <p:nvPr/>
        </p:nvSpPr>
        <p:spPr>
          <a:xfrm>
            <a:off x="5343525" y="2686050"/>
            <a:ext cx="593407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法改正対応需要が下支え。2024年残業上限規制でSMBでも更新需要が増加。</a:t>
            </a:r>
          </a:p>
        </p:txBody>
      </p:sp>
      <p:sp>
        <p:nvSpPr>
          <p:cNvPr id="17" name="Rectangle 16"/>
          <p:cNvSpPr/>
          <p:nvPr/>
        </p:nvSpPr>
        <p:spPr>
          <a:xfrm>
            <a:off x="5191125" y="3314700"/>
            <a:ext cx="60864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91125" y="3390900"/>
            <a:ext cx="95250" cy="9525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43525" y="3352800"/>
            <a:ext cx="5229225" cy="247650"/>
          </a:xfrm>
          <a:prstGeom prst="rect">
            <a:avLst/>
          </a:prstGeom>
          <a:noFill/>
        </p:spPr>
        <p:txBody>
          <a:bodyPr wrap="square">
            <a:spAutoFit/>
          </a:bodyPr>
          <a:lstStyle/>
          <a:p>
            <a:pPr algn="l"/>
            <a:r>
              <a:rPr sz="1800" b="1">
                <a:solidFill>
                  <a:srgbClr val="1A2332"/>
                </a:solidFill>
                <a:latin typeface="Noto Serif JP"/>
                <a:ea typeface="Noto Serif JP"/>
                <a:cs typeface="Noto Serif JP"/>
              </a:rPr>
              <a:t>給与計算</a:t>
            </a:r>
          </a:p>
        </p:txBody>
      </p:sp>
      <p:sp>
        <p:nvSpPr>
          <p:cNvPr id="20" name="TextBox 19"/>
          <p:cNvSpPr txBox="1"/>
          <p:nvPr/>
        </p:nvSpPr>
        <p:spPr>
          <a:xfrm>
            <a:off x="10515600" y="3352800"/>
            <a:ext cx="762000" cy="247650"/>
          </a:xfrm>
          <a:prstGeom prst="rect">
            <a:avLst/>
          </a:prstGeom>
          <a:noFill/>
        </p:spPr>
        <p:txBody>
          <a:bodyPr wrap="square">
            <a:spAutoFit/>
          </a:bodyPr>
          <a:lstStyle/>
          <a:p>
            <a:pPr algn="r"/>
            <a:r>
              <a:rPr sz="1800" b="1">
                <a:solidFill>
                  <a:srgbClr val="0A2540"/>
                </a:solidFill>
                <a:latin typeface="Noto Serif JP"/>
                <a:ea typeface="Noto Serif JP"/>
                <a:cs typeface="Noto Serif JP"/>
              </a:rPr>
              <a:t>19%</a:t>
            </a:r>
          </a:p>
        </p:txBody>
      </p:sp>
      <p:sp>
        <p:nvSpPr>
          <p:cNvPr id="21" name="TextBox 20"/>
          <p:cNvSpPr txBox="1"/>
          <p:nvPr/>
        </p:nvSpPr>
        <p:spPr>
          <a:xfrm>
            <a:off x="5343525" y="3600450"/>
            <a:ext cx="593407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成熟セグメント。クラウド移行余地が残りつつも競合激化で成長は一桁台。</a:t>
            </a:r>
          </a:p>
        </p:txBody>
      </p:sp>
      <p:sp>
        <p:nvSpPr>
          <p:cNvPr id="22" name="Rectangle 21"/>
          <p:cNvSpPr/>
          <p:nvPr/>
        </p:nvSpPr>
        <p:spPr>
          <a:xfrm>
            <a:off x="5191125" y="4229100"/>
            <a:ext cx="60864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91125" y="4305300"/>
            <a:ext cx="95250" cy="95250"/>
          </a:xfrm>
          <a:prstGeom prst="rect">
            <a:avLst/>
          </a:prstGeom>
          <a:solidFill>
            <a:srgbClr val="1F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43525" y="4267200"/>
            <a:ext cx="5229225" cy="247650"/>
          </a:xfrm>
          <a:prstGeom prst="rect">
            <a:avLst/>
          </a:prstGeom>
          <a:noFill/>
        </p:spPr>
        <p:txBody>
          <a:bodyPr wrap="square">
            <a:spAutoFit/>
          </a:bodyPr>
          <a:lstStyle/>
          <a:p>
            <a:pPr algn="l"/>
            <a:r>
              <a:rPr sz="1800" b="1">
                <a:solidFill>
                  <a:srgbClr val="1A2332"/>
                </a:solidFill>
                <a:latin typeface="Noto Serif JP"/>
                <a:ea typeface="Noto Serif JP"/>
                <a:cs typeface="Noto Serif JP"/>
              </a:rPr>
              <a:t>採用管理</a:t>
            </a:r>
          </a:p>
        </p:txBody>
      </p:sp>
      <p:sp>
        <p:nvSpPr>
          <p:cNvPr id="25" name="TextBox 24"/>
          <p:cNvSpPr txBox="1"/>
          <p:nvPr/>
        </p:nvSpPr>
        <p:spPr>
          <a:xfrm>
            <a:off x="10515600" y="4267200"/>
            <a:ext cx="762000" cy="247650"/>
          </a:xfrm>
          <a:prstGeom prst="rect">
            <a:avLst/>
          </a:prstGeom>
          <a:noFill/>
        </p:spPr>
        <p:txBody>
          <a:bodyPr wrap="square">
            <a:spAutoFit/>
          </a:bodyPr>
          <a:lstStyle/>
          <a:p>
            <a:pPr algn="r"/>
            <a:r>
              <a:rPr sz="1800" b="1">
                <a:solidFill>
                  <a:srgbClr val="0A2540"/>
                </a:solidFill>
                <a:latin typeface="Noto Serif JP"/>
                <a:ea typeface="Noto Serif JP"/>
                <a:cs typeface="Noto Serif JP"/>
              </a:rPr>
              <a:t>16%</a:t>
            </a:r>
          </a:p>
        </p:txBody>
      </p:sp>
      <p:sp>
        <p:nvSpPr>
          <p:cNvPr id="26" name="TextBox 25"/>
          <p:cNvSpPr txBox="1"/>
          <p:nvPr/>
        </p:nvSpPr>
        <p:spPr>
          <a:xfrm>
            <a:off x="5343525" y="4514850"/>
            <a:ext cx="593407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採用難を背景にAI審査・動画面接機能の付加価値が高まり高成長維持。</a:t>
            </a:r>
          </a:p>
        </p:txBody>
      </p:sp>
      <p:sp>
        <p:nvSpPr>
          <p:cNvPr id="27" name="Rectangle 26"/>
          <p:cNvSpPr/>
          <p:nvPr/>
        </p:nvSpPr>
        <p:spPr>
          <a:xfrm>
            <a:off x="5191125" y="5143500"/>
            <a:ext cx="6086475" cy="9525"/>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91125" y="5219700"/>
            <a:ext cx="95250" cy="95250"/>
          </a:xfrm>
          <a:prstGeom prst="rect">
            <a:avLst/>
          </a:prstGeom>
          <a:solidFill>
            <a:srgbClr val="B2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3525" y="5181600"/>
            <a:ext cx="5229225" cy="247650"/>
          </a:xfrm>
          <a:prstGeom prst="rect">
            <a:avLst/>
          </a:prstGeom>
          <a:noFill/>
        </p:spPr>
        <p:txBody>
          <a:bodyPr wrap="square">
            <a:spAutoFit/>
          </a:bodyPr>
          <a:lstStyle/>
          <a:p>
            <a:pPr algn="l"/>
            <a:r>
              <a:rPr sz="1800" b="1">
                <a:solidFill>
                  <a:srgbClr val="1A2332"/>
                </a:solidFill>
                <a:latin typeface="Noto Serif JP"/>
                <a:ea typeface="Noto Serif JP"/>
                <a:cs typeface="Noto Serif JP"/>
              </a:rPr>
              <a:t>その他</a:t>
            </a:r>
          </a:p>
        </p:txBody>
      </p:sp>
      <p:sp>
        <p:nvSpPr>
          <p:cNvPr id="30" name="TextBox 29"/>
          <p:cNvSpPr txBox="1"/>
          <p:nvPr/>
        </p:nvSpPr>
        <p:spPr>
          <a:xfrm>
            <a:off x="10515600" y="5181600"/>
            <a:ext cx="762000" cy="247650"/>
          </a:xfrm>
          <a:prstGeom prst="rect">
            <a:avLst/>
          </a:prstGeom>
          <a:noFill/>
        </p:spPr>
        <p:txBody>
          <a:bodyPr wrap="square">
            <a:spAutoFit/>
          </a:bodyPr>
          <a:lstStyle/>
          <a:p>
            <a:pPr algn="r"/>
            <a:r>
              <a:rPr sz="1800" b="1">
                <a:solidFill>
                  <a:srgbClr val="0A2540"/>
                </a:solidFill>
                <a:latin typeface="Noto Serif JP"/>
                <a:ea typeface="Noto Serif JP"/>
                <a:cs typeface="Noto Serif JP"/>
              </a:rPr>
              <a:t>13%</a:t>
            </a:r>
          </a:p>
        </p:txBody>
      </p:sp>
      <p:sp>
        <p:nvSpPr>
          <p:cNvPr id="31" name="TextBox 30"/>
          <p:cNvSpPr txBox="1"/>
          <p:nvPr/>
        </p:nvSpPr>
        <p:spPr>
          <a:xfrm>
            <a:off x="5343525" y="5429250"/>
            <a:ext cx="5934075" cy="495300"/>
          </a:xfrm>
          <a:prstGeom prst="rect">
            <a:avLst/>
          </a:prstGeom>
          <a:noFill/>
        </p:spPr>
        <p:txBody>
          <a:bodyPr wrap="square">
            <a:spAutoFit/>
          </a:bodyPr>
          <a:lstStyle/>
          <a:p>
            <a:pPr algn="l"/>
            <a:r>
              <a:rPr sz="1350" b="0">
                <a:solidFill>
                  <a:srgbClr val="5A6675"/>
                </a:solidFill>
                <a:latin typeface="Noto Sans JP"/>
                <a:ea typeface="Noto Sans JP"/>
                <a:cs typeface="Noto Sans JP"/>
              </a:rPr>
              <a:t>研修管理・ウェルネス等の新興カテゴリが含まれ今後拡大余地大。</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出典：自社内部経営報告 FY2025 Q2 実績（2025年10月取締役会提出資料）</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49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3つの主要KPIが目標を上回り、FY2025上期は過去最高の達成率を記録</a:t>
            </a:r>
          </a:p>
        </p:txBody>
      </p:sp>
      <p:sp>
        <p:nvSpPr>
          <p:cNvPr id="5" name="TextBox 4"/>
          <p:cNvSpPr txBox="1"/>
          <p:nvPr/>
        </p:nvSpPr>
        <p:spPr>
          <a:xfrm>
            <a:off x="685800" y="1524000"/>
            <a:ext cx="10820400" cy="457200"/>
          </a:xfrm>
          <a:prstGeom prst="rect">
            <a:avLst/>
          </a:prstGeom>
          <a:noFill/>
        </p:spPr>
        <p:txBody>
          <a:bodyPr wrap="square">
            <a:spAutoFit/>
          </a:bodyPr>
          <a:lstStyle/>
          <a:p>
            <a:pPr algn="l"/>
            <a:r>
              <a:rPr sz="1800" b="1">
                <a:solidFill>
                  <a:srgbClr val="1A2332"/>
                </a:solidFill>
                <a:latin typeface="Noto Serif JP"/>
                <a:ea typeface="Noto Serif JP"/>
                <a:cs typeface="Noto Serif JP"/>
              </a:rPr>
              <a:t>売上・顧客満足・NRR すべてが目標超過</a:t>
            </a:r>
          </a:p>
        </p:txBody>
      </p:sp>
      <p:sp>
        <p:nvSpPr>
          <p:cNvPr id="6" name="TextBox 5"/>
          <p:cNvSpPr txBox="1"/>
          <p:nvPr/>
        </p:nvSpPr>
        <p:spPr>
          <a:xfrm>
            <a:off x="685800" y="2019300"/>
            <a:ext cx="10820400" cy="381000"/>
          </a:xfrm>
          <a:prstGeom prst="rect">
            <a:avLst/>
          </a:prstGeom>
          <a:noFill/>
        </p:spPr>
        <p:txBody>
          <a:bodyPr wrap="square">
            <a:spAutoFit/>
          </a:bodyPr>
          <a:lstStyle/>
          <a:p>
            <a:pPr algn="l"/>
            <a:r>
              <a:rPr sz="1350" b="0">
                <a:solidFill>
                  <a:srgbClr val="5A6675"/>
                </a:solidFill>
                <a:latin typeface="Noto Sans JP"/>
                <a:ea typeface="Noto Sans JP"/>
                <a:cs typeface="Noto Sans JP"/>
              </a:rPr>
              <a:t>FY2025 上期（4〜9月）実績。いずれの指標も前年同期比で改善を達成。</a:t>
            </a:r>
          </a:p>
        </p:txBody>
      </p:sp>
      <p:graphicFrame>
        <p:nvGraphicFramePr>
          <p:cNvPr id="7" name="Chart 6"/>
          <p:cNvGraphicFramePr>
            <a:graphicFrameLocks noGrp="1"/>
          </p:cNvGraphicFramePr>
          <p:nvPr/>
        </p:nvGraphicFramePr>
        <p:xfrm>
          <a:off x="685800" y="2667000"/>
          <a:ext cx="3381375" cy="1714500"/>
        </p:xfrm>
        <a:graphic>
          <a:graphicData uri="http://schemas.openxmlformats.org/drawingml/2006/chart">
            <c:chart xmlns:c="http://schemas.openxmlformats.org/drawingml/2006/chart" r:id="rId2"/>
          </a:graphicData>
        </a:graphic>
      </p:graphicFrame>
      <p:sp>
        <p:nvSpPr>
          <p:cNvPr id="8" name="TextBox 7"/>
          <p:cNvSpPr txBox="1"/>
          <p:nvPr/>
        </p:nvSpPr>
        <p:spPr>
          <a:xfrm>
            <a:off x="1947862" y="3295650"/>
            <a:ext cx="857250" cy="457200"/>
          </a:xfrm>
          <a:prstGeom prst="rect">
            <a:avLst/>
          </a:prstGeom>
          <a:noFill/>
        </p:spPr>
        <p:txBody>
          <a:bodyPr wrap="square">
            <a:spAutoFit/>
          </a:bodyPr>
          <a:lstStyle/>
          <a:p>
            <a:pPr algn="ctr"/>
            <a:r>
              <a:rPr sz="1350" b="1">
                <a:solidFill>
                  <a:srgbClr val="1A2332"/>
                </a:solidFill>
                <a:latin typeface="Noto Serif JP"/>
                <a:ea typeface="Noto Serif JP"/>
                <a:cs typeface="Noto Serif JP"/>
              </a:rPr>
              <a:t>112%</a:t>
            </a:r>
          </a:p>
        </p:txBody>
      </p:sp>
      <p:sp>
        <p:nvSpPr>
          <p:cNvPr id="9" name="TextBox 8"/>
          <p:cNvSpPr txBox="1"/>
          <p:nvPr/>
        </p:nvSpPr>
        <p:spPr>
          <a:xfrm>
            <a:off x="685800" y="4457700"/>
            <a:ext cx="3381375" cy="266700"/>
          </a:xfrm>
          <a:prstGeom prst="rect">
            <a:avLst/>
          </a:prstGeom>
          <a:noFill/>
        </p:spPr>
        <p:txBody>
          <a:bodyPr wrap="square">
            <a:spAutoFit/>
          </a:bodyPr>
          <a:lstStyle/>
          <a:p>
            <a:pPr algn="ctr"/>
            <a:r>
              <a:rPr sz="1800" b="1">
                <a:solidFill>
                  <a:srgbClr val="1A2332"/>
                </a:solidFill>
                <a:latin typeface="Noto Serif JP"/>
                <a:ea typeface="Noto Serif JP"/>
                <a:cs typeface="Noto Serif JP"/>
              </a:rPr>
              <a:t>売上目標達成率</a:t>
            </a:r>
          </a:p>
        </p:txBody>
      </p:sp>
      <p:sp>
        <p:nvSpPr>
          <p:cNvPr id="10" name="TextBox 9"/>
          <p:cNvSpPr txBox="1"/>
          <p:nvPr/>
        </p:nvSpPr>
        <p:spPr>
          <a:xfrm>
            <a:off x="685800" y="4743450"/>
            <a:ext cx="3381375" cy="533400"/>
          </a:xfrm>
          <a:prstGeom prst="rect">
            <a:avLst/>
          </a:prstGeom>
          <a:noFill/>
        </p:spPr>
        <p:txBody>
          <a:bodyPr wrap="square">
            <a:spAutoFit/>
          </a:bodyPr>
          <a:lstStyle/>
          <a:p>
            <a:pPr algn="ctr"/>
            <a:r>
              <a:rPr sz="1350" b="0">
                <a:solidFill>
                  <a:srgbClr val="5A6675"/>
                </a:solidFill>
                <a:latin typeface="Noto Sans JP"/>
                <a:ea typeface="Noto Sans JP"/>
                <a:cs typeface="Noto Sans JP"/>
              </a:rPr>
              <a:t>目標¥6.2Bに対し¥6.95B達成</a:t>
            </a:r>
          </a:p>
        </p:txBody>
      </p:sp>
      <p:graphicFrame>
        <p:nvGraphicFramePr>
          <p:cNvPr id="11" name="Chart 10"/>
          <p:cNvGraphicFramePr>
            <a:graphicFrameLocks noGrp="1"/>
          </p:cNvGraphicFramePr>
          <p:nvPr/>
        </p:nvGraphicFramePr>
        <p:xfrm>
          <a:off x="4295775" y="2667000"/>
          <a:ext cx="3381375" cy="1714500"/>
        </p:xfrm>
        <a:graphic>
          <a:graphicData uri="http://schemas.openxmlformats.org/drawingml/2006/chart">
            <c:chart xmlns:c="http://schemas.openxmlformats.org/drawingml/2006/chart" r:id="rId3"/>
          </a:graphicData>
        </a:graphic>
      </p:graphicFrame>
      <p:sp>
        <p:nvSpPr>
          <p:cNvPr id="12" name="TextBox 11"/>
          <p:cNvSpPr txBox="1"/>
          <p:nvPr/>
        </p:nvSpPr>
        <p:spPr>
          <a:xfrm>
            <a:off x="5557838" y="3295650"/>
            <a:ext cx="857250" cy="457200"/>
          </a:xfrm>
          <a:prstGeom prst="rect">
            <a:avLst/>
          </a:prstGeom>
          <a:noFill/>
        </p:spPr>
        <p:txBody>
          <a:bodyPr wrap="square">
            <a:spAutoFit/>
          </a:bodyPr>
          <a:lstStyle/>
          <a:p>
            <a:pPr algn="ctr"/>
            <a:r>
              <a:rPr sz="1350" b="1">
                <a:solidFill>
                  <a:srgbClr val="1A2332"/>
                </a:solidFill>
                <a:latin typeface="Noto Serif JP"/>
                <a:ea typeface="Noto Serif JP"/>
                <a:cs typeface="Noto Serif JP"/>
              </a:rPr>
              <a:t>NPS +47</a:t>
            </a:r>
          </a:p>
        </p:txBody>
      </p:sp>
      <p:sp>
        <p:nvSpPr>
          <p:cNvPr id="13" name="TextBox 12"/>
          <p:cNvSpPr txBox="1"/>
          <p:nvPr/>
        </p:nvSpPr>
        <p:spPr>
          <a:xfrm>
            <a:off x="4295775" y="4457700"/>
            <a:ext cx="3381375" cy="266700"/>
          </a:xfrm>
          <a:prstGeom prst="rect">
            <a:avLst/>
          </a:prstGeom>
          <a:noFill/>
        </p:spPr>
        <p:txBody>
          <a:bodyPr wrap="square">
            <a:spAutoFit/>
          </a:bodyPr>
          <a:lstStyle/>
          <a:p>
            <a:pPr algn="ctr"/>
            <a:r>
              <a:rPr sz="1800" b="1">
                <a:solidFill>
                  <a:srgbClr val="1A2332"/>
                </a:solidFill>
                <a:latin typeface="Noto Serif JP"/>
                <a:ea typeface="Noto Serif JP"/>
                <a:cs typeface="Noto Serif JP"/>
              </a:rPr>
              <a:t>顧客満足度（NPS）</a:t>
            </a:r>
          </a:p>
        </p:txBody>
      </p:sp>
      <p:sp>
        <p:nvSpPr>
          <p:cNvPr id="14" name="TextBox 13"/>
          <p:cNvSpPr txBox="1"/>
          <p:nvPr/>
        </p:nvSpPr>
        <p:spPr>
          <a:xfrm>
            <a:off x="4295775" y="4743450"/>
            <a:ext cx="3381375" cy="533400"/>
          </a:xfrm>
          <a:prstGeom prst="rect">
            <a:avLst/>
          </a:prstGeom>
          <a:noFill/>
        </p:spPr>
        <p:txBody>
          <a:bodyPr wrap="square">
            <a:spAutoFit/>
          </a:bodyPr>
          <a:lstStyle/>
          <a:p>
            <a:pPr algn="ctr"/>
            <a:r>
              <a:rPr sz="1350" b="0">
                <a:solidFill>
                  <a:srgbClr val="5A6675"/>
                </a:solidFill>
                <a:latin typeface="Noto Sans JP"/>
                <a:ea typeface="Noto Sans JP"/>
                <a:cs typeface="Noto Sans JP"/>
              </a:rPr>
              <a:t>目標+40に対し+47、業界平均+28を大幅上回る</a:t>
            </a:r>
          </a:p>
        </p:txBody>
      </p:sp>
      <p:graphicFrame>
        <p:nvGraphicFramePr>
          <p:cNvPr id="15" name="Chart 14"/>
          <p:cNvGraphicFramePr>
            <a:graphicFrameLocks noGrp="1"/>
          </p:cNvGraphicFramePr>
          <p:nvPr/>
        </p:nvGraphicFramePr>
        <p:xfrm>
          <a:off x="7896225" y="2667000"/>
          <a:ext cx="3381375" cy="1714500"/>
        </p:xfrm>
        <a:graphic>
          <a:graphicData uri="http://schemas.openxmlformats.org/drawingml/2006/chart">
            <c:chart xmlns:c="http://schemas.openxmlformats.org/drawingml/2006/chart" r:id="rId4"/>
          </a:graphicData>
        </a:graphic>
      </p:graphicFrame>
      <p:sp>
        <p:nvSpPr>
          <p:cNvPr id="16" name="TextBox 15"/>
          <p:cNvSpPr txBox="1"/>
          <p:nvPr/>
        </p:nvSpPr>
        <p:spPr>
          <a:xfrm>
            <a:off x="9158288" y="3295650"/>
            <a:ext cx="857250" cy="457200"/>
          </a:xfrm>
          <a:prstGeom prst="rect">
            <a:avLst/>
          </a:prstGeom>
          <a:noFill/>
        </p:spPr>
        <p:txBody>
          <a:bodyPr wrap="square">
            <a:spAutoFit/>
          </a:bodyPr>
          <a:lstStyle/>
          <a:p>
            <a:pPr algn="ctr"/>
            <a:r>
              <a:rPr sz="1350" b="1">
                <a:solidFill>
                  <a:srgbClr val="1A2332"/>
                </a:solidFill>
                <a:latin typeface="Noto Serif JP"/>
                <a:ea typeface="Noto Serif JP"/>
                <a:cs typeface="Noto Serif JP"/>
              </a:rPr>
              <a:t>118%</a:t>
            </a:r>
          </a:p>
        </p:txBody>
      </p:sp>
      <p:sp>
        <p:nvSpPr>
          <p:cNvPr id="17" name="TextBox 16"/>
          <p:cNvSpPr txBox="1"/>
          <p:nvPr/>
        </p:nvSpPr>
        <p:spPr>
          <a:xfrm>
            <a:off x="7896225" y="4457700"/>
            <a:ext cx="3381375" cy="266700"/>
          </a:xfrm>
          <a:prstGeom prst="rect">
            <a:avLst/>
          </a:prstGeom>
          <a:noFill/>
        </p:spPr>
        <p:txBody>
          <a:bodyPr wrap="square">
            <a:spAutoFit/>
          </a:bodyPr>
          <a:lstStyle/>
          <a:p>
            <a:pPr algn="ctr"/>
            <a:r>
              <a:rPr sz="1800" b="1">
                <a:solidFill>
                  <a:srgbClr val="1A2332"/>
                </a:solidFill>
                <a:latin typeface="Noto Serif JP"/>
                <a:ea typeface="Noto Serif JP"/>
                <a:cs typeface="Noto Serif JP"/>
              </a:rPr>
              <a:t>NRR（純収益維持率）</a:t>
            </a:r>
          </a:p>
        </p:txBody>
      </p:sp>
      <p:sp>
        <p:nvSpPr>
          <p:cNvPr id="18" name="TextBox 17"/>
          <p:cNvSpPr txBox="1"/>
          <p:nvPr/>
        </p:nvSpPr>
        <p:spPr>
          <a:xfrm>
            <a:off x="7896225" y="4743450"/>
            <a:ext cx="3381375" cy="533400"/>
          </a:xfrm>
          <a:prstGeom prst="rect">
            <a:avLst/>
          </a:prstGeom>
          <a:noFill/>
        </p:spPr>
        <p:txBody>
          <a:bodyPr wrap="square">
            <a:spAutoFit/>
          </a:bodyPr>
          <a:lstStyle/>
          <a:p>
            <a:pPr algn="ctr"/>
            <a:r>
              <a:rPr sz="1350" b="0">
                <a:solidFill>
                  <a:srgbClr val="5A6675"/>
                </a:solidFill>
                <a:latin typeface="Noto Sans JP"/>
                <a:ea typeface="Noto Sans JP"/>
                <a:cs typeface="Noto Sans JP"/>
              </a:rPr>
              <a:t>目標110%に対し118%、解約抑制が寄与</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出典：自社投資家向け資料（FY2025 Q3 Business Update）2025年11月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50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ARRは¥9.8Bに到達し、前年比+31%でシリーズBの目標ラインを2年前倒し達成</a:t>
            </a:r>
          </a:p>
        </p:txBody>
      </p:sp>
      <p:sp>
        <p:nvSpPr>
          <p:cNvPr id="5" name="Rectangle 4"/>
          <p:cNvSpPr/>
          <p:nvPr/>
        </p:nvSpPr>
        <p:spPr>
          <a:xfrm>
            <a:off x="685800" y="1524000"/>
            <a:ext cx="3381375" cy="4572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1676400"/>
            <a:ext cx="3076575" cy="228600"/>
          </a:xfrm>
          <a:prstGeom prst="rect">
            <a:avLst/>
          </a:prstGeom>
          <a:noFill/>
        </p:spPr>
        <p:txBody>
          <a:bodyPr wrap="square">
            <a:spAutoFit/>
          </a:bodyPr>
          <a:lstStyle/>
          <a:p>
            <a:pPr algn="l"/>
            <a:r>
              <a:rPr sz="975" b="0">
                <a:solidFill>
                  <a:srgbClr val="5A6675"/>
                </a:solidFill>
                <a:latin typeface="Noto Sans JP"/>
                <a:ea typeface="Noto Sans JP"/>
                <a:cs typeface="Noto Sans JP"/>
              </a:rPr>
              <a:t>FY2025 Q3 時点</a:t>
            </a:r>
          </a:p>
        </p:txBody>
      </p:sp>
      <p:sp>
        <p:nvSpPr>
          <p:cNvPr id="7" name="TextBox 6"/>
          <p:cNvSpPr txBox="1"/>
          <p:nvPr/>
        </p:nvSpPr>
        <p:spPr>
          <a:xfrm>
            <a:off x="838200" y="1981200"/>
            <a:ext cx="3076575" cy="304800"/>
          </a:xfrm>
          <a:prstGeom prst="rect">
            <a:avLst/>
          </a:prstGeom>
          <a:noFill/>
        </p:spPr>
        <p:txBody>
          <a:bodyPr wrap="square">
            <a:spAutoFit/>
          </a:bodyPr>
          <a:lstStyle/>
          <a:p>
            <a:pPr algn="l"/>
            <a:r>
              <a:rPr sz="1350" b="0">
                <a:solidFill>
                  <a:srgbClr val="5A6675"/>
                </a:solidFill>
                <a:latin typeface="Noto Sans JP"/>
                <a:ea typeface="Noto Sans JP"/>
                <a:cs typeface="Noto Sans JP"/>
              </a:rPr>
              <a:t>ARR（年間経常収益）</a:t>
            </a:r>
          </a:p>
        </p:txBody>
      </p:sp>
      <p:sp>
        <p:nvSpPr>
          <p:cNvPr id="8" name="TextBox 7"/>
          <p:cNvSpPr txBox="1"/>
          <p:nvPr/>
        </p:nvSpPr>
        <p:spPr>
          <a:xfrm>
            <a:off x="838200" y="2362200"/>
            <a:ext cx="3076575" cy="685800"/>
          </a:xfrm>
          <a:prstGeom prst="rect">
            <a:avLst/>
          </a:prstGeom>
          <a:noFill/>
        </p:spPr>
        <p:txBody>
          <a:bodyPr wrap="square">
            <a:spAutoFit/>
          </a:bodyPr>
          <a:lstStyle/>
          <a:p>
            <a:pPr algn="l"/>
            <a:r>
              <a:rPr sz="4800" b="1">
                <a:solidFill>
                  <a:srgbClr val="0A2540"/>
                </a:solidFill>
                <a:latin typeface="Noto Serif JP"/>
                <a:ea typeface="Noto Serif JP"/>
                <a:cs typeface="Noto Serif JP"/>
              </a:rPr>
              <a:t>¥9.8B</a:t>
            </a:r>
          </a:p>
        </p:txBody>
      </p:sp>
      <p:sp>
        <p:nvSpPr>
          <p:cNvPr id="9" name="TextBox 8"/>
          <p:cNvSpPr txBox="1"/>
          <p:nvPr/>
        </p:nvSpPr>
        <p:spPr>
          <a:xfrm>
            <a:off x="838200" y="3124200"/>
            <a:ext cx="3076575" cy="381000"/>
          </a:xfrm>
          <a:prstGeom prst="rect">
            <a:avLst/>
          </a:prstGeom>
          <a:noFill/>
        </p:spPr>
        <p:txBody>
          <a:bodyPr wrap="square">
            <a:spAutoFit/>
          </a:bodyPr>
          <a:lstStyle/>
          <a:p>
            <a:pPr algn="l"/>
            <a:r>
              <a:rPr sz="1800" b="1">
                <a:solidFill>
                  <a:srgbClr val="1F7A52"/>
                </a:solidFill>
                <a:latin typeface="Noto Sans JP"/>
                <a:ea typeface="Noto Sans JP"/>
                <a:cs typeface="Noto Sans JP"/>
              </a:rPr>
              <a:t>前年比 +31% ↑</a:t>
            </a:r>
          </a:p>
        </p:txBody>
      </p:sp>
      <p:graphicFrame>
        <p:nvGraphicFramePr>
          <p:cNvPr id="10" name="Chart 9"/>
          <p:cNvGraphicFramePr>
            <a:graphicFrameLocks noGrp="1"/>
          </p:cNvGraphicFramePr>
          <p:nvPr/>
        </p:nvGraphicFramePr>
        <p:xfrm>
          <a:off x="4295775" y="1524000"/>
          <a:ext cx="6981825" cy="4343400"/>
        </p:xfrm>
        <a:graphic>
          <a:graphicData uri="http://schemas.openxmlformats.org/drawingml/2006/chart">
            <c:chart xmlns:c="http://schemas.openxmlformats.org/drawingml/2006/chart" r:id="rId2"/>
          </a:graphicData>
        </a:graphic>
      </p:graphicFrame>
      <p:sp>
        <p:nvSpPr>
          <p:cNvPr id="11" name="TextBox 10"/>
          <p:cNvSpPr txBox="1"/>
          <p:nvPr/>
        </p:nvSpPr>
        <p:spPr>
          <a:xfrm>
            <a:off x="4295775" y="5943600"/>
            <a:ext cx="6981825" cy="152400"/>
          </a:xfrm>
          <a:prstGeom prst="rect">
            <a:avLst/>
          </a:prstGeom>
          <a:noFill/>
        </p:spPr>
        <p:txBody>
          <a:bodyPr wrap="square">
            <a:spAutoFit/>
          </a:bodyPr>
          <a:lstStyle/>
          <a:p>
            <a:pPr algn="l"/>
            <a:r>
              <a:rPr sz="975" b="0">
                <a:solidFill>
                  <a:srgbClr val="5A6675"/>
                </a:solidFill>
                <a:latin typeface="Noto Sans JP"/>
                <a:ea typeface="Noto Sans JP"/>
                <a:cs typeface="Noto Sans JP"/>
              </a:rPr>
              <a:t>単位：十億円（B）</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出典：総務省「労働力調査」2025年版 / パーソル総合研究所「HR Tech導入実態調査」2025年</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51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人口減少と高齢化が労働市場を逼迫し、HR Tech需要が構造的に拡大する</a:t>
            </a:r>
          </a:p>
        </p:txBody>
      </p:sp>
      <p:sp>
        <p:nvSpPr>
          <p:cNvPr id="5" name="TextBox 4"/>
          <p:cNvSpPr txBox="1"/>
          <p:nvPr/>
        </p:nvSpPr>
        <p:spPr>
          <a:xfrm>
            <a:off x="685800" y="1524000"/>
            <a:ext cx="10820400" cy="457200"/>
          </a:xfrm>
          <a:prstGeom prst="rect">
            <a:avLst/>
          </a:prstGeom>
          <a:noFill/>
        </p:spPr>
        <p:txBody>
          <a:bodyPr wrap="square">
            <a:spAutoFit/>
          </a:bodyPr>
          <a:lstStyle/>
          <a:p>
            <a:pPr algn="l"/>
            <a:r>
              <a:rPr sz="1350" b="0">
                <a:solidFill>
                  <a:srgbClr val="5A6675"/>
                </a:solidFill>
                <a:latin typeface="Noto Sans JP"/>
                <a:ea typeface="Noto Sans JP"/>
                <a:cs typeface="Noto Sans JP"/>
              </a:rPr>
              <a:t>2030年に向けた社会構造変化が、企業のHR Tech投資を不可逆的に押し上げる3つの要因を整理する。</a:t>
            </a:r>
          </a:p>
        </p:txBody>
      </p:sp>
      <p:sp>
        <p:nvSpPr>
          <p:cNvPr id="6" name="TextBox 5"/>
          <p:cNvSpPr txBox="1"/>
          <p:nvPr/>
        </p:nvSpPr>
        <p:spPr>
          <a:xfrm>
            <a:off x="685800" y="2133600"/>
            <a:ext cx="266700" cy="838200"/>
          </a:xfrm>
          <a:prstGeom prst="rect">
            <a:avLst/>
          </a:prstGeom>
          <a:noFill/>
        </p:spPr>
        <p:txBody>
          <a:bodyPr wrap="square">
            <a:spAutoFit/>
          </a:bodyPr>
          <a:lstStyle/>
          <a:p>
            <a:pPr algn="l"/>
            <a:r>
              <a:rPr sz="1800" b="0">
                <a:solidFill>
                  <a:srgbClr val="1A2332"/>
                </a:solidFill>
                <a:latin typeface="Noto Sans JP"/>
                <a:ea typeface="Noto Sans JP"/>
                <a:cs typeface="Noto Sans JP"/>
              </a:rPr>
              <a:t>📉</a:t>
            </a:r>
          </a:p>
        </p:txBody>
      </p:sp>
      <p:sp>
        <p:nvSpPr>
          <p:cNvPr id="7" name="TextBox 6"/>
          <p:cNvSpPr txBox="1"/>
          <p:nvPr/>
        </p:nvSpPr>
        <p:spPr>
          <a:xfrm>
            <a:off x="990600" y="2133600"/>
            <a:ext cx="4876800"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生産年齢人口の急減</a:t>
            </a:r>
          </a:p>
        </p:txBody>
      </p:sp>
      <p:sp>
        <p:nvSpPr>
          <p:cNvPr id="8" name="TextBox 7"/>
          <p:cNvSpPr txBox="1"/>
          <p:nvPr/>
        </p:nvSpPr>
        <p:spPr>
          <a:xfrm>
            <a:off x="990600" y="2400300"/>
            <a:ext cx="4876800" cy="533400"/>
          </a:xfrm>
          <a:prstGeom prst="rect">
            <a:avLst/>
          </a:prstGeom>
          <a:noFill/>
        </p:spPr>
        <p:txBody>
          <a:bodyPr wrap="square">
            <a:spAutoFit/>
          </a:bodyPr>
          <a:lstStyle/>
          <a:p>
            <a:pPr algn="l"/>
            <a:r>
              <a:rPr sz="1350" b="0">
                <a:solidFill>
                  <a:srgbClr val="5A6675"/>
                </a:solidFill>
                <a:latin typeface="Noto Sans JP"/>
                <a:ea typeface="Noto Sans JP"/>
                <a:cs typeface="Noto Sans JP"/>
              </a:rPr>
              <a:t>2025〜2030年で生産年齢人口が約210万人減少見込み。採用・定着コストの上昇が不可避。</a:t>
            </a:r>
          </a:p>
        </p:txBody>
      </p:sp>
      <p:sp>
        <p:nvSpPr>
          <p:cNvPr id="9" name="TextBox 8"/>
          <p:cNvSpPr txBox="1"/>
          <p:nvPr/>
        </p:nvSpPr>
        <p:spPr>
          <a:xfrm>
            <a:off x="685800" y="2971800"/>
            <a:ext cx="266700" cy="838200"/>
          </a:xfrm>
          <a:prstGeom prst="rect">
            <a:avLst/>
          </a:prstGeom>
          <a:noFill/>
        </p:spPr>
        <p:txBody>
          <a:bodyPr wrap="square">
            <a:spAutoFit/>
          </a:bodyPr>
          <a:lstStyle/>
          <a:p>
            <a:pPr algn="l"/>
            <a:r>
              <a:rPr sz="1800" b="0">
                <a:solidFill>
                  <a:srgbClr val="1A2332"/>
                </a:solidFill>
                <a:latin typeface="Noto Sans JP"/>
                <a:ea typeface="Noto Sans JP"/>
                <a:cs typeface="Noto Sans JP"/>
              </a:rPr>
              <a:t>🏢</a:t>
            </a:r>
          </a:p>
        </p:txBody>
      </p:sp>
      <p:sp>
        <p:nvSpPr>
          <p:cNvPr id="10" name="TextBox 9"/>
          <p:cNvSpPr txBox="1"/>
          <p:nvPr/>
        </p:nvSpPr>
        <p:spPr>
          <a:xfrm>
            <a:off x="990600" y="2971800"/>
            <a:ext cx="4876800"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大企業のジョブ型移行加速</a:t>
            </a:r>
          </a:p>
        </p:txBody>
      </p:sp>
      <p:sp>
        <p:nvSpPr>
          <p:cNvPr id="11" name="TextBox 10"/>
          <p:cNvSpPr txBox="1"/>
          <p:nvPr/>
        </p:nvSpPr>
        <p:spPr>
          <a:xfrm>
            <a:off x="990600" y="3238500"/>
            <a:ext cx="4876800" cy="533400"/>
          </a:xfrm>
          <a:prstGeom prst="rect">
            <a:avLst/>
          </a:prstGeom>
          <a:noFill/>
        </p:spPr>
        <p:txBody>
          <a:bodyPr wrap="square">
            <a:spAutoFit/>
          </a:bodyPr>
          <a:lstStyle/>
          <a:p>
            <a:pPr algn="l"/>
            <a:r>
              <a:rPr sz="1350" b="0">
                <a:solidFill>
                  <a:srgbClr val="5A6675"/>
                </a:solidFill>
                <a:latin typeface="Noto Sans JP"/>
                <a:ea typeface="Noto Sans JP"/>
                <a:cs typeface="Noto Sans JP"/>
              </a:rPr>
              <a:t>2024年以降、従業員1,000名超の60%以上がジョブ型導入を検討。スキル管理ツール需要増。</a:t>
            </a:r>
          </a:p>
        </p:txBody>
      </p:sp>
      <p:sp>
        <p:nvSpPr>
          <p:cNvPr id="12" name="TextBox 11"/>
          <p:cNvSpPr txBox="1"/>
          <p:nvPr/>
        </p:nvSpPr>
        <p:spPr>
          <a:xfrm>
            <a:off x="685800" y="3810000"/>
            <a:ext cx="266700" cy="838200"/>
          </a:xfrm>
          <a:prstGeom prst="rect">
            <a:avLst/>
          </a:prstGeom>
          <a:noFill/>
        </p:spPr>
        <p:txBody>
          <a:bodyPr wrap="square">
            <a:spAutoFit/>
          </a:bodyPr>
          <a:lstStyle/>
          <a:p>
            <a:pPr algn="l"/>
            <a:r>
              <a:rPr sz="1800" b="0">
                <a:solidFill>
                  <a:srgbClr val="1A2332"/>
                </a:solidFill>
                <a:latin typeface="Noto Sans JP"/>
                <a:ea typeface="Noto Sans JP"/>
                <a:cs typeface="Noto Sans JP"/>
              </a:rPr>
              <a:t>⚖️</a:t>
            </a:r>
          </a:p>
        </p:txBody>
      </p:sp>
      <p:sp>
        <p:nvSpPr>
          <p:cNvPr id="13" name="TextBox 12"/>
          <p:cNvSpPr txBox="1"/>
          <p:nvPr/>
        </p:nvSpPr>
        <p:spPr>
          <a:xfrm>
            <a:off x="990600" y="3810000"/>
            <a:ext cx="4876800"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労働法制の連続改正</a:t>
            </a:r>
          </a:p>
        </p:txBody>
      </p:sp>
      <p:sp>
        <p:nvSpPr>
          <p:cNvPr id="14" name="TextBox 13"/>
          <p:cNvSpPr txBox="1"/>
          <p:nvPr/>
        </p:nvSpPr>
        <p:spPr>
          <a:xfrm>
            <a:off x="990600" y="4076700"/>
            <a:ext cx="4876800" cy="533400"/>
          </a:xfrm>
          <a:prstGeom prst="rect">
            <a:avLst/>
          </a:prstGeom>
          <a:noFill/>
        </p:spPr>
        <p:txBody>
          <a:bodyPr wrap="square">
            <a:spAutoFit/>
          </a:bodyPr>
          <a:lstStyle/>
          <a:p>
            <a:pPr algn="l"/>
            <a:r>
              <a:rPr sz="1350" b="0">
                <a:solidFill>
                  <a:srgbClr val="5A6675"/>
                </a:solidFill>
                <a:latin typeface="Noto Sans JP"/>
                <a:ea typeface="Noto Sans JP"/>
                <a:cs typeface="Noto Sans JP"/>
              </a:rPr>
              <a:t>残業上限・育児介護改正・同一労働同一賃金の三重対応で、法対応SaaSの更新需要が急増。</a:t>
            </a:r>
          </a:p>
        </p:txBody>
      </p:sp>
      <p:sp>
        <p:nvSpPr>
          <p:cNvPr id="15" name="TextBox 14"/>
          <p:cNvSpPr txBox="1"/>
          <p:nvPr/>
        </p:nvSpPr>
        <p:spPr>
          <a:xfrm>
            <a:off x="685800" y="4648200"/>
            <a:ext cx="266700" cy="838200"/>
          </a:xfrm>
          <a:prstGeom prst="rect">
            <a:avLst/>
          </a:prstGeom>
          <a:noFill/>
        </p:spPr>
        <p:txBody>
          <a:bodyPr wrap="square">
            <a:spAutoFit/>
          </a:bodyPr>
          <a:lstStyle/>
          <a:p>
            <a:pPr algn="l"/>
            <a:r>
              <a:rPr sz="1800" b="0">
                <a:solidFill>
                  <a:srgbClr val="1A2332"/>
                </a:solidFill>
                <a:latin typeface="Noto Sans JP"/>
                <a:ea typeface="Noto Sans JP"/>
                <a:cs typeface="Noto Sans JP"/>
              </a:rPr>
              <a:t>🤖</a:t>
            </a:r>
          </a:p>
        </p:txBody>
      </p:sp>
      <p:sp>
        <p:nvSpPr>
          <p:cNvPr id="16" name="TextBox 15"/>
          <p:cNvSpPr txBox="1"/>
          <p:nvPr/>
        </p:nvSpPr>
        <p:spPr>
          <a:xfrm>
            <a:off x="990600" y="4648200"/>
            <a:ext cx="4876800" cy="266700"/>
          </a:xfrm>
          <a:prstGeom prst="rect">
            <a:avLst/>
          </a:prstGeom>
          <a:noFill/>
        </p:spPr>
        <p:txBody>
          <a:bodyPr wrap="square">
            <a:spAutoFit/>
          </a:bodyPr>
          <a:lstStyle/>
          <a:p>
            <a:pPr algn="l"/>
            <a:r>
              <a:rPr sz="1800" b="1">
                <a:solidFill>
                  <a:srgbClr val="1A2332"/>
                </a:solidFill>
                <a:latin typeface="Noto Serif JP"/>
                <a:ea typeface="Noto Serif JP"/>
                <a:cs typeface="Noto Serif JP"/>
              </a:rPr>
              <a:t>AI活用による代替圧力</a:t>
            </a:r>
          </a:p>
        </p:txBody>
      </p:sp>
      <p:sp>
        <p:nvSpPr>
          <p:cNvPr id="17" name="TextBox 16"/>
          <p:cNvSpPr txBox="1"/>
          <p:nvPr/>
        </p:nvSpPr>
        <p:spPr>
          <a:xfrm>
            <a:off x="990600" y="4914900"/>
            <a:ext cx="4876800" cy="533400"/>
          </a:xfrm>
          <a:prstGeom prst="rect">
            <a:avLst/>
          </a:prstGeom>
          <a:noFill/>
        </p:spPr>
        <p:txBody>
          <a:bodyPr wrap="square">
            <a:spAutoFit/>
          </a:bodyPr>
          <a:lstStyle/>
          <a:p>
            <a:pPr algn="l"/>
            <a:r>
              <a:rPr sz="1350" b="0">
                <a:solidFill>
                  <a:srgbClr val="5A6675"/>
                </a:solidFill>
                <a:latin typeface="Noto Sans JP"/>
                <a:ea typeface="Noto Sans JP"/>
                <a:cs typeface="Noto Sans JP"/>
              </a:rPr>
              <a:t>ルーティン業務の自動化が進む一方、高スキル人材の獲得競争が激化しタレント管理が最重要に。</a:t>
            </a:r>
          </a:p>
        </p:txBody>
      </p:sp>
      <p:sp>
        <p:nvSpPr>
          <p:cNvPr id="18" name="TextBox 17"/>
          <p:cNvSpPr txBox="1"/>
          <p:nvPr/>
        </p:nvSpPr>
        <p:spPr>
          <a:xfrm>
            <a:off x="6096000" y="2133600"/>
            <a:ext cx="5181600" cy="266700"/>
          </a:xfrm>
          <a:prstGeom prst="rect">
            <a:avLst/>
          </a:prstGeom>
          <a:noFill/>
        </p:spPr>
        <p:txBody>
          <a:bodyPr wrap="square">
            <a:spAutoFit/>
          </a:bodyPr>
          <a:lstStyle/>
          <a:p>
            <a:pPr algn="ctr"/>
            <a:r>
              <a:rPr sz="1800" b="1">
                <a:solidFill>
                  <a:srgbClr val="0A2540"/>
                </a:solidFill>
                <a:latin typeface="Noto Serif JP"/>
                <a:ea typeface="Noto Serif JP"/>
                <a:cs typeface="Noto Serif JP"/>
              </a:rPr>
              <a:t>HR Tech導入動機</a:t>
            </a:r>
          </a:p>
        </p:txBody>
      </p:sp>
      <p:graphicFrame>
        <p:nvGraphicFramePr>
          <p:cNvPr id="19" name="Chart 18"/>
          <p:cNvGraphicFramePr>
            <a:graphicFrameLocks noGrp="1"/>
          </p:cNvGraphicFramePr>
          <p:nvPr/>
        </p:nvGraphicFramePr>
        <p:xfrm>
          <a:off x="6096000" y="2400300"/>
          <a:ext cx="5181600" cy="3390900"/>
        </p:xfrm>
        <a:graphic>
          <a:graphicData uri="http://schemas.openxmlformats.org/drawingml/2006/chart">
            <c:chart xmlns:c="http://schemas.openxmlformats.org/drawingml/2006/chart" r:id="rId2"/>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出典：自社CRMデータ集計（Salesforce）FY2022〜FY2025 / 社内FP&amp;A試算モデル v4.1</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52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3指標のマルチアングル分析が示す通り、エンタープライズ集中戦略が最大収益を生む</a:t>
            </a:r>
          </a:p>
        </p:txBody>
      </p:sp>
      <p:sp>
        <p:nvSpPr>
          <p:cNvPr id="5" name="TextBox 4"/>
          <p:cNvSpPr txBox="1"/>
          <p:nvPr/>
        </p:nvSpPr>
        <p:spPr>
          <a:xfrm>
            <a:off x="685800" y="1524000"/>
            <a:ext cx="10820400" cy="381000"/>
          </a:xfrm>
          <a:prstGeom prst="rect">
            <a:avLst/>
          </a:prstGeom>
          <a:noFill/>
        </p:spPr>
        <p:txBody>
          <a:bodyPr wrap="square">
            <a:spAutoFit/>
          </a:bodyPr>
          <a:lstStyle/>
          <a:p>
            <a:pPr algn="l"/>
            <a:r>
              <a:rPr sz="1800" b="1">
                <a:solidFill>
                  <a:srgbClr val="1A2332"/>
                </a:solidFill>
                <a:latin typeface="Noto Serif JP"/>
                <a:ea typeface="Noto Serif JP"/>
                <a:cs typeface="Noto Serif JP"/>
              </a:rPr>
              <a:t>SMB広域展開より エンタープライズ深耕が IRR・LTV・CAC の全指標で優位</a:t>
            </a:r>
          </a:p>
        </p:txBody>
      </p:sp>
      <p:sp>
        <p:nvSpPr>
          <p:cNvPr id="6" name="Rectangle 5"/>
          <p:cNvSpPr/>
          <p:nvPr/>
        </p:nvSpPr>
        <p:spPr>
          <a:xfrm>
            <a:off x="685800" y="19431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00250"/>
            <a:ext cx="10820400" cy="381000"/>
          </a:xfrm>
          <a:prstGeom prst="rect">
            <a:avLst/>
          </a:prstGeom>
          <a:noFill/>
        </p:spPr>
        <p:txBody>
          <a:bodyPr wrap="square">
            <a:spAutoFit/>
          </a:bodyPr>
          <a:lstStyle/>
          <a:p>
            <a:pPr algn="l"/>
            <a:r>
              <a:rPr sz="975" b="0">
                <a:solidFill>
                  <a:srgbClr val="5A6675"/>
                </a:solidFill>
                <a:latin typeface="Noto Sans JP"/>
                <a:ea typeface="Noto Sans JP"/>
                <a:cs typeface="Noto Sans JP"/>
              </a:rPr>
              <a:t>社内ポートフォリオ分析に基づく試算。仮定：エンタープライズ平均単価¥12M/年、SMB¥1.8M/年。</a:t>
            </a:r>
          </a:p>
        </p:txBody>
      </p:sp>
      <p:sp>
        <p:nvSpPr>
          <p:cNvPr id="8" name="Rectangle 7"/>
          <p:cNvSpPr/>
          <p:nvPr/>
        </p:nvSpPr>
        <p:spPr>
          <a:xfrm>
            <a:off x="685800" y="2590800"/>
            <a:ext cx="3381375" cy="2667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647950"/>
            <a:ext cx="32289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セグメント別ARR推移（億円）</a:t>
            </a:r>
          </a:p>
        </p:txBody>
      </p:sp>
      <p:graphicFrame>
        <p:nvGraphicFramePr>
          <p:cNvPr id="10" name="Chart 9"/>
          <p:cNvGraphicFramePr>
            <a:graphicFrameLocks noGrp="1"/>
          </p:cNvGraphicFramePr>
          <p:nvPr/>
        </p:nvGraphicFramePr>
        <p:xfrm>
          <a:off x="723900" y="2914650"/>
          <a:ext cx="3305175" cy="1905000"/>
        </p:xfrm>
        <a:graphic>
          <a:graphicData uri="http://schemas.openxmlformats.org/drawingml/2006/chart">
            <c:chart xmlns:c="http://schemas.openxmlformats.org/drawingml/2006/chart" r:id="rId2"/>
          </a:graphicData>
        </a:graphic>
      </p:graphicFrame>
      <p:sp>
        <p:nvSpPr>
          <p:cNvPr id="11" name="TextBox 10"/>
          <p:cNvSpPr txBox="1"/>
          <p:nvPr/>
        </p:nvSpPr>
        <p:spPr>
          <a:xfrm>
            <a:off x="762000" y="5048250"/>
            <a:ext cx="3228975" cy="190500"/>
          </a:xfrm>
          <a:prstGeom prst="rect">
            <a:avLst/>
          </a:prstGeom>
          <a:noFill/>
        </p:spPr>
        <p:txBody>
          <a:bodyPr wrap="square">
            <a:spAutoFit/>
          </a:bodyPr>
          <a:lstStyle/>
          <a:p>
            <a:pPr algn="l"/>
            <a:r>
              <a:rPr sz="975" b="0">
                <a:solidFill>
                  <a:srgbClr val="5A6675"/>
                </a:solidFill>
                <a:latin typeface="Noto Sans JP"/>
                <a:ea typeface="Noto Sans JP"/>
                <a:cs typeface="Noto Sans JP"/>
              </a:rPr>
              <a:t>ENT: CAGR 54% / SMB: CAGR 10%</a:t>
            </a:r>
          </a:p>
        </p:txBody>
      </p:sp>
      <p:sp>
        <p:nvSpPr>
          <p:cNvPr id="12" name="Rectangle 11"/>
          <p:cNvSpPr/>
          <p:nvPr/>
        </p:nvSpPr>
        <p:spPr>
          <a:xfrm>
            <a:off x="4295775" y="2590800"/>
            <a:ext cx="3381375" cy="2667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1975" y="2647950"/>
            <a:ext cx="32289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顧客別 LTV/CAC 比率</a:t>
            </a:r>
          </a:p>
        </p:txBody>
      </p:sp>
      <p:graphicFrame>
        <p:nvGraphicFramePr>
          <p:cNvPr id="14" name="Chart 13"/>
          <p:cNvGraphicFramePr>
            <a:graphicFrameLocks noGrp="1"/>
          </p:cNvGraphicFramePr>
          <p:nvPr/>
        </p:nvGraphicFramePr>
        <p:xfrm>
          <a:off x="4333875" y="2914650"/>
          <a:ext cx="3305175" cy="1905000"/>
        </p:xfrm>
        <a:graphic>
          <a:graphicData uri="http://schemas.openxmlformats.org/drawingml/2006/chart">
            <c:chart xmlns:c="http://schemas.openxmlformats.org/drawingml/2006/chart" r:id="rId3"/>
          </a:graphicData>
        </a:graphic>
      </p:graphicFrame>
      <p:sp>
        <p:nvSpPr>
          <p:cNvPr id="15" name="TextBox 14"/>
          <p:cNvSpPr txBox="1"/>
          <p:nvPr/>
        </p:nvSpPr>
        <p:spPr>
          <a:xfrm>
            <a:off x="4371975" y="5048250"/>
            <a:ext cx="3228975" cy="190500"/>
          </a:xfrm>
          <a:prstGeom prst="rect">
            <a:avLst/>
          </a:prstGeom>
          <a:noFill/>
        </p:spPr>
        <p:txBody>
          <a:bodyPr wrap="square">
            <a:spAutoFit/>
          </a:bodyPr>
          <a:lstStyle/>
          <a:p>
            <a:pPr algn="l"/>
            <a:r>
              <a:rPr sz="975" b="0">
                <a:solidFill>
                  <a:srgbClr val="5A6675"/>
                </a:solidFill>
                <a:latin typeface="Noto Sans JP"/>
                <a:ea typeface="Noto Sans JP"/>
                <a:cs typeface="Noto Sans JP"/>
              </a:rPr>
              <a:t>目標閾値 LTV/CAC ≥ 3×</a:t>
            </a:r>
          </a:p>
        </p:txBody>
      </p:sp>
      <p:sp>
        <p:nvSpPr>
          <p:cNvPr id="16" name="Rectangle 15"/>
          <p:cNvSpPr/>
          <p:nvPr/>
        </p:nvSpPr>
        <p:spPr>
          <a:xfrm>
            <a:off x="7896225" y="2590800"/>
            <a:ext cx="3381375" cy="2667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72425" y="2647950"/>
            <a:ext cx="3228975" cy="266700"/>
          </a:xfrm>
          <a:prstGeom prst="rect">
            <a:avLst/>
          </a:prstGeom>
          <a:noFill/>
        </p:spPr>
        <p:txBody>
          <a:bodyPr wrap="square">
            <a:spAutoFit/>
          </a:bodyPr>
          <a:lstStyle/>
          <a:p>
            <a:pPr algn="l"/>
            <a:r>
              <a:rPr sz="1350" b="1">
                <a:solidFill>
                  <a:srgbClr val="1A2332"/>
                </a:solidFill>
                <a:latin typeface="Noto Serif JP"/>
                <a:ea typeface="Noto Serif JP"/>
                <a:cs typeface="Noto Serif JP"/>
              </a:rPr>
              <a:t>解約率推移（月次チャーン %）</a:t>
            </a:r>
          </a:p>
        </p:txBody>
      </p:sp>
      <p:graphicFrame>
        <p:nvGraphicFramePr>
          <p:cNvPr id="18" name="Chart 17"/>
          <p:cNvGraphicFramePr>
            <a:graphicFrameLocks noGrp="1"/>
          </p:cNvGraphicFramePr>
          <p:nvPr/>
        </p:nvGraphicFramePr>
        <p:xfrm>
          <a:off x="7934325" y="2914650"/>
          <a:ext cx="3305175" cy="1905000"/>
        </p:xfrm>
        <a:graphic>
          <a:graphicData uri="http://schemas.openxmlformats.org/drawingml/2006/chart">
            <c:chart xmlns:c="http://schemas.openxmlformats.org/drawingml/2006/chart" r:id="rId4"/>
          </a:graphicData>
        </a:graphic>
      </p:graphicFrame>
      <p:sp>
        <p:nvSpPr>
          <p:cNvPr id="19" name="TextBox 18"/>
          <p:cNvSpPr txBox="1"/>
          <p:nvPr/>
        </p:nvSpPr>
        <p:spPr>
          <a:xfrm>
            <a:off x="7972425" y="5048250"/>
            <a:ext cx="3228975" cy="190500"/>
          </a:xfrm>
          <a:prstGeom prst="rect">
            <a:avLst/>
          </a:prstGeom>
          <a:noFill/>
        </p:spPr>
        <p:txBody>
          <a:bodyPr wrap="square">
            <a:spAutoFit/>
          </a:bodyPr>
          <a:lstStyle/>
          <a:p>
            <a:pPr algn="l"/>
            <a:r>
              <a:rPr sz="975" b="0">
                <a:solidFill>
                  <a:srgbClr val="5A6675"/>
                </a:solidFill>
                <a:latin typeface="Noto Sans JP"/>
                <a:ea typeface="Noto Sans JP"/>
                <a:cs typeface="Noto Sans JP"/>
              </a:rPr>
              <a:t>FY2025 上期。ENT改善傾向 / SMB横ばい</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A84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500" b="1">
                <a:solidFill>
                  <a:srgbClr val="0D1B2A"/>
                </a:solidFill>
                <a:latin typeface="Noto Sans JP"/>
                <a:ea typeface="Noto Sans JP"/>
                <a:cs typeface="Noto Sans JP"/>
              </a:rPr>
              <a:t>⚖️ 比較・価格</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4A5568"/>
                </a:solidFill>
                <a:latin typeface="Noto Sans JP"/>
                <a:ea typeface="Noto Sans JP"/>
                <a:cs typeface="Noto Sans JP"/>
              </a:rPr>
              <a:t>corporate-trust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53 / 98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出典：各社公開資料・自社調査（2026年5月時点）/ ★推奨列</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競合4社との機能比較：自社はコスト対効果と実績で優位</a:t>
            </a:r>
          </a:p>
        </p:txBody>
      </p:sp>
      <p:graphicFrame>
        <p:nvGraphicFramePr>
          <p:cNvPr id="5" name="Table 4"/>
          <p:cNvGraphicFramePr>
            <a:graphicFrameLocks noGrp="1"/>
          </p:cNvGraphicFramePr>
          <p:nvPr/>
        </p:nvGraphicFramePr>
        <p:xfrm>
          <a:off x="685800" y="1524000"/>
          <a:ext cx="10820400" cy="4495800"/>
        </p:xfrm>
        <a:graphic>
          <a:graphicData uri="http://schemas.openxmlformats.org/drawingml/2006/table">
            <a:tbl>
              <a:tblPr firstRow="1" bandRow="1">
                <a:tableStyleId>{5C22544A-7EE6-4342-B048-85BDC9FD1C3A}</a:tableStyleId>
              </a:tblPr>
              <a:tblGrid>
                <a:gridCol w="2164080"/>
                <a:gridCol w="2164080"/>
                <a:gridCol w="2164080"/>
                <a:gridCol w="2164080"/>
                <a:gridCol w="2164080"/>
              </a:tblGrid>
              <a:tr h="642257">
                <a:tc>
                  <a:txBody>
                    <a:bodyPr/>
                    <a:lstStyle/>
                    <a:p>
                      <a:pPr algn="l"/>
                      <a:r>
                        <a:rPr sz="1275" b="1">
                          <a:solidFill>
                            <a:srgbClr val="FFFFFF"/>
                          </a:solidFill>
                          <a:latin typeface="Noto Sans JP"/>
                          <a:ea typeface="Noto Sans JP"/>
                          <a:cs typeface="Noto Sans JP"/>
                        </a:rPr>
                        <a:t>比較軸</a:t>
                      </a:r>
                    </a:p>
                  </a:txBody>
                  <a:tcPr>
                    <a:solidFill>
                      <a:srgbClr val="1565C0"/>
                    </a:solidFill>
                  </a:tcPr>
                </a:tc>
                <a:tc>
                  <a:txBody>
                    <a:bodyPr/>
                    <a:lstStyle/>
                    <a:p>
                      <a:pPr algn="l"/>
                      <a:r>
                        <a:rPr sz="1275" b="1">
                          <a:solidFill>
                            <a:srgbClr val="FFFFFF"/>
                          </a:solidFill>
                          <a:latin typeface="Noto Sans JP"/>
                          <a:ea typeface="Noto Sans JP"/>
                          <a:cs typeface="Noto Sans JP"/>
                        </a:rPr>
                        <a:t>自社 ProSuite</a:t>
                      </a:r>
                    </a:p>
                  </a:txBody>
                  <a:tcPr>
                    <a:solidFill>
                      <a:srgbClr val="1565C0"/>
                    </a:solidFill>
                  </a:tcPr>
                </a:tc>
                <a:tc>
                  <a:txBody>
                    <a:bodyPr/>
                    <a:lstStyle/>
                    <a:p>
                      <a:pPr algn="l"/>
                      <a:r>
                        <a:rPr sz="1275" b="1">
                          <a:solidFill>
                            <a:srgbClr val="FFFFFF"/>
                          </a:solidFill>
                          <a:latin typeface="Noto Sans JP"/>
                          <a:ea typeface="Noto Sans JP"/>
                          <a:cs typeface="Noto Sans JP"/>
                        </a:rPr>
                        <a:t>競合A</a:t>
                      </a:r>
                    </a:p>
                  </a:txBody>
                  <a:tcPr>
                    <a:solidFill>
                      <a:srgbClr val="1565C0"/>
                    </a:solidFill>
                  </a:tcPr>
                </a:tc>
                <a:tc>
                  <a:txBody>
                    <a:bodyPr/>
                    <a:lstStyle/>
                    <a:p>
                      <a:pPr algn="l"/>
                      <a:r>
                        <a:rPr sz="1275" b="1">
                          <a:solidFill>
                            <a:srgbClr val="FFFFFF"/>
                          </a:solidFill>
                          <a:latin typeface="Noto Sans JP"/>
                          <a:ea typeface="Noto Sans JP"/>
                          <a:cs typeface="Noto Sans JP"/>
                        </a:rPr>
                        <a:t>競合B</a:t>
                      </a:r>
                    </a:p>
                  </a:txBody>
                  <a:tcPr>
                    <a:solidFill>
                      <a:srgbClr val="1565C0"/>
                    </a:solidFill>
                  </a:tcPr>
                </a:tc>
                <a:tc>
                  <a:txBody>
                    <a:bodyPr/>
                    <a:lstStyle/>
                    <a:p>
                      <a:pPr algn="l"/>
                      <a:r>
                        <a:rPr sz="1275" b="1">
                          <a:solidFill>
                            <a:srgbClr val="FFFFFF"/>
                          </a:solidFill>
                          <a:latin typeface="Noto Sans JP"/>
                          <a:ea typeface="Noto Sans JP"/>
                          <a:cs typeface="Noto Sans JP"/>
                        </a:rPr>
                        <a:t>競合C</a:t>
                      </a:r>
                    </a:p>
                  </a:txBody>
                  <a:tcPr>
                    <a:solidFill>
                      <a:srgbClr val="1565C0"/>
                    </a:solidFill>
                  </a:tcPr>
                </a:tc>
              </a:tr>
              <a:tr h="642257">
                <a:tc>
                  <a:txBody>
                    <a:bodyPr/>
                    <a:lstStyle/>
                    <a:p>
                      <a:pPr algn="l"/>
                      <a:r>
                        <a:rPr sz="1275" b="0">
                          <a:solidFill>
                            <a:srgbClr val="0D1B2A"/>
                          </a:solidFill>
                          <a:latin typeface="Noto Sans JP"/>
                          <a:ea typeface="Noto Sans JP"/>
                          <a:cs typeface="Noto Sans JP"/>
                        </a:rPr>
                        <a:t>導入実績（社数）</a:t>
                      </a:r>
                    </a:p>
                  </a:txBody>
                  <a:tcPr>
                    <a:solidFill>
                      <a:srgbClr val="FFFFFF"/>
                    </a:solidFill>
                  </a:tcPr>
                </a:tc>
                <a:tc>
                  <a:txBody>
                    <a:bodyPr/>
                    <a:lstStyle/>
                    <a:p>
                      <a:pPr algn="l"/>
                      <a:r>
                        <a:rPr sz="1275" b="0">
                          <a:solidFill>
                            <a:srgbClr val="0D1B2A"/>
                          </a:solidFill>
                          <a:latin typeface="Noto Sans JP"/>
                          <a:ea typeface="Noto Sans JP"/>
                          <a:cs typeface="Noto Sans JP"/>
                        </a:rPr>
                        <a:t>1,200社以上</a:t>
                      </a:r>
                    </a:p>
                  </a:txBody>
                  <a:tcPr>
                    <a:solidFill>
                      <a:srgbClr val="FFFFFF"/>
                    </a:solidFill>
                  </a:tcPr>
                </a:tc>
                <a:tc>
                  <a:txBody>
                    <a:bodyPr/>
                    <a:lstStyle/>
                    <a:p>
                      <a:pPr algn="l"/>
                      <a:r>
                        <a:rPr sz="1275" b="0">
                          <a:solidFill>
                            <a:srgbClr val="0D1B2A"/>
                          </a:solidFill>
                          <a:latin typeface="Noto Sans JP"/>
                          <a:ea typeface="Noto Sans JP"/>
                          <a:cs typeface="Noto Sans JP"/>
                        </a:rPr>
                        <a:t>890社</a:t>
                      </a:r>
                    </a:p>
                  </a:txBody>
                  <a:tcPr>
                    <a:solidFill>
                      <a:srgbClr val="D6E2F0"/>
                    </a:solidFill>
                  </a:tcPr>
                </a:tc>
                <a:tc>
                  <a:txBody>
                    <a:bodyPr/>
                    <a:lstStyle/>
                    <a:p>
                      <a:pPr algn="l"/>
                      <a:r>
                        <a:rPr sz="1275" b="0">
                          <a:solidFill>
                            <a:srgbClr val="0D1B2A"/>
                          </a:solidFill>
                          <a:latin typeface="Noto Sans JP"/>
                          <a:ea typeface="Noto Sans JP"/>
                          <a:cs typeface="Noto Sans JP"/>
                        </a:rPr>
                        <a:t>410社</a:t>
                      </a:r>
                    </a:p>
                  </a:txBody>
                  <a:tcPr>
                    <a:solidFill>
                      <a:srgbClr val="FFFFFF"/>
                    </a:solidFill>
                  </a:tcPr>
                </a:tc>
                <a:tc>
                  <a:txBody>
                    <a:bodyPr/>
                    <a:lstStyle/>
                    <a:p>
                      <a:pPr algn="l"/>
                      <a:r>
                        <a:rPr sz="1275" b="0">
                          <a:solidFill>
                            <a:srgbClr val="0D1B2A"/>
                          </a:solidFill>
                          <a:latin typeface="Noto Sans JP"/>
                          <a:ea typeface="Noto Sans JP"/>
                          <a:cs typeface="Noto Sans JP"/>
                        </a:rPr>
                        <a:t>230社</a:t>
                      </a:r>
                    </a:p>
                  </a:txBody>
                  <a:tcPr>
                    <a:solidFill>
                      <a:srgbClr val="FFFFFF"/>
                    </a:solidFill>
                  </a:tcPr>
                </a:tc>
              </a:tr>
              <a:tr h="642257">
                <a:tc>
                  <a:txBody>
                    <a:bodyPr/>
                    <a:lstStyle/>
                    <a:p>
                      <a:pPr algn="l"/>
                      <a:r>
                        <a:rPr sz="1275" b="0">
                          <a:solidFill>
                            <a:srgbClr val="0D1B2A"/>
                          </a:solidFill>
                          <a:latin typeface="Noto Sans JP"/>
                          <a:ea typeface="Noto Sans JP"/>
                          <a:cs typeface="Noto Sans JP"/>
                        </a:rPr>
                        <a:t>日本語サポート</a:t>
                      </a:r>
                    </a:p>
                  </a:txBody>
                  <a:tcPr>
                    <a:solidFill>
                      <a:srgbClr val="D6E2F0"/>
                    </a:solidFill>
                  </a:tcPr>
                </a:tc>
                <a:tc>
                  <a:txBody>
                    <a:bodyPr/>
                    <a:lstStyle/>
                    <a:p>
                      <a:pPr algn="l"/>
                      <a:r>
                        <a:rPr sz="1275" b="0">
                          <a:solidFill>
                            <a:srgbClr val="0D1B2A"/>
                          </a:solidFill>
                          <a:latin typeface="Noto Sans JP"/>
                          <a:ea typeface="Noto Sans JP"/>
                          <a:cs typeface="Noto Sans JP"/>
                        </a:rPr>
                        <a:t>専任24時間対応</a:t>
                      </a:r>
                    </a:p>
                  </a:txBody>
                  <a:tcPr>
                    <a:solidFill>
                      <a:srgbClr val="D6E2F0"/>
                    </a:solidFill>
                  </a:tcPr>
                </a:tc>
                <a:tc>
                  <a:txBody>
                    <a:bodyPr/>
                    <a:lstStyle/>
                    <a:p>
                      <a:pPr algn="l"/>
                      <a:r>
                        <a:rPr sz="1275" b="0">
                          <a:solidFill>
                            <a:srgbClr val="0D1B2A"/>
                          </a:solidFill>
                          <a:latin typeface="Noto Sans JP"/>
                          <a:ea typeface="Noto Sans JP"/>
                          <a:cs typeface="Noto Sans JP"/>
                        </a:rPr>
                        <a:t>メールのみ</a:t>
                      </a:r>
                    </a:p>
                  </a:txBody>
                  <a:tcPr>
                    <a:solidFill>
                      <a:srgbClr val="D6E2F0"/>
                    </a:solidFill>
                  </a:tcPr>
                </a:tc>
                <a:tc>
                  <a:txBody>
                    <a:bodyPr/>
                    <a:lstStyle/>
                    <a:p>
                      <a:pPr algn="l"/>
                      <a:r>
                        <a:rPr sz="1275" b="0">
                          <a:solidFill>
                            <a:srgbClr val="0D1B2A"/>
                          </a:solidFill>
                          <a:latin typeface="Noto Sans JP"/>
                          <a:ea typeface="Noto Sans JP"/>
                          <a:cs typeface="Noto Sans JP"/>
                        </a:rPr>
                        <a:t>有（9-18時）</a:t>
                      </a:r>
                    </a:p>
                  </a:txBody>
                  <a:tcPr>
                    <a:solidFill>
                      <a:srgbClr val="D6E2F0"/>
                    </a:solidFill>
                  </a:tcPr>
                </a:tc>
                <a:tc>
                  <a:txBody>
                    <a:bodyPr/>
                    <a:lstStyle/>
                    <a:p>
                      <a:pPr algn="l"/>
                      <a:r>
                        <a:rPr sz="1275" b="0">
                          <a:solidFill>
                            <a:srgbClr val="0D1B2A"/>
                          </a:solidFill>
                          <a:latin typeface="Noto Sans JP"/>
                          <a:ea typeface="Noto Sans JP"/>
                          <a:cs typeface="Noto Sans JP"/>
                        </a:rPr>
                        <a:t>なし</a:t>
                      </a:r>
                    </a:p>
                  </a:txBody>
                  <a:tcPr>
                    <a:solidFill>
                      <a:srgbClr val="D6E2F0"/>
                    </a:solidFill>
                  </a:tcPr>
                </a:tc>
              </a:tr>
              <a:tr h="642257">
                <a:tc>
                  <a:txBody>
                    <a:bodyPr/>
                    <a:lstStyle/>
                    <a:p>
                      <a:pPr algn="l"/>
                      <a:r>
                        <a:rPr sz="1275" b="0">
                          <a:solidFill>
                            <a:srgbClr val="0D1B2A"/>
                          </a:solidFill>
                          <a:latin typeface="Noto Sans JP"/>
                          <a:ea typeface="Noto Sans JP"/>
                          <a:cs typeface="Noto Sans JP"/>
                        </a:rPr>
                        <a:t>API連携数</a:t>
                      </a:r>
                    </a:p>
                  </a:txBody>
                  <a:tcPr>
                    <a:solidFill>
                      <a:srgbClr val="FFFFFF"/>
                    </a:solidFill>
                  </a:tcPr>
                </a:tc>
                <a:tc>
                  <a:txBody>
                    <a:bodyPr/>
                    <a:lstStyle/>
                    <a:p>
                      <a:pPr algn="l"/>
                      <a:r>
                        <a:rPr sz="1275" b="0">
                          <a:solidFill>
                            <a:srgbClr val="0D1B2A"/>
                          </a:solidFill>
                          <a:latin typeface="Noto Sans JP"/>
                          <a:ea typeface="Noto Sans JP"/>
                          <a:cs typeface="Noto Sans JP"/>
                        </a:rPr>
                        <a:t>280+</a:t>
                      </a:r>
                    </a:p>
                  </a:txBody>
                  <a:tcPr>
                    <a:solidFill>
                      <a:srgbClr val="FFFFFF"/>
                    </a:solidFill>
                  </a:tcPr>
                </a:tc>
                <a:tc>
                  <a:txBody>
                    <a:bodyPr/>
                    <a:lstStyle/>
                    <a:p>
                      <a:pPr algn="l"/>
                      <a:r>
                        <a:rPr sz="1275" b="0">
                          <a:solidFill>
                            <a:srgbClr val="0D1B2A"/>
                          </a:solidFill>
                          <a:latin typeface="Noto Sans JP"/>
                          <a:ea typeface="Noto Sans JP"/>
                          <a:cs typeface="Noto Sans JP"/>
                        </a:rPr>
                        <a:t>150</a:t>
                      </a:r>
                    </a:p>
                  </a:txBody>
                  <a:tcPr>
                    <a:solidFill>
                      <a:srgbClr val="D6E2F0"/>
                    </a:solidFill>
                  </a:tcPr>
                </a:tc>
                <a:tc>
                  <a:txBody>
                    <a:bodyPr/>
                    <a:lstStyle/>
                    <a:p>
                      <a:pPr algn="l"/>
                      <a:r>
                        <a:rPr sz="1275" b="0">
                          <a:solidFill>
                            <a:srgbClr val="0D1B2A"/>
                          </a:solidFill>
                          <a:latin typeface="Noto Sans JP"/>
                          <a:ea typeface="Noto Sans JP"/>
                          <a:cs typeface="Noto Sans JP"/>
                        </a:rPr>
                        <a:t>95</a:t>
                      </a:r>
                    </a:p>
                  </a:txBody>
                  <a:tcPr>
                    <a:solidFill>
                      <a:srgbClr val="FFFFFF"/>
                    </a:solidFill>
                  </a:tcPr>
                </a:tc>
                <a:tc>
                  <a:txBody>
                    <a:bodyPr/>
                    <a:lstStyle/>
                    <a:p>
                      <a:pPr algn="l"/>
                      <a:r>
                        <a:rPr sz="1275" b="0">
                          <a:solidFill>
                            <a:srgbClr val="0D1B2A"/>
                          </a:solidFill>
                          <a:latin typeface="Noto Sans JP"/>
                          <a:ea typeface="Noto Sans JP"/>
                          <a:cs typeface="Noto Sans JP"/>
                        </a:rPr>
                        <a:t>42</a:t>
                      </a:r>
                    </a:p>
                  </a:txBody>
                  <a:tcPr>
                    <a:solidFill>
                      <a:srgbClr val="FFFFFF"/>
                    </a:solidFill>
                  </a:tcPr>
                </a:tc>
              </a:tr>
              <a:tr h="642257">
                <a:tc>
                  <a:txBody>
                    <a:bodyPr/>
                    <a:lstStyle/>
                    <a:p>
                      <a:pPr algn="l"/>
                      <a:r>
                        <a:rPr sz="1275" b="0">
                          <a:solidFill>
                            <a:srgbClr val="0D1B2A"/>
                          </a:solidFill>
                          <a:latin typeface="Noto Sans JP"/>
                          <a:ea typeface="Noto Sans JP"/>
                          <a:cs typeface="Noto Sans JP"/>
                        </a:rPr>
                        <a:t>月額最低料金（税抜）</a:t>
                      </a:r>
                    </a:p>
                  </a:txBody>
                  <a:tcPr>
                    <a:solidFill>
                      <a:srgbClr val="D6E2F0"/>
                    </a:solidFill>
                  </a:tcPr>
                </a:tc>
                <a:tc>
                  <a:txBody>
                    <a:bodyPr/>
                    <a:lstStyle/>
                    <a:p>
                      <a:pPr algn="l"/>
                      <a:r>
                        <a:rPr sz="1275" b="0">
                          <a:solidFill>
                            <a:srgbClr val="0D1B2A"/>
                          </a:solidFill>
                          <a:latin typeface="Noto Sans JP"/>
                          <a:ea typeface="Noto Sans JP"/>
                          <a:cs typeface="Noto Sans JP"/>
                        </a:rPr>
                        <a:t>¥24,800〜</a:t>
                      </a:r>
                    </a:p>
                  </a:txBody>
                  <a:tcPr>
                    <a:solidFill>
                      <a:srgbClr val="D6E2F0"/>
                    </a:solidFill>
                  </a:tcPr>
                </a:tc>
                <a:tc>
                  <a:txBody>
                    <a:bodyPr/>
                    <a:lstStyle/>
                    <a:p>
                      <a:pPr algn="l"/>
                      <a:r>
                        <a:rPr sz="1275" b="0">
                          <a:solidFill>
                            <a:srgbClr val="0D1B2A"/>
                          </a:solidFill>
                          <a:latin typeface="Noto Sans JP"/>
                          <a:ea typeface="Noto Sans JP"/>
                          <a:cs typeface="Noto Sans JP"/>
                        </a:rPr>
                        <a:t>¥29,800〜</a:t>
                      </a:r>
                    </a:p>
                  </a:txBody>
                  <a:tcPr>
                    <a:solidFill>
                      <a:srgbClr val="D6E2F0"/>
                    </a:solidFill>
                  </a:tcPr>
                </a:tc>
                <a:tc>
                  <a:txBody>
                    <a:bodyPr/>
                    <a:lstStyle/>
                    <a:p>
                      <a:pPr algn="l"/>
                      <a:r>
                        <a:rPr sz="1275" b="0">
                          <a:solidFill>
                            <a:srgbClr val="0D1B2A"/>
                          </a:solidFill>
                          <a:latin typeface="Noto Sans JP"/>
                          <a:ea typeface="Noto Sans JP"/>
                          <a:cs typeface="Noto Sans JP"/>
                        </a:rPr>
                        <a:t>¥18,000〜</a:t>
                      </a:r>
                    </a:p>
                  </a:txBody>
                  <a:tcPr>
                    <a:solidFill>
                      <a:srgbClr val="D6E2F0"/>
                    </a:solidFill>
                  </a:tcPr>
                </a:tc>
                <a:tc>
                  <a:txBody>
                    <a:bodyPr/>
                    <a:lstStyle/>
                    <a:p>
                      <a:pPr algn="l"/>
                      <a:r>
                        <a:rPr sz="1275" b="0">
                          <a:solidFill>
                            <a:srgbClr val="0D1B2A"/>
                          </a:solidFill>
                          <a:latin typeface="Noto Sans JP"/>
                          <a:ea typeface="Noto Sans JP"/>
                          <a:cs typeface="Noto Sans JP"/>
                        </a:rPr>
                        <a:t>¥12,000〜</a:t>
                      </a:r>
                    </a:p>
                  </a:txBody>
                  <a:tcPr>
                    <a:solidFill>
                      <a:srgbClr val="D6E2F0"/>
                    </a:solidFill>
                  </a:tcPr>
                </a:tc>
              </a:tr>
              <a:tr h="642257">
                <a:tc>
                  <a:txBody>
                    <a:bodyPr/>
                    <a:lstStyle/>
                    <a:p>
                      <a:pPr algn="l"/>
                      <a:r>
                        <a:rPr sz="1275" b="0">
                          <a:solidFill>
                            <a:srgbClr val="0D1B2A"/>
                          </a:solidFill>
                          <a:latin typeface="Noto Sans JP"/>
                          <a:ea typeface="Noto Sans JP"/>
                          <a:cs typeface="Noto Sans JP"/>
                        </a:rPr>
                        <a:t>SLA保証（稼働率）</a:t>
                      </a:r>
                    </a:p>
                  </a:txBody>
                  <a:tcPr>
                    <a:solidFill>
                      <a:srgbClr val="FFFFFF"/>
                    </a:solidFill>
                  </a:tcPr>
                </a:tc>
                <a:tc>
                  <a:txBody>
                    <a:bodyPr/>
                    <a:lstStyle/>
                    <a:p>
                      <a:pPr algn="l"/>
                      <a:r>
                        <a:rPr sz="1275" b="0">
                          <a:solidFill>
                            <a:srgbClr val="0D1B2A"/>
                          </a:solidFill>
                          <a:latin typeface="Noto Sans JP"/>
                          <a:ea typeface="Noto Sans JP"/>
                          <a:cs typeface="Noto Sans JP"/>
                        </a:rPr>
                        <a:t>99.9%</a:t>
                      </a:r>
                    </a:p>
                  </a:txBody>
                  <a:tcPr>
                    <a:solidFill>
                      <a:srgbClr val="FFFFFF"/>
                    </a:solidFill>
                  </a:tcPr>
                </a:tc>
                <a:tc>
                  <a:txBody>
                    <a:bodyPr/>
                    <a:lstStyle/>
                    <a:p>
                      <a:pPr algn="l"/>
                      <a:r>
                        <a:rPr sz="1275" b="0">
                          <a:solidFill>
                            <a:srgbClr val="0D1B2A"/>
                          </a:solidFill>
                          <a:latin typeface="Noto Sans JP"/>
                          <a:ea typeface="Noto Sans JP"/>
                          <a:cs typeface="Noto Sans JP"/>
                        </a:rPr>
                        <a:t>99.5%</a:t>
                      </a:r>
                    </a:p>
                  </a:txBody>
                  <a:tcPr>
                    <a:solidFill>
                      <a:srgbClr val="D6E2F0"/>
                    </a:solidFill>
                  </a:tcPr>
                </a:tc>
                <a:tc>
                  <a:txBody>
                    <a:bodyPr/>
                    <a:lstStyle/>
                    <a:p>
                      <a:pPr algn="l"/>
                      <a:r>
                        <a:rPr sz="1275" b="0">
                          <a:solidFill>
                            <a:srgbClr val="0D1B2A"/>
                          </a:solidFill>
                          <a:latin typeface="Noto Sans JP"/>
                          <a:ea typeface="Noto Sans JP"/>
                          <a:cs typeface="Noto Sans JP"/>
                        </a:rPr>
                        <a:t>99.0%</a:t>
                      </a:r>
                    </a:p>
                  </a:txBody>
                  <a:tcPr>
                    <a:solidFill>
                      <a:srgbClr val="FFFFFF"/>
                    </a:solidFill>
                  </a:tcPr>
                </a:tc>
                <a:tc>
                  <a:txBody>
                    <a:bodyPr/>
                    <a:lstStyle/>
                    <a:p>
                      <a:pPr algn="l"/>
                      <a:r>
                        <a:rPr sz="1275" b="0">
                          <a:solidFill>
                            <a:srgbClr val="0D1B2A"/>
                          </a:solidFill>
                          <a:latin typeface="Noto Sans JP"/>
                          <a:ea typeface="Noto Sans JP"/>
                          <a:cs typeface="Noto Sans JP"/>
                        </a:rPr>
                        <a:t>98.5%</a:t>
                      </a:r>
                    </a:p>
                  </a:txBody>
                  <a:tcPr>
                    <a:solidFill>
                      <a:srgbClr val="FFFFFF"/>
                    </a:solidFill>
                  </a:tcPr>
                </a:tc>
              </a:tr>
              <a:tr h="642258">
                <a:tc>
                  <a:txBody>
                    <a:bodyPr/>
                    <a:lstStyle/>
                    <a:p>
                      <a:pPr algn="l"/>
                      <a:r>
                        <a:rPr sz="1275" b="0">
                          <a:solidFill>
                            <a:srgbClr val="0D1B2A"/>
                          </a:solidFill>
                          <a:latin typeface="Noto Sans JP"/>
                          <a:ea typeface="Noto Sans JP"/>
                          <a:cs typeface="Noto Sans JP"/>
                        </a:rPr>
                        <a:t>セキュリティ認証</a:t>
                      </a:r>
                    </a:p>
                  </a:txBody>
                  <a:tcPr>
                    <a:solidFill>
                      <a:srgbClr val="D6E2F0"/>
                    </a:solidFill>
                  </a:tcPr>
                </a:tc>
                <a:tc>
                  <a:txBody>
                    <a:bodyPr/>
                    <a:lstStyle/>
                    <a:p>
                      <a:pPr algn="l"/>
                      <a:r>
                        <a:rPr sz="1275" b="0">
                          <a:solidFill>
                            <a:srgbClr val="0D1B2A"/>
                          </a:solidFill>
                          <a:latin typeface="Noto Sans JP"/>
                          <a:ea typeface="Noto Sans JP"/>
                          <a:cs typeface="Noto Sans JP"/>
                        </a:rPr>
                        <a:t>ISO 27001 / SOC2</a:t>
                      </a:r>
                    </a:p>
                  </a:txBody>
                  <a:tcPr>
                    <a:solidFill>
                      <a:srgbClr val="D6E2F0"/>
                    </a:solidFill>
                  </a:tcPr>
                </a:tc>
                <a:tc>
                  <a:txBody>
                    <a:bodyPr/>
                    <a:lstStyle/>
                    <a:p>
                      <a:pPr algn="l"/>
                      <a:r>
                        <a:rPr sz="1275" b="0">
                          <a:solidFill>
                            <a:srgbClr val="0D1B2A"/>
                          </a:solidFill>
                          <a:latin typeface="Noto Sans JP"/>
                          <a:ea typeface="Noto Sans JP"/>
                          <a:cs typeface="Noto Sans JP"/>
                        </a:rPr>
                        <a:t>ISO 27001</a:t>
                      </a:r>
                    </a:p>
                  </a:txBody>
                  <a:tcPr>
                    <a:solidFill>
                      <a:srgbClr val="D6E2F0"/>
                    </a:solidFill>
                  </a:tcPr>
                </a:tc>
                <a:tc>
                  <a:txBody>
                    <a:bodyPr/>
                    <a:lstStyle/>
                    <a:p>
                      <a:pPr algn="l"/>
                      <a:r>
                        <a:rPr sz="1275" b="0">
                          <a:solidFill>
                            <a:srgbClr val="0D1B2A"/>
                          </a:solidFill>
                          <a:latin typeface="Noto Sans JP"/>
                          <a:ea typeface="Noto Sans JP"/>
                          <a:cs typeface="Noto Sans JP"/>
                        </a:rPr>
                        <a:t>なし</a:t>
                      </a:r>
                    </a:p>
                  </a:txBody>
                  <a:tcPr>
                    <a:solidFill>
                      <a:srgbClr val="D6E2F0"/>
                    </a:solidFill>
                  </a:tcPr>
                </a:tc>
                <a:tc>
                  <a:txBody>
                    <a:bodyPr/>
                    <a:lstStyle/>
                    <a:p>
                      <a:pPr algn="l"/>
                      <a:r>
                        <a:rPr sz="1275" b="0">
                          <a:solidFill>
                            <a:srgbClr val="0D1B2A"/>
                          </a:solidFill>
                          <a:latin typeface="Noto Sans JP"/>
                          <a:ea typeface="Noto Sans JP"/>
                          <a:cs typeface="Noto Sans JP"/>
                        </a:rPr>
                        <a:t>なし</a:t>
                      </a:r>
                    </a:p>
                  </a:txBody>
                  <a:tcPr>
                    <a:solidFill>
                      <a:srgbClr val="D6E2F0"/>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出典：自社価格表 v3.2（2026年6月改定）/ 税抜表示・年間契約割引 10%別途</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55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3プラン体制で中小企業から大企業まで最適な導入を実現</a:t>
            </a:r>
          </a:p>
        </p:txBody>
      </p:sp>
      <p:sp>
        <p:nvSpPr>
          <p:cNvPr id="5" name="Rectangle 4"/>
          <p:cNvSpPr/>
          <p:nvPr/>
        </p:nvSpPr>
        <p:spPr>
          <a:xfrm>
            <a:off x="685800" y="1524000"/>
            <a:ext cx="3457575"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1676400"/>
            <a:ext cx="3152775" cy="304800"/>
          </a:xfrm>
          <a:prstGeom prst="rect">
            <a:avLst/>
          </a:prstGeom>
          <a:noFill/>
        </p:spPr>
        <p:txBody>
          <a:bodyPr wrap="square">
            <a:spAutoFit/>
          </a:bodyPr>
          <a:lstStyle/>
          <a:p>
            <a:pPr algn="l"/>
            <a:r>
              <a:rPr sz="1500" b="1">
                <a:solidFill>
                  <a:srgbClr val="0D1B2A"/>
                </a:solidFill>
                <a:latin typeface="Noto Sans JP"/>
                <a:ea typeface="Noto Sans JP"/>
                <a:cs typeface="Noto Sans JP"/>
              </a:rPr>
              <a:t>スターターライト</a:t>
            </a:r>
          </a:p>
        </p:txBody>
      </p:sp>
      <p:sp>
        <p:nvSpPr>
          <p:cNvPr id="7" name="TextBox 6"/>
          <p:cNvSpPr txBox="1"/>
          <p:nvPr/>
        </p:nvSpPr>
        <p:spPr>
          <a:xfrm>
            <a:off x="838200" y="2019300"/>
            <a:ext cx="3152775" cy="419100"/>
          </a:xfrm>
          <a:prstGeom prst="rect">
            <a:avLst/>
          </a:prstGeom>
          <a:noFill/>
        </p:spPr>
        <p:txBody>
          <a:bodyPr wrap="square">
            <a:spAutoFit/>
          </a:bodyPr>
          <a:lstStyle/>
          <a:p>
            <a:pPr algn="l"/>
            <a:r>
              <a:rPr sz="2400" b="1">
                <a:solidFill>
                  <a:srgbClr val="0D1B2A"/>
                </a:solidFill>
                <a:latin typeface="Noto Sans JP"/>
                <a:ea typeface="Noto Sans JP"/>
                <a:cs typeface="Noto Sans JP"/>
              </a:rPr>
              <a:t>¥9,800</a:t>
            </a:r>
          </a:p>
        </p:txBody>
      </p:sp>
      <p:sp>
        <p:nvSpPr>
          <p:cNvPr id="8" name="TextBox 7"/>
          <p:cNvSpPr txBox="1"/>
          <p:nvPr/>
        </p:nvSpPr>
        <p:spPr>
          <a:xfrm>
            <a:off x="838200" y="2476500"/>
            <a:ext cx="315277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月（税抜）・最大5ユーザー</a:t>
            </a:r>
          </a:p>
        </p:txBody>
      </p:sp>
      <p:sp>
        <p:nvSpPr>
          <p:cNvPr id="9" name="TextBox 8"/>
          <p:cNvSpPr txBox="1"/>
          <p:nvPr/>
        </p:nvSpPr>
        <p:spPr>
          <a:xfrm>
            <a:off x="838200" y="27432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・基本ダッシュボード（3種）</a:t>
            </a:r>
          </a:p>
        </p:txBody>
      </p:sp>
      <p:sp>
        <p:nvSpPr>
          <p:cNvPr id="10" name="TextBox 9"/>
          <p:cNvSpPr txBox="1"/>
          <p:nvPr/>
        </p:nvSpPr>
        <p:spPr>
          <a:xfrm>
            <a:off x="838200" y="30099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・CSVエクスポート</a:t>
            </a:r>
          </a:p>
        </p:txBody>
      </p:sp>
      <p:sp>
        <p:nvSpPr>
          <p:cNvPr id="11" name="TextBox 10"/>
          <p:cNvSpPr txBox="1"/>
          <p:nvPr/>
        </p:nvSpPr>
        <p:spPr>
          <a:xfrm>
            <a:off x="838200" y="32766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・メールサポート（48時間以内）</a:t>
            </a:r>
          </a:p>
        </p:txBody>
      </p:sp>
      <p:sp>
        <p:nvSpPr>
          <p:cNvPr id="12" name="TextBox 11"/>
          <p:cNvSpPr txBox="1"/>
          <p:nvPr/>
        </p:nvSpPr>
        <p:spPr>
          <a:xfrm>
            <a:off x="838200" y="35433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・データ保存 12ヶ月</a:t>
            </a:r>
          </a:p>
        </p:txBody>
      </p:sp>
      <p:sp>
        <p:nvSpPr>
          <p:cNvPr id="13" name="Rectangle 12"/>
          <p:cNvSpPr/>
          <p:nvPr/>
        </p:nvSpPr>
        <p:spPr>
          <a:xfrm>
            <a:off x="4371975" y="1524000"/>
            <a:ext cx="3457575" cy="4572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4375" y="1676400"/>
            <a:ext cx="3152775" cy="19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4375" y="1676400"/>
            <a:ext cx="3152775" cy="190500"/>
          </a:xfrm>
          <a:prstGeom prst="rect">
            <a:avLst/>
          </a:prstGeom>
          <a:noFill/>
        </p:spPr>
        <p:txBody>
          <a:bodyPr wrap="square">
            <a:spAutoFit/>
          </a:bodyPr>
          <a:lstStyle/>
          <a:p>
            <a:pPr algn="ctr"/>
            <a:r>
              <a:rPr sz="900" b="1">
                <a:solidFill>
                  <a:srgbClr val="1565C0"/>
                </a:solidFill>
                <a:latin typeface="Noto Sans JP"/>
                <a:ea typeface="Noto Sans JP"/>
                <a:cs typeface="Noto Sans JP"/>
              </a:rPr>
              <a:t>おすすめ</a:t>
            </a:r>
          </a:p>
        </p:txBody>
      </p:sp>
      <p:sp>
        <p:nvSpPr>
          <p:cNvPr id="16" name="TextBox 15"/>
          <p:cNvSpPr txBox="1"/>
          <p:nvPr/>
        </p:nvSpPr>
        <p:spPr>
          <a:xfrm>
            <a:off x="4524375" y="1924050"/>
            <a:ext cx="3152775" cy="304800"/>
          </a:xfrm>
          <a:prstGeom prst="rect">
            <a:avLst/>
          </a:prstGeom>
          <a:noFill/>
        </p:spPr>
        <p:txBody>
          <a:bodyPr wrap="square">
            <a:spAutoFit/>
          </a:bodyPr>
          <a:lstStyle/>
          <a:p>
            <a:pPr algn="l"/>
            <a:r>
              <a:rPr sz="1500" b="1">
                <a:solidFill>
                  <a:srgbClr val="FFFFFF"/>
                </a:solidFill>
                <a:latin typeface="Noto Sans JP"/>
                <a:ea typeface="Noto Sans JP"/>
                <a:cs typeface="Noto Sans JP"/>
              </a:rPr>
              <a:t>ビジネスプロ</a:t>
            </a:r>
          </a:p>
        </p:txBody>
      </p:sp>
      <p:sp>
        <p:nvSpPr>
          <p:cNvPr id="17" name="TextBox 16"/>
          <p:cNvSpPr txBox="1"/>
          <p:nvPr/>
        </p:nvSpPr>
        <p:spPr>
          <a:xfrm>
            <a:off x="4524375" y="2266950"/>
            <a:ext cx="3152775" cy="419100"/>
          </a:xfrm>
          <a:prstGeom prst="rect">
            <a:avLst/>
          </a:prstGeom>
          <a:noFill/>
        </p:spPr>
        <p:txBody>
          <a:bodyPr wrap="square">
            <a:spAutoFit/>
          </a:bodyPr>
          <a:lstStyle/>
          <a:p>
            <a:pPr algn="l"/>
            <a:r>
              <a:rPr sz="2400" b="1">
                <a:solidFill>
                  <a:srgbClr val="FFFFFF"/>
                </a:solidFill>
                <a:latin typeface="Noto Sans JP"/>
                <a:ea typeface="Noto Sans JP"/>
                <a:cs typeface="Noto Sans JP"/>
              </a:rPr>
              <a:t>¥24,800</a:t>
            </a:r>
          </a:p>
        </p:txBody>
      </p:sp>
      <p:sp>
        <p:nvSpPr>
          <p:cNvPr id="18" name="TextBox 17"/>
          <p:cNvSpPr txBox="1"/>
          <p:nvPr/>
        </p:nvSpPr>
        <p:spPr>
          <a:xfrm>
            <a:off x="4524375" y="2724150"/>
            <a:ext cx="3152775" cy="190500"/>
          </a:xfrm>
          <a:prstGeom prst="rect">
            <a:avLst/>
          </a:prstGeom>
          <a:noFill/>
        </p:spPr>
        <p:txBody>
          <a:bodyPr wrap="square">
            <a:spAutoFit/>
          </a:bodyPr>
          <a:lstStyle/>
          <a:p>
            <a:pPr algn="l"/>
            <a:r>
              <a:rPr sz="900" b="0">
                <a:solidFill>
                  <a:srgbClr val="FFFFFF"/>
                </a:solidFill>
                <a:latin typeface="Noto Sans JP"/>
                <a:ea typeface="Noto Sans JP"/>
                <a:cs typeface="Noto Sans JP"/>
              </a:rPr>
              <a:t>/ 月（税抜）・最大30ユーザー</a:t>
            </a:r>
          </a:p>
        </p:txBody>
      </p:sp>
      <p:sp>
        <p:nvSpPr>
          <p:cNvPr id="19" name="TextBox 18"/>
          <p:cNvSpPr txBox="1"/>
          <p:nvPr/>
        </p:nvSpPr>
        <p:spPr>
          <a:xfrm>
            <a:off x="4524375" y="2990850"/>
            <a:ext cx="3152775" cy="266700"/>
          </a:xfrm>
          <a:prstGeom prst="rect">
            <a:avLst/>
          </a:prstGeom>
          <a:noFill/>
        </p:spPr>
        <p:txBody>
          <a:bodyPr wrap="square">
            <a:spAutoFit/>
          </a:bodyPr>
          <a:lstStyle/>
          <a:p>
            <a:pPr algn="l"/>
            <a:r>
              <a:rPr sz="975" b="0">
                <a:solidFill>
                  <a:srgbClr val="FFFFFF"/>
                </a:solidFill>
                <a:latin typeface="Noto Sans JP"/>
                <a:ea typeface="Noto Sans JP"/>
                <a:cs typeface="Noto Sans JP"/>
              </a:rPr>
              <a:t>・全ダッシュボード（20種以上）</a:t>
            </a:r>
          </a:p>
        </p:txBody>
      </p:sp>
      <p:sp>
        <p:nvSpPr>
          <p:cNvPr id="20" name="TextBox 19"/>
          <p:cNvSpPr txBox="1"/>
          <p:nvPr/>
        </p:nvSpPr>
        <p:spPr>
          <a:xfrm>
            <a:off x="4524375" y="3257550"/>
            <a:ext cx="3152775" cy="266700"/>
          </a:xfrm>
          <a:prstGeom prst="rect">
            <a:avLst/>
          </a:prstGeom>
          <a:noFill/>
        </p:spPr>
        <p:txBody>
          <a:bodyPr wrap="square">
            <a:spAutoFit/>
          </a:bodyPr>
          <a:lstStyle/>
          <a:p>
            <a:pPr algn="l"/>
            <a:r>
              <a:rPr sz="975" b="0">
                <a:solidFill>
                  <a:srgbClr val="FFFFFF"/>
                </a:solidFill>
                <a:latin typeface="Noto Sans JP"/>
                <a:ea typeface="Noto Sans JP"/>
                <a:cs typeface="Noto Sans JP"/>
              </a:rPr>
              <a:t>・API連携 50件</a:t>
            </a:r>
          </a:p>
        </p:txBody>
      </p:sp>
      <p:sp>
        <p:nvSpPr>
          <p:cNvPr id="21" name="TextBox 20"/>
          <p:cNvSpPr txBox="1"/>
          <p:nvPr/>
        </p:nvSpPr>
        <p:spPr>
          <a:xfrm>
            <a:off x="4524375" y="3524250"/>
            <a:ext cx="3152775" cy="266700"/>
          </a:xfrm>
          <a:prstGeom prst="rect">
            <a:avLst/>
          </a:prstGeom>
          <a:noFill/>
        </p:spPr>
        <p:txBody>
          <a:bodyPr wrap="square">
            <a:spAutoFit/>
          </a:bodyPr>
          <a:lstStyle/>
          <a:p>
            <a:pPr algn="l"/>
            <a:r>
              <a:rPr sz="975" b="0">
                <a:solidFill>
                  <a:srgbClr val="FFFFFF"/>
                </a:solidFill>
                <a:latin typeface="Noto Sans JP"/>
                <a:ea typeface="Noto Sans JP"/>
                <a:cs typeface="Noto Sans JP"/>
              </a:rPr>
              <a:t>・電話＋チャットサポート（24時間）</a:t>
            </a:r>
          </a:p>
        </p:txBody>
      </p:sp>
      <p:sp>
        <p:nvSpPr>
          <p:cNvPr id="22" name="TextBox 21"/>
          <p:cNvSpPr txBox="1"/>
          <p:nvPr/>
        </p:nvSpPr>
        <p:spPr>
          <a:xfrm>
            <a:off x="4524375" y="3790950"/>
            <a:ext cx="3152775" cy="266700"/>
          </a:xfrm>
          <a:prstGeom prst="rect">
            <a:avLst/>
          </a:prstGeom>
          <a:noFill/>
        </p:spPr>
        <p:txBody>
          <a:bodyPr wrap="square">
            <a:spAutoFit/>
          </a:bodyPr>
          <a:lstStyle/>
          <a:p>
            <a:pPr algn="l"/>
            <a:r>
              <a:rPr sz="975" b="0">
                <a:solidFill>
                  <a:srgbClr val="FFFFFF"/>
                </a:solidFill>
                <a:latin typeface="Noto Sans JP"/>
                <a:ea typeface="Noto Sans JP"/>
                <a:cs typeface="Noto Sans JP"/>
              </a:rPr>
              <a:t>・データ保存 無制限</a:t>
            </a:r>
          </a:p>
        </p:txBody>
      </p:sp>
      <p:sp>
        <p:nvSpPr>
          <p:cNvPr id="23" name="TextBox 22"/>
          <p:cNvSpPr txBox="1"/>
          <p:nvPr/>
        </p:nvSpPr>
        <p:spPr>
          <a:xfrm>
            <a:off x="4524375" y="4057650"/>
            <a:ext cx="3152775" cy="266700"/>
          </a:xfrm>
          <a:prstGeom prst="rect">
            <a:avLst/>
          </a:prstGeom>
          <a:noFill/>
        </p:spPr>
        <p:txBody>
          <a:bodyPr wrap="square">
            <a:spAutoFit/>
          </a:bodyPr>
          <a:lstStyle/>
          <a:p>
            <a:pPr algn="l"/>
            <a:r>
              <a:rPr sz="975" b="0">
                <a:solidFill>
                  <a:srgbClr val="FFFFFF"/>
                </a:solidFill>
                <a:latin typeface="Noto Sans JP"/>
                <a:ea typeface="Noto Sans JP"/>
                <a:cs typeface="Noto Sans JP"/>
              </a:rPr>
              <a:t>・SSO / SAML対応</a:t>
            </a:r>
          </a:p>
        </p:txBody>
      </p:sp>
      <p:sp>
        <p:nvSpPr>
          <p:cNvPr id="24" name="Rectangle 23"/>
          <p:cNvSpPr/>
          <p:nvPr/>
        </p:nvSpPr>
        <p:spPr>
          <a:xfrm>
            <a:off x="8048625" y="1524000"/>
            <a:ext cx="3457575"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1025" y="1676400"/>
            <a:ext cx="3152775" cy="304800"/>
          </a:xfrm>
          <a:prstGeom prst="rect">
            <a:avLst/>
          </a:prstGeom>
          <a:noFill/>
        </p:spPr>
        <p:txBody>
          <a:bodyPr wrap="square">
            <a:spAutoFit/>
          </a:bodyPr>
          <a:lstStyle/>
          <a:p>
            <a:pPr algn="l"/>
            <a:r>
              <a:rPr sz="1500" b="1">
                <a:solidFill>
                  <a:srgbClr val="0D1B2A"/>
                </a:solidFill>
                <a:latin typeface="Noto Sans JP"/>
                <a:ea typeface="Noto Sans JP"/>
                <a:cs typeface="Noto Sans JP"/>
              </a:rPr>
              <a:t>エンタープライズ</a:t>
            </a:r>
          </a:p>
        </p:txBody>
      </p:sp>
      <p:sp>
        <p:nvSpPr>
          <p:cNvPr id="26" name="TextBox 25"/>
          <p:cNvSpPr txBox="1"/>
          <p:nvPr/>
        </p:nvSpPr>
        <p:spPr>
          <a:xfrm>
            <a:off x="8201025" y="2019300"/>
            <a:ext cx="3152775" cy="419100"/>
          </a:xfrm>
          <a:prstGeom prst="rect">
            <a:avLst/>
          </a:prstGeom>
          <a:noFill/>
        </p:spPr>
        <p:txBody>
          <a:bodyPr wrap="square">
            <a:spAutoFit/>
          </a:bodyPr>
          <a:lstStyle/>
          <a:p>
            <a:pPr algn="l"/>
            <a:r>
              <a:rPr sz="2400" b="1">
                <a:solidFill>
                  <a:srgbClr val="0D1B2A"/>
                </a:solidFill>
                <a:latin typeface="Noto Sans JP"/>
                <a:ea typeface="Noto Sans JP"/>
                <a:cs typeface="Noto Sans JP"/>
              </a:rPr>
              <a:t>要見積</a:t>
            </a:r>
          </a:p>
        </p:txBody>
      </p:sp>
      <p:sp>
        <p:nvSpPr>
          <p:cNvPr id="27" name="TextBox 26"/>
          <p:cNvSpPr txBox="1"/>
          <p:nvPr/>
        </p:nvSpPr>
        <p:spPr>
          <a:xfrm>
            <a:off x="8201025" y="2476500"/>
            <a:ext cx="315277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ユーザー数・契約期間に応じて</a:t>
            </a:r>
          </a:p>
        </p:txBody>
      </p:sp>
      <p:sp>
        <p:nvSpPr>
          <p:cNvPr id="28" name="TextBox 27"/>
          <p:cNvSpPr txBox="1"/>
          <p:nvPr/>
        </p:nvSpPr>
        <p:spPr>
          <a:xfrm>
            <a:off x="8201025" y="27432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・専任カスタマーサクセスマネージャー</a:t>
            </a:r>
          </a:p>
        </p:txBody>
      </p:sp>
      <p:sp>
        <p:nvSpPr>
          <p:cNvPr id="29" name="TextBox 28"/>
          <p:cNvSpPr txBox="1"/>
          <p:nvPr/>
        </p:nvSpPr>
        <p:spPr>
          <a:xfrm>
            <a:off x="8201025" y="30099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・API連携 無制限 + カスタム開発</a:t>
            </a:r>
          </a:p>
        </p:txBody>
      </p:sp>
      <p:sp>
        <p:nvSpPr>
          <p:cNvPr id="30" name="TextBox 29"/>
          <p:cNvSpPr txBox="1"/>
          <p:nvPr/>
        </p:nvSpPr>
        <p:spPr>
          <a:xfrm>
            <a:off x="8201025" y="32766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・SLA 99.9%保証</a:t>
            </a:r>
          </a:p>
        </p:txBody>
      </p:sp>
      <p:sp>
        <p:nvSpPr>
          <p:cNvPr id="31" name="TextBox 30"/>
          <p:cNvSpPr txBox="1"/>
          <p:nvPr/>
        </p:nvSpPr>
        <p:spPr>
          <a:xfrm>
            <a:off x="8201025" y="35433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・オンプレミス対応（要相談）</a:t>
            </a:r>
          </a:p>
        </p:txBody>
      </p:sp>
      <p:sp>
        <p:nvSpPr>
          <p:cNvPr id="32" name="TextBox 31"/>
          <p:cNvSpPr txBox="1"/>
          <p:nvPr/>
        </p:nvSpPr>
        <p:spPr>
          <a:xfrm>
            <a:off x="8201025" y="3810000"/>
            <a:ext cx="3152775" cy="266700"/>
          </a:xfrm>
          <a:prstGeom prst="rect">
            <a:avLst/>
          </a:prstGeom>
          <a:noFill/>
        </p:spPr>
        <p:txBody>
          <a:bodyPr wrap="square">
            <a:spAutoFit/>
          </a:bodyPr>
          <a:lstStyle/>
          <a:p>
            <a:pPr algn="l"/>
            <a:r>
              <a:rPr sz="975" b="0">
                <a:solidFill>
                  <a:srgbClr val="4A5568"/>
                </a:solidFill>
                <a:latin typeface="Noto Sans JP"/>
                <a:ea typeface="Noto Sans JP"/>
                <a:cs typeface="Noto Sans JP"/>
              </a:rPr>
              <a:t>・セキュリティ監査同席可</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出典：自社価格表 v3.2（2026年6月）/ 年間契約の場合 10%割引適用</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プラン別機能比較：ビジネスプロが費用対機能で最適解</a:t>
            </a:r>
          </a:p>
        </p:txBody>
      </p:sp>
      <p:sp>
        <p:nvSpPr>
          <p:cNvPr id="5" name="TextBox 4"/>
          <p:cNvSpPr txBox="1"/>
          <p:nvPr/>
        </p:nvSpPr>
        <p:spPr>
          <a:xfrm>
            <a:off x="685800" y="1524000"/>
            <a:ext cx="10820400" cy="457200"/>
          </a:xfrm>
          <a:prstGeom prst="rect">
            <a:avLst/>
          </a:prstGeom>
          <a:noFill/>
        </p:spPr>
        <p:txBody>
          <a:bodyPr wrap="square">
            <a:spAutoFit/>
          </a:bodyPr>
          <a:lstStyle/>
          <a:p>
            <a:pPr algn="l"/>
            <a:r>
              <a:rPr sz="975" b="0">
                <a:solidFill>
                  <a:srgbClr val="4A5568"/>
                </a:solidFill>
                <a:latin typeface="Noto Sans JP"/>
                <a:ea typeface="Noto Sans JP"/>
                <a:cs typeface="Noto Sans JP"/>
              </a:rPr>
              <a:t>主要機能の提供範囲を3プランで横断比較</a:t>
            </a:r>
          </a:p>
          <a:p>
            <a:pPr algn="l"/>
            <a:r>
              <a:rPr sz="975" b="0">
                <a:solidFill>
                  <a:srgbClr val="4A5568"/>
                </a:solidFill>
                <a:latin typeface="Noto Sans JP"/>
                <a:ea typeface="Noto Sans JP"/>
                <a:cs typeface="Noto Sans JP"/>
              </a:rPr>
              <a:t>★印列が推奨プラン。料金・機能数・サポートの3点で導入ROIを最大化。</a:t>
            </a:r>
          </a:p>
        </p:txBody>
      </p:sp>
      <p:graphicFrame>
        <p:nvGraphicFramePr>
          <p:cNvPr id="6" name="Table 5"/>
          <p:cNvGraphicFramePr>
            <a:graphicFrameLocks noGrp="1"/>
          </p:cNvGraphicFramePr>
          <p:nvPr/>
        </p:nvGraphicFramePr>
        <p:xfrm>
          <a:off x="685800" y="2057400"/>
          <a:ext cx="10820400" cy="4038600"/>
        </p:xfrm>
        <a:graphic>
          <a:graphicData uri="http://schemas.openxmlformats.org/drawingml/2006/table">
            <a:tbl>
              <a:tblPr firstRow="1" bandRow="1">
                <a:tableStyleId>{5C22544A-7EE6-4342-B048-85BDC9FD1C3A}</a:tableStyleId>
              </a:tblPr>
              <a:tblGrid>
                <a:gridCol w="2705100"/>
                <a:gridCol w="2705100"/>
                <a:gridCol w="2705100"/>
                <a:gridCol w="2705100"/>
              </a:tblGrid>
              <a:tr h="504825">
                <a:tc>
                  <a:txBody>
                    <a:bodyPr/>
                    <a:lstStyle/>
                    <a:p>
                      <a:pPr algn="l"/>
                      <a:r>
                        <a:rPr sz="1275" b="1">
                          <a:solidFill>
                            <a:srgbClr val="FFFFFF"/>
                          </a:solidFill>
                          <a:latin typeface="Noto Sans JP"/>
                          <a:ea typeface="Noto Sans JP"/>
                          <a:cs typeface="Noto Sans JP"/>
                        </a:rPr>
                        <a:t>機能カテゴリ</a:t>
                      </a:r>
                    </a:p>
                  </a:txBody>
                  <a:tcPr>
                    <a:solidFill>
                      <a:srgbClr val="1565C0"/>
                    </a:solidFill>
                  </a:tcPr>
                </a:tc>
                <a:tc>
                  <a:txBody>
                    <a:bodyPr/>
                    <a:lstStyle/>
                    <a:p>
                      <a:pPr algn="l"/>
                      <a:r>
                        <a:rPr sz="1275" b="1">
                          <a:solidFill>
                            <a:srgbClr val="FFFFFF"/>
                          </a:solidFill>
                          <a:latin typeface="Noto Sans JP"/>
                          <a:ea typeface="Noto Sans JP"/>
                          <a:cs typeface="Noto Sans JP"/>
                        </a:rPr>
                        <a:t>ライト</a:t>
                      </a:r>
                    </a:p>
                  </a:txBody>
                  <a:tcPr>
                    <a:solidFill>
                      <a:srgbClr val="1565C0"/>
                    </a:solidFill>
                  </a:tcPr>
                </a:tc>
                <a:tc>
                  <a:txBody>
                    <a:bodyPr/>
                    <a:lstStyle/>
                    <a:p>
                      <a:pPr algn="l"/>
                      <a:r>
                        <a:rPr sz="1275" b="1">
                          <a:solidFill>
                            <a:srgbClr val="FFFFFF"/>
                          </a:solidFill>
                          <a:latin typeface="Noto Sans JP"/>
                          <a:ea typeface="Noto Sans JP"/>
                          <a:cs typeface="Noto Sans JP"/>
                        </a:rPr>
                        <a:t>ビジネスプロ ★</a:t>
                      </a:r>
                    </a:p>
                  </a:txBody>
                  <a:tcPr>
                    <a:solidFill>
                      <a:srgbClr val="1565C0"/>
                    </a:solidFill>
                  </a:tcPr>
                </a:tc>
                <a:tc>
                  <a:txBody>
                    <a:bodyPr/>
                    <a:lstStyle/>
                    <a:p>
                      <a:pPr algn="l"/>
                      <a:r>
                        <a:rPr sz="1275" b="1">
                          <a:solidFill>
                            <a:srgbClr val="FFFFFF"/>
                          </a:solidFill>
                          <a:latin typeface="Noto Sans JP"/>
                          <a:ea typeface="Noto Sans JP"/>
                          <a:cs typeface="Noto Sans JP"/>
                        </a:rPr>
                        <a:t>エンタープライズ</a:t>
                      </a:r>
                    </a:p>
                  </a:txBody>
                  <a:tcPr>
                    <a:solidFill>
                      <a:srgbClr val="1565C0"/>
                    </a:solidFill>
                  </a:tcPr>
                </a:tc>
              </a:tr>
              <a:tr h="504825">
                <a:tc>
                  <a:txBody>
                    <a:bodyPr/>
                    <a:lstStyle/>
                    <a:p>
                      <a:pPr algn="l"/>
                      <a:r>
                        <a:rPr sz="1275" b="0">
                          <a:solidFill>
                            <a:srgbClr val="0D1B2A"/>
                          </a:solidFill>
                          <a:latin typeface="Noto Sans JP"/>
                          <a:ea typeface="Noto Sans JP"/>
                          <a:cs typeface="Noto Sans JP"/>
                        </a:rPr>
                        <a:t>月額（税抜）</a:t>
                      </a:r>
                    </a:p>
                  </a:txBody>
                  <a:tcPr>
                    <a:solidFill>
                      <a:srgbClr val="FFFFFF"/>
                    </a:solidFill>
                  </a:tcPr>
                </a:tc>
                <a:tc>
                  <a:txBody>
                    <a:bodyPr/>
                    <a:lstStyle/>
                    <a:p>
                      <a:pPr algn="l"/>
                      <a:r>
                        <a:rPr sz="1275" b="0">
                          <a:solidFill>
                            <a:srgbClr val="0D1B2A"/>
                          </a:solidFill>
                          <a:latin typeface="Noto Sans JP"/>
                          <a:ea typeface="Noto Sans JP"/>
                          <a:cs typeface="Noto Sans JP"/>
                        </a:rPr>
                        <a:t>¥9,800〜</a:t>
                      </a:r>
                    </a:p>
                  </a:txBody>
                  <a:tcPr>
                    <a:solidFill>
                      <a:srgbClr val="FFFFFF"/>
                    </a:solidFill>
                  </a:tcPr>
                </a:tc>
                <a:tc>
                  <a:txBody>
                    <a:bodyPr/>
                    <a:lstStyle/>
                    <a:p>
                      <a:pPr algn="l"/>
                      <a:r>
                        <a:rPr sz="1275" b="0">
                          <a:solidFill>
                            <a:srgbClr val="0D1B2A"/>
                          </a:solidFill>
                          <a:latin typeface="Noto Sans JP"/>
                          <a:ea typeface="Noto Sans JP"/>
                          <a:cs typeface="Noto Sans JP"/>
                        </a:rPr>
                        <a:t>¥24,800〜</a:t>
                      </a:r>
                    </a:p>
                  </a:txBody>
                  <a:tcPr>
                    <a:solidFill>
                      <a:srgbClr val="D6E2F0"/>
                    </a:solidFill>
                  </a:tcPr>
                </a:tc>
                <a:tc>
                  <a:txBody>
                    <a:bodyPr/>
                    <a:lstStyle/>
                    <a:p>
                      <a:pPr algn="l"/>
                      <a:r>
                        <a:rPr sz="1275" b="0">
                          <a:solidFill>
                            <a:srgbClr val="0D1B2A"/>
                          </a:solidFill>
                          <a:latin typeface="Noto Sans JP"/>
                          <a:ea typeface="Noto Sans JP"/>
                          <a:cs typeface="Noto Sans JP"/>
                        </a:rPr>
                        <a:t>要見積</a:t>
                      </a:r>
                    </a:p>
                  </a:txBody>
                  <a:tcPr>
                    <a:solidFill>
                      <a:srgbClr val="FFFFFF"/>
                    </a:solidFill>
                  </a:tcPr>
                </a:tc>
              </a:tr>
              <a:tr h="504825">
                <a:tc>
                  <a:txBody>
                    <a:bodyPr/>
                    <a:lstStyle/>
                    <a:p>
                      <a:pPr algn="l"/>
                      <a:r>
                        <a:rPr sz="1275" b="0">
                          <a:solidFill>
                            <a:srgbClr val="0D1B2A"/>
                          </a:solidFill>
                          <a:latin typeface="Noto Sans JP"/>
                          <a:ea typeface="Noto Sans JP"/>
                          <a:cs typeface="Noto Sans JP"/>
                        </a:rPr>
                        <a:t>ユーザー数上限</a:t>
                      </a:r>
                    </a:p>
                  </a:txBody>
                  <a:tcPr>
                    <a:solidFill>
                      <a:srgbClr val="D6E2F0"/>
                    </a:solidFill>
                  </a:tcPr>
                </a:tc>
                <a:tc>
                  <a:txBody>
                    <a:bodyPr/>
                    <a:lstStyle/>
                    <a:p>
                      <a:pPr algn="l"/>
                      <a:r>
                        <a:rPr sz="1275" b="0">
                          <a:solidFill>
                            <a:srgbClr val="0D1B2A"/>
                          </a:solidFill>
                          <a:latin typeface="Noto Sans JP"/>
                          <a:ea typeface="Noto Sans JP"/>
                          <a:cs typeface="Noto Sans JP"/>
                        </a:rPr>
                        <a:t>5名まで</a:t>
                      </a:r>
                    </a:p>
                  </a:txBody>
                  <a:tcPr>
                    <a:solidFill>
                      <a:srgbClr val="D6E2F0"/>
                    </a:solidFill>
                  </a:tcPr>
                </a:tc>
                <a:tc>
                  <a:txBody>
                    <a:bodyPr/>
                    <a:lstStyle/>
                    <a:p>
                      <a:pPr algn="l"/>
                      <a:r>
                        <a:rPr sz="1275" b="0">
                          <a:solidFill>
                            <a:srgbClr val="0D1B2A"/>
                          </a:solidFill>
                          <a:latin typeface="Noto Sans JP"/>
                          <a:ea typeface="Noto Sans JP"/>
                          <a:cs typeface="Noto Sans JP"/>
                        </a:rPr>
                        <a:t>30名まで</a:t>
                      </a:r>
                    </a:p>
                  </a:txBody>
                  <a:tcPr>
                    <a:solidFill>
                      <a:srgbClr val="D6E2F0"/>
                    </a:solidFill>
                  </a:tcPr>
                </a:tc>
                <a:tc>
                  <a:txBody>
                    <a:bodyPr/>
                    <a:lstStyle/>
                    <a:p>
                      <a:pPr algn="l"/>
                      <a:r>
                        <a:rPr sz="1275" b="0">
                          <a:solidFill>
                            <a:srgbClr val="0D1B2A"/>
                          </a:solidFill>
                          <a:latin typeface="Noto Sans JP"/>
                          <a:ea typeface="Noto Sans JP"/>
                          <a:cs typeface="Noto Sans JP"/>
                        </a:rPr>
                        <a:t>無制限</a:t>
                      </a:r>
                    </a:p>
                  </a:txBody>
                  <a:tcPr>
                    <a:solidFill>
                      <a:srgbClr val="D6E2F0"/>
                    </a:solidFill>
                  </a:tcPr>
                </a:tc>
              </a:tr>
              <a:tr h="504825">
                <a:tc>
                  <a:txBody>
                    <a:bodyPr/>
                    <a:lstStyle/>
                    <a:p>
                      <a:pPr algn="l"/>
                      <a:r>
                        <a:rPr sz="1275" b="0">
                          <a:solidFill>
                            <a:srgbClr val="0D1B2A"/>
                          </a:solidFill>
                          <a:latin typeface="Noto Sans JP"/>
                          <a:ea typeface="Noto Sans JP"/>
                          <a:cs typeface="Noto Sans JP"/>
                        </a:rPr>
                        <a:t>ダッシュボード数</a:t>
                      </a:r>
                    </a:p>
                  </a:txBody>
                  <a:tcPr>
                    <a:solidFill>
                      <a:srgbClr val="FFFFFF"/>
                    </a:solidFill>
                  </a:tcPr>
                </a:tc>
                <a:tc>
                  <a:txBody>
                    <a:bodyPr/>
                    <a:lstStyle/>
                    <a:p>
                      <a:pPr algn="l"/>
                      <a:r>
                        <a:rPr sz="1275" b="0">
                          <a:solidFill>
                            <a:srgbClr val="0D1B2A"/>
                          </a:solidFill>
                          <a:latin typeface="Noto Sans JP"/>
                          <a:ea typeface="Noto Sans JP"/>
                          <a:cs typeface="Noto Sans JP"/>
                        </a:rPr>
                        <a:t>3種</a:t>
                      </a:r>
                    </a:p>
                  </a:txBody>
                  <a:tcPr>
                    <a:solidFill>
                      <a:srgbClr val="FFFFFF"/>
                    </a:solidFill>
                  </a:tcPr>
                </a:tc>
                <a:tc>
                  <a:txBody>
                    <a:bodyPr/>
                    <a:lstStyle/>
                    <a:p>
                      <a:pPr algn="l"/>
                      <a:r>
                        <a:rPr sz="1275" b="0">
                          <a:solidFill>
                            <a:srgbClr val="0D1B2A"/>
                          </a:solidFill>
                          <a:latin typeface="Noto Sans JP"/>
                          <a:ea typeface="Noto Sans JP"/>
                          <a:cs typeface="Noto Sans JP"/>
                        </a:rPr>
                        <a:t>20種以上</a:t>
                      </a:r>
                    </a:p>
                  </a:txBody>
                  <a:tcPr>
                    <a:solidFill>
                      <a:srgbClr val="D6E2F0"/>
                    </a:solidFill>
                  </a:tcPr>
                </a:tc>
                <a:tc>
                  <a:txBody>
                    <a:bodyPr/>
                    <a:lstStyle/>
                    <a:p>
                      <a:pPr algn="l"/>
                      <a:r>
                        <a:rPr sz="1275" b="0">
                          <a:solidFill>
                            <a:srgbClr val="0D1B2A"/>
                          </a:solidFill>
                          <a:latin typeface="Noto Sans JP"/>
                          <a:ea typeface="Noto Sans JP"/>
                          <a:cs typeface="Noto Sans JP"/>
                        </a:rPr>
                        <a:t>無制限（カスタム可）</a:t>
                      </a:r>
                    </a:p>
                  </a:txBody>
                  <a:tcPr>
                    <a:solidFill>
                      <a:srgbClr val="FFFFFF"/>
                    </a:solidFill>
                  </a:tcPr>
                </a:tc>
              </a:tr>
              <a:tr h="504825">
                <a:tc>
                  <a:txBody>
                    <a:bodyPr/>
                    <a:lstStyle/>
                    <a:p>
                      <a:pPr algn="l"/>
                      <a:r>
                        <a:rPr sz="1275" b="0">
                          <a:solidFill>
                            <a:srgbClr val="0D1B2A"/>
                          </a:solidFill>
                          <a:latin typeface="Noto Sans JP"/>
                          <a:ea typeface="Noto Sans JP"/>
                          <a:cs typeface="Noto Sans JP"/>
                        </a:rPr>
                        <a:t>API連携</a:t>
                      </a:r>
                    </a:p>
                  </a:txBody>
                  <a:tcPr>
                    <a:solidFill>
                      <a:srgbClr val="D6E2F0"/>
                    </a:solidFill>
                  </a:tcPr>
                </a:tc>
                <a:tc>
                  <a:txBody>
                    <a:bodyPr/>
                    <a:lstStyle/>
                    <a:p>
                      <a:pPr algn="l"/>
                      <a:r>
                        <a:rPr sz="1275" b="0">
                          <a:solidFill>
                            <a:srgbClr val="0D1B2A"/>
                          </a:solidFill>
                          <a:latin typeface="Noto Sans JP"/>
                          <a:ea typeface="Noto Sans JP"/>
                          <a:cs typeface="Noto Sans JP"/>
                        </a:rPr>
                        <a:t>なし</a:t>
                      </a:r>
                    </a:p>
                  </a:txBody>
                  <a:tcPr>
                    <a:solidFill>
                      <a:srgbClr val="D6E2F0"/>
                    </a:solidFill>
                  </a:tcPr>
                </a:tc>
                <a:tc>
                  <a:txBody>
                    <a:bodyPr/>
                    <a:lstStyle/>
                    <a:p>
                      <a:pPr algn="l"/>
                      <a:r>
                        <a:rPr sz="1275" b="0">
                          <a:solidFill>
                            <a:srgbClr val="0D1B2A"/>
                          </a:solidFill>
                          <a:latin typeface="Noto Sans JP"/>
                          <a:ea typeface="Noto Sans JP"/>
                          <a:cs typeface="Noto Sans JP"/>
                        </a:rPr>
                        <a:t>50件</a:t>
                      </a:r>
                    </a:p>
                  </a:txBody>
                  <a:tcPr>
                    <a:solidFill>
                      <a:srgbClr val="D6E2F0"/>
                    </a:solidFill>
                  </a:tcPr>
                </a:tc>
                <a:tc>
                  <a:txBody>
                    <a:bodyPr/>
                    <a:lstStyle/>
                    <a:p>
                      <a:pPr algn="l"/>
                      <a:r>
                        <a:rPr sz="1275" b="0">
                          <a:solidFill>
                            <a:srgbClr val="0D1B2A"/>
                          </a:solidFill>
                          <a:latin typeface="Noto Sans JP"/>
                          <a:ea typeface="Noto Sans JP"/>
                          <a:cs typeface="Noto Sans JP"/>
                        </a:rPr>
                        <a:t>無制限</a:t>
                      </a:r>
                    </a:p>
                  </a:txBody>
                  <a:tcPr>
                    <a:solidFill>
                      <a:srgbClr val="D6E2F0"/>
                    </a:solidFill>
                  </a:tcPr>
                </a:tc>
              </a:tr>
              <a:tr h="504825">
                <a:tc>
                  <a:txBody>
                    <a:bodyPr/>
                    <a:lstStyle/>
                    <a:p>
                      <a:pPr algn="l"/>
                      <a:r>
                        <a:rPr sz="1275" b="0">
                          <a:solidFill>
                            <a:srgbClr val="0D1B2A"/>
                          </a:solidFill>
                          <a:latin typeface="Noto Sans JP"/>
                          <a:ea typeface="Noto Sans JP"/>
                          <a:cs typeface="Noto Sans JP"/>
                        </a:rPr>
                        <a:t>サポート体制</a:t>
                      </a:r>
                    </a:p>
                  </a:txBody>
                  <a:tcPr>
                    <a:solidFill>
                      <a:srgbClr val="FFFFFF"/>
                    </a:solidFill>
                  </a:tcPr>
                </a:tc>
                <a:tc>
                  <a:txBody>
                    <a:bodyPr/>
                    <a:lstStyle/>
                    <a:p>
                      <a:pPr algn="l"/>
                      <a:r>
                        <a:rPr sz="1275" b="0">
                          <a:solidFill>
                            <a:srgbClr val="0D1B2A"/>
                          </a:solidFill>
                          <a:latin typeface="Noto Sans JP"/>
                          <a:ea typeface="Noto Sans JP"/>
                          <a:cs typeface="Noto Sans JP"/>
                        </a:rPr>
                        <a:t>メール（48h）</a:t>
                      </a:r>
                    </a:p>
                  </a:txBody>
                  <a:tcPr>
                    <a:solidFill>
                      <a:srgbClr val="FFFFFF"/>
                    </a:solidFill>
                  </a:tcPr>
                </a:tc>
                <a:tc>
                  <a:txBody>
                    <a:bodyPr/>
                    <a:lstStyle/>
                    <a:p>
                      <a:pPr algn="l"/>
                      <a:r>
                        <a:rPr sz="1275" b="0">
                          <a:solidFill>
                            <a:srgbClr val="0D1B2A"/>
                          </a:solidFill>
                          <a:latin typeface="Noto Sans JP"/>
                          <a:ea typeface="Noto Sans JP"/>
                          <a:cs typeface="Noto Sans JP"/>
                        </a:rPr>
                        <a:t>電話＋チャット24h</a:t>
                      </a:r>
                    </a:p>
                  </a:txBody>
                  <a:tcPr>
                    <a:solidFill>
                      <a:srgbClr val="D6E2F0"/>
                    </a:solidFill>
                  </a:tcPr>
                </a:tc>
                <a:tc>
                  <a:txBody>
                    <a:bodyPr/>
                    <a:lstStyle/>
                    <a:p>
                      <a:pPr algn="l"/>
                      <a:r>
                        <a:rPr sz="1275" b="0">
                          <a:solidFill>
                            <a:srgbClr val="0D1B2A"/>
                          </a:solidFill>
                          <a:latin typeface="Noto Sans JP"/>
                          <a:ea typeface="Noto Sans JP"/>
                          <a:cs typeface="Noto Sans JP"/>
                        </a:rPr>
                        <a:t>専任CSM付き</a:t>
                      </a:r>
                    </a:p>
                  </a:txBody>
                  <a:tcPr>
                    <a:solidFill>
                      <a:srgbClr val="FFFFFF"/>
                    </a:solidFill>
                  </a:tcPr>
                </a:tc>
              </a:tr>
              <a:tr h="504825">
                <a:tc>
                  <a:txBody>
                    <a:bodyPr/>
                    <a:lstStyle/>
                    <a:p>
                      <a:pPr algn="l"/>
                      <a:r>
                        <a:rPr sz="1275" b="0">
                          <a:solidFill>
                            <a:srgbClr val="0D1B2A"/>
                          </a:solidFill>
                          <a:latin typeface="Noto Sans JP"/>
                          <a:ea typeface="Noto Sans JP"/>
                          <a:cs typeface="Noto Sans JP"/>
                        </a:rPr>
                        <a:t>SSO / SAML</a:t>
                      </a:r>
                    </a:p>
                  </a:txBody>
                  <a:tcPr>
                    <a:solidFill>
                      <a:srgbClr val="D6E2F0"/>
                    </a:solidFill>
                  </a:tcPr>
                </a:tc>
                <a:tc>
                  <a:txBody>
                    <a:bodyPr/>
                    <a:lstStyle/>
                    <a:p>
                      <a:pPr algn="l"/>
                      <a:r>
                        <a:rPr sz="1275" b="0">
                          <a:solidFill>
                            <a:srgbClr val="0D1B2A"/>
                          </a:solidFill>
                          <a:latin typeface="Noto Sans JP"/>
                          <a:ea typeface="Noto Sans JP"/>
                          <a:cs typeface="Noto Sans JP"/>
                        </a:rPr>
                        <a:t>非対応</a:t>
                      </a:r>
                    </a:p>
                  </a:txBody>
                  <a:tcPr>
                    <a:solidFill>
                      <a:srgbClr val="D6E2F0"/>
                    </a:solidFill>
                  </a:tcPr>
                </a:tc>
                <a:tc>
                  <a:txBody>
                    <a:bodyPr/>
                    <a:lstStyle/>
                    <a:p>
                      <a:pPr algn="l"/>
                      <a:r>
                        <a:rPr sz="1275" b="0">
                          <a:solidFill>
                            <a:srgbClr val="0D1B2A"/>
                          </a:solidFill>
                          <a:latin typeface="Noto Sans JP"/>
                          <a:ea typeface="Noto Sans JP"/>
                          <a:cs typeface="Noto Sans JP"/>
                        </a:rPr>
                        <a:t>対応</a:t>
                      </a:r>
                    </a:p>
                  </a:txBody>
                  <a:tcPr>
                    <a:solidFill>
                      <a:srgbClr val="D6E2F0"/>
                    </a:solidFill>
                  </a:tcPr>
                </a:tc>
                <a:tc>
                  <a:txBody>
                    <a:bodyPr/>
                    <a:lstStyle/>
                    <a:p>
                      <a:pPr algn="l"/>
                      <a:r>
                        <a:rPr sz="1275" b="0">
                          <a:solidFill>
                            <a:srgbClr val="0D1B2A"/>
                          </a:solidFill>
                          <a:latin typeface="Noto Sans JP"/>
                          <a:ea typeface="Noto Sans JP"/>
                          <a:cs typeface="Noto Sans JP"/>
                        </a:rPr>
                        <a:t>対応</a:t>
                      </a:r>
                    </a:p>
                  </a:txBody>
                  <a:tcPr>
                    <a:solidFill>
                      <a:srgbClr val="D6E2F0"/>
                    </a:solidFill>
                  </a:tcPr>
                </a:tc>
              </a:tr>
              <a:tr h="504825">
                <a:tc>
                  <a:txBody>
                    <a:bodyPr/>
                    <a:lstStyle/>
                    <a:p>
                      <a:pPr algn="l"/>
                      <a:r>
                        <a:rPr sz="1275" b="0">
                          <a:solidFill>
                            <a:srgbClr val="0D1B2A"/>
                          </a:solidFill>
                          <a:latin typeface="Noto Sans JP"/>
                          <a:ea typeface="Noto Sans JP"/>
                          <a:cs typeface="Noto Sans JP"/>
                        </a:rPr>
                        <a:t>SLA保証</a:t>
                      </a:r>
                    </a:p>
                  </a:txBody>
                  <a:tcPr>
                    <a:solidFill>
                      <a:srgbClr val="FFFFFF"/>
                    </a:solidFill>
                  </a:tcPr>
                </a:tc>
                <a:tc>
                  <a:txBody>
                    <a:bodyPr/>
                    <a:lstStyle/>
                    <a:p>
                      <a:pPr algn="l"/>
                      <a:r>
                        <a:rPr sz="1275" b="0">
                          <a:solidFill>
                            <a:srgbClr val="0D1B2A"/>
                          </a:solidFill>
                          <a:latin typeface="Noto Sans JP"/>
                          <a:ea typeface="Noto Sans JP"/>
                          <a:cs typeface="Noto Sans JP"/>
                        </a:rPr>
                        <a:t>なし</a:t>
                      </a:r>
                    </a:p>
                  </a:txBody>
                  <a:tcPr>
                    <a:solidFill>
                      <a:srgbClr val="FFFFFF"/>
                    </a:solidFill>
                  </a:tcPr>
                </a:tc>
                <a:tc>
                  <a:txBody>
                    <a:bodyPr/>
                    <a:lstStyle/>
                    <a:p>
                      <a:pPr algn="l"/>
                      <a:r>
                        <a:rPr sz="1275" b="0">
                          <a:solidFill>
                            <a:srgbClr val="0D1B2A"/>
                          </a:solidFill>
                          <a:latin typeface="Noto Sans JP"/>
                          <a:ea typeface="Noto Sans JP"/>
                          <a:cs typeface="Noto Sans JP"/>
                        </a:rPr>
                        <a:t>99.5%</a:t>
                      </a:r>
                    </a:p>
                  </a:txBody>
                  <a:tcPr>
                    <a:solidFill>
                      <a:srgbClr val="D6E2F0"/>
                    </a:solidFill>
                  </a:tcPr>
                </a:tc>
                <a:tc>
                  <a:txBody>
                    <a:bodyPr/>
                    <a:lstStyle/>
                    <a:p>
                      <a:pPr algn="l"/>
                      <a:r>
                        <a:rPr sz="1275" b="0">
                          <a:solidFill>
                            <a:srgbClr val="0D1B2A"/>
                          </a:solidFill>
                          <a:latin typeface="Noto Sans JP"/>
                          <a:ea typeface="Noto Sans JP"/>
                          <a:cs typeface="Noto Sans JP"/>
                        </a:rPr>
                        <a:t>99.9%</a:t>
                      </a:r>
                    </a:p>
                  </a:txBody>
                  <a:tcPr>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出典：PMOウィークリーレポート w26 / 2026年6月25日時点</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Q2施策ステータス：主要5件中3件完了、2件は軽微な遅延</a:t>
            </a:r>
          </a:p>
        </p:txBody>
      </p:sp>
      <p:graphicFrame>
        <p:nvGraphicFramePr>
          <p:cNvPr id="5" name="Table 4"/>
          <p:cNvGraphicFramePr>
            <a:graphicFrameLocks noGrp="1"/>
          </p:cNvGraphicFramePr>
          <p:nvPr/>
        </p:nvGraphicFramePr>
        <p:xfrm>
          <a:off x="685800" y="1524000"/>
          <a:ext cx="10820400" cy="4495800"/>
        </p:xfrm>
        <a:graphic>
          <a:graphicData uri="http://schemas.openxmlformats.org/drawingml/2006/table">
            <a:tbl>
              <a:tblPr firstRow="1" bandRow="1">
                <a:tableStyleId>{5C22544A-7EE6-4342-B048-85BDC9FD1C3A}</a:tableStyleId>
              </a:tblPr>
              <a:tblGrid>
                <a:gridCol w="3606800"/>
                <a:gridCol w="3606800"/>
                <a:gridCol w="3606800"/>
              </a:tblGrid>
              <a:tr h="642257">
                <a:tc>
                  <a:txBody>
                    <a:bodyPr/>
                    <a:lstStyle/>
                    <a:p>
                      <a:pPr algn="l"/>
                      <a:r>
                        <a:rPr sz="1275" b="1">
                          <a:solidFill>
                            <a:srgbClr val="FFFFFF"/>
                          </a:solidFill>
                          <a:latin typeface="Noto Sans JP"/>
                          <a:ea typeface="Noto Sans JP"/>
                          <a:cs typeface="Noto Sans JP"/>
                        </a:rPr>
                        <a:t>施策・プロジェクト名</a:t>
                      </a:r>
                    </a:p>
                  </a:txBody>
                  <a:tcPr>
                    <a:solidFill>
                      <a:srgbClr val="1565C0"/>
                    </a:solidFill>
                  </a:tcPr>
                </a:tc>
                <a:tc>
                  <a:txBody>
                    <a:bodyPr/>
                    <a:lstStyle/>
                    <a:p>
                      <a:pPr algn="l"/>
                      <a:r>
                        <a:rPr sz="1275" b="1">
                          <a:solidFill>
                            <a:srgbClr val="FFFFFF"/>
                          </a:solidFill>
                          <a:latin typeface="Noto Sans JP"/>
                          <a:ea typeface="Noto Sans JP"/>
                          <a:cs typeface="Noto Sans JP"/>
                        </a:rPr>
                        <a:t>ステータス</a:t>
                      </a:r>
                    </a:p>
                  </a:txBody>
                  <a:tcPr>
                    <a:solidFill>
                      <a:srgbClr val="1565C0"/>
                    </a:solidFill>
                  </a:tcPr>
                </a:tc>
                <a:tc>
                  <a:txBody>
                    <a:bodyPr/>
                    <a:lstStyle/>
                    <a:p>
                      <a:pPr algn="l"/>
                      <a:r>
                        <a:rPr sz="1275" b="1">
                          <a:solidFill>
                            <a:srgbClr val="FFFFFF"/>
                          </a:solidFill>
                          <a:latin typeface="Noto Sans JP"/>
                          <a:ea typeface="Noto Sans JP"/>
                          <a:cs typeface="Noto Sans JP"/>
                        </a:rPr>
                        <a:t>完了日 / 備考</a:t>
                      </a:r>
                    </a:p>
                  </a:txBody>
                  <a:tcPr>
                    <a:solidFill>
                      <a:srgbClr val="1565C0"/>
                    </a:solidFill>
                  </a:tcPr>
                </a:tc>
              </a:tr>
              <a:tr h="642257">
                <a:tc>
                  <a:txBody>
                    <a:bodyPr/>
                    <a:lstStyle/>
                    <a:p>
                      <a:pPr algn="l"/>
                      <a:r>
                        <a:rPr sz="1275" b="0">
                          <a:solidFill>
                            <a:srgbClr val="0D1B2A"/>
                          </a:solidFill>
                          <a:latin typeface="Noto Sans JP"/>
                          <a:ea typeface="Noto Sans JP"/>
                          <a:cs typeface="Noto Sans JP"/>
                        </a:rPr>
                        <a:t>新CRMシステム本番移行</a:t>
                      </a:r>
                    </a:p>
                  </a:txBody>
                  <a:tcPr>
                    <a:solidFill>
                      <a:srgbClr val="FFFFFF"/>
                    </a:solidFill>
                  </a:tcPr>
                </a:tc>
                <a:tc>
                  <a:txBody>
                    <a:bodyPr/>
                    <a:lstStyle/>
                    <a:p>
                      <a:pPr algn="l"/>
                      <a:r>
                        <a:rPr sz="1275" b="0">
                          <a:solidFill>
                            <a:srgbClr val="0D1B2A"/>
                          </a:solidFill>
                          <a:latin typeface="Noto Sans JP"/>
                          <a:ea typeface="Noto Sans JP"/>
                          <a:cs typeface="Noto Sans JP"/>
                        </a:rPr>
                        <a:t>✓ 完了</a:t>
                      </a:r>
                    </a:p>
                  </a:txBody>
                  <a:tcPr>
                    <a:solidFill>
                      <a:srgbClr val="FFFFFF"/>
                    </a:solidFill>
                  </a:tcPr>
                </a:tc>
                <a:tc>
                  <a:txBody>
                    <a:bodyPr/>
                    <a:lstStyle/>
                    <a:p>
                      <a:pPr algn="l"/>
                      <a:r>
                        <a:rPr sz="1275" b="0">
                          <a:solidFill>
                            <a:srgbClr val="0D1B2A"/>
                          </a:solidFill>
                          <a:latin typeface="Noto Sans JP"/>
                          <a:ea typeface="Noto Sans JP"/>
                          <a:cs typeface="Noto Sans JP"/>
                        </a:rPr>
                        <a:t>2026年4月30日完了 / 移行件数 12万件</a:t>
                      </a:r>
                    </a:p>
                  </a:txBody>
                  <a:tcPr>
                    <a:solidFill>
                      <a:srgbClr val="FFFFFF"/>
                    </a:solidFill>
                  </a:tcPr>
                </a:tc>
              </a:tr>
              <a:tr h="642257">
                <a:tc>
                  <a:txBody>
                    <a:bodyPr/>
                    <a:lstStyle/>
                    <a:p>
                      <a:pPr algn="l"/>
                      <a:r>
                        <a:rPr sz="1275" b="0">
                          <a:solidFill>
                            <a:srgbClr val="0D1B2A"/>
                          </a:solidFill>
                          <a:latin typeface="Noto Sans JP"/>
                          <a:ea typeface="Noto Sans JP"/>
                          <a:cs typeface="Noto Sans JP"/>
                        </a:rPr>
                        <a:t>顧客向けポータルUI刷新</a:t>
                      </a:r>
                    </a:p>
                  </a:txBody>
                  <a:tcPr>
                    <a:solidFill>
                      <a:srgbClr val="D6E2F0"/>
                    </a:solidFill>
                  </a:tcPr>
                </a:tc>
                <a:tc>
                  <a:txBody>
                    <a:bodyPr/>
                    <a:lstStyle/>
                    <a:p>
                      <a:pPr algn="l"/>
                      <a:r>
                        <a:rPr sz="1275" b="0">
                          <a:solidFill>
                            <a:srgbClr val="0D1B2A"/>
                          </a:solidFill>
                          <a:latin typeface="Noto Sans JP"/>
                          <a:ea typeface="Noto Sans JP"/>
                          <a:cs typeface="Noto Sans JP"/>
                        </a:rPr>
                        <a:t>✓ 完了</a:t>
                      </a:r>
                    </a:p>
                  </a:txBody>
                  <a:tcPr>
                    <a:solidFill>
                      <a:srgbClr val="D6E2F0"/>
                    </a:solidFill>
                  </a:tcPr>
                </a:tc>
                <a:tc>
                  <a:txBody>
                    <a:bodyPr/>
                    <a:lstStyle/>
                    <a:p>
                      <a:pPr algn="l"/>
                      <a:r>
                        <a:rPr sz="1275" b="0">
                          <a:solidFill>
                            <a:srgbClr val="0D1B2A"/>
                          </a:solidFill>
                          <a:latin typeface="Noto Sans JP"/>
                          <a:ea typeface="Noto Sans JP"/>
                          <a:cs typeface="Noto Sans JP"/>
                        </a:rPr>
                        <a:t>2026年5月15日完了 / NPS +12pt改善</a:t>
                      </a:r>
                    </a:p>
                  </a:txBody>
                  <a:tcPr>
                    <a:solidFill>
                      <a:srgbClr val="D6E2F0"/>
                    </a:solidFill>
                  </a:tcPr>
                </a:tc>
              </a:tr>
              <a:tr h="642257">
                <a:tc>
                  <a:txBody>
                    <a:bodyPr/>
                    <a:lstStyle/>
                    <a:p>
                      <a:pPr algn="l"/>
                      <a:r>
                        <a:rPr sz="1275" b="0">
                          <a:solidFill>
                            <a:srgbClr val="0D1B2A"/>
                          </a:solidFill>
                          <a:latin typeface="Noto Sans JP"/>
                          <a:ea typeface="Noto Sans JP"/>
                          <a:cs typeface="Noto Sans JP"/>
                        </a:rPr>
                        <a:t>API v3.0 公開</a:t>
                      </a:r>
                    </a:p>
                  </a:txBody>
                  <a:tcPr>
                    <a:solidFill>
                      <a:srgbClr val="FFFFFF"/>
                    </a:solidFill>
                  </a:tcPr>
                </a:tc>
                <a:tc>
                  <a:txBody>
                    <a:bodyPr/>
                    <a:lstStyle/>
                    <a:p>
                      <a:pPr algn="l"/>
                      <a:r>
                        <a:rPr sz="1275" b="0">
                          <a:solidFill>
                            <a:srgbClr val="0D1B2A"/>
                          </a:solidFill>
                          <a:latin typeface="Noto Sans JP"/>
                          <a:ea typeface="Noto Sans JP"/>
                          <a:cs typeface="Noto Sans JP"/>
                        </a:rPr>
                        <a:t>○ 進行中</a:t>
                      </a:r>
                    </a:p>
                  </a:txBody>
                  <a:tcPr>
                    <a:solidFill>
                      <a:srgbClr val="FFFFFF"/>
                    </a:solidFill>
                  </a:tcPr>
                </a:tc>
                <a:tc>
                  <a:txBody>
                    <a:bodyPr/>
                    <a:lstStyle/>
                    <a:p>
                      <a:pPr algn="l"/>
                      <a:r>
                        <a:rPr sz="1275" b="0">
                          <a:solidFill>
                            <a:srgbClr val="0D1B2A"/>
                          </a:solidFill>
                          <a:latin typeface="Noto Sans JP"/>
                          <a:ea typeface="Noto Sans JP"/>
                          <a:cs typeface="Noto Sans JP"/>
                        </a:rPr>
                        <a:t>予定 2026年6月末 / テスト工程 85%</a:t>
                      </a:r>
                    </a:p>
                  </a:txBody>
                  <a:tcPr>
                    <a:solidFill>
                      <a:srgbClr val="FFFFFF"/>
                    </a:solidFill>
                  </a:tcPr>
                </a:tc>
              </a:tr>
              <a:tr h="642257">
                <a:tc>
                  <a:txBody>
                    <a:bodyPr/>
                    <a:lstStyle/>
                    <a:p>
                      <a:pPr algn="l"/>
                      <a:r>
                        <a:rPr sz="1275" b="0">
                          <a:solidFill>
                            <a:srgbClr val="0D1B2A"/>
                          </a:solidFill>
                          <a:latin typeface="Noto Sans JP"/>
                          <a:ea typeface="Noto Sans JP"/>
                          <a:cs typeface="Noto Sans JP"/>
                        </a:rPr>
                        <a:t>セキュリティ監査対応</a:t>
                      </a:r>
                    </a:p>
                  </a:txBody>
                  <a:tcPr>
                    <a:solidFill>
                      <a:srgbClr val="D6E2F0"/>
                    </a:solidFill>
                  </a:tcPr>
                </a:tc>
                <a:tc>
                  <a:txBody>
                    <a:bodyPr/>
                    <a:lstStyle/>
                    <a:p>
                      <a:pPr algn="l"/>
                      <a:r>
                        <a:rPr sz="1275" b="0">
                          <a:solidFill>
                            <a:srgbClr val="0D1B2A"/>
                          </a:solidFill>
                          <a:latin typeface="Noto Sans JP"/>
                          <a:ea typeface="Noto Sans JP"/>
                          <a:cs typeface="Noto Sans JP"/>
                        </a:rPr>
                        <a:t>△ 遅延</a:t>
                      </a:r>
                    </a:p>
                  </a:txBody>
                  <a:tcPr>
                    <a:solidFill>
                      <a:srgbClr val="D6E2F0"/>
                    </a:solidFill>
                  </a:tcPr>
                </a:tc>
                <a:tc>
                  <a:txBody>
                    <a:bodyPr/>
                    <a:lstStyle/>
                    <a:p>
                      <a:pPr algn="l"/>
                      <a:r>
                        <a:rPr sz="1275" b="0">
                          <a:solidFill>
                            <a:srgbClr val="0D1B2A"/>
                          </a:solidFill>
                          <a:latin typeface="Noto Sans JP"/>
                          <a:ea typeface="Noto Sans JP"/>
                          <a:cs typeface="Noto Sans JP"/>
                        </a:rPr>
                        <a:t>当初5月末→7月中旬 / 外部監査員日程調整中</a:t>
                      </a:r>
                    </a:p>
                  </a:txBody>
                  <a:tcPr>
                    <a:solidFill>
                      <a:srgbClr val="D6E2F0"/>
                    </a:solidFill>
                  </a:tcPr>
                </a:tc>
              </a:tr>
              <a:tr h="642257">
                <a:tc>
                  <a:txBody>
                    <a:bodyPr/>
                    <a:lstStyle/>
                    <a:p>
                      <a:pPr algn="l"/>
                      <a:r>
                        <a:rPr sz="1275" b="0">
                          <a:solidFill>
                            <a:srgbClr val="0D1B2A"/>
                          </a:solidFill>
                          <a:latin typeface="Noto Sans JP"/>
                          <a:ea typeface="Noto Sans JP"/>
                          <a:cs typeface="Noto Sans JP"/>
                        </a:rPr>
                        <a:t>東南アジア展開 PoC</a:t>
                      </a:r>
                    </a:p>
                  </a:txBody>
                  <a:tcPr>
                    <a:solidFill>
                      <a:srgbClr val="FFFFFF"/>
                    </a:solidFill>
                  </a:tcPr>
                </a:tc>
                <a:tc>
                  <a:txBody>
                    <a:bodyPr/>
                    <a:lstStyle/>
                    <a:p>
                      <a:pPr algn="l"/>
                      <a:r>
                        <a:rPr sz="1275" b="0">
                          <a:solidFill>
                            <a:srgbClr val="0D1B2A"/>
                          </a:solidFill>
                          <a:latin typeface="Noto Sans JP"/>
                          <a:ea typeface="Noto Sans JP"/>
                          <a:cs typeface="Noto Sans JP"/>
                        </a:rPr>
                        <a:t>○ 進行中</a:t>
                      </a:r>
                    </a:p>
                  </a:txBody>
                  <a:tcPr>
                    <a:solidFill>
                      <a:srgbClr val="FFFFFF"/>
                    </a:solidFill>
                  </a:tcPr>
                </a:tc>
                <a:tc>
                  <a:txBody>
                    <a:bodyPr/>
                    <a:lstStyle/>
                    <a:p>
                      <a:pPr algn="l"/>
                      <a:r>
                        <a:rPr sz="1275" b="0">
                          <a:solidFill>
                            <a:srgbClr val="0D1B2A"/>
                          </a:solidFill>
                          <a:latin typeface="Noto Sans JP"/>
                          <a:ea typeface="Noto Sans JP"/>
                          <a:cs typeface="Noto Sans JP"/>
                        </a:rPr>
                        <a:t>予定 2026年8月 / パートナー選定完了</a:t>
                      </a:r>
                    </a:p>
                  </a:txBody>
                  <a:tcPr>
                    <a:solidFill>
                      <a:srgbClr val="FFFFFF"/>
                    </a:solidFill>
                  </a:tcPr>
                </a:tc>
              </a:tr>
              <a:tr h="642258">
                <a:tc>
                  <a:txBody>
                    <a:bodyPr/>
                    <a:lstStyle/>
                    <a:p>
                      <a:pPr algn="l"/>
                      <a:r>
                        <a:rPr sz="1275" b="0">
                          <a:solidFill>
                            <a:srgbClr val="0D1B2A"/>
                          </a:solidFill>
                          <a:latin typeface="Noto Sans JP"/>
                          <a:ea typeface="Noto Sans JP"/>
                          <a:cs typeface="Noto Sans JP"/>
                        </a:rPr>
                        <a:t>社内DXトレーニング</a:t>
                      </a:r>
                    </a:p>
                  </a:txBody>
                  <a:tcPr>
                    <a:solidFill>
                      <a:srgbClr val="D6E2F0"/>
                    </a:solidFill>
                  </a:tcPr>
                </a:tc>
                <a:tc>
                  <a:txBody>
                    <a:bodyPr/>
                    <a:lstStyle/>
                    <a:p>
                      <a:pPr algn="l"/>
                      <a:r>
                        <a:rPr sz="1275" b="0">
                          <a:solidFill>
                            <a:srgbClr val="0D1B2A"/>
                          </a:solidFill>
                          <a:latin typeface="Noto Sans JP"/>
                          <a:ea typeface="Noto Sans JP"/>
                          <a:cs typeface="Noto Sans JP"/>
                        </a:rPr>
                        <a:t>✓ 完了</a:t>
                      </a:r>
                    </a:p>
                  </a:txBody>
                  <a:tcPr>
                    <a:solidFill>
                      <a:srgbClr val="D6E2F0"/>
                    </a:solidFill>
                  </a:tcPr>
                </a:tc>
                <a:tc>
                  <a:txBody>
                    <a:bodyPr/>
                    <a:lstStyle/>
                    <a:p>
                      <a:pPr algn="l"/>
                      <a:r>
                        <a:rPr sz="1275" b="0">
                          <a:solidFill>
                            <a:srgbClr val="0D1B2A"/>
                          </a:solidFill>
                          <a:latin typeface="Noto Sans JP"/>
                          <a:ea typeface="Noto Sans JP"/>
                          <a:cs typeface="Noto Sans JP"/>
                        </a:rPr>
                        <a:t>2026年5月31日完了 / 受講者 234名</a:t>
                      </a:r>
                    </a:p>
                  </a:txBody>
                  <a:tcPr>
                    <a:solidFill>
                      <a:srgbClr val="D6E2F0"/>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出典：社内業務効率化調査 n=42部門（2026年4月実施）</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58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0D1B2A"/>
                </a:solidFill>
                <a:latin typeface="Noto Sans JP"/>
                <a:ea typeface="Noto Sans JP"/>
                <a:cs typeface="Noto Sans JP"/>
              </a:rPr>
              <a:t>DX推進で業務効率が抜本改善：月次工数を半減し意思決定速度を倍速化</a:t>
            </a:r>
          </a:p>
        </p:txBody>
      </p:sp>
      <p:sp>
        <p:nvSpPr>
          <p:cNvPr id="5" name="Rectangle 4"/>
          <p:cNvSpPr/>
          <p:nvPr/>
        </p:nvSpPr>
        <p:spPr>
          <a:xfrm>
            <a:off x="685800" y="1524000"/>
            <a:ext cx="4371975"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7250" y="1695450"/>
            <a:ext cx="4029075" cy="209550"/>
          </a:xfrm>
          <a:prstGeom prst="rect">
            <a:avLst/>
          </a:prstGeom>
          <a:noFill/>
        </p:spPr>
        <p:txBody>
          <a:bodyPr wrap="square">
            <a:spAutoFit/>
          </a:bodyPr>
          <a:lstStyle/>
          <a:p>
            <a:pPr algn="l"/>
            <a:r>
              <a:rPr sz="975" b="1">
                <a:solidFill>
                  <a:srgbClr val="4A5568"/>
                </a:solidFill>
                <a:latin typeface="Noto Sans JP"/>
                <a:ea typeface="Noto Sans JP"/>
                <a:cs typeface="Noto Sans JP"/>
              </a:rPr>
              <a:t>BEFORE（導入前）</a:t>
            </a:r>
          </a:p>
        </p:txBody>
      </p:sp>
      <p:sp>
        <p:nvSpPr>
          <p:cNvPr id="7" name="Rectangle 6"/>
          <p:cNvSpPr/>
          <p:nvPr/>
        </p:nvSpPr>
        <p:spPr>
          <a:xfrm>
            <a:off x="857250" y="1962150"/>
            <a:ext cx="4029075" cy="1905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7250" y="20574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・月次レポート作成に延べ80時間（手作業集計）</a:t>
            </a:r>
          </a:p>
        </p:txBody>
      </p:sp>
      <p:sp>
        <p:nvSpPr>
          <p:cNvPr id="9" name="TextBox 8"/>
          <p:cNvSpPr txBox="1"/>
          <p:nvPr/>
        </p:nvSpPr>
        <p:spPr>
          <a:xfrm>
            <a:off x="857250" y="25146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・部門間のデータ定義が不統一で二重確認が頻発</a:t>
            </a:r>
          </a:p>
        </p:txBody>
      </p:sp>
      <p:sp>
        <p:nvSpPr>
          <p:cNvPr id="10" name="TextBox 9"/>
          <p:cNvSpPr txBox="1"/>
          <p:nvPr/>
        </p:nvSpPr>
        <p:spPr>
          <a:xfrm>
            <a:off x="857250" y="29718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・意思決定会議の準備資料作成に3営業日</a:t>
            </a:r>
          </a:p>
        </p:txBody>
      </p:sp>
      <p:sp>
        <p:nvSpPr>
          <p:cNvPr id="11" name="TextBox 10"/>
          <p:cNvSpPr txBox="1"/>
          <p:nvPr/>
        </p:nvSpPr>
        <p:spPr>
          <a:xfrm>
            <a:off x="857250" y="34290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・顧客クレーム対応の平均解決時間 72時間</a:t>
            </a:r>
          </a:p>
        </p:txBody>
      </p:sp>
      <p:sp>
        <p:nvSpPr>
          <p:cNvPr id="12" name="TextBox 11"/>
          <p:cNvSpPr txBox="1"/>
          <p:nvPr/>
        </p:nvSpPr>
        <p:spPr>
          <a:xfrm>
            <a:off x="5286375" y="3619500"/>
            <a:ext cx="1609725" cy="381000"/>
          </a:xfrm>
          <a:prstGeom prst="rect">
            <a:avLst/>
          </a:prstGeom>
          <a:noFill/>
        </p:spPr>
        <p:txBody>
          <a:bodyPr wrap="square">
            <a:spAutoFit/>
          </a:bodyPr>
          <a:lstStyle/>
          <a:p>
            <a:pPr algn="ctr"/>
            <a:r>
              <a:rPr sz="2700" b="1">
                <a:solidFill>
                  <a:srgbClr val="1565C0"/>
                </a:solidFill>
                <a:latin typeface="Noto Sans JP"/>
                <a:ea typeface="Noto Sans JP"/>
                <a:cs typeface="Noto Sans JP"/>
              </a:rPr>
              <a:t>▶</a:t>
            </a:r>
          </a:p>
        </p:txBody>
      </p:sp>
      <p:sp>
        <p:nvSpPr>
          <p:cNvPr id="13" name="Rectangle 12"/>
          <p:cNvSpPr/>
          <p:nvPr/>
        </p:nvSpPr>
        <p:spPr>
          <a:xfrm>
            <a:off x="7134225" y="1524000"/>
            <a:ext cx="4371975"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05675" y="1695450"/>
            <a:ext cx="4029075" cy="209550"/>
          </a:xfrm>
          <a:prstGeom prst="rect">
            <a:avLst/>
          </a:prstGeom>
          <a:noFill/>
        </p:spPr>
        <p:txBody>
          <a:bodyPr wrap="square">
            <a:spAutoFit/>
          </a:bodyPr>
          <a:lstStyle/>
          <a:p>
            <a:pPr algn="l"/>
            <a:r>
              <a:rPr sz="975" b="1">
                <a:solidFill>
                  <a:srgbClr val="1565C0"/>
                </a:solidFill>
                <a:latin typeface="Noto Sans JP"/>
                <a:ea typeface="Noto Sans JP"/>
                <a:cs typeface="Noto Sans JP"/>
              </a:rPr>
              <a:t>AFTER（導入6ヶ月後）</a:t>
            </a:r>
          </a:p>
        </p:txBody>
      </p:sp>
      <p:sp>
        <p:nvSpPr>
          <p:cNvPr id="15" name="Rectangle 14"/>
          <p:cNvSpPr/>
          <p:nvPr/>
        </p:nvSpPr>
        <p:spPr>
          <a:xfrm>
            <a:off x="7305675" y="1962150"/>
            <a:ext cx="4029075" cy="190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5675" y="20574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・月次レポート作成工数 → 8時間（90%削減）</a:t>
            </a:r>
          </a:p>
        </p:txBody>
      </p:sp>
      <p:sp>
        <p:nvSpPr>
          <p:cNvPr id="17" name="TextBox 16"/>
          <p:cNvSpPr txBox="1"/>
          <p:nvPr/>
        </p:nvSpPr>
        <p:spPr>
          <a:xfrm>
            <a:off x="7305675" y="25146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・全部門共通KPI辞書導入で確認作業をゼロ化</a:t>
            </a:r>
          </a:p>
        </p:txBody>
      </p:sp>
      <p:sp>
        <p:nvSpPr>
          <p:cNvPr id="18" name="TextBox 17"/>
          <p:cNvSpPr txBox="1"/>
          <p:nvPr/>
        </p:nvSpPr>
        <p:spPr>
          <a:xfrm>
            <a:off x="7305675" y="29718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・ダッシュボード自動生成で当日朝に配布可能</a:t>
            </a:r>
          </a:p>
        </p:txBody>
      </p:sp>
      <p:sp>
        <p:nvSpPr>
          <p:cNvPr id="19" name="TextBox 18"/>
          <p:cNvSpPr txBox="1"/>
          <p:nvPr/>
        </p:nvSpPr>
        <p:spPr>
          <a:xfrm>
            <a:off x="7305675" y="3429000"/>
            <a:ext cx="4029075" cy="457200"/>
          </a:xfrm>
          <a:prstGeom prst="rect">
            <a:avLst/>
          </a:prstGeom>
          <a:noFill/>
        </p:spPr>
        <p:txBody>
          <a:bodyPr wrap="square">
            <a:spAutoFit/>
          </a:bodyPr>
          <a:lstStyle/>
          <a:p>
            <a:pPr algn="l"/>
            <a:r>
              <a:rPr sz="1125" b="0">
                <a:solidFill>
                  <a:srgbClr val="0D1B2A"/>
                </a:solidFill>
                <a:latin typeface="Noto Sans JP"/>
                <a:ea typeface="Noto Sans JP"/>
                <a:cs typeface="Noto Sans JP"/>
              </a:rPr>
              <a:t>・顧客クレーム対応の平均解決時間 → 18時間（75%短縮）</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FF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5400" b="1">
                <a:solidFill>
                  <a:srgbClr val="150A2E"/>
                </a:solidFill>
                <a:latin typeface="Noto Sans JP"/>
                <a:ea typeface="Noto Sans JP"/>
                <a:cs typeface="Noto Sans JP"/>
              </a:rPr>
              <a:t>📊 KPI・サマリー</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4A3D6B"/>
                </a:solidFill>
                <a:latin typeface="Noto Sans JP"/>
                <a:ea typeface="Noto Sans JP"/>
                <a:cs typeface="Noto Sans JP"/>
              </a:rPr>
              <a:t>vibrant-pitch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59 / 98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出典：自社内部経営報告 FY2026 Q2（2026年6月取締役会提出資料）</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60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150A2E"/>
                </a:solidFill>
                <a:latin typeface="Noto Sans JP"/>
                <a:ea typeface="Noto Sans JP"/>
                <a:cs typeface="Noto Sans JP"/>
              </a:rPr>
              <a:t>3つの主要KPIが目標を超過達成し、過去最高の四半期実績を更新</a:t>
            </a:r>
          </a:p>
        </p:txBody>
      </p:sp>
      <p:sp>
        <p:nvSpPr>
          <p:cNvPr id="5" name="Rectangle 4"/>
          <p:cNvSpPr/>
          <p:nvPr/>
        </p:nvSpPr>
        <p:spPr>
          <a:xfrm>
            <a:off x="685800" y="1524000"/>
            <a:ext cx="3454400" cy="45720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1752600"/>
            <a:ext cx="3149600" cy="381000"/>
          </a:xfrm>
          <a:prstGeom prst="rect">
            <a:avLst/>
          </a:prstGeom>
          <a:noFill/>
        </p:spPr>
        <p:txBody>
          <a:bodyPr wrap="square">
            <a:spAutoFit/>
          </a:bodyPr>
          <a:lstStyle/>
          <a:p>
            <a:pPr algn="ctr"/>
            <a:r>
              <a:rPr sz="1950" b="1">
                <a:solidFill>
                  <a:srgbClr val="150A2E"/>
                </a:solidFill>
                <a:latin typeface="Noto Sans JP"/>
                <a:ea typeface="Noto Sans JP"/>
                <a:cs typeface="Noto Sans JP"/>
              </a:rPr>
              <a:t>月次経常収益（MRR）</a:t>
            </a:r>
          </a:p>
        </p:txBody>
      </p:sp>
      <p:sp>
        <p:nvSpPr>
          <p:cNvPr id="7" name="TextBox 6"/>
          <p:cNvSpPr txBox="1"/>
          <p:nvPr/>
        </p:nvSpPr>
        <p:spPr>
          <a:xfrm>
            <a:off x="762000" y="2286000"/>
            <a:ext cx="3302000" cy="1905000"/>
          </a:xfrm>
          <a:prstGeom prst="rect">
            <a:avLst/>
          </a:prstGeom>
          <a:noFill/>
        </p:spPr>
        <p:txBody>
          <a:bodyPr wrap="square">
            <a:spAutoFit/>
          </a:bodyPr>
          <a:lstStyle/>
          <a:p>
            <a:pPr algn="ctr"/>
            <a:r>
              <a:rPr sz="5400" b="1">
                <a:solidFill>
                  <a:srgbClr val="6600FF"/>
                </a:solidFill>
                <a:latin typeface="Noto Sans JP"/>
                <a:ea typeface="Noto Sans JP"/>
                <a:cs typeface="Noto Sans JP"/>
              </a:rPr>
              <a:t>¥2.4B</a:t>
            </a:r>
          </a:p>
        </p:txBody>
      </p:sp>
      <p:sp>
        <p:nvSpPr>
          <p:cNvPr id="8" name="TextBox 7"/>
          <p:cNvSpPr txBox="1"/>
          <p:nvPr/>
        </p:nvSpPr>
        <p:spPr>
          <a:xfrm>
            <a:off x="838200" y="4286250"/>
            <a:ext cx="3149600" cy="762000"/>
          </a:xfrm>
          <a:prstGeom prst="rect">
            <a:avLst/>
          </a:prstGeom>
          <a:noFill/>
        </p:spPr>
        <p:txBody>
          <a:bodyPr wrap="square">
            <a:spAutoFit/>
          </a:bodyPr>
          <a:lstStyle/>
          <a:p>
            <a:pPr algn="ctr"/>
            <a:r>
              <a:rPr sz="1350" b="0">
                <a:solidFill>
                  <a:srgbClr val="4A3D6B"/>
                </a:solidFill>
                <a:latin typeface="Noto Sans JP"/>
                <a:ea typeface="Noto Sans JP"/>
                <a:cs typeface="Noto Sans JP"/>
              </a:rPr>
              <a:t>前月比 +18% ↑ 目標¥2.0Bを20%超過</a:t>
            </a:r>
          </a:p>
        </p:txBody>
      </p:sp>
      <p:sp>
        <p:nvSpPr>
          <p:cNvPr id="9" name="Rectangle 8"/>
          <p:cNvSpPr/>
          <p:nvPr/>
        </p:nvSpPr>
        <p:spPr>
          <a:xfrm>
            <a:off x="4368800" y="1524000"/>
            <a:ext cx="3454400" cy="45720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1200" y="1752600"/>
            <a:ext cx="3149600" cy="381000"/>
          </a:xfrm>
          <a:prstGeom prst="rect">
            <a:avLst/>
          </a:prstGeom>
          <a:noFill/>
        </p:spPr>
        <p:txBody>
          <a:bodyPr wrap="square">
            <a:spAutoFit/>
          </a:bodyPr>
          <a:lstStyle/>
          <a:p>
            <a:pPr algn="ctr"/>
            <a:r>
              <a:rPr sz="1950" b="1">
                <a:solidFill>
                  <a:srgbClr val="150A2E"/>
                </a:solidFill>
                <a:latin typeface="Noto Sans JP"/>
                <a:ea typeface="Noto Sans JP"/>
                <a:cs typeface="Noto Sans JP"/>
              </a:rPr>
              <a:t>純収益維持率（NRR）</a:t>
            </a:r>
          </a:p>
        </p:txBody>
      </p:sp>
      <p:sp>
        <p:nvSpPr>
          <p:cNvPr id="11" name="TextBox 10"/>
          <p:cNvSpPr txBox="1"/>
          <p:nvPr/>
        </p:nvSpPr>
        <p:spPr>
          <a:xfrm>
            <a:off x="4445000" y="2286000"/>
            <a:ext cx="3302000" cy="1905000"/>
          </a:xfrm>
          <a:prstGeom prst="rect">
            <a:avLst/>
          </a:prstGeom>
          <a:noFill/>
        </p:spPr>
        <p:txBody>
          <a:bodyPr wrap="square">
            <a:spAutoFit/>
          </a:bodyPr>
          <a:lstStyle/>
          <a:p>
            <a:pPr algn="ctr"/>
            <a:r>
              <a:rPr sz="5400" b="1">
                <a:solidFill>
                  <a:srgbClr val="6600FF"/>
                </a:solidFill>
                <a:latin typeface="Noto Sans JP"/>
                <a:ea typeface="Noto Sans JP"/>
                <a:cs typeface="Noto Sans JP"/>
              </a:rPr>
              <a:t>121%</a:t>
            </a:r>
          </a:p>
        </p:txBody>
      </p:sp>
      <p:sp>
        <p:nvSpPr>
          <p:cNvPr id="12" name="TextBox 11"/>
          <p:cNvSpPr txBox="1"/>
          <p:nvPr/>
        </p:nvSpPr>
        <p:spPr>
          <a:xfrm>
            <a:off x="4521200" y="4286250"/>
            <a:ext cx="3149600" cy="762000"/>
          </a:xfrm>
          <a:prstGeom prst="rect">
            <a:avLst/>
          </a:prstGeom>
          <a:noFill/>
        </p:spPr>
        <p:txBody>
          <a:bodyPr wrap="square">
            <a:spAutoFit/>
          </a:bodyPr>
          <a:lstStyle/>
          <a:p>
            <a:pPr algn="ctr"/>
            <a:r>
              <a:rPr sz="1350" b="0">
                <a:solidFill>
                  <a:srgbClr val="4A3D6B"/>
                </a:solidFill>
                <a:latin typeface="Noto Sans JP"/>
                <a:ea typeface="Noto Sans JP"/>
                <a:cs typeface="Noto Sans JP"/>
              </a:rPr>
              <a:t>目標110%に対し+11pt。解約抑制と拡張収益が寄与</a:t>
            </a:r>
          </a:p>
        </p:txBody>
      </p:sp>
      <p:sp>
        <p:nvSpPr>
          <p:cNvPr id="13" name="Rectangle 12"/>
          <p:cNvSpPr/>
          <p:nvPr/>
        </p:nvSpPr>
        <p:spPr>
          <a:xfrm>
            <a:off x="8051800" y="1524000"/>
            <a:ext cx="3454400" cy="45720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4200" y="1752600"/>
            <a:ext cx="3149600" cy="381000"/>
          </a:xfrm>
          <a:prstGeom prst="rect">
            <a:avLst/>
          </a:prstGeom>
          <a:noFill/>
        </p:spPr>
        <p:txBody>
          <a:bodyPr wrap="square">
            <a:spAutoFit/>
          </a:bodyPr>
          <a:lstStyle/>
          <a:p>
            <a:pPr algn="ctr"/>
            <a:r>
              <a:rPr sz="1950" b="1">
                <a:solidFill>
                  <a:srgbClr val="150A2E"/>
                </a:solidFill>
                <a:latin typeface="Noto Sans JP"/>
                <a:ea typeface="Noto Sans JP"/>
                <a:cs typeface="Noto Sans JP"/>
              </a:rPr>
              <a:t>新規顧客獲得数</a:t>
            </a:r>
          </a:p>
        </p:txBody>
      </p:sp>
      <p:sp>
        <p:nvSpPr>
          <p:cNvPr id="15" name="TextBox 14"/>
          <p:cNvSpPr txBox="1"/>
          <p:nvPr/>
        </p:nvSpPr>
        <p:spPr>
          <a:xfrm>
            <a:off x="8128000" y="2286000"/>
            <a:ext cx="3302000" cy="1905000"/>
          </a:xfrm>
          <a:prstGeom prst="rect">
            <a:avLst/>
          </a:prstGeom>
          <a:noFill/>
        </p:spPr>
        <p:txBody>
          <a:bodyPr wrap="square">
            <a:spAutoFit/>
          </a:bodyPr>
          <a:lstStyle/>
          <a:p>
            <a:pPr algn="ctr"/>
            <a:r>
              <a:rPr sz="5400" b="1">
                <a:solidFill>
                  <a:srgbClr val="6600FF"/>
                </a:solidFill>
                <a:latin typeface="Noto Sans JP"/>
                <a:ea typeface="Noto Sans JP"/>
                <a:cs typeface="Noto Sans JP"/>
              </a:rPr>
              <a:t>142社</a:t>
            </a:r>
          </a:p>
        </p:txBody>
      </p:sp>
      <p:sp>
        <p:nvSpPr>
          <p:cNvPr id="16" name="TextBox 15"/>
          <p:cNvSpPr txBox="1"/>
          <p:nvPr/>
        </p:nvSpPr>
        <p:spPr>
          <a:xfrm>
            <a:off x="8204200" y="4286250"/>
            <a:ext cx="3149600" cy="762000"/>
          </a:xfrm>
          <a:prstGeom prst="rect">
            <a:avLst/>
          </a:prstGeom>
          <a:noFill/>
        </p:spPr>
        <p:txBody>
          <a:bodyPr wrap="square">
            <a:spAutoFit/>
          </a:bodyPr>
          <a:lstStyle/>
          <a:p>
            <a:pPr algn="ctr"/>
            <a:r>
              <a:rPr sz="1350" b="0">
                <a:solidFill>
                  <a:srgbClr val="4A3D6B"/>
                </a:solidFill>
                <a:latin typeface="Noto Sans JP"/>
                <a:ea typeface="Noto Sans JP"/>
                <a:cs typeface="Noto Sans JP"/>
              </a:rPr>
              <a:t>Q2累計。エンタープライズ比率48%、前Qから+12pt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出典：FY2026 経営計画 第1版（2026年4月1日取締役会承認）</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61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300" b="1">
                <a:solidFill>
                  <a:srgbClr val="150A2E"/>
                </a:solidFill>
                <a:latin typeface="Noto Sans JP"/>
                <a:ea typeface="Noto Sans JP"/>
                <a:cs typeface="Noto Sans JP"/>
              </a:rPr>
              <a:t>FY2026目標体系：KGIからKPIまで全社一覧</a:t>
            </a:r>
          </a:p>
        </p:txBody>
      </p:sp>
      <p:sp>
        <p:nvSpPr>
          <p:cNvPr id="5" name="Rectangle 4"/>
          <p:cNvSpPr/>
          <p:nvPr/>
        </p:nvSpPr>
        <p:spPr>
          <a:xfrm>
            <a:off x="685800" y="1524000"/>
            <a:ext cx="10820400" cy="4572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524000"/>
            <a:ext cx="38100" cy="4572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 y="1524000"/>
            <a:ext cx="10706100" cy="457200"/>
          </a:xfrm>
          <a:prstGeom prst="rect">
            <a:avLst/>
          </a:prstGeom>
          <a:noFill/>
        </p:spPr>
        <p:txBody>
          <a:bodyPr wrap="square">
            <a:spAutoFit/>
          </a:bodyPr>
          <a:lstStyle/>
          <a:p>
            <a:pPr algn="l"/>
            <a:r>
              <a:rPr sz="1350" b="1">
                <a:solidFill>
                  <a:srgbClr val="150A2E"/>
                </a:solidFill>
                <a:latin typeface="Noto Sans JP"/>
                <a:ea typeface="Noto Sans JP"/>
                <a:cs typeface="Noto Sans JP"/>
              </a:rPr>
              <a:t>2026年度ビジョン：国内AIアシスタント市場でシェアNo.1を獲得し、ARR¥12B・NPS+50を達成する</a:t>
            </a:r>
          </a:p>
        </p:txBody>
      </p:sp>
      <p:sp>
        <p:nvSpPr>
          <p:cNvPr id="8" name="Rectangle 7"/>
          <p:cNvSpPr/>
          <p:nvPr/>
        </p:nvSpPr>
        <p:spPr>
          <a:xfrm>
            <a:off x="685800" y="2057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0100" y="2095500"/>
            <a:ext cx="7620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095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KGI①</a:t>
            </a:r>
          </a:p>
        </p:txBody>
      </p:sp>
      <p:sp>
        <p:nvSpPr>
          <p:cNvPr id="11" name="TextBox 10"/>
          <p:cNvSpPr txBox="1"/>
          <p:nvPr/>
        </p:nvSpPr>
        <p:spPr>
          <a:xfrm>
            <a:off x="800100" y="2324100"/>
            <a:ext cx="3228975" cy="285750"/>
          </a:xfrm>
          <a:prstGeom prst="rect">
            <a:avLst/>
          </a:prstGeom>
          <a:noFill/>
        </p:spPr>
        <p:txBody>
          <a:bodyPr wrap="square">
            <a:spAutoFit/>
          </a:bodyPr>
          <a:lstStyle/>
          <a:p>
            <a:pPr algn="l"/>
            <a:r>
              <a:rPr sz="975" b="0">
                <a:solidFill>
                  <a:srgbClr val="4A3D6B"/>
                </a:solidFill>
                <a:latin typeface="Noto Sans JP"/>
                <a:ea typeface="Noto Sans JP"/>
                <a:cs typeface="Noto Sans JP"/>
              </a:rPr>
              <a:t>年間経常収益（ARR）</a:t>
            </a:r>
          </a:p>
        </p:txBody>
      </p:sp>
      <p:sp>
        <p:nvSpPr>
          <p:cNvPr id="12" name="TextBox 11"/>
          <p:cNvSpPr txBox="1"/>
          <p:nvPr/>
        </p:nvSpPr>
        <p:spPr>
          <a:xfrm>
            <a:off x="800100" y="2628900"/>
            <a:ext cx="3228975" cy="533400"/>
          </a:xfrm>
          <a:prstGeom prst="rect">
            <a:avLst/>
          </a:prstGeom>
          <a:noFill/>
        </p:spPr>
        <p:txBody>
          <a:bodyPr wrap="square">
            <a:spAutoFit/>
          </a:bodyPr>
          <a:lstStyle/>
          <a:p>
            <a:pPr algn="l"/>
            <a:r>
              <a:rPr sz="3300" b="1">
                <a:solidFill>
                  <a:srgbClr val="6600FF"/>
                </a:solidFill>
                <a:latin typeface="Noto Sans JP"/>
                <a:ea typeface="Noto Sans JP"/>
                <a:cs typeface="Noto Sans JP"/>
              </a:rPr>
              <a:t>¥12B</a:t>
            </a:r>
          </a:p>
        </p:txBody>
      </p:sp>
      <p:sp>
        <p:nvSpPr>
          <p:cNvPr id="13" name="TextBox 12"/>
          <p:cNvSpPr txBox="1"/>
          <p:nvPr/>
        </p:nvSpPr>
        <p:spPr>
          <a:xfrm>
            <a:off x="800100" y="3238500"/>
            <a:ext cx="3228975" cy="228600"/>
          </a:xfrm>
          <a:prstGeom prst="rect">
            <a:avLst/>
          </a:prstGeom>
          <a:noFill/>
        </p:spPr>
        <p:txBody>
          <a:bodyPr wrap="square">
            <a:spAutoFit/>
          </a:bodyPr>
          <a:lstStyle/>
          <a:p>
            <a:pPr algn="l"/>
            <a:r>
              <a:rPr sz="900" b="0">
                <a:solidFill>
                  <a:srgbClr val="4A3D6B"/>
                </a:solidFill>
                <a:latin typeface="Noto Sans JP"/>
                <a:ea typeface="Noto Sans JP"/>
                <a:cs typeface="Noto Sans JP"/>
              </a:rPr>
              <a:t>FY2026末</a:t>
            </a:r>
          </a:p>
        </p:txBody>
      </p:sp>
      <p:sp>
        <p:nvSpPr>
          <p:cNvPr id="14" name="Rectangle 13"/>
          <p:cNvSpPr/>
          <p:nvPr/>
        </p:nvSpPr>
        <p:spPr>
          <a:xfrm>
            <a:off x="4371975" y="2057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6275" y="2095500"/>
            <a:ext cx="7620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6275" y="2095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KGI②</a:t>
            </a:r>
          </a:p>
        </p:txBody>
      </p:sp>
      <p:sp>
        <p:nvSpPr>
          <p:cNvPr id="17" name="TextBox 16"/>
          <p:cNvSpPr txBox="1"/>
          <p:nvPr/>
        </p:nvSpPr>
        <p:spPr>
          <a:xfrm>
            <a:off x="4486275" y="2324100"/>
            <a:ext cx="3228975" cy="285750"/>
          </a:xfrm>
          <a:prstGeom prst="rect">
            <a:avLst/>
          </a:prstGeom>
          <a:noFill/>
        </p:spPr>
        <p:txBody>
          <a:bodyPr wrap="square">
            <a:spAutoFit/>
          </a:bodyPr>
          <a:lstStyle/>
          <a:p>
            <a:pPr algn="l"/>
            <a:r>
              <a:rPr sz="975" b="0">
                <a:solidFill>
                  <a:srgbClr val="4A3D6B"/>
                </a:solidFill>
                <a:latin typeface="Noto Sans JP"/>
                <a:ea typeface="Noto Sans JP"/>
                <a:cs typeface="Noto Sans JP"/>
              </a:rPr>
              <a:t>顧客純推薦指数（NPS）</a:t>
            </a:r>
          </a:p>
        </p:txBody>
      </p:sp>
      <p:sp>
        <p:nvSpPr>
          <p:cNvPr id="18" name="TextBox 17"/>
          <p:cNvSpPr txBox="1"/>
          <p:nvPr/>
        </p:nvSpPr>
        <p:spPr>
          <a:xfrm>
            <a:off x="4486275" y="2628900"/>
            <a:ext cx="3228975" cy="533400"/>
          </a:xfrm>
          <a:prstGeom prst="rect">
            <a:avLst/>
          </a:prstGeom>
          <a:noFill/>
        </p:spPr>
        <p:txBody>
          <a:bodyPr wrap="square">
            <a:spAutoFit/>
          </a:bodyPr>
          <a:lstStyle/>
          <a:p>
            <a:pPr algn="l"/>
            <a:r>
              <a:rPr sz="3300" b="1">
                <a:solidFill>
                  <a:srgbClr val="6600FF"/>
                </a:solidFill>
                <a:latin typeface="Noto Sans JP"/>
                <a:ea typeface="Noto Sans JP"/>
                <a:cs typeface="Noto Sans JP"/>
              </a:rPr>
              <a:t>+50</a:t>
            </a:r>
          </a:p>
        </p:txBody>
      </p:sp>
      <p:sp>
        <p:nvSpPr>
          <p:cNvPr id="19" name="TextBox 18"/>
          <p:cNvSpPr txBox="1"/>
          <p:nvPr/>
        </p:nvSpPr>
        <p:spPr>
          <a:xfrm>
            <a:off x="4486275" y="3238500"/>
            <a:ext cx="3228975" cy="228600"/>
          </a:xfrm>
          <a:prstGeom prst="rect">
            <a:avLst/>
          </a:prstGeom>
          <a:noFill/>
        </p:spPr>
        <p:txBody>
          <a:bodyPr wrap="square">
            <a:spAutoFit/>
          </a:bodyPr>
          <a:lstStyle/>
          <a:p>
            <a:pPr algn="l"/>
            <a:r>
              <a:rPr sz="900" b="0">
                <a:solidFill>
                  <a:srgbClr val="4A3D6B"/>
                </a:solidFill>
                <a:latin typeface="Noto Sans JP"/>
                <a:ea typeface="Noto Sans JP"/>
                <a:cs typeface="Noto Sans JP"/>
              </a:rPr>
              <a:t>Q4評価</a:t>
            </a:r>
          </a:p>
        </p:txBody>
      </p:sp>
      <p:sp>
        <p:nvSpPr>
          <p:cNvPr id="20" name="Rectangle 19"/>
          <p:cNvSpPr/>
          <p:nvPr/>
        </p:nvSpPr>
        <p:spPr>
          <a:xfrm>
            <a:off x="8058150" y="2057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72450" y="2095500"/>
            <a:ext cx="762000" cy="1905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2450" y="2095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KGI③</a:t>
            </a:r>
          </a:p>
        </p:txBody>
      </p:sp>
      <p:sp>
        <p:nvSpPr>
          <p:cNvPr id="23" name="TextBox 22"/>
          <p:cNvSpPr txBox="1"/>
          <p:nvPr/>
        </p:nvSpPr>
        <p:spPr>
          <a:xfrm>
            <a:off x="8172450" y="2324100"/>
            <a:ext cx="3228975" cy="285750"/>
          </a:xfrm>
          <a:prstGeom prst="rect">
            <a:avLst/>
          </a:prstGeom>
          <a:noFill/>
        </p:spPr>
        <p:txBody>
          <a:bodyPr wrap="square">
            <a:spAutoFit/>
          </a:bodyPr>
          <a:lstStyle/>
          <a:p>
            <a:pPr algn="l"/>
            <a:r>
              <a:rPr sz="975" b="0">
                <a:solidFill>
                  <a:srgbClr val="4A3D6B"/>
                </a:solidFill>
                <a:latin typeface="Noto Sans JP"/>
                <a:ea typeface="Noto Sans JP"/>
                <a:cs typeface="Noto Sans JP"/>
              </a:rPr>
              <a:t>エンタープライズ比率</a:t>
            </a:r>
          </a:p>
        </p:txBody>
      </p:sp>
      <p:sp>
        <p:nvSpPr>
          <p:cNvPr id="24" name="TextBox 23"/>
          <p:cNvSpPr txBox="1"/>
          <p:nvPr/>
        </p:nvSpPr>
        <p:spPr>
          <a:xfrm>
            <a:off x="8172450" y="2628900"/>
            <a:ext cx="3228975" cy="533400"/>
          </a:xfrm>
          <a:prstGeom prst="rect">
            <a:avLst/>
          </a:prstGeom>
          <a:noFill/>
        </p:spPr>
        <p:txBody>
          <a:bodyPr wrap="square">
            <a:spAutoFit/>
          </a:bodyPr>
          <a:lstStyle/>
          <a:p>
            <a:pPr algn="l"/>
            <a:r>
              <a:rPr sz="3300" b="1">
                <a:solidFill>
                  <a:srgbClr val="6600FF"/>
                </a:solidFill>
                <a:latin typeface="Noto Sans JP"/>
                <a:ea typeface="Noto Sans JP"/>
                <a:cs typeface="Noto Sans JP"/>
              </a:rPr>
              <a:t>55%</a:t>
            </a:r>
          </a:p>
        </p:txBody>
      </p:sp>
      <p:sp>
        <p:nvSpPr>
          <p:cNvPr id="25" name="TextBox 24"/>
          <p:cNvSpPr txBox="1"/>
          <p:nvPr/>
        </p:nvSpPr>
        <p:spPr>
          <a:xfrm>
            <a:off x="8172450" y="3238500"/>
            <a:ext cx="3228975" cy="228600"/>
          </a:xfrm>
          <a:prstGeom prst="rect">
            <a:avLst/>
          </a:prstGeom>
          <a:noFill/>
        </p:spPr>
        <p:txBody>
          <a:bodyPr wrap="square">
            <a:spAutoFit/>
          </a:bodyPr>
          <a:lstStyle/>
          <a:p>
            <a:pPr algn="l"/>
            <a:r>
              <a:rPr sz="900" b="0">
                <a:solidFill>
                  <a:srgbClr val="4A3D6B"/>
                </a:solidFill>
                <a:latin typeface="Noto Sans JP"/>
                <a:ea typeface="Noto Sans JP"/>
                <a:cs typeface="Noto Sans JP"/>
              </a:rPr>
              <a:t>FY2026末</a:t>
            </a:r>
          </a:p>
        </p:txBody>
      </p:sp>
      <p:sp>
        <p:nvSpPr>
          <p:cNvPr id="26" name="Rectangle 25"/>
          <p:cNvSpPr/>
          <p:nvPr/>
        </p:nvSpPr>
        <p:spPr>
          <a:xfrm>
            <a:off x="685800" y="3581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100" y="3619500"/>
            <a:ext cx="762000" cy="190500"/>
          </a:xfrm>
          <a:prstGeom prst="rect">
            <a:avLst/>
          </a:prstGeom>
          <a:solidFill>
            <a:srgbClr val="CC0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0100" y="3619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KPI①</a:t>
            </a:r>
          </a:p>
        </p:txBody>
      </p:sp>
      <p:sp>
        <p:nvSpPr>
          <p:cNvPr id="29" name="TextBox 28"/>
          <p:cNvSpPr txBox="1"/>
          <p:nvPr/>
        </p:nvSpPr>
        <p:spPr>
          <a:xfrm>
            <a:off x="800100" y="3848100"/>
            <a:ext cx="3228975" cy="342900"/>
          </a:xfrm>
          <a:prstGeom prst="rect">
            <a:avLst/>
          </a:prstGeom>
          <a:noFill/>
        </p:spPr>
        <p:txBody>
          <a:bodyPr wrap="square">
            <a:spAutoFit/>
          </a:bodyPr>
          <a:lstStyle/>
          <a:p>
            <a:pPr algn="l"/>
            <a:r>
              <a:rPr sz="975" b="0">
                <a:solidFill>
                  <a:srgbClr val="4A3D6B"/>
                </a:solidFill>
                <a:latin typeface="Noto Sans JP"/>
                <a:ea typeface="Noto Sans JP"/>
                <a:cs typeface="Noto Sans JP"/>
              </a:rPr>
              <a:t>新規MRR月次追加</a:t>
            </a:r>
          </a:p>
        </p:txBody>
      </p:sp>
      <p:sp>
        <p:nvSpPr>
          <p:cNvPr id="30" name="TextBox 29"/>
          <p:cNvSpPr txBox="1"/>
          <p:nvPr/>
        </p:nvSpPr>
        <p:spPr>
          <a:xfrm>
            <a:off x="800100" y="4229100"/>
            <a:ext cx="3228975" cy="381000"/>
          </a:xfrm>
          <a:prstGeom prst="rect">
            <a:avLst/>
          </a:prstGeom>
          <a:noFill/>
        </p:spPr>
        <p:txBody>
          <a:bodyPr wrap="square">
            <a:spAutoFit/>
          </a:bodyPr>
          <a:lstStyle/>
          <a:p>
            <a:pPr algn="l"/>
            <a:r>
              <a:rPr sz="1500" b="1">
                <a:solidFill>
                  <a:srgbClr val="150A2E"/>
                </a:solidFill>
                <a:latin typeface="Noto Sans JP"/>
                <a:ea typeface="Noto Sans JP"/>
                <a:cs typeface="Noto Sans JP"/>
              </a:rPr>
              <a:t>+¥180M/月</a:t>
            </a:r>
          </a:p>
        </p:txBody>
      </p:sp>
      <p:sp>
        <p:nvSpPr>
          <p:cNvPr id="31" name="Rectangle 30"/>
          <p:cNvSpPr/>
          <p:nvPr/>
        </p:nvSpPr>
        <p:spPr>
          <a:xfrm>
            <a:off x="4371975" y="3581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86275" y="3619500"/>
            <a:ext cx="762000" cy="190500"/>
          </a:xfrm>
          <a:prstGeom prst="rect">
            <a:avLst/>
          </a:prstGeom>
          <a:solidFill>
            <a:srgbClr val="CC0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6275" y="3619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KPI②</a:t>
            </a:r>
          </a:p>
        </p:txBody>
      </p:sp>
      <p:sp>
        <p:nvSpPr>
          <p:cNvPr id="34" name="TextBox 33"/>
          <p:cNvSpPr txBox="1"/>
          <p:nvPr/>
        </p:nvSpPr>
        <p:spPr>
          <a:xfrm>
            <a:off x="4486275" y="3848100"/>
            <a:ext cx="3228975" cy="342900"/>
          </a:xfrm>
          <a:prstGeom prst="rect">
            <a:avLst/>
          </a:prstGeom>
          <a:noFill/>
        </p:spPr>
        <p:txBody>
          <a:bodyPr wrap="square">
            <a:spAutoFit/>
          </a:bodyPr>
          <a:lstStyle/>
          <a:p>
            <a:pPr algn="l"/>
            <a:r>
              <a:rPr sz="975" b="0">
                <a:solidFill>
                  <a:srgbClr val="4A3D6B"/>
                </a:solidFill>
                <a:latin typeface="Noto Sans JP"/>
                <a:ea typeface="Noto Sans JP"/>
                <a:cs typeface="Noto Sans JP"/>
              </a:rPr>
              <a:t>CSAT月次スコア</a:t>
            </a:r>
          </a:p>
        </p:txBody>
      </p:sp>
      <p:sp>
        <p:nvSpPr>
          <p:cNvPr id="35" name="TextBox 34"/>
          <p:cNvSpPr txBox="1"/>
          <p:nvPr/>
        </p:nvSpPr>
        <p:spPr>
          <a:xfrm>
            <a:off x="4486275" y="4229100"/>
            <a:ext cx="3228975" cy="381000"/>
          </a:xfrm>
          <a:prstGeom prst="rect">
            <a:avLst/>
          </a:prstGeom>
          <a:noFill/>
        </p:spPr>
        <p:txBody>
          <a:bodyPr wrap="square">
            <a:spAutoFit/>
          </a:bodyPr>
          <a:lstStyle/>
          <a:p>
            <a:pPr algn="l"/>
            <a:r>
              <a:rPr sz="1500" b="1">
                <a:solidFill>
                  <a:srgbClr val="150A2E"/>
                </a:solidFill>
                <a:latin typeface="Noto Sans JP"/>
                <a:ea typeface="Noto Sans JP"/>
                <a:cs typeface="Noto Sans JP"/>
              </a:rPr>
              <a:t>91点 / 100</a:t>
            </a:r>
          </a:p>
        </p:txBody>
      </p:sp>
      <p:sp>
        <p:nvSpPr>
          <p:cNvPr id="36" name="Rectangle 35"/>
          <p:cNvSpPr/>
          <p:nvPr/>
        </p:nvSpPr>
        <p:spPr>
          <a:xfrm>
            <a:off x="8058150" y="3581400"/>
            <a:ext cx="3457575" cy="1447800"/>
          </a:xfrm>
          <a:prstGeom prst="rect">
            <a:avLst/>
          </a:prstGeom>
          <a:noFill/>
          <a:ln w="12700">
            <a:solidFill>
              <a:srgbClr val="F5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72450" y="3619500"/>
            <a:ext cx="762000" cy="190500"/>
          </a:xfrm>
          <a:prstGeom prst="rect">
            <a:avLst/>
          </a:prstGeom>
          <a:solidFill>
            <a:srgbClr val="CC0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72450" y="3619500"/>
            <a:ext cx="762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KPI③</a:t>
            </a:r>
          </a:p>
        </p:txBody>
      </p:sp>
      <p:sp>
        <p:nvSpPr>
          <p:cNvPr id="39" name="TextBox 38"/>
          <p:cNvSpPr txBox="1"/>
          <p:nvPr/>
        </p:nvSpPr>
        <p:spPr>
          <a:xfrm>
            <a:off x="8172450" y="3848100"/>
            <a:ext cx="3228975" cy="342900"/>
          </a:xfrm>
          <a:prstGeom prst="rect">
            <a:avLst/>
          </a:prstGeom>
          <a:noFill/>
        </p:spPr>
        <p:txBody>
          <a:bodyPr wrap="square">
            <a:spAutoFit/>
          </a:bodyPr>
          <a:lstStyle/>
          <a:p>
            <a:pPr algn="l"/>
            <a:r>
              <a:rPr sz="975" b="0">
                <a:solidFill>
                  <a:srgbClr val="4A3D6B"/>
                </a:solidFill>
                <a:latin typeface="Noto Sans JP"/>
                <a:ea typeface="Noto Sans JP"/>
                <a:cs typeface="Noto Sans JP"/>
              </a:rPr>
              <a:t>ENT新規獲得社数</a:t>
            </a:r>
          </a:p>
        </p:txBody>
      </p:sp>
      <p:sp>
        <p:nvSpPr>
          <p:cNvPr id="40" name="TextBox 39"/>
          <p:cNvSpPr txBox="1"/>
          <p:nvPr/>
        </p:nvSpPr>
        <p:spPr>
          <a:xfrm>
            <a:off x="8172450" y="4229100"/>
            <a:ext cx="3228975" cy="381000"/>
          </a:xfrm>
          <a:prstGeom prst="rect">
            <a:avLst/>
          </a:prstGeom>
          <a:noFill/>
        </p:spPr>
        <p:txBody>
          <a:bodyPr wrap="square">
            <a:spAutoFit/>
          </a:bodyPr>
          <a:lstStyle/>
          <a:p>
            <a:pPr algn="l"/>
            <a:r>
              <a:rPr sz="1500" b="1">
                <a:solidFill>
                  <a:srgbClr val="150A2E"/>
                </a:solidFill>
                <a:latin typeface="Noto Sans JP"/>
                <a:ea typeface="Noto Sans JP"/>
                <a:cs typeface="Noto Sans JP"/>
              </a:rPr>
              <a:t>12社/月</a:t>
            </a:r>
          </a:p>
        </p:txBody>
      </p:sp>
      <p:sp>
        <p:nvSpPr>
          <p:cNvPr id="41" name="Rectangle 40"/>
          <p:cNvSpPr/>
          <p:nvPr/>
        </p:nvSpPr>
        <p:spPr>
          <a:xfrm>
            <a:off x="685800" y="5105400"/>
            <a:ext cx="5295900" cy="9144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0100" y="5191125"/>
            <a:ext cx="762000" cy="171450"/>
          </a:xfrm>
          <a:prstGeom prst="rect">
            <a:avLst/>
          </a:prstGeom>
          <a:solidFill>
            <a:srgbClr val="FF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0100" y="5191125"/>
            <a:ext cx="762000" cy="171450"/>
          </a:xfrm>
          <a:prstGeom prst="rect">
            <a:avLst/>
          </a:prstGeom>
          <a:noFill/>
        </p:spPr>
        <p:txBody>
          <a:bodyPr wrap="square">
            <a:spAutoFit/>
          </a:bodyPr>
          <a:lstStyle/>
          <a:p>
            <a:pPr algn="ctr"/>
            <a:r>
              <a:rPr sz="750" b="1">
                <a:solidFill>
                  <a:srgbClr val="FFFFFF"/>
                </a:solidFill>
                <a:latin typeface="Noto Sans JP"/>
                <a:ea typeface="Noto Sans JP"/>
                <a:cs typeface="Noto Sans JP"/>
              </a:rPr>
              <a:t>重点施策①</a:t>
            </a:r>
          </a:p>
        </p:txBody>
      </p:sp>
      <p:sp>
        <p:nvSpPr>
          <p:cNvPr id="44" name="TextBox 43"/>
          <p:cNvSpPr txBox="1"/>
          <p:nvPr/>
        </p:nvSpPr>
        <p:spPr>
          <a:xfrm>
            <a:off x="800100" y="5400675"/>
            <a:ext cx="5067300" cy="533400"/>
          </a:xfrm>
          <a:prstGeom prst="rect">
            <a:avLst/>
          </a:prstGeom>
          <a:noFill/>
        </p:spPr>
        <p:txBody>
          <a:bodyPr wrap="square">
            <a:spAutoFit/>
          </a:bodyPr>
          <a:lstStyle/>
          <a:p>
            <a:pPr algn="l"/>
            <a:r>
              <a:rPr sz="1350" b="1">
                <a:solidFill>
                  <a:srgbClr val="150A2E"/>
                </a:solidFill>
                <a:latin typeface="Noto Sans JP"/>
                <a:ea typeface="Noto Sans JP"/>
                <a:cs typeface="Noto Sans JP"/>
              </a:rPr>
              <a:t>エンタープライズ専任セールスチームの拡充と大手SIパートナー網の再整備</a:t>
            </a:r>
          </a:p>
        </p:txBody>
      </p:sp>
      <p:sp>
        <p:nvSpPr>
          <p:cNvPr id="45" name="Rectangle 44"/>
          <p:cNvSpPr/>
          <p:nvPr/>
        </p:nvSpPr>
        <p:spPr>
          <a:xfrm>
            <a:off x="6210300" y="5105400"/>
            <a:ext cx="5295900" cy="9144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24600" y="5191125"/>
            <a:ext cx="762000" cy="171450"/>
          </a:xfrm>
          <a:prstGeom prst="rect">
            <a:avLst/>
          </a:prstGeom>
          <a:solidFill>
            <a:srgbClr val="FF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24600" y="5191125"/>
            <a:ext cx="762000" cy="171450"/>
          </a:xfrm>
          <a:prstGeom prst="rect">
            <a:avLst/>
          </a:prstGeom>
          <a:noFill/>
        </p:spPr>
        <p:txBody>
          <a:bodyPr wrap="square">
            <a:spAutoFit/>
          </a:bodyPr>
          <a:lstStyle/>
          <a:p>
            <a:pPr algn="ctr"/>
            <a:r>
              <a:rPr sz="750" b="1">
                <a:solidFill>
                  <a:srgbClr val="FFFFFF"/>
                </a:solidFill>
                <a:latin typeface="Noto Sans JP"/>
                <a:ea typeface="Noto Sans JP"/>
                <a:cs typeface="Noto Sans JP"/>
              </a:rPr>
              <a:t>重点施策②</a:t>
            </a:r>
          </a:p>
        </p:txBody>
      </p:sp>
      <p:sp>
        <p:nvSpPr>
          <p:cNvPr id="48" name="TextBox 47"/>
          <p:cNvSpPr txBox="1"/>
          <p:nvPr/>
        </p:nvSpPr>
        <p:spPr>
          <a:xfrm>
            <a:off x="6324600" y="5400675"/>
            <a:ext cx="5067300" cy="533400"/>
          </a:xfrm>
          <a:prstGeom prst="rect">
            <a:avLst/>
          </a:prstGeom>
          <a:noFill/>
        </p:spPr>
        <p:txBody>
          <a:bodyPr wrap="square">
            <a:spAutoFit/>
          </a:bodyPr>
          <a:lstStyle/>
          <a:p>
            <a:pPr algn="l"/>
            <a:r>
              <a:rPr sz="1350" b="1">
                <a:solidFill>
                  <a:srgbClr val="150A2E"/>
                </a:solidFill>
                <a:latin typeface="Noto Sans JP"/>
                <a:ea typeface="Noto Sans JP"/>
                <a:cs typeface="Noto Sans JP"/>
              </a:rPr>
              <a:t>プロダクトNPS向上プログラム：UI改善とカスタマーサクセス強化施策の推進</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出典：自社市場分析 2026年Q2 / 競合調査レポート（n=8社）</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62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925" b="1">
                <a:solidFill>
                  <a:srgbClr val="150A2E"/>
                </a:solidFill>
                <a:latin typeface="Noto Sans JP"/>
                <a:ea typeface="Noto Sans JP"/>
                <a:cs typeface="Noto Sans JP"/>
              </a:rPr>
              <a:t>日本市場でAIアシスタントを成功させる3つの必須条件が揃った</a:t>
            </a:r>
          </a:p>
        </p:txBody>
      </p:sp>
      <p:sp>
        <p:nvSpPr>
          <p:cNvPr id="5" name="Rectangle 4"/>
          <p:cNvSpPr/>
          <p:nvPr/>
        </p:nvSpPr>
        <p:spPr>
          <a:xfrm>
            <a:off x="685800" y="1524000"/>
            <a:ext cx="2533650" cy="45720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238500"/>
            <a:ext cx="2533650" cy="1143000"/>
          </a:xfrm>
          <a:prstGeom prst="rect">
            <a:avLst/>
          </a:prstGeom>
          <a:noFill/>
        </p:spPr>
        <p:txBody>
          <a:bodyPr wrap="square">
            <a:spAutoFit/>
          </a:bodyPr>
          <a:lstStyle/>
          <a:p>
            <a:pPr algn="ctr"/>
            <a:r>
              <a:rPr sz="1950" b="1">
                <a:solidFill>
                  <a:srgbClr val="4A3D6B"/>
                </a:solidFill>
                <a:latin typeface="Noto Sans JP"/>
                <a:ea typeface="Noto Sans JP"/>
                <a:cs typeface="Noto Sans JP"/>
              </a:rPr>
              <a:t>SUMMARY</a:t>
            </a:r>
          </a:p>
        </p:txBody>
      </p:sp>
      <p:sp>
        <p:nvSpPr>
          <p:cNvPr id="7" name="Rectangle 6"/>
          <p:cNvSpPr/>
          <p:nvPr/>
        </p:nvSpPr>
        <p:spPr>
          <a:xfrm>
            <a:off x="3600450" y="1676400"/>
            <a:ext cx="304800" cy="3048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450" y="1676400"/>
            <a:ext cx="304800" cy="304800"/>
          </a:xfrm>
          <a:prstGeom prst="rect">
            <a:avLst/>
          </a:prstGeom>
          <a:noFill/>
        </p:spPr>
        <p:txBody>
          <a:bodyPr wrap="square">
            <a:spAutoFit/>
          </a:bodyPr>
          <a:lstStyle/>
          <a:p>
            <a:pPr algn="ctr"/>
            <a:r>
              <a:rPr sz="1200" b="1">
                <a:solidFill>
                  <a:srgbClr val="6600FF"/>
                </a:solidFill>
                <a:latin typeface="Noto Sans JP"/>
                <a:ea typeface="Noto Sans JP"/>
                <a:cs typeface="Noto Sans JP"/>
              </a:rPr>
              <a:t>✓</a:t>
            </a:r>
          </a:p>
        </p:txBody>
      </p:sp>
      <p:sp>
        <p:nvSpPr>
          <p:cNvPr id="9" name="TextBox 8"/>
          <p:cNvSpPr txBox="1"/>
          <p:nvPr/>
        </p:nvSpPr>
        <p:spPr>
          <a:xfrm>
            <a:off x="4019550" y="1638300"/>
            <a:ext cx="7334250" cy="571500"/>
          </a:xfrm>
          <a:prstGeom prst="rect">
            <a:avLst/>
          </a:prstGeom>
          <a:noFill/>
        </p:spPr>
        <p:txBody>
          <a:bodyPr wrap="square">
            <a:spAutoFit/>
          </a:bodyPr>
          <a:lstStyle/>
          <a:p>
            <a:pPr algn="l"/>
            <a:r>
              <a:rPr sz="1650" b="1">
                <a:solidFill>
                  <a:srgbClr val="150A2E"/>
                </a:solidFill>
                <a:latin typeface="Noto Sans JP"/>
                <a:ea typeface="Noto Sans JP"/>
                <a:cs typeface="Noto Sans JP"/>
              </a:rPr>
              <a:t>ローカライズされた日本語UXが現場定着率を左右する</a:t>
            </a:r>
          </a:p>
        </p:txBody>
      </p:sp>
      <p:sp>
        <p:nvSpPr>
          <p:cNvPr id="10" name="TextBox 9"/>
          <p:cNvSpPr txBox="1"/>
          <p:nvPr/>
        </p:nvSpPr>
        <p:spPr>
          <a:xfrm>
            <a:off x="4019550" y="2247900"/>
            <a:ext cx="7334250" cy="723900"/>
          </a:xfrm>
          <a:prstGeom prst="rect">
            <a:avLst/>
          </a:prstGeom>
          <a:noFill/>
        </p:spPr>
        <p:txBody>
          <a:bodyPr wrap="square">
            <a:spAutoFit/>
          </a:bodyPr>
          <a:lstStyle/>
          <a:p>
            <a:pPr algn="l"/>
            <a:r>
              <a:rPr sz="1125" b="0">
                <a:solidFill>
                  <a:srgbClr val="4A3D6B"/>
                </a:solidFill>
                <a:latin typeface="Noto Sans JP"/>
                <a:ea typeface="Noto Sans JP"/>
                <a:cs typeface="Noto Sans JP"/>
              </a:rPr>
              <a:t>英語UIの直訳では現場浸透率が平均28%にとどまる。漢字・敬語・読み方に最適化した専用UIは定着率+45%を実証済み。</a:t>
            </a:r>
          </a:p>
        </p:txBody>
      </p:sp>
      <p:sp>
        <p:nvSpPr>
          <p:cNvPr id="11" name="Rectangle 10"/>
          <p:cNvSpPr/>
          <p:nvPr/>
        </p:nvSpPr>
        <p:spPr>
          <a:xfrm>
            <a:off x="3448050" y="3048000"/>
            <a:ext cx="80581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00450" y="3200400"/>
            <a:ext cx="304800" cy="3048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200400"/>
            <a:ext cx="304800" cy="304800"/>
          </a:xfrm>
          <a:prstGeom prst="rect">
            <a:avLst/>
          </a:prstGeom>
          <a:noFill/>
        </p:spPr>
        <p:txBody>
          <a:bodyPr wrap="square">
            <a:spAutoFit/>
          </a:bodyPr>
          <a:lstStyle/>
          <a:p>
            <a:pPr algn="ctr"/>
            <a:r>
              <a:rPr sz="1200" b="1">
                <a:solidFill>
                  <a:srgbClr val="6600FF"/>
                </a:solidFill>
                <a:latin typeface="Noto Sans JP"/>
                <a:ea typeface="Noto Sans JP"/>
                <a:cs typeface="Noto Sans JP"/>
              </a:rPr>
              <a:t>✓</a:t>
            </a:r>
          </a:p>
        </p:txBody>
      </p:sp>
      <p:sp>
        <p:nvSpPr>
          <p:cNvPr id="14" name="TextBox 13"/>
          <p:cNvSpPr txBox="1"/>
          <p:nvPr/>
        </p:nvSpPr>
        <p:spPr>
          <a:xfrm>
            <a:off x="4019550" y="3162300"/>
            <a:ext cx="7334250" cy="571500"/>
          </a:xfrm>
          <a:prstGeom prst="rect">
            <a:avLst/>
          </a:prstGeom>
          <a:noFill/>
        </p:spPr>
        <p:txBody>
          <a:bodyPr wrap="square">
            <a:spAutoFit/>
          </a:bodyPr>
          <a:lstStyle/>
          <a:p>
            <a:pPr algn="l"/>
            <a:r>
              <a:rPr sz="1650" b="1">
                <a:solidFill>
                  <a:srgbClr val="150A2E"/>
                </a:solidFill>
                <a:latin typeface="Noto Sans JP"/>
                <a:ea typeface="Noto Sans JP"/>
                <a:cs typeface="Noto Sans JP"/>
              </a:rPr>
              <a:t>国内データセンター完結が金融・医療・公共の導入障壁を除去する</a:t>
            </a:r>
          </a:p>
        </p:txBody>
      </p:sp>
      <p:sp>
        <p:nvSpPr>
          <p:cNvPr id="15" name="TextBox 14"/>
          <p:cNvSpPr txBox="1"/>
          <p:nvPr/>
        </p:nvSpPr>
        <p:spPr>
          <a:xfrm>
            <a:off x="4019550" y="3771900"/>
            <a:ext cx="7334250" cy="723900"/>
          </a:xfrm>
          <a:prstGeom prst="rect">
            <a:avLst/>
          </a:prstGeom>
          <a:noFill/>
        </p:spPr>
        <p:txBody>
          <a:bodyPr wrap="square">
            <a:spAutoFit/>
          </a:bodyPr>
          <a:lstStyle/>
          <a:p>
            <a:pPr algn="l"/>
            <a:r>
              <a:rPr sz="1125" b="0">
                <a:solidFill>
                  <a:srgbClr val="4A3D6B"/>
                </a:solidFill>
                <a:latin typeface="Noto Sans JP"/>
                <a:ea typeface="Noto Sans JP"/>
                <a:cs typeface="Noto Sans JP"/>
              </a:rPr>
              <a:t>個人情報保護法改正・医療法・金融規制の三重対応は国内リージョン完結が前提。これを満たすベンダーは国内では自社のみ。</a:t>
            </a:r>
          </a:p>
        </p:txBody>
      </p:sp>
      <p:sp>
        <p:nvSpPr>
          <p:cNvPr id="16" name="Rectangle 15"/>
          <p:cNvSpPr/>
          <p:nvPr/>
        </p:nvSpPr>
        <p:spPr>
          <a:xfrm>
            <a:off x="3448050" y="4572000"/>
            <a:ext cx="805815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00450" y="4724400"/>
            <a:ext cx="304800" cy="304800"/>
          </a:xfrm>
          <a:prstGeom prst="rect">
            <a:avLst/>
          </a:prstGeom>
          <a:noFill/>
          <a:ln w="19050">
            <a:solidFill>
              <a:srgbClr val="66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0450" y="4724400"/>
            <a:ext cx="304800" cy="304800"/>
          </a:xfrm>
          <a:prstGeom prst="rect">
            <a:avLst/>
          </a:prstGeom>
          <a:noFill/>
        </p:spPr>
        <p:txBody>
          <a:bodyPr wrap="square">
            <a:spAutoFit/>
          </a:bodyPr>
          <a:lstStyle/>
          <a:p>
            <a:pPr algn="ctr"/>
            <a:r>
              <a:rPr sz="1200" b="1">
                <a:solidFill>
                  <a:srgbClr val="6600FF"/>
                </a:solidFill>
                <a:latin typeface="Noto Sans JP"/>
                <a:ea typeface="Noto Sans JP"/>
                <a:cs typeface="Noto Sans JP"/>
              </a:rPr>
              <a:t>✓</a:t>
            </a:r>
          </a:p>
        </p:txBody>
      </p:sp>
      <p:sp>
        <p:nvSpPr>
          <p:cNvPr id="19" name="TextBox 18"/>
          <p:cNvSpPr txBox="1"/>
          <p:nvPr/>
        </p:nvSpPr>
        <p:spPr>
          <a:xfrm>
            <a:off x="4019550" y="4686300"/>
            <a:ext cx="7334250" cy="571500"/>
          </a:xfrm>
          <a:prstGeom prst="rect">
            <a:avLst/>
          </a:prstGeom>
          <a:noFill/>
        </p:spPr>
        <p:txBody>
          <a:bodyPr wrap="square">
            <a:spAutoFit/>
          </a:bodyPr>
          <a:lstStyle/>
          <a:p>
            <a:pPr algn="l"/>
            <a:r>
              <a:rPr sz="1650" b="1">
                <a:solidFill>
                  <a:srgbClr val="150A2E"/>
                </a:solidFill>
                <a:latin typeface="Noto Sans JP"/>
                <a:ea typeface="Noto Sans JP"/>
                <a:cs typeface="Noto Sans JP"/>
              </a:rPr>
              <a:t>150社のSIパートナー網が中堅・地方企業へのラストワンマイルを担保する</a:t>
            </a:r>
          </a:p>
        </p:txBody>
      </p:sp>
      <p:sp>
        <p:nvSpPr>
          <p:cNvPr id="20" name="TextBox 19"/>
          <p:cNvSpPr txBox="1"/>
          <p:nvPr/>
        </p:nvSpPr>
        <p:spPr>
          <a:xfrm>
            <a:off x="4019550" y="5295900"/>
            <a:ext cx="7334250" cy="723900"/>
          </a:xfrm>
          <a:prstGeom prst="rect">
            <a:avLst/>
          </a:prstGeom>
          <a:noFill/>
        </p:spPr>
        <p:txBody>
          <a:bodyPr wrap="square">
            <a:spAutoFit/>
          </a:bodyPr>
          <a:lstStyle/>
          <a:p>
            <a:pPr algn="l"/>
            <a:r>
              <a:rPr sz="1125" b="0">
                <a:solidFill>
                  <a:srgbClr val="4A3D6B"/>
                </a:solidFill>
                <a:latin typeface="Noto Sans JP"/>
                <a:ea typeface="Noto Sans JP"/>
                <a:cs typeface="Noto Sans JP"/>
              </a:rPr>
              <a:t>直販では届かない全国中堅企業4,200社を間接販売でカバー。パートナー経由ARRは前年比+67%で成長中。</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出典：Q3事業計画レビュー（2026年6月25日経営会議決議）</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63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50A2E"/>
                </a:solidFill>
                <a:latin typeface="Noto Sans JP"/>
                <a:ea typeface="Noto Sans JP"/>
                <a:cs typeface="Noto Sans JP"/>
              </a:rPr>
              <a:t>Q3優先アクション：5件を8週間以内に完了し、エンタープライズ拡大を加速する</a:t>
            </a:r>
          </a:p>
        </p:txBody>
      </p:sp>
      <p:sp>
        <p:nvSpPr>
          <p:cNvPr id="5" name="TextBox 4"/>
          <p:cNvSpPr txBox="1"/>
          <p:nvPr/>
        </p:nvSpPr>
        <p:spPr>
          <a:xfrm>
            <a:off x="685800" y="1524000"/>
            <a:ext cx="10820400" cy="381000"/>
          </a:xfrm>
          <a:prstGeom prst="rect">
            <a:avLst/>
          </a:prstGeom>
          <a:noFill/>
        </p:spPr>
        <p:txBody>
          <a:bodyPr wrap="square">
            <a:spAutoFit/>
          </a:bodyPr>
          <a:lstStyle/>
          <a:p>
            <a:pPr algn="l"/>
            <a:r>
              <a:rPr sz="975" b="1">
                <a:solidFill>
                  <a:srgbClr val="6600FF"/>
                </a:solidFill>
                <a:latin typeface="Noto Sans JP"/>
                <a:ea typeface="Noto Sans JP"/>
                <a:cs typeface="Noto Sans JP"/>
              </a:rPr>
              <a:t>ACTION ITEMS</a:t>
            </a:r>
          </a:p>
        </p:txBody>
      </p:sp>
      <p:sp>
        <p:nvSpPr>
          <p:cNvPr id="6" name="Rectangle 5"/>
          <p:cNvSpPr/>
          <p:nvPr/>
        </p:nvSpPr>
        <p:spPr>
          <a:xfrm>
            <a:off x="685800" y="1981200"/>
            <a:ext cx="10820400" cy="38100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1981200"/>
            <a:ext cx="381000" cy="381000"/>
          </a:xfrm>
          <a:prstGeom prst="rect">
            <a:avLst/>
          </a:prstGeom>
          <a:noFill/>
        </p:spPr>
        <p:txBody>
          <a:bodyPr wrap="square">
            <a:spAutoFit/>
          </a:bodyPr>
          <a:lstStyle/>
          <a:p>
            <a:pPr algn="l"/>
            <a:r>
              <a:rPr sz="975" b="1">
                <a:solidFill>
                  <a:srgbClr val="4A3D6B"/>
                </a:solidFill>
                <a:latin typeface="Noto Sans JP"/>
                <a:ea typeface="Noto Sans JP"/>
                <a:cs typeface="Noto Sans JP"/>
              </a:rPr>
              <a:t>No.</a:t>
            </a:r>
          </a:p>
        </p:txBody>
      </p:sp>
      <p:sp>
        <p:nvSpPr>
          <p:cNvPr id="8" name="TextBox 7"/>
          <p:cNvSpPr txBox="1"/>
          <p:nvPr/>
        </p:nvSpPr>
        <p:spPr>
          <a:xfrm>
            <a:off x="1219200" y="1981200"/>
            <a:ext cx="8001000" cy="381000"/>
          </a:xfrm>
          <a:prstGeom prst="rect">
            <a:avLst/>
          </a:prstGeom>
          <a:noFill/>
        </p:spPr>
        <p:txBody>
          <a:bodyPr wrap="square">
            <a:spAutoFit/>
          </a:bodyPr>
          <a:lstStyle/>
          <a:p>
            <a:pPr algn="l"/>
            <a:r>
              <a:rPr sz="975" b="1">
                <a:solidFill>
                  <a:srgbClr val="4A3D6B"/>
                </a:solidFill>
                <a:latin typeface="Noto Sans JP"/>
                <a:ea typeface="Noto Sans JP"/>
                <a:cs typeface="Noto Sans JP"/>
              </a:rPr>
              <a:t>アクション内容</a:t>
            </a:r>
          </a:p>
        </p:txBody>
      </p:sp>
      <p:sp>
        <p:nvSpPr>
          <p:cNvPr id="9" name="TextBox 8"/>
          <p:cNvSpPr txBox="1"/>
          <p:nvPr/>
        </p:nvSpPr>
        <p:spPr>
          <a:xfrm>
            <a:off x="9296400" y="1981200"/>
            <a:ext cx="1143000" cy="381000"/>
          </a:xfrm>
          <a:prstGeom prst="rect">
            <a:avLst/>
          </a:prstGeom>
          <a:noFill/>
        </p:spPr>
        <p:txBody>
          <a:bodyPr wrap="square">
            <a:spAutoFit/>
          </a:bodyPr>
          <a:lstStyle/>
          <a:p>
            <a:pPr algn="l"/>
            <a:r>
              <a:rPr sz="975" b="1">
                <a:solidFill>
                  <a:srgbClr val="4A3D6B"/>
                </a:solidFill>
                <a:latin typeface="Noto Sans JP"/>
                <a:ea typeface="Noto Sans JP"/>
                <a:cs typeface="Noto Sans JP"/>
              </a:rPr>
              <a:t>担当者</a:t>
            </a:r>
          </a:p>
        </p:txBody>
      </p:sp>
      <p:sp>
        <p:nvSpPr>
          <p:cNvPr id="10" name="TextBox 9"/>
          <p:cNvSpPr txBox="1"/>
          <p:nvPr/>
        </p:nvSpPr>
        <p:spPr>
          <a:xfrm>
            <a:off x="10515600" y="1981200"/>
            <a:ext cx="914400" cy="381000"/>
          </a:xfrm>
          <a:prstGeom prst="rect">
            <a:avLst/>
          </a:prstGeom>
          <a:noFill/>
        </p:spPr>
        <p:txBody>
          <a:bodyPr wrap="square">
            <a:spAutoFit/>
          </a:bodyPr>
          <a:lstStyle/>
          <a:p>
            <a:pPr algn="r"/>
            <a:r>
              <a:rPr sz="975" b="1">
                <a:solidFill>
                  <a:srgbClr val="4A3D6B"/>
                </a:solidFill>
                <a:latin typeface="Noto Sans JP"/>
                <a:ea typeface="Noto Sans JP"/>
                <a:cs typeface="Noto Sans JP"/>
              </a:rPr>
              <a:t>期限</a:t>
            </a:r>
          </a:p>
        </p:txBody>
      </p:sp>
      <p:sp>
        <p:nvSpPr>
          <p:cNvPr id="11" name="Rectangle 10"/>
          <p:cNvSpPr/>
          <p:nvPr/>
        </p:nvSpPr>
        <p:spPr>
          <a:xfrm>
            <a:off x="762000" y="2628900"/>
            <a:ext cx="266700" cy="2667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628900"/>
            <a:ext cx="266700" cy="266700"/>
          </a:xfrm>
          <a:prstGeom prst="rect">
            <a:avLst/>
          </a:prstGeom>
          <a:noFill/>
        </p:spPr>
        <p:txBody>
          <a:bodyPr wrap="square">
            <a:spAutoFit/>
          </a:bodyPr>
          <a:lstStyle/>
          <a:p>
            <a:pPr algn="ctr"/>
            <a:r>
              <a:rPr sz="900" b="1">
                <a:solidFill>
                  <a:srgbClr val="FFFFFF"/>
                </a:solidFill>
                <a:latin typeface="Noto Sans JP"/>
                <a:ea typeface="Noto Sans JP"/>
                <a:cs typeface="Noto Sans JP"/>
              </a:rPr>
              <a:t>01</a:t>
            </a:r>
          </a:p>
        </p:txBody>
      </p:sp>
      <p:sp>
        <p:nvSpPr>
          <p:cNvPr id="13" name="TextBox 12"/>
          <p:cNvSpPr txBox="1"/>
          <p:nvPr/>
        </p:nvSpPr>
        <p:spPr>
          <a:xfrm>
            <a:off x="1219200" y="2476500"/>
            <a:ext cx="8001000" cy="571500"/>
          </a:xfrm>
          <a:prstGeom prst="rect">
            <a:avLst/>
          </a:prstGeom>
          <a:noFill/>
        </p:spPr>
        <p:txBody>
          <a:bodyPr wrap="square">
            <a:spAutoFit/>
          </a:bodyPr>
          <a:lstStyle/>
          <a:p>
            <a:pPr algn="l"/>
            <a:r>
              <a:rPr sz="1350" b="0">
                <a:solidFill>
                  <a:srgbClr val="150A2E"/>
                </a:solidFill>
                <a:latin typeface="Noto Sans JP"/>
                <a:ea typeface="Noto Sans JP"/>
                <a:cs typeface="Noto Sans JP"/>
              </a:rPr>
              <a:t>エンタープライズ専任セールスを3名増員し、大手製造業TOP50社へのパイプライン構築を開始</a:t>
            </a:r>
          </a:p>
        </p:txBody>
      </p:sp>
      <p:sp>
        <p:nvSpPr>
          <p:cNvPr id="14" name="Rectangle 13"/>
          <p:cNvSpPr/>
          <p:nvPr/>
        </p:nvSpPr>
        <p:spPr>
          <a:xfrm>
            <a:off x="9296400" y="2628900"/>
            <a:ext cx="1028700" cy="24765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6400" y="2628900"/>
            <a:ext cx="1028700" cy="247650"/>
          </a:xfrm>
          <a:prstGeom prst="rect">
            <a:avLst/>
          </a:prstGeom>
          <a:noFill/>
        </p:spPr>
        <p:txBody>
          <a:bodyPr wrap="square">
            <a:spAutoFit/>
          </a:bodyPr>
          <a:lstStyle/>
          <a:p>
            <a:pPr algn="ctr"/>
            <a:r>
              <a:rPr sz="1350" b="0">
                <a:solidFill>
                  <a:srgbClr val="4A3D6B"/>
                </a:solidFill>
                <a:latin typeface="Noto Sans JP"/>
                <a:ea typeface="Noto Sans JP"/>
                <a:cs typeface="Noto Sans JP"/>
              </a:rPr>
              <a:t>営業部長</a:t>
            </a:r>
          </a:p>
        </p:txBody>
      </p:sp>
      <p:sp>
        <p:nvSpPr>
          <p:cNvPr id="16" name="TextBox 15"/>
          <p:cNvSpPr txBox="1"/>
          <p:nvPr/>
        </p:nvSpPr>
        <p:spPr>
          <a:xfrm>
            <a:off x="10515600" y="2628900"/>
            <a:ext cx="914400" cy="247650"/>
          </a:xfrm>
          <a:prstGeom prst="rect">
            <a:avLst/>
          </a:prstGeom>
          <a:noFill/>
        </p:spPr>
        <p:txBody>
          <a:bodyPr wrap="square">
            <a:spAutoFit/>
          </a:bodyPr>
          <a:lstStyle/>
          <a:p>
            <a:pPr algn="r"/>
            <a:r>
              <a:rPr sz="1350" b="0">
                <a:solidFill>
                  <a:srgbClr val="4A3D6B"/>
                </a:solidFill>
                <a:latin typeface="Noto Sans JP"/>
                <a:ea typeface="Noto Sans JP"/>
                <a:cs typeface="Noto Sans JP"/>
              </a:rPr>
              <a:t>7/31</a:t>
            </a:r>
          </a:p>
        </p:txBody>
      </p:sp>
      <p:sp>
        <p:nvSpPr>
          <p:cNvPr id="17" name="Rectangle 16"/>
          <p:cNvSpPr/>
          <p:nvPr/>
        </p:nvSpPr>
        <p:spPr>
          <a:xfrm>
            <a:off x="685800" y="3086100"/>
            <a:ext cx="1082040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2000" y="3276600"/>
            <a:ext cx="266700" cy="2667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000" y="3276600"/>
            <a:ext cx="266700" cy="266700"/>
          </a:xfrm>
          <a:prstGeom prst="rect">
            <a:avLst/>
          </a:prstGeom>
          <a:noFill/>
        </p:spPr>
        <p:txBody>
          <a:bodyPr wrap="square">
            <a:spAutoFit/>
          </a:bodyPr>
          <a:lstStyle/>
          <a:p>
            <a:pPr algn="ctr"/>
            <a:r>
              <a:rPr sz="900" b="1">
                <a:solidFill>
                  <a:srgbClr val="FFFFFF"/>
                </a:solidFill>
                <a:latin typeface="Noto Sans JP"/>
                <a:ea typeface="Noto Sans JP"/>
                <a:cs typeface="Noto Sans JP"/>
              </a:rPr>
              <a:t>02</a:t>
            </a:r>
          </a:p>
        </p:txBody>
      </p:sp>
      <p:sp>
        <p:nvSpPr>
          <p:cNvPr id="20" name="TextBox 19"/>
          <p:cNvSpPr txBox="1"/>
          <p:nvPr/>
        </p:nvSpPr>
        <p:spPr>
          <a:xfrm>
            <a:off x="1219200" y="3124200"/>
            <a:ext cx="8001000" cy="571500"/>
          </a:xfrm>
          <a:prstGeom prst="rect">
            <a:avLst/>
          </a:prstGeom>
          <a:noFill/>
        </p:spPr>
        <p:txBody>
          <a:bodyPr wrap="square">
            <a:spAutoFit/>
          </a:bodyPr>
          <a:lstStyle/>
          <a:p>
            <a:pPr algn="l"/>
            <a:r>
              <a:rPr sz="1350" b="0">
                <a:solidFill>
                  <a:srgbClr val="150A2E"/>
                </a:solidFill>
                <a:latin typeface="Noto Sans JP"/>
                <a:ea typeface="Noto Sans JP"/>
                <a:cs typeface="Noto Sans JP"/>
              </a:rPr>
              <a:t>NPS向上施策の第1弾としてオンボーディングフローを全面刷新し、初月定着率を70%→85%へ改善</a:t>
            </a:r>
          </a:p>
        </p:txBody>
      </p:sp>
      <p:sp>
        <p:nvSpPr>
          <p:cNvPr id="21" name="Rectangle 20"/>
          <p:cNvSpPr/>
          <p:nvPr/>
        </p:nvSpPr>
        <p:spPr>
          <a:xfrm>
            <a:off x="9296400" y="3276600"/>
            <a:ext cx="1028700" cy="24765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6400" y="3276600"/>
            <a:ext cx="1028700" cy="247650"/>
          </a:xfrm>
          <a:prstGeom prst="rect">
            <a:avLst/>
          </a:prstGeom>
          <a:noFill/>
        </p:spPr>
        <p:txBody>
          <a:bodyPr wrap="square">
            <a:spAutoFit/>
          </a:bodyPr>
          <a:lstStyle/>
          <a:p>
            <a:pPr algn="ctr"/>
            <a:r>
              <a:rPr sz="1350" b="0">
                <a:solidFill>
                  <a:srgbClr val="4A3D6B"/>
                </a:solidFill>
                <a:latin typeface="Noto Sans JP"/>
                <a:ea typeface="Noto Sans JP"/>
                <a:cs typeface="Noto Sans JP"/>
              </a:rPr>
              <a:t>CS部長</a:t>
            </a:r>
          </a:p>
        </p:txBody>
      </p:sp>
      <p:sp>
        <p:nvSpPr>
          <p:cNvPr id="23" name="TextBox 22"/>
          <p:cNvSpPr txBox="1"/>
          <p:nvPr/>
        </p:nvSpPr>
        <p:spPr>
          <a:xfrm>
            <a:off x="10515600" y="3276600"/>
            <a:ext cx="914400" cy="247650"/>
          </a:xfrm>
          <a:prstGeom prst="rect">
            <a:avLst/>
          </a:prstGeom>
          <a:noFill/>
        </p:spPr>
        <p:txBody>
          <a:bodyPr wrap="square">
            <a:spAutoFit/>
          </a:bodyPr>
          <a:lstStyle/>
          <a:p>
            <a:pPr algn="r"/>
            <a:r>
              <a:rPr sz="1350" b="0">
                <a:solidFill>
                  <a:srgbClr val="4A3D6B"/>
                </a:solidFill>
                <a:latin typeface="Noto Sans JP"/>
                <a:ea typeface="Noto Sans JP"/>
                <a:cs typeface="Noto Sans JP"/>
              </a:rPr>
              <a:t>8/15</a:t>
            </a:r>
          </a:p>
        </p:txBody>
      </p:sp>
      <p:sp>
        <p:nvSpPr>
          <p:cNvPr id="24" name="Rectangle 23"/>
          <p:cNvSpPr/>
          <p:nvPr/>
        </p:nvSpPr>
        <p:spPr>
          <a:xfrm>
            <a:off x="685800" y="3733800"/>
            <a:ext cx="1082040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2000" y="3924300"/>
            <a:ext cx="266700" cy="2667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2000" y="3924300"/>
            <a:ext cx="266700" cy="266700"/>
          </a:xfrm>
          <a:prstGeom prst="rect">
            <a:avLst/>
          </a:prstGeom>
          <a:noFill/>
        </p:spPr>
        <p:txBody>
          <a:bodyPr wrap="square">
            <a:spAutoFit/>
          </a:bodyPr>
          <a:lstStyle/>
          <a:p>
            <a:pPr algn="ctr"/>
            <a:r>
              <a:rPr sz="900" b="1">
                <a:solidFill>
                  <a:srgbClr val="FFFFFF"/>
                </a:solidFill>
                <a:latin typeface="Noto Sans JP"/>
                <a:ea typeface="Noto Sans JP"/>
                <a:cs typeface="Noto Sans JP"/>
              </a:rPr>
              <a:t>03</a:t>
            </a:r>
          </a:p>
        </p:txBody>
      </p:sp>
      <p:sp>
        <p:nvSpPr>
          <p:cNvPr id="27" name="TextBox 26"/>
          <p:cNvSpPr txBox="1"/>
          <p:nvPr/>
        </p:nvSpPr>
        <p:spPr>
          <a:xfrm>
            <a:off x="1219200" y="3771900"/>
            <a:ext cx="8001000" cy="571500"/>
          </a:xfrm>
          <a:prstGeom prst="rect">
            <a:avLst/>
          </a:prstGeom>
          <a:noFill/>
        </p:spPr>
        <p:txBody>
          <a:bodyPr wrap="square">
            <a:spAutoFit/>
          </a:bodyPr>
          <a:lstStyle/>
          <a:p>
            <a:pPr algn="l"/>
            <a:r>
              <a:rPr sz="1350" b="0">
                <a:solidFill>
                  <a:srgbClr val="150A2E"/>
                </a:solidFill>
                <a:latin typeface="Noto Sans JP"/>
                <a:ea typeface="Noto Sans JP"/>
                <a:cs typeface="Noto Sans JP"/>
              </a:rPr>
              <a:t>金融・医療セクター向けコンプライアンスパッケージの認定取得（FISC安全対策基準）を完了</a:t>
            </a:r>
          </a:p>
        </p:txBody>
      </p:sp>
      <p:sp>
        <p:nvSpPr>
          <p:cNvPr id="28" name="Rectangle 27"/>
          <p:cNvSpPr/>
          <p:nvPr/>
        </p:nvSpPr>
        <p:spPr>
          <a:xfrm>
            <a:off x="9296400" y="3924300"/>
            <a:ext cx="1028700" cy="24765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96400" y="3924300"/>
            <a:ext cx="1028700" cy="247650"/>
          </a:xfrm>
          <a:prstGeom prst="rect">
            <a:avLst/>
          </a:prstGeom>
          <a:noFill/>
        </p:spPr>
        <p:txBody>
          <a:bodyPr wrap="square">
            <a:spAutoFit/>
          </a:bodyPr>
          <a:lstStyle/>
          <a:p>
            <a:pPr algn="ctr"/>
            <a:r>
              <a:rPr sz="1350" b="0">
                <a:solidFill>
                  <a:srgbClr val="4A3D6B"/>
                </a:solidFill>
                <a:latin typeface="Noto Sans JP"/>
                <a:ea typeface="Noto Sans JP"/>
                <a:cs typeface="Noto Sans JP"/>
              </a:rPr>
              <a:t>法務チーム</a:t>
            </a:r>
          </a:p>
        </p:txBody>
      </p:sp>
      <p:sp>
        <p:nvSpPr>
          <p:cNvPr id="30" name="TextBox 29"/>
          <p:cNvSpPr txBox="1"/>
          <p:nvPr/>
        </p:nvSpPr>
        <p:spPr>
          <a:xfrm>
            <a:off x="10515600" y="3924300"/>
            <a:ext cx="914400" cy="247650"/>
          </a:xfrm>
          <a:prstGeom prst="rect">
            <a:avLst/>
          </a:prstGeom>
          <a:noFill/>
        </p:spPr>
        <p:txBody>
          <a:bodyPr wrap="square">
            <a:spAutoFit/>
          </a:bodyPr>
          <a:lstStyle/>
          <a:p>
            <a:pPr algn="r"/>
            <a:r>
              <a:rPr sz="1350" b="0">
                <a:solidFill>
                  <a:srgbClr val="4A3D6B"/>
                </a:solidFill>
                <a:latin typeface="Noto Sans JP"/>
                <a:ea typeface="Noto Sans JP"/>
                <a:cs typeface="Noto Sans JP"/>
              </a:rPr>
              <a:t>8/31</a:t>
            </a:r>
          </a:p>
        </p:txBody>
      </p:sp>
      <p:sp>
        <p:nvSpPr>
          <p:cNvPr id="31" name="Rectangle 30"/>
          <p:cNvSpPr/>
          <p:nvPr/>
        </p:nvSpPr>
        <p:spPr>
          <a:xfrm>
            <a:off x="685800" y="4381500"/>
            <a:ext cx="1082040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 y="4572000"/>
            <a:ext cx="266700" cy="2667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2000" y="4572000"/>
            <a:ext cx="266700" cy="266700"/>
          </a:xfrm>
          <a:prstGeom prst="rect">
            <a:avLst/>
          </a:prstGeom>
          <a:noFill/>
        </p:spPr>
        <p:txBody>
          <a:bodyPr wrap="square">
            <a:spAutoFit/>
          </a:bodyPr>
          <a:lstStyle/>
          <a:p>
            <a:pPr algn="ctr"/>
            <a:r>
              <a:rPr sz="900" b="1">
                <a:solidFill>
                  <a:srgbClr val="FFFFFF"/>
                </a:solidFill>
                <a:latin typeface="Noto Sans JP"/>
                <a:ea typeface="Noto Sans JP"/>
                <a:cs typeface="Noto Sans JP"/>
              </a:rPr>
              <a:t>04</a:t>
            </a:r>
          </a:p>
        </p:txBody>
      </p:sp>
      <p:sp>
        <p:nvSpPr>
          <p:cNvPr id="34" name="TextBox 33"/>
          <p:cNvSpPr txBox="1"/>
          <p:nvPr/>
        </p:nvSpPr>
        <p:spPr>
          <a:xfrm>
            <a:off x="1219200" y="4419600"/>
            <a:ext cx="8001000" cy="571500"/>
          </a:xfrm>
          <a:prstGeom prst="rect">
            <a:avLst/>
          </a:prstGeom>
          <a:noFill/>
        </p:spPr>
        <p:txBody>
          <a:bodyPr wrap="square">
            <a:spAutoFit/>
          </a:bodyPr>
          <a:lstStyle/>
          <a:p>
            <a:pPr algn="l"/>
            <a:r>
              <a:rPr sz="1350" b="0">
                <a:solidFill>
                  <a:srgbClr val="150A2E"/>
                </a:solidFill>
                <a:latin typeface="Noto Sans JP"/>
                <a:ea typeface="Noto Sans JP"/>
                <a:cs typeface="Noto Sans JP"/>
              </a:rPr>
              <a:t>SIパートナー向け新認定プログラムを立ち上げ、パートナー経由パイプラインを¥500M積み上げる</a:t>
            </a:r>
          </a:p>
        </p:txBody>
      </p:sp>
      <p:sp>
        <p:nvSpPr>
          <p:cNvPr id="35" name="Rectangle 34"/>
          <p:cNvSpPr/>
          <p:nvPr/>
        </p:nvSpPr>
        <p:spPr>
          <a:xfrm>
            <a:off x="9296400" y="4572000"/>
            <a:ext cx="1028700" cy="24765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96400" y="4572000"/>
            <a:ext cx="1028700" cy="247650"/>
          </a:xfrm>
          <a:prstGeom prst="rect">
            <a:avLst/>
          </a:prstGeom>
          <a:noFill/>
        </p:spPr>
        <p:txBody>
          <a:bodyPr wrap="square">
            <a:spAutoFit/>
          </a:bodyPr>
          <a:lstStyle/>
          <a:p>
            <a:pPr algn="ctr"/>
            <a:r>
              <a:rPr sz="1350" b="0">
                <a:solidFill>
                  <a:srgbClr val="4A3D6B"/>
                </a:solidFill>
                <a:latin typeface="Noto Sans JP"/>
                <a:ea typeface="Noto Sans JP"/>
                <a:cs typeface="Noto Sans JP"/>
              </a:rPr>
              <a:t>PX部長</a:t>
            </a:r>
          </a:p>
        </p:txBody>
      </p:sp>
      <p:sp>
        <p:nvSpPr>
          <p:cNvPr id="37" name="TextBox 36"/>
          <p:cNvSpPr txBox="1"/>
          <p:nvPr/>
        </p:nvSpPr>
        <p:spPr>
          <a:xfrm>
            <a:off x="10515600" y="4572000"/>
            <a:ext cx="914400" cy="247650"/>
          </a:xfrm>
          <a:prstGeom prst="rect">
            <a:avLst/>
          </a:prstGeom>
          <a:noFill/>
        </p:spPr>
        <p:txBody>
          <a:bodyPr wrap="square">
            <a:spAutoFit/>
          </a:bodyPr>
          <a:lstStyle/>
          <a:p>
            <a:pPr algn="r"/>
            <a:r>
              <a:rPr sz="1350" b="0">
                <a:solidFill>
                  <a:srgbClr val="4A3D6B"/>
                </a:solidFill>
                <a:latin typeface="Noto Sans JP"/>
                <a:ea typeface="Noto Sans JP"/>
                <a:cs typeface="Noto Sans JP"/>
              </a:rPr>
              <a:t>9/15</a:t>
            </a:r>
          </a:p>
        </p:txBody>
      </p:sp>
      <p:sp>
        <p:nvSpPr>
          <p:cNvPr id="38" name="Rectangle 37"/>
          <p:cNvSpPr/>
          <p:nvPr/>
        </p:nvSpPr>
        <p:spPr>
          <a:xfrm>
            <a:off x="685800" y="5029200"/>
            <a:ext cx="10820400"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62000" y="5219700"/>
            <a:ext cx="266700" cy="2667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2000" y="5219700"/>
            <a:ext cx="266700" cy="266700"/>
          </a:xfrm>
          <a:prstGeom prst="rect">
            <a:avLst/>
          </a:prstGeom>
          <a:noFill/>
        </p:spPr>
        <p:txBody>
          <a:bodyPr wrap="square">
            <a:spAutoFit/>
          </a:bodyPr>
          <a:lstStyle/>
          <a:p>
            <a:pPr algn="ctr"/>
            <a:r>
              <a:rPr sz="900" b="1">
                <a:solidFill>
                  <a:srgbClr val="FFFFFF"/>
                </a:solidFill>
                <a:latin typeface="Noto Sans JP"/>
                <a:ea typeface="Noto Sans JP"/>
                <a:cs typeface="Noto Sans JP"/>
              </a:rPr>
              <a:t>05</a:t>
            </a:r>
          </a:p>
        </p:txBody>
      </p:sp>
      <p:sp>
        <p:nvSpPr>
          <p:cNvPr id="41" name="TextBox 40"/>
          <p:cNvSpPr txBox="1"/>
          <p:nvPr/>
        </p:nvSpPr>
        <p:spPr>
          <a:xfrm>
            <a:off x="1219200" y="5067300"/>
            <a:ext cx="8001000" cy="571500"/>
          </a:xfrm>
          <a:prstGeom prst="rect">
            <a:avLst/>
          </a:prstGeom>
          <a:noFill/>
        </p:spPr>
        <p:txBody>
          <a:bodyPr wrap="square">
            <a:spAutoFit/>
          </a:bodyPr>
          <a:lstStyle/>
          <a:p>
            <a:pPr algn="l"/>
            <a:r>
              <a:rPr sz="1350" b="0">
                <a:solidFill>
                  <a:srgbClr val="150A2E"/>
                </a:solidFill>
                <a:latin typeface="Noto Sans JP"/>
                <a:ea typeface="Noto Sans JP"/>
                <a:cs typeface="Noto Sans JP"/>
              </a:rPr>
              <a:t>Q3 ARR目標¥10.5Bの達成可否を週次でモニタリングし、遅延兆候は2週以内に経営へエスカレーション</a:t>
            </a:r>
          </a:p>
        </p:txBody>
      </p:sp>
      <p:sp>
        <p:nvSpPr>
          <p:cNvPr id="42" name="Rectangle 41"/>
          <p:cNvSpPr/>
          <p:nvPr/>
        </p:nvSpPr>
        <p:spPr>
          <a:xfrm>
            <a:off x="9296400" y="5219700"/>
            <a:ext cx="1028700" cy="247650"/>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96400" y="5219700"/>
            <a:ext cx="1028700" cy="247650"/>
          </a:xfrm>
          <a:prstGeom prst="rect">
            <a:avLst/>
          </a:prstGeom>
          <a:noFill/>
        </p:spPr>
        <p:txBody>
          <a:bodyPr wrap="square">
            <a:spAutoFit/>
          </a:bodyPr>
          <a:lstStyle/>
          <a:p>
            <a:pPr algn="ctr"/>
            <a:r>
              <a:rPr sz="1350" b="0">
                <a:solidFill>
                  <a:srgbClr val="4A3D6B"/>
                </a:solidFill>
                <a:latin typeface="Noto Sans JP"/>
                <a:ea typeface="Noto Sans JP"/>
                <a:cs typeface="Noto Sans JP"/>
              </a:rPr>
              <a:t>CFO</a:t>
            </a:r>
          </a:p>
        </p:txBody>
      </p:sp>
      <p:sp>
        <p:nvSpPr>
          <p:cNvPr id="44" name="TextBox 43"/>
          <p:cNvSpPr txBox="1"/>
          <p:nvPr/>
        </p:nvSpPr>
        <p:spPr>
          <a:xfrm>
            <a:off x="10515600" y="5219700"/>
            <a:ext cx="914400" cy="247650"/>
          </a:xfrm>
          <a:prstGeom prst="rect">
            <a:avLst/>
          </a:prstGeom>
          <a:noFill/>
        </p:spPr>
        <p:txBody>
          <a:bodyPr wrap="square">
            <a:spAutoFit/>
          </a:bodyPr>
          <a:lstStyle/>
          <a:p>
            <a:pPr algn="r"/>
            <a:r>
              <a:rPr sz="1350" b="0">
                <a:solidFill>
                  <a:srgbClr val="4A3D6B"/>
                </a:solidFill>
                <a:latin typeface="Noto Sans JP"/>
                <a:ea typeface="Noto Sans JP"/>
                <a:cs typeface="Noto Sans JP"/>
              </a:rPr>
              <a:t>毎週月曜</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3D6B"/>
                </a:solidFill>
                <a:latin typeface="Noto Sans JP"/>
                <a:ea typeface="Noto Sans JP"/>
                <a:cs typeface="Noto Sans JP"/>
              </a:rPr>
              <a:t>出典：自社経営データ・競合調査・市場分析の統合レポート（2026年6月25日版）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3D6B"/>
                </a:solidFill>
                <a:latin typeface="Noto Sans JP"/>
                <a:ea typeface="Noto Sans JP"/>
                <a:cs typeface="Noto Sans JP"/>
              </a:rPr>
              <a:t>64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50A2E"/>
                </a:solidFill>
                <a:latin typeface="Noto Sans JP"/>
                <a:ea typeface="Noto Sans JP"/>
                <a:cs typeface="Noto Sans JP"/>
              </a:rPr>
              <a:t>結論：日本AIアシスタント市場でのシェアNo.1獲得は2026年内に実現可能</a:t>
            </a:r>
          </a:p>
        </p:txBody>
      </p:sp>
      <p:sp>
        <p:nvSpPr>
          <p:cNvPr id="5" name="Rectangle 4"/>
          <p:cNvSpPr/>
          <p:nvPr/>
        </p:nvSpPr>
        <p:spPr>
          <a:xfrm>
            <a:off x="685800" y="1524000"/>
            <a:ext cx="3457575" cy="457200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1714500"/>
            <a:ext cx="3076575" cy="228600"/>
          </a:xfrm>
          <a:prstGeom prst="rect">
            <a:avLst/>
          </a:prstGeom>
          <a:noFill/>
        </p:spPr>
        <p:txBody>
          <a:bodyPr wrap="square">
            <a:spAutoFit/>
          </a:bodyPr>
          <a:lstStyle/>
          <a:p>
            <a:pPr algn="l"/>
            <a:r>
              <a:rPr sz="825" b="1">
                <a:solidFill>
                  <a:srgbClr val="FFFFFF"/>
                </a:solidFill>
                <a:latin typeface="Noto Sans JP"/>
                <a:ea typeface="Noto Sans JP"/>
                <a:cs typeface="Noto Sans JP"/>
              </a:rPr>
              <a:t>KEY INSIGHT</a:t>
            </a:r>
          </a:p>
        </p:txBody>
      </p:sp>
      <p:sp>
        <p:nvSpPr>
          <p:cNvPr id="7" name="TextBox 6"/>
          <p:cNvSpPr txBox="1"/>
          <p:nvPr/>
        </p:nvSpPr>
        <p:spPr>
          <a:xfrm>
            <a:off x="876300" y="2019300"/>
            <a:ext cx="3076575" cy="2667000"/>
          </a:xfrm>
          <a:prstGeom prst="rect">
            <a:avLst/>
          </a:prstGeom>
          <a:noFill/>
        </p:spPr>
        <p:txBody>
          <a:bodyPr wrap="square">
            <a:spAutoFit/>
          </a:bodyPr>
          <a:lstStyle/>
          <a:p>
            <a:pPr algn="l"/>
            <a:r>
              <a:rPr sz="1950" b="1">
                <a:solidFill>
                  <a:srgbClr val="FFFFFF"/>
                </a:solidFill>
                <a:latin typeface="Noto Sans JP"/>
                <a:ea typeface="Noto Sans JP"/>
                <a:cs typeface="Noto Sans JP"/>
              </a:rPr>
              <a:t>ローカライズ・規制対応・パートナー網の三位一体が競合の参入障壁を構築し、持続的優位を確立する</a:t>
            </a:r>
          </a:p>
        </p:txBody>
      </p:sp>
      <p:sp>
        <p:nvSpPr>
          <p:cNvPr id="8" name="Rectangle 7"/>
          <p:cNvSpPr/>
          <p:nvPr/>
        </p:nvSpPr>
        <p:spPr>
          <a:xfrm>
            <a:off x="876300" y="4800600"/>
            <a:ext cx="3076575" cy="9525"/>
          </a:xfrm>
          <a:prstGeom prst="rect">
            <a:avLst/>
          </a:prstGeom>
          <a:solidFill>
            <a:srgbClr val="D4C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6300" y="4876800"/>
            <a:ext cx="3076575" cy="1104900"/>
          </a:xfrm>
          <a:prstGeom prst="rect">
            <a:avLst/>
          </a:prstGeom>
          <a:noFill/>
        </p:spPr>
        <p:txBody>
          <a:bodyPr wrap="square">
            <a:spAutoFit/>
          </a:bodyPr>
          <a:lstStyle/>
          <a:p>
            <a:pPr algn="l"/>
            <a:r>
              <a:rPr sz="975" b="0">
                <a:solidFill>
                  <a:srgbClr val="D4C5FF"/>
                </a:solidFill>
                <a:latin typeface="Noto Sans JP"/>
                <a:ea typeface="Noto Sans JP"/>
                <a:cs typeface="Noto Sans JP"/>
              </a:rPr>
              <a:t>TAM ¥4,200億 / 自社現在シェア 8% → 目標20%（FY2026末）</a:t>
            </a:r>
          </a:p>
        </p:txBody>
      </p:sp>
      <p:sp>
        <p:nvSpPr>
          <p:cNvPr id="10" name="TextBox 9"/>
          <p:cNvSpPr txBox="1"/>
          <p:nvPr/>
        </p:nvSpPr>
        <p:spPr>
          <a:xfrm>
            <a:off x="4524375" y="1524000"/>
            <a:ext cx="6829425" cy="381000"/>
          </a:xfrm>
          <a:prstGeom prst="rect">
            <a:avLst/>
          </a:prstGeom>
          <a:noFill/>
        </p:spPr>
        <p:txBody>
          <a:bodyPr wrap="square">
            <a:spAutoFit/>
          </a:bodyPr>
          <a:lstStyle/>
          <a:p>
            <a:pPr algn="l"/>
            <a:r>
              <a:rPr sz="825" b="1">
                <a:solidFill>
                  <a:srgbClr val="6600FF"/>
                </a:solidFill>
                <a:latin typeface="Noto Sans JP"/>
                <a:ea typeface="Noto Sans JP"/>
                <a:cs typeface="Noto Sans JP"/>
              </a:rPr>
              <a:t>TAKEAWAYS</a:t>
            </a:r>
          </a:p>
        </p:txBody>
      </p:sp>
      <p:sp>
        <p:nvSpPr>
          <p:cNvPr id="11" name="Rectangle 10"/>
          <p:cNvSpPr/>
          <p:nvPr/>
        </p:nvSpPr>
        <p:spPr>
          <a:xfrm>
            <a:off x="4371975" y="1905000"/>
            <a:ext cx="7134225" cy="19050"/>
          </a:xfrm>
          <a:prstGeom prst="rect">
            <a:avLst/>
          </a:prstGeom>
          <a:solidFill>
            <a:srgbClr val="66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6275" y="2000250"/>
            <a:ext cx="342900" cy="895350"/>
          </a:xfrm>
          <a:prstGeom prst="rect">
            <a:avLst/>
          </a:prstGeom>
          <a:noFill/>
        </p:spPr>
        <p:txBody>
          <a:bodyPr wrap="square">
            <a:spAutoFit/>
          </a:bodyPr>
          <a:lstStyle/>
          <a:p>
            <a:pPr algn="ctr"/>
            <a:r>
              <a:rPr sz="1650" b="1">
                <a:solidFill>
                  <a:srgbClr val="6600FF"/>
                </a:solidFill>
                <a:latin typeface="Noto Sans JP"/>
                <a:ea typeface="Noto Sans JP"/>
                <a:cs typeface="Noto Sans JP"/>
              </a:rPr>
              <a:t>1</a:t>
            </a:r>
          </a:p>
        </p:txBody>
      </p:sp>
      <p:sp>
        <p:nvSpPr>
          <p:cNvPr id="13" name="TextBox 12"/>
          <p:cNvSpPr txBox="1"/>
          <p:nvPr/>
        </p:nvSpPr>
        <p:spPr>
          <a:xfrm>
            <a:off x="4905375" y="2000250"/>
            <a:ext cx="6448425" cy="342900"/>
          </a:xfrm>
          <a:prstGeom prst="rect">
            <a:avLst/>
          </a:prstGeom>
          <a:noFill/>
        </p:spPr>
        <p:txBody>
          <a:bodyPr wrap="square">
            <a:spAutoFit/>
          </a:bodyPr>
          <a:lstStyle/>
          <a:p>
            <a:pPr algn="l"/>
            <a:r>
              <a:rPr sz="1350" b="1">
                <a:solidFill>
                  <a:srgbClr val="150A2E"/>
                </a:solidFill>
                <a:latin typeface="Noto Sans JP"/>
                <a:ea typeface="Noto Sans JP"/>
                <a:cs typeface="Noto Sans JP"/>
              </a:rPr>
              <a:t>MRR¥2.4Bは競合2位の1.8倍。収益規模の優位性は拡大中</a:t>
            </a:r>
          </a:p>
        </p:txBody>
      </p:sp>
      <p:sp>
        <p:nvSpPr>
          <p:cNvPr id="14" name="TextBox 13"/>
          <p:cNvSpPr txBox="1"/>
          <p:nvPr/>
        </p:nvSpPr>
        <p:spPr>
          <a:xfrm>
            <a:off x="4905375" y="2362200"/>
            <a:ext cx="6448425" cy="533400"/>
          </a:xfrm>
          <a:prstGeom prst="rect">
            <a:avLst/>
          </a:prstGeom>
          <a:noFill/>
        </p:spPr>
        <p:txBody>
          <a:bodyPr wrap="square">
            <a:spAutoFit/>
          </a:bodyPr>
          <a:lstStyle/>
          <a:p>
            <a:pPr algn="l"/>
            <a:r>
              <a:rPr sz="1050" b="0">
                <a:solidFill>
                  <a:srgbClr val="4A3D6B"/>
                </a:solidFill>
                <a:latin typeface="Noto Sans JP"/>
                <a:ea typeface="Noto Sans JP"/>
                <a:cs typeface="Noto Sans JP"/>
              </a:rPr>
              <a:t>競合A社¥1.3B、競合B社¥0.9Bに対し自社¥2.4B。成長速度+18%/月が差をさらに広げる。</a:t>
            </a:r>
          </a:p>
        </p:txBody>
      </p:sp>
      <p:sp>
        <p:nvSpPr>
          <p:cNvPr id="15" name="Rectangle 14"/>
          <p:cNvSpPr/>
          <p:nvPr/>
        </p:nvSpPr>
        <p:spPr>
          <a:xfrm>
            <a:off x="4371975" y="2971800"/>
            <a:ext cx="7134225"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6275" y="3048000"/>
            <a:ext cx="342900" cy="895350"/>
          </a:xfrm>
          <a:prstGeom prst="rect">
            <a:avLst/>
          </a:prstGeom>
          <a:noFill/>
        </p:spPr>
        <p:txBody>
          <a:bodyPr wrap="square">
            <a:spAutoFit/>
          </a:bodyPr>
          <a:lstStyle/>
          <a:p>
            <a:pPr algn="ctr"/>
            <a:r>
              <a:rPr sz="1650" b="1">
                <a:solidFill>
                  <a:srgbClr val="6600FF"/>
                </a:solidFill>
                <a:latin typeface="Noto Sans JP"/>
                <a:ea typeface="Noto Sans JP"/>
                <a:cs typeface="Noto Sans JP"/>
              </a:rPr>
              <a:t>2</a:t>
            </a:r>
          </a:p>
        </p:txBody>
      </p:sp>
      <p:sp>
        <p:nvSpPr>
          <p:cNvPr id="17" name="TextBox 16"/>
          <p:cNvSpPr txBox="1"/>
          <p:nvPr/>
        </p:nvSpPr>
        <p:spPr>
          <a:xfrm>
            <a:off x="4905375" y="3048000"/>
            <a:ext cx="6448425" cy="342900"/>
          </a:xfrm>
          <a:prstGeom prst="rect">
            <a:avLst/>
          </a:prstGeom>
          <a:noFill/>
        </p:spPr>
        <p:txBody>
          <a:bodyPr wrap="square">
            <a:spAutoFit/>
          </a:bodyPr>
          <a:lstStyle/>
          <a:p>
            <a:pPr algn="l"/>
            <a:r>
              <a:rPr sz="1350" b="1">
                <a:solidFill>
                  <a:srgbClr val="150A2E"/>
                </a:solidFill>
                <a:latin typeface="Noto Sans JP"/>
                <a:ea typeface="Noto Sans JP"/>
                <a:cs typeface="Noto Sans JP"/>
              </a:rPr>
              <a:t>NRR 121%が示す通り、顧客拡張収益が純成長の38%を占める</a:t>
            </a:r>
          </a:p>
        </p:txBody>
      </p:sp>
      <p:sp>
        <p:nvSpPr>
          <p:cNvPr id="18" name="TextBox 17"/>
          <p:cNvSpPr txBox="1"/>
          <p:nvPr/>
        </p:nvSpPr>
        <p:spPr>
          <a:xfrm>
            <a:off x="4905375" y="3409950"/>
            <a:ext cx="6448425" cy="533400"/>
          </a:xfrm>
          <a:prstGeom prst="rect">
            <a:avLst/>
          </a:prstGeom>
          <a:noFill/>
        </p:spPr>
        <p:txBody>
          <a:bodyPr wrap="square">
            <a:spAutoFit/>
          </a:bodyPr>
          <a:lstStyle/>
          <a:p>
            <a:pPr algn="l"/>
            <a:r>
              <a:rPr sz="1050" b="0">
                <a:solidFill>
                  <a:srgbClr val="4A3D6B"/>
                </a:solidFill>
                <a:latin typeface="Noto Sans JP"/>
                <a:ea typeface="Noto Sans JP"/>
                <a:cs typeface="Noto Sans JP"/>
              </a:rPr>
              <a:t>新規獲得だけでなく既存顧客のアップセルがARR成長を下支え。チャーンリスクへの耐性が高い。</a:t>
            </a:r>
          </a:p>
        </p:txBody>
      </p:sp>
      <p:sp>
        <p:nvSpPr>
          <p:cNvPr id="19" name="Rectangle 18"/>
          <p:cNvSpPr/>
          <p:nvPr/>
        </p:nvSpPr>
        <p:spPr>
          <a:xfrm>
            <a:off x="4371975" y="4019550"/>
            <a:ext cx="7134225"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6275" y="4095750"/>
            <a:ext cx="342900" cy="895350"/>
          </a:xfrm>
          <a:prstGeom prst="rect">
            <a:avLst/>
          </a:prstGeom>
          <a:noFill/>
        </p:spPr>
        <p:txBody>
          <a:bodyPr wrap="square">
            <a:spAutoFit/>
          </a:bodyPr>
          <a:lstStyle/>
          <a:p>
            <a:pPr algn="ctr"/>
            <a:r>
              <a:rPr sz="1650" b="1">
                <a:solidFill>
                  <a:srgbClr val="6600FF"/>
                </a:solidFill>
                <a:latin typeface="Noto Sans JP"/>
                <a:ea typeface="Noto Sans JP"/>
                <a:cs typeface="Noto Sans JP"/>
              </a:rPr>
              <a:t>3</a:t>
            </a:r>
          </a:p>
        </p:txBody>
      </p:sp>
      <p:sp>
        <p:nvSpPr>
          <p:cNvPr id="21" name="TextBox 20"/>
          <p:cNvSpPr txBox="1"/>
          <p:nvPr/>
        </p:nvSpPr>
        <p:spPr>
          <a:xfrm>
            <a:off x="4905375" y="4095750"/>
            <a:ext cx="6448425" cy="342900"/>
          </a:xfrm>
          <a:prstGeom prst="rect">
            <a:avLst/>
          </a:prstGeom>
          <a:noFill/>
        </p:spPr>
        <p:txBody>
          <a:bodyPr wrap="square">
            <a:spAutoFit/>
          </a:bodyPr>
          <a:lstStyle/>
          <a:p>
            <a:pPr algn="l"/>
            <a:r>
              <a:rPr sz="1350" b="1">
                <a:solidFill>
                  <a:srgbClr val="150A2E"/>
                </a:solidFill>
                <a:latin typeface="Noto Sans JP"/>
                <a:ea typeface="Noto Sans JP"/>
                <a:cs typeface="Noto Sans JP"/>
              </a:rPr>
              <a:t>エンタープライズ比率48%は業界平均32%を大幅に上回り、LTV/CAC比8.1倍を実現</a:t>
            </a:r>
          </a:p>
        </p:txBody>
      </p:sp>
      <p:sp>
        <p:nvSpPr>
          <p:cNvPr id="22" name="TextBox 21"/>
          <p:cNvSpPr txBox="1"/>
          <p:nvPr/>
        </p:nvSpPr>
        <p:spPr>
          <a:xfrm>
            <a:off x="4905375" y="4457700"/>
            <a:ext cx="6448425" cy="533400"/>
          </a:xfrm>
          <a:prstGeom prst="rect">
            <a:avLst/>
          </a:prstGeom>
          <a:noFill/>
        </p:spPr>
        <p:txBody>
          <a:bodyPr wrap="square">
            <a:spAutoFit/>
          </a:bodyPr>
          <a:lstStyle/>
          <a:p>
            <a:pPr algn="l"/>
            <a:r>
              <a:rPr sz="1050" b="0">
                <a:solidFill>
                  <a:srgbClr val="4A3D6B"/>
                </a:solidFill>
                <a:latin typeface="Noto Sans JP"/>
                <a:ea typeface="Noto Sans JP"/>
                <a:cs typeface="Noto Sans JP"/>
              </a:rPr>
              <a:t>大手顧客の長期契約がキャッシュフローを安定化。シリーズC調達の投資家評価に直結する指標。</a:t>
            </a:r>
          </a:p>
        </p:txBody>
      </p:sp>
      <p:sp>
        <p:nvSpPr>
          <p:cNvPr id="23" name="Rectangle 22"/>
          <p:cNvSpPr/>
          <p:nvPr/>
        </p:nvSpPr>
        <p:spPr>
          <a:xfrm>
            <a:off x="4371975" y="5067300"/>
            <a:ext cx="7134225" cy="9525"/>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6275" y="5143500"/>
            <a:ext cx="342900" cy="895350"/>
          </a:xfrm>
          <a:prstGeom prst="rect">
            <a:avLst/>
          </a:prstGeom>
          <a:noFill/>
        </p:spPr>
        <p:txBody>
          <a:bodyPr wrap="square">
            <a:spAutoFit/>
          </a:bodyPr>
          <a:lstStyle/>
          <a:p>
            <a:pPr algn="ctr"/>
            <a:r>
              <a:rPr sz="1650" b="1">
                <a:solidFill>
                  <a:srgbClr val="6600FF"/>
                </a:solidFill>
                <a:latin typeface="Noto Sans JP"/>
                <a:ea typeface="Noto Sans JP"/>
                <a:cs typeface="Noto Sans JP"/>
              </a:rPr>
              <a:t>4</a:t>
            </a:r>
          </a:p>
        </p:txBody>
      </p:sp>
      <p:sp>
        <p:nvSpPr>
          <p:cNvPr id="25" name="TextBox 24"/>
          <p:cNvSpPr txBox="1"/>
          <p:nvPr/>
        </p:nvSpPr>
        <p:spPr>
          <a:xfrm>
            <a:off x="4905375" y="5143500"/>
            <a:ext cx="6448425" cy="342900"/>
          </a:xfrm>
          <a:prstGeom prst="rect">
            <a:avLst/>
          </a:prstGeom>
          <a:noFill/>
        </p:spPr>
        <p:txBody>
          <a:bodyPr wrap="square">
            <a:spAutoFit/>
          </a:bodyPr>
          <a:lstStyle/>
          <a:p>
            <a:pPr algn="l"/>
            <a:r>
              <a:rPr sz="1350" b="1">
                <a:solidFill>
                  <a:srgbClr val="150A2E"/>
                </a:solidFill>
                <a:latin typeface="Noto Sans JP"/>
                <a:ea typeface="Noto Sans JP"/>
                <a:cs typeface="Noto Sans JP"/>
              </a:rPr>
              <a:t>150社パートナー網が国内中堅市場4,200社への展開を可能にする唯一の流通経路</a:t>
            </a:r>
          </a:p>
        </p:txBody>
      </p:sp>
      <p:sp>
        <p:nvSpPr>
          <p:cNvPr id="26" name="TextBox 25"/>
          <p:cNvSpPr txBox="1"/>
          <p:nvPr/>
        </p:nvSpPr>
        <p:spPr>
          <a:xfrm>
            <a:off x="4905375" y="5505450"/>
            <a:ext cx="6448425" cy="533400"/>
          </a:xfrm>
          <a:prstGeom prst="rect">
            <a:avLst/>
          </a:prstGeom>
          <a:noFill/>
        </p:spPr>
        <p:txBody>
          <a:bodyPr wrap="square">
            <a:spAutoFit/>
          </a:bodyPr>
          <a:lstStyle/>
          <a:p>
            <a:pPr algn="l"/>
            <a:r>
              <a:rPr sz="1050" b="0">
                <a:solidFill>
                  <a:srgbClr val="4A3D6B"/>
                </a:solidFill>
                <a:latin typeface="Noto Sans JP"/>
                <a:ea typeface="Noto Sans JP"/>
                <a:cs typeface="Noto Sans JP"/>
              </a:rPr>
              <a:t>直販カバレッジ外の地方・中堅企業へのリーチはパートナー依存。競合は構築に最低2年を要する。</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A84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500" b="1">
                <a:solidFill>
                  <a:srgbClr val="0D1B2A"/>
                </a:solidFill>
                <a:latin typeface="Noto Sans JP"/>
                <a:ea typeface="Noto Sans JP"/>
                <a:cs typeface="Noto Sans JP"/>
              </a:rPr>
              <a:t>⚠️ リスク・FAQ</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4A5568"/>
                </a:solidFill>
                <a:latin typeface="Noto Sans JP"/>
                <a:ea typeface="Noto Sans JP"/>
                <a:cs typeface="Noto Sans JP"/>
              </a:rPr>
              <a:t>corporate-trust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65 / 98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出典：東南アジア展開リスク評価ワークショップ（2026年6月19日）/ 評価委員 8名</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66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東南アジア展開リスク評価：規制・人材リスクを最優先に対処</a:t>
            </a:r>
          </a:p>
        </p:txBody>
      </p:sp>
      <p:sp>
        <p:nvSpPr>
          <p:cNvPr id="5" name="Rectangle 4"/>
          <p:cNvSpPr/>
          <p:nvPr/>
        </p:nvSpPr>
        <p:spPr>
          <a:xfrm>
            <a:off x="876300" y="1524000"/>
            <a:ext cx="3933825" cy="2190750"/>
          </a:xfrm>
          <a:prstGeom prst="rect">
            <a:avLst/>
          </a:prstGeom>
          <a:solidFill>
            <a:srgbClr val="D6E2F0"/>
          </a:solidFill>
          <a:ln w="635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500" y="1600200"/>
            <a:ext cx="3781425" cy="209550"/>
          </a:xfrm>
          <a:prstGeom prst="rect">
            <a:avLst/>
          </a:prstGeom>
          <a:noFill/>
        </p:spPr>
        <p:txBody>
          <a:bodyPr wrap="square">
            <a:spAutoFit/>
          </a:bodyPr>
          <a:lstStyle/>
          <a:p>
            <a:pPr algn="l"/>
            <a:r>
              <a:rPr sz="900" b="1">
                <a:solidFill>
                  <a:srgbClr val="0D1B2A"/>
                </a:solidFill>
                <a:latin typeface="Noto Sans JP"/>
                <a:ea typeface="Noto Sans JP"/>
                <a:cs typeface="Noto Sans JP"/>
              </a:rPr>
              <a:t>重点管理</a:t>
            </a:r>
          </a:p>
        </p:txBody>
      </p:sp>
      <p:sp>
        <p:nvSpPr>
          <p:cNvPr id="7" name="TextBox 6"/>
          <p:cNvSpPr txBox="1"/>
          <p:nvPr/>
        </p:nvSpPr>
        <p:spPr>
          <a:xfrm>
            <a:off x="952500" y="184785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現地規制変更リスク</a:t>
            </a:r>
          </a:p>
        </p:txBody>
      </p:sp>
      <p:sp>
        <p:nvSpPr>
          <p:cNvPr id="8" name="TextBox 7"/>
          <p:cNvSpPr txBox="1"/>
          <p:nvPr/>
        </p:nvSpPr>
        <p:spPr>
          <a:xfrm>
            <a:off x="952500" y="207645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知財侵害リスク</a:t>
            </a:r>
          </a:p>
        </p:txBody>
      </p:sp>
      <p:sp>
        <p:nvSpPr>
          <p:cNvPr id="9" name="Rectangle 8"/>
          <p:cNvSpPr/>
          <p:nvPr/>
        </p:nvSpPr>
        <p:spPr>
          <a:xfrm>
            <a:off x="4810125" y="1524000"/>
            <a:ext cx="3933825" cy="2190750"/>
          </a:xfrm>
          <a:prstGeom prst="rect">
            <a:avLst/>
          </a:prstGeom>
          <a:solidFill>
            <a:srgbClr val="1565C0"/>
          </a:solidFill>
          <a:ln w="635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86325" y="1600200"/>
            <a:ext cx="3781425" cy="209550"/>
          </a:xfrm>
          <a:prstGeom prst="rect">
            <a:avLst/>
          </a:prstGeom>
          <a:noFill/>
        </p:spPr>
        <p:txBody>
          <a:bodyPr wrap="square">
            <a:spAutoFit/>
          </a:bodyPr>
          <a:lstStyle/>
          <a:p>
            <a:pPr algn="l"/>
            <a:r>
              <a:rPr sz="900" b="1">
                <a:solidFill>
                  <a:srgbClr val="FFFFFF"/>
                </a:solidFill>
                <a:latin typeface="Noto Sans JP"/>
                <a:ea typeface="Noto Sans JP"/>
                <a:cs typeface="Noto Sans JP"/>
              </a:rPr>
              <a:t>最優先対応</a:t>
            </a:r>
          </a:p>
        </p:txBody>
      </p:sp>
      <p:sp>
        <p:nvSpPr>
          <p:cNvPr id="11" name="TextBox 10"/>
          <p:cNvSpPr txBox="1"/>
          <p:nvPr/>
        </p:nvSpPr>
        <p:spPr>
          <a:xfrm>
            <a:off x="4886325" y="1847850"/>
            <a:ext cx="3781425" cy="190500"/>
          </a:xfrm>
          <a:prstGeom prst="rect">
            <a:avLst/>
          </a:prstGeom>
          <a:noFill/>
        </p:spPr>
        <p:txBody>
          <a:bodyPr wrap="square">
            <a:spAutoFit/>
          </a:bodyPr>
          <a:lstStyle/>
          <a:p>
            <a:pPr algn="l"/>
            <a:r>
              <a:rPr sz="900" b="0">
                <a:solidFill>
                  <a:srgbClr val="FFFFFF"/>
                </a:solidFill>
                <a:latin typeface="Noto Sans JP"/>
                <a:ea typeface="Noto Sans JP"/>
                <a:cs typeface="Noto Sans JP"/>
              </a:rPr>
              <a:t>▸ 現地人材確保困難</a:t>
            </a:r>
          </a:p>
        </p:txBody>
      </p:sp>
      <p:sp>
        <p:nvSpPr>
          <p:cNvPr id="12" name="TextBox 11"/>
          <p:cNvSpPr txBox="1"/>
          <p:nvPr/>
        </p:nvSpPr>
        <p:spPr>
          <a:xfrm>
            <a:off x="4886325" y="2076450"/>
            <a:ext cx="3781425" cy="190500"/>
          </a:xfrm>
          <a:prstGeom prst="rect">
            <a:avLst/>
          </a:prstGeom>
          <a:noFill/>
        </p:spPr>
        <p:txBody>
          <a:bodyPr wrap="square">
            <a:spAutoFit/>
          </a:bodyPr>
          <a:lstStyle/>
          <a:p>
            <a:pPr algn="l"/>
            <a:r>
              <a:rPr sz="900" b="0">
                <a:solidFill>
                  <a:srgbClr val="FFFFFF"/>
                </a:solidFill>
                <a:latin typeface="Noto Sans JP"/>
                <a:ea typeface="Noto Sans JP"/>
                <a:cs typeface="Noto Sans JP"/>
              </a:rPr>
              <a:t>▸ 為替変動（円安継続）</a:t>
            </a:r>
          </a:p>
        </p:txBody>
      </p:sp>
      <p:sp>
        <p:nvSpPr>
          <p:cNvPr id="13" name="Rectangle 12"/>
          <p:cNvSpPr/>
          <p:nvPr/>
        </p:nvSpPr>
        <p:spPr>
          <a:xfrm>
            <a:off x="876300" y="3714750"/>
            <a:ext cx="3933825" cy="2190750"/>
          </a:xfrm>
          <a:prstGeom prst="rect">
            <a:avLst/>
          </a:prstGeom>
          <a:solidFill>
            <a:srgbClr val="F0F4F9"/>
          </a:solidFill>
          <a:ln w="635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2500" y="3790950"/>
            <a:ext cx="3781425" cy="209550"/>
          </a:xfrm>
          <a:prstGeom prst="rect">
            <a:avLst/>
          </a:prstGeom>
          <a:noFill/>
        </p:spPr>
        <p:txBody>
          <a:bodyPr wrap="square">
            <a:spAutoFit/>
          </a:bodyPr>
          <a:lstStyle/>
          <a:p>
            <a:pPr algn="l"/>
            <a:r>
              <a:rPr sz="900" b="1">
                <a:solidFill>
                  <a:srgbClr val="0D1B2A"/>
                </a:solidFill>
                <a:latin typeface="Noto Sans JP"/>
                <a:ea typeface="Noto Sans JP"/>
                <a:cs typeface="Noto Sans JP"/>
              </a:rPr>
              <a:t>経過観察</a:t>
            </a:r>
          </a:p>
        </p:txBody>
      </p:sp>
      <p:sp>
        <p:nvSpPr>
          <p:cNvPr id="15" name="TextBox 14"/>
          <p:cNvSpPr txBox="1"/>
          <p:nvPr/>
        </p:nvSpPr>
        <p:spPr>
          <a:xfrm>
            <a:off x="952500" y="403860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競合新規参入</a:t>
            </a:r>
          </a:p>
        </p:txBody>
      </p:sp>
      <p:sp>
        <p:nvSpPr>
          <p:cNvPr id="16" name="TextBox 15"/>
          <p:cNvSpPr txBox="1"/>
          <p:nvPr/>
        </p:nvSpPr>
        <p:spPr>
          <a:xfrm>
            <a:off x="952500" y="426720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自然災害・物流障害</a:t>
            </a:r>
          </a:p>
        </p:txBody>
      </p:sp>
      <p:sp>
        <p:nvSpPr>
          <p:cNvPr id="17" name="Rectangle 16"/>
          <p:cNvSpPr/>
          <p:nvPr/>
        </p:nvSpPr>
        <p:spPr>
          <a:xfrm>
            <a:off x="4810125" y="3714750"/>
            <a:ext cx="3933825" cy="2190750"/>
          </a:xfrm>
          <a:prstGeom prst="rect">
            <a:avLst/>
          </a:prstGeom>
          <a:solidFill>
            <a:srgbClr val="D6E2F0"/>
          </a:solidFill>
          <a:ln w="6350">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86325" y="3790950"/>
            <a:ext cx="3781425" cy="209550"/>
          </a:xfrm>
          <a:prstGeom prst="rect">
            <a:avLst/>
          </a:prstGeom>
          <a:noFill/>
        </p:spPr>
        <p:txBody>
          <a:bodyPr wrap="square">
            <a:spAutoFit/>
          </a:bodyPr>
          <a:lstStyle/>
          <a:p>
            <a:pPr algn="l"/>
            <a:r>
              <a:rPr sz="900" b="1">
                <a:solidFill>
                  <a:srgbClr val="0D1B2A"/>
                </a:solidFill>
                <a:latin typeface="Noto Sans JP"/>
                <a:ea typeface="Noto Sans JP"/>
                <a:cs typeface="Noto Sans JP"/>
              </a:rPr>
              <a:t>対応計画</a:t>
            </a:r>
          </a:p>
        </p:txBody>
      </p:sp>
      <p:sp>
        <p:nvSpPr>
          <p:cNvPr id="19" name="TextBox 18"/>
          <p:cNvSpPr txBox="1"/>
          <p:nvPr/>
        </p:nvSpPr>
        <p:spPr>
          <a:xfrm>
            <a:off x="4886325" y="403860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パートナー信頼リスク</a:t>
            </a:r>
          </a:p>
        </p:txBody>
      </p:sp>
      <p:sp>
        <p:nvSpPr>
          <p:cNvPr id="20" name="TextBox 19"/>
          <p:cNvSpPr txBox="1"/>
          <p:nvPr/>
        </p:nvSpPr>
        <p:spPr>
          <a:xfrm>
            <a:off x="4886325" y="4267200"/>
            <a:ext cx="3781425" cy="190500"/>
          </a:xfrm>
          <a:prstGeom prst="rect">
            <a:avLst/>
          </a:prstGeom>
          <a:noFill/>
        </p:spPr>
        <p:txBody>
          <a:bodyPr wrap="square">
            <a:spAutoFit/>
          </a:bodyPr>
          <a:lstStyle/>
          <a:p>
            <a:pPr algn="l"/>
            <a:r>
              <a:rPr sz="900" b="0">
                <a:solidFill>
                  <a:srgbClr val="4A5568"/>
                </a:solidFill>
                <a:latin typeface="Noto Sans JP"/>
                <a:ea typeface="Noto Sans JP"/>
                <a:cs typeface="Noto Sans JP"/>
              </a:rPr>
              <a:t>▸ 文化的摩擦</a:t>
            </a:r>
          </a:p>
        </p:txBody>
      </p:sp>
      <p:sp>
        <p:nvSpPr>
          <p:cNvPr id="21" name="TextBox 20"/>
          <p:cNvSpPr txBox="1"/>
          <p:nvPr/>
        </p:nvSpPr>
        <p:spPr>
          <a:xfrm>
            <a:off x="685800" y="1600200"/>
            <a:ext cx="190500" cy="190500"/>
          </a:xfrm>
          <a:prstGeom prst="rect">
            <a:avLst/>
          </a:prstGeom>
          <a:noFill/>
        </p:spPr>
        <p:txBody>
          <a:bodyPr wrap="square">
            <a:spAutoFit/>
          </a:bodyPr>
          <a:lstStyle/>
          <a:p>
            <a:pPr algn="ctr"/>
            <a:r>
              <a:rPr sz="750" b="0">
                <a:solidFill>
                  <a:srgbClr val="4A5568"/>
                </a:solidFill>
                <a:latin typeface="Noto Sans JP"/>
                <a:ea typeface="Noto Sans JP"/>
                <a:cs typeface="Noto Sans JP"/>
              </a:rPr>
              <a:t>高</a:t>
            </a:r>
          </a:p>
        </p:txBody>
      </p:sp>
      <p:sp>
        <p:nvSpPr>
          <p:cNvPr id="22" name="TextBox 21"/>
          <p:cNvSpPr txBox="1"/>
          <p:nvPr/>
        </p:nvSpPr>
        <p:spPr>
          <a:xfrm>
            <a:off x="685800" y="5638800"/>
            <a:ext cx="190500" cy="190500"/>
          </a:xfrm>
          <a:prstGeom prst="rect">
            <a:avLst/>
          </a:prstGeom>
          <a:noFill/>
        </p:spPr>
        <p:txBody>
          <a:bodyPr wrap="square">
            <a:spAutoFit/>
          </a:bodyPr>
          <a:lstStyle/>
          <a:p>
            <a:pPr algn="ctr"/>
            <a:r>
              <a:rPr sz="750" b="0">
                <a:solidFill>
                  <a:srgbClr val="4A5568"/>
                </a:solidFill>
                <a:latin typeface="Noto Sans JP"/>
                <a:ea typeface="Noto Sans JP"/>
                <a:cs typeface="Noto Sans JP"/>
              </a:rPr>
              <a:t>低</a:t>
            </a:r>
          </a:p>
        </p:txBody>
      </p:sp>
      <p:sp>
        <p:nvSpPr>
          <p:cNvPr id="23" name="TextBox 22"/>
          <p:cNvSpPr txBox="1"/>
          <p:nvPr/>
        </p:nvSpPr>
        <p:spPr>
          <a:xfrm>
            <a:off x="685800" y="5905500"/>
            <a:ext cx="762000" cy="190500"/>
          </a:xfrm>
          <a:prstGeom prst="rect">
            <a:avLst/>
          </a:prstGeom>
          <a:noFill/>
        </p:spPr>
        <p:txBody>
          <a:bodyPr wrap="square">
            <a:spAutoFit/>
          </a:bodyPr>
          <a:lstStyle/>
          <a:p>
            <a:pPr algn="l"/>
            <a:r>
              <a:rPr sz="750" b="0">
                <a:solidFill>
                  <a:srgbClr val="4A5568"/>
                </a:solidFill>
                <a:latin typeface="Noto Sans JP"/>
                <a:ea typeface="Noto Sans JP"/>
                <a:cs typeface="Noto Sans JP"/>
              </a:rPr>
              <a:t>影響度</a:t>
            </a:r>
          </a:p>
        </p:txBody>
      </p:sp>
      <p:sp>
        <p:nvSpPr>
          <p:cNvPr id="24" name="TextBox 23"/>
          <p:cNvSpPr txBox="1"/>
          <p:nvPr/>
        </p:nvSpPr>
        <p:spPr>
          <a:xfrm>
            <a:off x="876300" y="5905500"/>
            <a:ext cx="3933825" cy="190500"/>
          </a:xfrm>
          <a:prstGeom prst="rect">
            <a:avLst/>
          </a:prstGeom>
          <a:noFill/>
        </p:spPr>
        <p:txBody>
          <a:bodyPr wrap="square">
            <a:spAutoFit/>
          </a:bodyPr>
          <a:lstStyle/>
          <a:p>
            <a:pPr algn="l"/>
            <a:r>
              <a:rPr sz="825" b="0">
                <a:solidFill>
                  <a:srgbClr val="4A5568"/>
                </a:solidFill>
                <a:latin typeface="Noto Sans JP"/>
                <a:ea typeface="Noto Sans JP"/>
                <a:cs typeface="Noto Sans JP"/>
              </a:rPr>
              <a:t>発生確率 低 ←</a:t>
            </a:r>
          </a:p>
        </p:txBody>
      </p:sp>
      <p:sp>
        <p:nvSpPr>
          <p:cNvPr id="25" name="TextBox 24"/>
          <p:cNvSpPr txBox="1"/>
          <p:nvPr/>
        </p:nvSpPr>
        <p:spPr>
          <a:xfrm>
            <a:off x="4810125" y="5905500"/>
            <a:ext cx="3933825" cy="190500"/>
          </a:xfrm>
          <a:prstGeom prst="rect">
            <a:avLst/>
          </a:prstGeom>
          <a:noFill/>
        </p:spPr>
        <p:txBody>
          <a:bodyPr wrap="square">
            <a:spAutoFit/>
          </a:bodyPr>
          <a:lstStyle/>
          <a:p>
            <a:pPr algn="r"/>
            <a:r>
              <a:rPr sz="825" b="0">
                <a:solidFill>
                  <a:srgbClr val="4A5568"/>
                </a:solidFill>
                <a:latin typeface="Noto Sans JP"/>
                <a:ea typeface="Noto Sans JP"/>
                <a:cs typeface="Noto Sans JP"/>
              </a:rPr>
              <a:t>→ 高</a:t>
            </a:r>
          </a:p>
        </p:txBody>
      </p:sp>
      <p:sp>
        <p:nvSpPr>
          <p:cNvPr id="26" name="Rectangle 25"/>
          <p:cNvSpPr/>
          <p:nvPr/>
        </p:nvSpPr>
        <p:spPr>
          <a:xfrm>
            <a:off x="8972550" y="1524000"/>
            <a:ext cx="2533650" cy="4572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86850" y="1638300"/>
            <a:ext cx="2305050" cy="228600"/>
          </a:xfrm>
          <a:prstGeom prst="rect">
            <a:avLst/>
          </a:prstGeom>
          <a:noFill/>
        </p:spPr>
        <p:txBody>
          <a:bodyPr wrap="square">
            <a:spAutoFit/>
          </a:bodyPr>
          <a:lstStyle/>
          <a:p>
            <a:pPr algn="l"/>
            <a:r>
              <a:rPr sz="1650" b="1">
                <a:solidFill>
                  <a:srgbClr val="0D1B2A"/>
                </a:solidFill>
                <a:latin typeface="Noto Sans JP"/>
                <a:ea typeface="Noto Sans JP"/>
                <a:cs typeface="Noto Sans JP"/>
              </a:rPr>
              <a:t>凡例</a:t>
            </a:r>
          </a:p>
        </p:txBody>
      </p:sp>
      <p:sp>
        <p:nvSpPr>
          <p:cNvPr id="28" name="Rectangle 27"/>
          <p:cNvSpPr/>
          <p:nvPr/>
        </p:nvSpPr>
        <p:spPr>
          <a:xfrm>
            <a:off x="9086850" y="1905000"/>
            <a:ext cx="2305050" cy="190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86850" y="2019300"/>
            <a:ext cx="2305050" cy="190500"/>
          </a:xfrm>
          <a:prstGeom prst="rect">
            <a:avLst/>
          </a:prstGeom>
          <a:noFill/>
        </p:spPr>
        <p:txBody>
          <a:bodyPr wrap="square">
            <a:spAutoFit/>
          </a:bodyPr>
          <a:lstStyle/>
          <a:p>
            <a:pPr algn="l"/>
            <a:r>
              <a:rPr sz="975" b="1">
                <a:solidFill>
                  <a:srgbClr val="0D1B2A"/>
                </a:solidFill>
                <a:latin typeface="Noto Sans JP"/>
                <a:ea typeface="Noto Sans JP"/>
                <a:cs typeface="Noto Sans JP"/>
              </a:rPr>
              <a:t>最優先対応（高影響×高確率）</a:t>
            </a:r>
          </a:p>
        </p:txBody>
      </p:sp>
      <p:sp>
        <p:nvSpPr>
          <p:cNvPr id="30" name="TextBox 29"/>
          <p:cNvSpPr txBox="1"/>
          <p:nvPr/>
        </p:nvSpPr>
        <p:spPr>
          <a:xfrm>
            <a:off x="9086850" y="2209800"/>
            <a:ext cx="2305050" cy="762000"/>
          </a:xfrm>
          <a:prstGeom prst="rect">
            <a:avLst/>
          </a:prstGeom>
          <a:noFill/>
        </p:spPr>
        <p:txBody>
          <a:bodyPr wrap="square">
            <a:spAutoFit/>
          </a:bodyPr>
          <a:lstStyle/>
          <a:p>
            <a:pPr algn="l"/>
            <a:r>
              <a:rPr sz="975" b="0">
                <a:solidFill>
                  <a:srgbClr val="4A5568"/>
                </a:solidFill>
                <a:latin typeface="Noto Sans JP"/>
                <a:ea typeface="Noto Sans JP"/>
                <a:cs typeface="Noto Sans JP"/>
              </a:rPr>
              <a:t>即時の対策計画策定と責任者アサインが必要</a:t>
            </a:r>
          </a:p>
        </p:txBody>
      </p:sp>
      <p:sp>
        <p:nvSpPr>
          <p:cNvPr id="31" name="TextBox 30"/>
          <p:cNvSpPr txBox="1"/>
          <p:nvPr/>
        </p:nvSpPr>
        <p:spPr>
          <a:xfrm>
            <a:off x="9086850" y="3009900"/>
            <a:ext cx="2305050" cy="190500"/>
          </a:xfrm>
          <a:prstGeom prst="rect">
            <a:avLst/>
          </a:prstGeom>
          <a:noFill/>
        </p:spPr>
        <p:txBody>
          <a:bodyPr wrap="square">
            <a:spAutoFit/>
          </a:bodyPr>
          <a:lstStyle/>
          <a:p>
            <a:pPr algn="l"/>
            <a:r>
              <a:rPr sz="975" b="1">
                <a:solidFill>
                  <a:srgbClr val="0D1B2A"/>
                </a:solidFill>
                <a:latin typeface="Noto Sans JP"/>
                <a:ea typeface="Noto Sans JP"/>
                <a:cs typeface="Noto Sans JP"/>
              </a:rPr>
              <a:t>重点管理（高影響×低確率）</a:t>
            </a:r>
          </a:p>
        </p:txBody>
      </p:sp>
      <p:sp>
        <p:nvSpPr>
          <p:cNvPr id="32" name="TextBox 31"/>
          <p:cNvSpPr txBox="1"/>
          <p:nvPr/>
        </p:nvSpPr>
        <p:spPr>
          <a:xfrm>
            <a:off x="9086850" y="3200400"/>
            <a:ext cx="2305050" cy="762000"/>
          </a:xfrm>
          <a:prstGeom prst="rect">
            <a:avLst/>
          </a:prstGeom>
          <a:noFill/>
        </p:spPr>
        <p:txBody>
          <a:bodyPr wrap="square">
            <a:spAutoFit/>
          </a:bodyPr>
          <a:lstStyle/>
          <a:p>
            <a:pPr algn="l"/>
            <a:r>
              <a:rPr sz="975" b="0">
                <a:solidFill>
                  <a:srgbClr val="4A5568"/>
                </a:solidFill>
                <a:latin typeface="Noto Sans JP"/>
                <a:ea typeface="Noto Sans JP"/>
                <a:cs typeface="Noto Sans JP"/>
              </a:rPr>
              <a:t>発生時の影響大。定期モニタリングと対応計画を整備</a:t>
            </a:r>
          </a:p>
        </p:txBody>
      </p:sp>
      <p:sp>
        <p:nvSpPr>
          <p:cNvPr id="33" name="TextBox 32"/>
          <p:cNvSpPr txBox="1"/>
          <p:nvPr/>
        </p:nvSpPr>
        <p:spPr>
          <a:xfrm>
            <a:off x="9086850" y="4000500"/>
            <a:ext cx="2305050" cy="190500"/>
          </a:xfrm>
          <a:prstGeom prst="rect">
            <a:avLst/>
          </a:prstGeom>
          <a:noFill/>
        </p:spPr>
        <p:txBody>
          <a:bodyPr wrap="square">
            <a:spAutoFit/>
          </a:bodyPr>
          <a:lstStyle/>
          <a:p>
            <a:pPr algn="l"/>
            <a:r>
              <a:rPr sz="975" b="1">
                <a:solidFill>
                  <a:srgbClr val="0D1B2A"/>
                </a:solidFill>
                <a:latin typeface="Noto Sans JP"/>
                <a:ea typeface="Noto Sans JP"/>
                <a:cs typeface="Noto Sans JP"/>
              </a:rPr>
              <a:t>対応計画（低影響×高確率）</a:t>
            </a:r>
          </a:p>
        </p:txBody>
      </p:sp>
      <p:sp>
        <p:nvSpPr>
          <p:cNvPr id="34" name="TextBox 33"/>
          <p:cNvSpPr txBox="1"/>
          <p:nvPr/>
        </p:nvSpPr>
        <p:spPr>
          <a:xfrm>
            <a:off x="9086850" y="4191000"/>
            <a:ext cx="2305050" cy="762000"/>
          </a:xfrm>
          <a:prstGeom prst="rect">
            <a:avLst/>
          </a:prstGeom>
          <a:noFill/>
        </p:spPr>
        <p:txBody>
          <a:bodyPr wrap="square">
            <a:spAutoFit/>
          </a:bodyPr>
          <a:lstStyle/>
          <a:p>
            <a:pPr algn="l"/>
            <a:r>
              <a:rPr sz="975" b="0">
                <a:solidFill>
                  <a:srgbClr val="4A5568"/>
                </a:solidFill>
                <a:latin typeface="Noto Sans JP"/>
                <a:ea typeface="Noto Sans JP"/>
                <a:cs typeface="Noto Sans JP"/>
              </a:rPr>
              <a:t>発生確率は高いが被害は限定的。コスト低減策を用意</a:t>
            </a:r>
          </a:p>
        </p:txBody>
      </p:sp>
      <p:sp>
        <p:nvSpPr>
          <p:cNvPr id="35" name="TextBox 34"/>
          <p:cNvSpPr txBox="1"/>
          <p:nvPr/>
        </p:nvSpPr>
        <p:spPr>
          <a:xfrm>
            <a:off x="9086850" y="4991100"/>
            <a:ext cx="2305050" cy="190500"/>
          </a:xfrm>
          <a:prstGeom prst="rect">
            <a:avLst/>
          </a:prstGeom>
          <a:noFill/>
        </p:spPr>
        <p:txBody>
          <a:bodyPr wrap="square">
            <a:spAutoFit/>
          </a:bodyPr>
          <a:lstStyle/>
          <a:p>
            <a:pPr algn="l"/>
            <a:r>
              <a:rPr sz="975" b="1">
                <a:solidFill>
                  <a:srgbClr val="0D1B2A"/>
                </a:solidFill>
                <a:latin typeface="Noto Sans JP"/>
                <a:ea typeface="Noto Sans JP"/>
                <a:cs typeface="Noto Sans JP"/>
              </a:rPr>
              <a:t>経過観察（低影響×低確率）</a:t>
            </a:r>
          </a:p>
        </p:txBody>
      </p:sp>
      <p:sp>
        <p:nvSpPr>
          <p:cNvPr id="36" name="TextBox 35"/>
          <p:cNvSpPr txBox="1"/>
          <p:nvPr/>
        </p:nvSpPr>
        <p:spPr>
          <a:xfrm>
            <a:off x="9086850" y="5181600"/>
            <a:ext cx="2305050" cy="762000"/>
          </a:xfrm>
          <a:prstGeom prst="rect">
            <a:avLst/>
          </a:prstGeom>
          <a:noFill/>
        </p:spPr>
        <p:txBody>
          <a:bodyPr wrap="square">
            <a:spAutoFit/>
          </a:bodyPr>
          <a:lstStyle/>
          <a:p>
            <a:pPr algn="l"/>
            <a:r>
              <a:rPr sz="975" b="0">
                <a:solidFill>
                  <a:srgbClr val="4A5568"/>
                </a:solidFill>
                <a:latin typeface="Noto Sans JP"/>
                <a:ea typeface="Noto Sans JP"/>
                <a:cs typeface="Noto Sans JP"/>
              </a:rPr>
              <a:t>四半期ごとの確認で足りる。過度なリソース投入不要</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出典：営業FAQ集 v3.2（2026年6月）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67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サービス導入前によくいただくご質問（6件）</a:t>
            </a:r>
          </a:p>
        </p:txBody>
      </p:sp>
      <p:sp>
        <p:nvSpPr>
          <p:cNvPr id="5" name="Rectangle 4"/>
          <p:cNvSpPr/>
          <p:nvPr/>
        </p:nvSpPr>
        <p:spPr>
          <a:xfrm>
            <a:off x="685800" y="1524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8200" y="1676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676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Q1</a:t>
            </a:r>
          </a:p>
        </p:txBody>
      </p:sp>
      <p:sp>
        <p:nvSpPr>
          <p:cNvPr id="8" name="TextBox 7"/>
          <p:cNvSpPr txBox="1"/>
          <p:nvPr/>
        </p:nvSpPr>
        <p:spPr>
          <a:xfrm>
            <a:off x="838200" y="1943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導入までの期間はどのくらいかかりますか？</a:t>
            </a:r>
          </a:p>
        </p:txBody>
      </p:sp>
      <p:sp>
        <p:nvSpPr>
          <p:cNvPr id="9" name="TextBox 8"/>
          <p:cNvSpPr txBox="1"/>
          <p:nvPr/>
        </p:nvSpPr>
        <p:spPr>
          <a:xfrm>
            <a:off x="838200" y="2476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最短4週間で本稼働。連携要件がある場合は個別相談。</a:t>
            </a:r>
          </a:p>
        </p:txBody>
      </p:sp>
      <p:sp>
        <p:nvSpPr>
          <p:cNvPr id="10" name="Rectangle 9"/>
          <p:cNvSpPr/>
          <p:nvPr/>
        </p:nvSpPr>
        <p:spPr>
          <a:xfrm>
            <a:off x="4368800" y="1524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1200" y="1676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1676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Q2</a:t>
            </a:r>
          </a:p>
        </p:txBody>
      </p:sp>
      <p:sp>
        <p:nvSpPr>
          <p:cNvPr id="13" name="TextBox 12"/>
          <p:cNvSpPr txBox="1"/>
          <p:nvPr/>
        </p:nvSpPr>
        <p:spPr>
          <a:xfrm>
            <a:off x="4521200" y="1943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既存の社内システムと連携できますか？</a:t>
            </a:r>
          </a:p>
        </p:txBody>
      </p:sp>
      <p:sp>
        <p:nvSpPr>
          <p:cNvPr id="14" name="TextBox 13"/>
          <p:cNvSpPr txBox="1"/>
          <p:nvPr/>
        </p:nvSpPr>
        <p:spPr>
          <a:xfrm>
            <a:off x="4521200" y="2476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REST APIと主要ERP向け標準コネクターを提供。</a:t>
            </a:r>
          </a:p>
        </p:txBody>
      </p:sp>
      <p:sp>
        <p:nvSpPr>
          <p:cNvPr id="15" name="Rectangle 14"/>
          <p:cNvSpPr/>
          <p:nvPr/>
        </p:nvSpPr>
        <p:spPr>
          <a:xfrm>
            <a:off x="8051800" y="1524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4200" y="1676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4200" y="1676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Q3</a:t>
            </a:r>
          </a:p>
        </p:txBody>
      </p:sp>
      <p:sp>
        <p:nvSpPr>
          <p:cNvPr id="18" name="TextBox 17"/>
          <p:cNvSpPr txBox="1"/>
          <p:nvPr/>
        </p:nvSpPr>
        <p:spPr>
          <a:xfrm>
            <a:off x="8204200" y="1943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セキュリティ・コンプライアンスへの対応は？</a:t>
            </a:r>
          </a:p>
        </p:txBody>
      </p:sp>
      <p:sp>
        <p:nvSpPr>
          <p:cNvPr id="19" name="TextBox 18"/>
          <p:cNvSpPr txBox="1"/>
          <p:nvPr/>
        </p:nvSpPr>
        <p:spPr>
          <a:xfrm>
            <a:off x="8204200" y="2476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ISO 27001取得済み。国内リージョン保管・暗号化標準装備。</a:t>
            </a:r>
          </a:p>
        </p:txBody>
      </p:sp>
      <p:sp>
        <p:nvSpPr>
          <p:cNvPr id="20" name="Rectangle 19"/>
          <p:cNvSpPr/>
          <p:nvPr/>
        </p:nvSpPr>
        <p:spPr>
          <a:xfrm>
            <a:off x="685800" y="3810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8200" y="3962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 y="3962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Q4</a:t>
            </a:r>
          </a:p>
        </p:txBody>
      </p:sp>
      <p:sp>
        <p:nvSpPr>
          <p:cNvPr id="23" name="TextBox 22"/>
          <p:cNvSpPr txBox="1"/>
          <p:nvPr/>
        </p:nvSpPr>
        <p:spPr>
          <a:xfrm>
            <a:off x="838200" y="4229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サポート体制はどうなっていますか？</a:t>
            </a:r>
          </a:p>
        </p:txBody>
      </p:sp>
      <p:sp>
        <p:nvSpPr>
          <p:cNvPr id="24" name="TextBox 23"/>
          <p:cNvSpPr txBox="1"/>
          <p:nvPr/>
        </p:nvSpPr>
        <p:spPr>
          <a:xfrm>
            <a:off x="838200" y="4762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平日9〜18時の専任チーム対応。Enterpriseは24h365日。</a:t>
            </a:r>
          </a:p>
        </p:txBody>
      </p:sp>
      <p:sp>
        <p:nvSpPr>
          <p:cNvPr id="25" name="Rectangle 24"/>
          <p:cNvSpPr/>
          <p:nvPr/>
        </p:nvSpPr>
        <p:spPr>
          <a:xfrm>
            <a:off x="4368800" y="3810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1200" y="3962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1200" y="3962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Q5</a:t>
            </a:r>
          </a:p>
        </p:txBody>
      </p:sp>
      <p:sp>
        <p:nvSpPr>
          <p:cNvPr id="28" name="TextBox 27"/>
          <p:cNvSpPr txBox="1"/>
          <p:nvPr/>
        </p:nvSpPr>
        <p:spPr>
          <a:xfrm>
            <a:off x="4521200" y="4229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料金体系を教えてください。</a:t>
            </a:r>
          </a:p>
        </p:txBody>
      </p:sp>
      <p:sp>
        <p:nvSpPr>
          <p:cNvPr id="29" name="TextBox 28"/>
          <p:cNvSpPr txBox="1"/>
          <p:nvPr/>
        </p:nvSpPr>
        <p:spPr>
          <a:xfrm>
            <a:off x="4521200" y="4762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ユーザー数に応じた月額従量制、初期費用無料。</a:t>
            </a:r>
          </a:p>
        </p:txBody>
      </p:sp>
      <p:sp>
        <p:nvSpPr>
          <p:cNvPr id="30" name="Rectangle 29"/>
          <p:cNvSpPr/>
          <p:nvPr/>
        </p:nvSpPr>
        <p:spPr>
          <a:xfrm>
            <a:off x="8051800" y="3810000"/>
            <a:ext cx="3454400" cy="2209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04200" y="3962400"/>
            <a:ext cx="381000" cy="2095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04200" y="3962400"/>
            <a:ext cx="381000" cy="209550"/>
          </a:xfrm>
          <a:prstGeom prst="rect">
            <a:avLst/>
          </a:prstGeom>
          <a:noFill/>
        </p:spPr>
        <p:txBody>
          <a:bodyPr wrap="square">
            <a:spAutoFit/>
          </a:bodyPr>
          <a:lstStyle/>
          <a:p>
            <a:pPr algn="ctr"/>
            <a:r>
              <a:rPr sz="825" b="1">
                <a:solidFill>
                  <a:srgbClr val="FFFFFF"/>
                </a:solidFill>
                <a:latin typeface="Noto Sans JP"/>
                <a:ea typeface="Noto Sans JP"/>
                <a:cs typeface="Noto Sans JP"/>
              </a:rPr>
              <a:t>Q6</a:t>
            </a:r>
          </a:p>
        </p:txBody>
      </p:sp>
      <p:sp>
        <p:nvSpPr>
          <p:cNvPr id="33" name="TextBox 32"/>
          <p:cNvSpPr txBox="1"/>
          <p:nvPr/>
        </p:nvSpPr>
        <p:spPr>
          <a:xfrm>
            <a:off x="8204200" y="4229100"/>
            <a:ext cx="3149600" cy="495300"/>
          </a:xfrm>
          <a:prstGeom prst="rect">
            <a:avLst/>
          </a:prstGeom>
          <a:noFill/>
        </p:spPr>
        <p:txBody>
          <a:bodyPr wrap="square">
            <a:spAutoFit/>
          </a:bodyPr>
          <a:lstStyle/>
          <a:p>
            <a:pPr algn="l"/>
            <a:r>
              <a:rPr sz="1275" b="1">
                <a:solidFill>
                  <a:srgbClr val="0D1B2A"/>
                </a:solidFill>
                <a:latin typeface="Noto Sans JP"/>
                <a:ea typeface="Noto Sans JP"/>
                <a:cs typeface="Noto Sans JP"/>
              </a:rPr>
              <a:t>無料トライアルはありますか？</a:t>
            </a:r>
          </a:p>
        </p:txBody>
      </p:sp>
      <p:sp>
        <p:nvSpPr>
          <p:cNvPr id="34" name="TextBox 33"/>
          <p:cNvSpPr txBox="1"/>
          <p:nvPr/>
        </p:nvSpPr>
        <p:spPr>
          <a:xfrm>
            <a:off x="8204200" y="4762500"/>
            <a:ext cx="3149600" cy="1104900"/>
          </a:xfrm>
          <a:prstGeom prst="rect">
            <a:avLst/>
          </a:prstGeom>
          <a:noFill/>
        </p:spPr>
        <p:txBody>
          <a:bodyPr wrap="square">
            <a:spAutoFit/>
          </a:bodyPr>
          <a:lstStyle/>
          <a:p>
            <a:pPr algn="l"/>
            <a:r>
              <a:rPr sz="1275" b="0">
                <a:solidFill>
                  <a:srgbClr val="4A5568"/>
                </a:solidFill>
                <a:latin typeface="Noto Sans JP"/>
                <a:ea typeface="Noto Sans JP"/>
                <a:cs typeface="Noto Sans JP"/>
              </a:rPr>
              <a:t>30日間フル機能の無料トライアルあり。ウェブから申込。</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出典：カスタマーサクセス よくある質問集（2026年6月改訂）</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68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ご契約前に必ずご確認いただきたい3つの質問</a:t>
            </a:r>
          </a:p>
        </p:txBody>
      </p:sp>
      <p:sp>
        <p:nvSpPr>
          <p:cNvPr id="5" name="Rectangle 4"/>
          <p:cNvSpPr/>
          <p:nvPr/>
        </p:nvSpPr>
        <p:spPr>
          <a:xfrm>
            <a:off x="685800" y="1524000"/>
            <a:ext cx="10820400" cy="1447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524000"/>
            <a:ext cx="57150" cy="14478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3450" y="1714500"/>
            <a:ext cx="381000" cy="1905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3450" y="1714500"/>
            <a:ext cx="381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Q1</a:t>
            </a:r>
          </a:p>
        </p:txBody>
      </p:sp>
      <p:sp>
        <p:nvSpPr>
          <p:cNvPr id="9" name="TextBox 8"/>
          <p:cNvSpPr txBox="1"/>
          <p:nvPr/>
        </p:nvSpPr>
        <p:spPr>
          <a:xfrm>
            <a:off x="1428750" y="1695450"/>
            <a:ext cx="9925050" cy="247650"/>
          </a:xfrm>
          <a:prstGeom prst="rect">
            <a:avLst/>
          </a:prstGeom>
          <a:noFill/>
        </p:spPr>
        <p:txBody>
          <a:bodyPr wrap="square">
            <a:spAutoFit/>
          </a:bodyPr>
          <a:lstStyle/>
          <a:p>
            <a:pPr algn="l"/>
            <a:r>
              <a:rPr sz="1650" b="1">
                <a:solidFill>
                  <a:srgbClr val="0D1B2A"/>
                </a:solidFill>
                <a:latin typeface="Noto Sans JP"/>
                <a:ea typeface="Noto Sans JP"/>
                <a:cs typeface="Noto Sans JP"/>
              </a:rPr>
              <a:t>契約期間の縛りはありますか？途中解約できますか？</a:t>
            </a:r>
          </a:p>
        </p:txBody>
      </p:sp>
      <p:sp>
        <p:nvSpPr>
          <p:cNvPr id="10" name="TextBox 9"/>
          <p:cNvSpPr txBox="1"/>
          <p:nvPr/>
        </p:nvSpPr>
        <p:spPr>
          <a:xfrm>
            <a:off x="933450" y="2019300"/>
            <a:ext cx="10420350" cy="876300"/>
          </a:xfrm>
          <a:prstGeom prst="rect">
            <a:avLst/>
          </a:prstGeom>
          <a:noFill/>
        </p:spPr>
        <p:txBody>
          <a:bodyPr wrap="square">
            <a:spAutoFit/>
          </a:bodyPr>
          <a:lstStyle/>
          <a:p>
            <a:pPr algn="l"/>
            <a:r>
              <a:rPr sz="1275" b="0">
                <a:solidFill>
                  <a:srgbClr val="4A5568"/>
                </a:solidFill>
                <a:latin typeface="Noto Sans JP"/>
                <a:ea typeface="Noto Sans JP"/>
                <a:cs typeface="Noto Sans JP"/>
              </a:rPr>
              <a:t>最低契約期間は1カ月です。解約はマイページから当月末の5営業日前までにお手続きいただくことで、翌月以降の請求が停止されます。違約金は一切発生しません。</a:t>
            </a:r>
          </a:p>
        </p:txBody>
      </p:sp>
      <p:sp>
        <p:nvSpPr>
          <p:cNvPr id="11" name="Rectangle 10"/>
          <p:cNvSpPr/>
          <p:nvPr/>
        </p:nvSpPr>
        <p:spPr>
          <a:xfrm>
            <a:off x="685800" y="3048000"/>
            <a:ext cx="10820400" cy="1447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048000"/>
            <a:ext cx="57150" cy="14478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33450" y="3238500"/>
            <a:ext cx="381000" cy="1905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3450" y="3238500"/>
            <a:ext cx="381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Q2</a:t>
            </a:r>
          </a:p>
        </p:txBody>
      </p:sp>
      <p:sp>
        <p:nvSpPr>
          <p:cNvPr id="15" name="TextBox 14"/>
          <p:cNvSpPr txBox="1"/>
          <p:nvPr/>
        </p:nvSpPr>
        <p:spPr>
          <a:xfrm>
            <a:off x="1428750" y="3219450"/>
            <a:ext cx="9925050" cy="247650"/>
          </a:xfrm>
          <a:prstGeom prst="rect">
            <a:avLst/>
          </a:prstGeom>
          <a:noFill/>
        </p:spPr>
        <p:txBody>
          <a:bodyPr wrap="square">
            <a:spAutoFit/>
          </a:bodyPr>
          <a:lstStyle/>
          <a:p>
            <a:pPr algn="l"/>
            <a:r>
              <a:rPr sz="1650" b="1">
                <a:solidFill>
                  <a:srgbClr val="0D1B2A"/>
                </a:solidFill>
                <a:latin typeface="Noto Sans JP"/>
                <a:ea typeface="Noto Sans JP"/>
                <a:cs typeface="Noto Sans JP"/>
              </a:rPr>
              <a:t>データは解約後も保持されますか？エクスポートは可能ですか？</a:t>
            </a:r>
          </a:p>
        </p:txBody>
      </p:sp>
      <p:sp>
        <p:nvSpPr>
          <p:cNvPr id="16" name="TextBox 15"/>
          <p:cNvSpPr txBox="1"/>
          <p:nvPr/>
        </p:nvSpPr>
        <p:spPr>
          <a:xfrm>
            <a:off x="933450" y="3543300"/>
            <a:ext cx="10420350" cy="876300"/>
          </a:xfrm>
          <a:prstGeom prst="rect">
            <a:avLst/>
          </a:prstGeom>
          <a:noFill/>
        </p:spPr>
        <p:txBody>
          <a:bodyPr wrap="square">
            <a:spAutoFit/>
          </a:bodyPr>
          <a:lstStyle/>
          <a:p>
            <a:pPr algn="l"/>
            <a:r>
              <a:rPr sz="1275" b="0">
                <a:solidFill>
                  <a:srgbClr val="4A5568"/>
                </a:solidFill>
                <a:latin typeface="Noto Sans JP"/>
                <a:ea typeface="Noto Sans JP"/>
                <a:cs typeface="Noto Sans JP"/>
              </a:rPr>
              <a:t>解約後90日間はデータを保持します。この期間中にCSV・JSONエクスポートが可能です。90日経過後は完全削除されるため、早めのバックアップをお勧めします。</a:t>
            </a:r>
          </a:p>
        </p:txBody>
      </p:sp>
      <p:sp>
        <p:nvSpPr>
          <p:cNvPr id="17" name="Rectangle 16"/>
          <p:cNvSpPr/>
          <p:nvPr/>
        </p:nvSpPr>
        <p:spPr>
          <a:xfrm>
            <a:off x="685800" y="4572000"/>
            <a:ext cx="10820400" cy="14478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4572000"/>
            <a:ext cx="57150" cy="14478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33450" y="4762500"/>
            <a:ext cx="381000" cy="1905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3450" y="4762500"/>
            <a:ext cx="381000" cy="190500"/>
          </a:xfrm>
          <a:prstGeom prst="rect">
            <a:avLst/>
          </a:prstGeom>
          <a:noFill/>
        </p:spPr>
        <p:txBody>
          <a:bodyPr wrap="square">
            <a:spAutoFit/>
          </a:bodyPr>
          <a:lstStyle/>
          <a:p>
            <a:pPr algn="ctr"/>
            <a:r>
              <a:rPr sz="825" b="1">
                <a:solidFill>
                  <a:srgbClr val="FFFFFF"/>
                </a:solidFill>
                <a:latin typeface="Noto Sans JP"/>
                <a:ea typeface="Noto Sans JP"/>
                <a:cs typeface="Noto Sans JP"/>
              </a:rPr>
              <a:t>Q3</a:t>
            </a:r>
          </a:p>
        </p:txBody>
      </p:sp>
      <p:sp>
        <p:nvSpPr>
          <p:cNvPr id="21" name="TextBox 20"/>
          <p:cNvSpPr txBox="1"/>
          <p:nvPr/>
        </p:nvSpPr>
        <p:spPr>
          <a:xfrm>
            <a:off x="1428750" y="4743450"/>
            <a:ext cx="9925050" cy="247650"/>
          </a:xfrm>
          <a:prstGeom prst="rect">
            <a:avLst/>
          </a:prstGeom>
          <a:noFill/>
        </p:spPr>
        <p:txBody>
          <a:bodyPr wrap="square">
            <a:spAutoFit/>
          </a:bodyPr>
          <a:lstStyle/>
          <a:p>
            <a:pPr algn="l"/>
            <a:r>
              <a:rPr sz="1650" b="1">
                <a:solidFill>
                  <a:srgbClr val="0D1B2A"/>
                </a:solidFill>
                <a:latin typeface="Noto Sans JP"/>
                <a:ea typeface="Noto Sans JP"/>
                <a:cs typeface="Noto Sans JP"/>
              </a:rPr>
              <a:t>プランのアップグレード・ダウングレードは即時反映されますか？</a:t>
            </a:r>
          </a:p>
        </p:txBody>
      </p:sp>
      <p:sp>
        <p:nvSpPr>
          <p:cNvPr id="22" name="TextBox 21"/>
          <p:cNvSpPr txBox="1"/>
          <p:nvPr/>
        </p:nvSpPr>
        <p:spPr>
          <a:xfrm>
            <a:off x="933450" y="5067300"/>
            <a:ext cx="10420350" cy="876300"/>
          </a:xfrm>
          <a:prstGeom prst="rect">
            <a:avLst/>
          </a:prstGeom>
          <a:noFill/>
        </p:spPr>
        <p:txBody>
          <a:bodyPr wrap="square">
            <a:spAutoFit/>
          </a:bodyPr>
          <a:lstStyle/>
          <a:p>
            <a:pPr algn="l"/>
            <a:r>
              <a:rPr sz="1275" b="0">
                <a:solidFill>
                  <a:srgbClr val="4A5568"/>
                </a:solidFill>
                <a:latin typeface="Noto Sans JP"/>
                <a:ea typeface="Noto Sans JP"/>
                <a:cs typeface="Noto Sans JP"/>
              </a:rPr>
              <a:t>アップグレードは即時反映（差額を日割り請求）です。ダウングレードは翌月1日からの適用となります。機能制限がかかるケースは事前に通知メールをお送りします。</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出典：セキュリティホワイトペーパー rev.5（2026年6月）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69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セキュリティに関する主要Q&amp;Aへの回答</a:t>
            </a:r>
          </a:p>
        </p:txBody>
      </p:sp>
      <p:sp>
        <p:nvSpPr>
          <p:cNvPr id="5" name="Rectangle 4"/>
          <p:cNvSpPr/>
          <p:nvPr/>
        </p:nvSpPr>
        <p:spPr>
          <a:xfrm>
            <a:off x="685800" y="1524000"/>
            <a:ext cx="10820400" cy="4572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1524000"/>
            <a:ext cx="476250" cy="457200"/>
          </a:xfrm>
          <a:prstGeom prst="rect">
            <a:avLst/>
          </a:prstGeom>
          <a:noFill/>
        </p:spPr>
        <p:txBody>
          <a:bodyPr wrap="square">
            <a:spAutoFit/>
          </a:bodyPr>
          <a:lstStyle/>
          <a:p>
            <a:pPr algn="l"/>
            <a:r>
              <a:rPr sz="900" b="1">
                <a:solidFill>
                  <a:srgbClr val="FFFFFF"/>
                </a:solidFill>
                <a:latin typeface="Noto Sans JP"/>
                <a:ea typeface="Noto Sans JP"/>
                <a:cs typeface="Noto Sans JP"/>
              </a:rPr>
              <a:t>Q1</a:t>
            </a:r>
          </a:p>
        </p:txBody>
      </p:sp>
      <p:sp>
        <p:nvSpPr>
          <p:cNvPr id="7" name="TextBox 6"/>
          <p:cNvSpPr txBox="1"/>
          <p:nvPr/>
        </p:nvSpPr>
        <p:spPr>
          <a:xfrm>
            <a:off x="1371600" y="1524000"/>
            <a:ext cx="9944100" cy="457200"/>
          </a:xfrm>
          <a:prstGeom prst="rect">
            <a:avLst/>
          </a:prstGeom>
          <a:noFill/>
        </p:spPr>
        <p:txBody>
          <a:bodyPr wrap="square">
            <a:spAutoFit/>
          </a:bodyPr>
          <a:lstStyle/>
          <a:p>
            <a:pPr algn="l"/>
            <a:r>
              <a:rPr sz="1275" b="1">
                <a:solidFill>
                  <a:srgbClr val="FFFFFF"/>
                </a:solidFill>
                <a:latin typeface="Noto Sans JP"/>
                <a:ea typeface="Noto Sans JP"/>
                <a:cs typeface="Noto Sans JP"/>
              </a:rPr>
              <a:t>個人情報はどのサーバーに保存されますか？</a:t>
            </a:r>
          </a:p>
        </p:txBody>
      </p:sp>
      <p:sp>
        <p:nvSpPr>
          <p:cNvPr id="8" name="Rectangle 7"/>
          <p:cNvSpPr/>
          <p:nvPr/>
        </p:nvSpPr>
        <p:spPr>
          <a:xfrm>
            <a:off x="685800" y="1981200"/>
            <a:ext cx="10820400" cy="9144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6300" y="2057400"/>
            <a:ext cx="304800" cy="762000"/>
          </a:xfrm>
          <a:prstGeom prst="rect">
            <a:avLst/>
          </a:prstGeom>
          <a:noFill/>
        </p:spPr>
        <p:txBody>
          <a:bodyPr wrap="square">
            <a:spAutoFit/>
          </a:bodyPr>
          <a:lstStyle/>
          <a:p>
            <a:pPr algn="l"/>
            <a:r>
              <a:rPr sz="900" b="1">
                <a:solidFill>
                  <a:srgbClr val="1565C0"/>
                </a:solidFill>
                <a:latin typeface="Noto Sans JP"/>
                <a:ea typeface="Noto Sans JP"/>
                <a:cs typeface="Noto Sans JP"/>
              </a:rPr>
              <a:t>A.</a:t>
            </a:r>
          </a:p>
        </p:txBody>
      </p:sp>
      <p:sp>
        <p:nvSpPr>
          <p:cNvPr id="10" name="TextBox 9"/>
          <p:cNvSpPr txBox="1"/>
          <p:nvPr/>
        </p:nvSpPr>
        <p:spPr>
          <a:xfrm>
            <a:off x="1219200" y="2057400"/>
            <a:ext cx="10134600" cy="762000"/>
          </a:xfrm>
          <a:prstGeom prst="rect">
            <a:avLst/>
          </a:prstGeom>
          <a:noFill/>
        </p:spPr>
        <p:txBody>
          <a:bodyPr wrap="square">
            <a:spAutoFit/>
          </a:bodyPr>
          <a:lstStyle/>
          <a:p>
            <a:pPr algn="l"/>
            <a:r>
              <a:rPr sz="1275" b="0">
                <a:solidFill>
                  <a:srgbClr val="4A5568"/>
                </a:solidFill>
                <a:latin typeface="Noto Sans JP"/>
                <a:ea typeface="Noto Sans JP"/>
                <a:cs typeface="Noto Sans JP"/>
              </a:rPr>
              <a:t>国内（東京・大阪）のデータセンターのみに保管しています。第三国への転送は行いません。AES-256による静的・転送中暗号化を標準適用しています。</a:t>
            </a:r>
          </a:p>
        </p:txBody>
      </p:sp>
      <p:sp>
        <p:nvSpPr>
          <p:cNvPr id="11" name="Rectangle 10"/>
          <p:cNvSpPr/>
          <p:nvPr/>
        </p:nvSpPr>
        <p:spPr>
          <a:xfrm>
            <a:off x="685800" y="2971800"/>
            <a:ext cx="10820400" cy="4572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6300" y="2971800"/>
            <a:ext cx="476250" cy="457200"/>
          </a:xfrm>
          <a:prstGeom prst="rect">
            <a:avLst/>
          </a:prstGeom>
          <a:noFill/>
        </p:spPr>
        <p:txBody>
          <a:bodyPr wrap="square">
            <a:spAutoFit/>
          </a:bodyPr>
          <a:lstStyle/>
          <a:p>
            <a:pPr algn="l"/>
            <a:r>
              <a:rPr sz="900" b="1">
                <a:solidFill>
                  <a:srgbClr val="FFFFFF"/>
                </a:solidFill>
                <a:latin typeface="Noto Sans JP"/>
                <a:ea typeface="Noto Sans JP"/>
                <a:cs typeface="Noto Sans JP"/>
              </a:rPr>
              <a:t>Q2</a:t>
            </a:r>
          </a:p>
        </p:txBody>
      </p:sp>
      <p:sp>
        <p:nvSpPr>
          <p:cNvPr id="13" name="TextBox 12"/>
          <p:cNvSpPr txBox="1"/>
          <p:nvPr/>
        </p:nvSpPr>
        <p:spPr>
          <a:xfrm>
            <a:off x="1371600" y="2971800"/>
            <a:ext cx="9944100" cy="457200"/>
          </a:xfrm>
          <a:prstGeom prst="rect">
            <a:avLst/>
          </a:prstGeom>
          <a:noFill/>
        </p:spPr>
        <p:txBody>
          <a:bodyPr wrap="square">
            <a:spAutoFit/>
          </a:bodyPr>
          <a:lstStyle/>
          <a:p>
            <a:pPr algn="l"/>
            <a:r>
              <a:rPr sz="1275" b="1">
                <a:solidFill>
                  <a:srgbClr val="FFFFFF"/>
                </a:solidFill>
                <a:latin typeface="Noto Sans JP"/>
                <a:ea typeface="Noto Sans JP"/>
                <a:cs typeface="Noto Sans JP"/>
              </a:rPr>
              <a:t>不正アクセスが発生した場合、どのような対応をとりますか？</a:t>
            </a:r>
          </a:p>
        </p:txBody>
      </p:sp>
      <p:sp>
        <p:nvSpPr>
          <p:cNvPr id="14" name="Rectangle 13"/>
          <p:cNvSpPr/>
          <p:nvPr/>
        </p:nvSpPr>
        <p:spPr>
          <a:xfrm>
            <a:off x="685800" y="3429000"/>
            <a:ext cx="10820400" cy="9144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6300" y="3505200"/>
            <a:ext cx="304800" cy="762000"/>
          </a:xfrm>
          <a:prstGeom prst="rect">
            <a:avLst/>
          </a:prstGeom>
          <a:noFill/>
        </p:spPr>
        <p:txBody>
          <a:bodyPr wrap="square">
            <a:spAutoFit/>
          </a:bodyPr>
          <a:lstStyle/>
          <a:p>
            <a:pPr algn="l"/>
            <a:r>
              <a:rPr sz="900" b="1">
                <a:solidFill>
                  <a:srgbClr val="1565C0"/>
                </a:solidFill>
                <a:latin typeface="Noto Sans JP"/>
                <a:ea typeface="Noto Sans JP"/>
                <a:cs typeface="Noto Sans JP"/>
              </a:rPr>
              <a:t>A.</a:t>
            </a:r>
          </a:p>
        </p:txBody>
      </p:sp>
      <p:sp>
        <p:nvSpPr>
          <p:cNvPr id="16" name="TextBox 15"/>
          <p:cNvSpPr txBox="1"/>
          <p:nvPr/>
        </p:nvSpPr>
        <p:spPr>
          <a:xfrm>
            <a:off x="1219200" y="3505200"/>
            <a:ext cx="10134600" cy="762000"/>
          </a:xfrm>
          <a:prstGeom prst="rect">
            <a:avLst/>
          </a:prstGeom>
          <a:noFill/>
        </p:spPr>
        <p:txBody>
          <a:bodyPr wrap="square">
            <a:spAutoFit/>
          </a:bodyPr>
          <a:lstStyle/>
          <a:p>
            <a:pPr algn="l"/>
            <a:r>
              <a:rPr sz="1275" b="0">
                <a:solidFill>
                  <a:srgbClr val="4A5568"/>
                </a:solidFill>
                <a:latin typeface="Noto Sans JP"/>
                <a:ea typeface="Noto Sans JP"/>
                <a:cs typeface="Noto Sans JP"/>
              </a:rPr>
              <a:t>検知から72時間以内に影響を受けるお客様へ個別通知し、JPCERT/CCへの報告および原因調査・再発防止策の公表を行います。補償ポリシーはSLAをご確認ください。</a:t>
            </a:r>
          </a:p>
        </p:txBody>
      </p:sp>
      <p:sp>
        <p:nvSpPr>
          <p:cNvPr id="17" name="Rectangle 16"/>
          <p:cNvSpPr/>
          <p:nvPr/>
        </p:nvSpPr>
        <p:spPr>
          <a:xfrm>
            <a:off x="685800" y="4419600"/>
            <a:ext cx="10820400" cy="4572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6300" y="4419600"/>
            <a:ext cx="476250" cy="457200"/>
          </a:xfrm>
          <a:prstGeom prst="rect">
            <a:avLst/>
          </a:prstGeom>
          <a:noFill/>
        </p:spPr>
        <p:txBody>
          <a:bodyPr wrap="square">
            <a:spAutoFit/>
          </a:bodyPr>
          <a:lstStyle/>
          <a:p>
            <a:pPr algn="l"/>
            <a:r>
              <a:rPr sz="900" b="1">
                <a:solidFill>
                  <a:srgbClr val="FFFFFF"/>
                </a:solidFill>
                <a:latin typeface="Noto Sans JP"/>
                <a:ea typeface="Noto Sans JP"/>
                <a:cs typeface="Noto Sans JP"/>
              </a:rPr>
              <a:t>Q3</a:t>
            </a:r>
          </a:p>
        </p:txBody>
      </p:sp>
      <p:sp>
        <p:nvSpPr>
          <p:cNvPr id="19" name="TextBox 18"/>
          <p:cNvSpPr txBox="1"/>
          <p:nvPr/>
        </p:nvSpPr>
        <p:spPr>
          <a:xfrm>
            <a:off x="1371600" y="4419600"/>
            <a:ext cx="9944100" cy="457200"/>
          </a:xfrm>
          <a:prstGeom prst="rect">
            <a:avLst/>
          </a:prstGeom>
          <a:noFill/>
        </p:spPr>
        <p:txBody>
          <a:bodyPr wrap="square">
            <a:spAutoFit/>
          </a:bodyPr>
          <a:lstStyle/>
          <a:p>
            <a:pPr algn="l"/>
            <a:r>
              <a:rPr sz="1275" b="1">
                <a:solidFill>
                  <a:srgbClr val="FFFFFF"/>
                </a:solidFill>
                <a:latin typeface="Noto Sans JP"/>
                <a:ea typeface="Noto Sans JP"/>
                <a:cs typeface="Noto Sans JP"/>
              </a:rPr>
              <a:t>従業員が退職した場合のアカウント管理はどうすればよいですか？</a:t>
            </a:r>
          </a:p>
        </p:txBody>
      </p:sp>
      <p:sp>
        <p:nvSpPr>
          <p:cNvPr id="20" name="Rectangle 19"/>
          <p:cNvSpPr/>
          <p:nvPr/>
        </p:nvSpPr>
        <p:spPr>
          <a:xfrm>
            <a:off x="685800" y="4876800"/>
            <a:ext cx="10820400" cy="9144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6300" y="4953000"/>
            <a:ext cx="304800" cy="762000"/>
          </a:xfrm>
          <a:prstGeom prst="rect">
            <a:avLst/>
          </a:prstGeom>
          <a:noFill/>
        </p:spPr>
        <p:txBody>
          <a:bodyPr wrap="square">
            <a:spAutoFit/>
          </a:bodyPr>
          <a:lstStyle/>
          <a:p>
            <a:pPr algn="l"/>
            <a:r>
              <a:rPr sz="900" b="1">
                <a:solidFill>
                  <a:srgbClr val="1565C0"/>
                </a:solidFill>
                <a:latin typeface="Noto Sans JP"/>
                <a:ea typeface="Noto Sans JP"/>
                <a:cs typeface="Noto Sans JP"/>
              </a:rPr>
              <a:t>A.</a:t>
            </a:r>
          </a:p>
        </p:txBody>
      </p:sp>
      <p:sp>
        <p:nvSpPr>
          <p:cNvPr id="22" name="TextBox 21"/>
          <p:cNvSpPr txBox="1"/>
          <p:nvPr/>
        </p:nvSpPr>
        <p:spPr>
          <a:xfrm>
            <a:off x="1219200" y="4953000"/>
            <a:ext cx="10134600" cy="762000"/>
          </a:xfrm>
          <a:prstGeom prst="rect">
            <a:avLst/>
          </a:prstGeom>
          <a:noFill/>
        </p:spPr>
        <p:txBody>
          <a:bodyPr wrap="square">
            <a:spAutoFit/>
          </a:bodyPr>
          <a:lstStyle/>
          <a:p>
            <a:pPr algn="l"/>
            <a:r>
              <a:rPr sz="1275" b="0">
                <a:solidFill>
                  <a:srgbClr val="4A5568"/>
                </a:solidFill>
                <a:latin typeface="Noto Sans JP"/>
                <a:ea typeface="Noto Sans JP"/>
                <a:cs typeface="Noto Sans JP"/>
              </a:rPr>
              <a:t>管理者ポータルからワンクリックで無効化できます。SSO（SAML2.0）連携をご利用の場合は、IdP側の無効化と同時に自動ロックされます。</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0F4F9"/>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4A5568"/>
                </a:solidFill>
                <a:latin typeface="Noto Sans JP"/>
                <a:ea typeface="Noto Sans JP"/>
                <a:cs typeface="Noto Sans JP"/>
              </a:rPr>
              <a:t>2026年6月　株式会社ガレージラボ　機密資料</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4A5568"/>
                </a:solidFill>
                <a:latin typeface="Noto Sans JP"/>
                <a:ea typeface="Noto Sans JP"/>
                <a:cs typeface="Noto Sans JP"/>
              </a:rPr>
              <a:t>70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0D1B2A"/>
                </a:solidFill>
                <a:latin typeface="Noto Sans JP"/>
                <a:ea typeface="Noto Sans JP"/>
                <a:cs typeface="Noto Sans JP"/>
              </a:rPr>
              <a:t>ここまでのご説明に関してご質問をお受けします</a:t>
            </a:r>
          </a:p>
        </p:txBody>
      </p:sp>
      <p:sp>
        <p:nvSpPr>
          <p:cNvPr id="5" name="Rectangle 4"/>
          <p:cNvSpPr/>
          <p:nvPr/>
        </p:nvSpPr>
        <p:spPr>
          <a:xfrm>
            <a:off x="685800" y="1524000"/>
            <a:ext cx="4371975" cy="4572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238500"/>
            <a:ext cx="4371975" cy="1143000"/>
          </a:xfrm>
          <a:prstGeom prst="rect">
            <a:avLst/>
          </a:prstGeom>
          <a:noFill/>
        </p:spPr>
        <p:txBody>
          <a:bodyPr wrap="square">
            <a:spAutoFit/>
          </a:bodyPr>
          <a:lstStyle/>
          <a:p>
            <a:pPr algn="ctr"/>
            <a:r>
              <a:rPr sz="6000" b="1">
                <a:solidFill>
                  <a:srgbClr val="FFFFFF"/>
                </a:solidFill>
                <a:latin typeface="Noto Sans JP"/>
                <a:ea typeface="Noto Sans JP"/>
                <a:cs typeface="Noto Sans JP"/>
              </a:rPr>
              <a:t>Q&amp;A</a:t>
            </a:r>
          </a:p>
        </p:txBody>
      </p:sp>
      <p:sp>
        <p:nvSpPr>
          <p:cNvPr id="7" name="TextBox 6"/>
          <p:cNvSpPr txBox="1"/>
          <p:nvPr/>
        </p:nvSpPr>
        <p:spPr>
          <a:xfrm>
            <a:off x="5476875" y="1714500"/>
            <a:ext cx="6029325" cy="190500"/>
          </a:xfrm>
          <a:prstGeom prst="rect">
            <a:avLst/>
          </a:prstGeom>
          <a:noFill/>
        </p:spPr>
        <p:txBody>
          <a:bodyPr wrap="square">
            <a:spAutoFit/>
          </a:bodyPr>
          <a:lstStyle/>
          <a:p>
            <a:pPr algn="l"/>
            <a:r>
              <a:rPr sz="825" b="1">
                <a:solidFill>
                  <a:srgbClr val="1565C0"/>
                </a:solidFill>
                <a:latin typeface="Noto Sans JP"/>
                <a:ea typeface="Noto Sans JP"/>
                <a:cs typeface="Noto Sans JP"/>
              </a:rPr>
              <a:t>SESSION INFO</a:t>
            </a:r>
          </a:p>
        </p:txBody>
      </p:sp>
      <p:sp>
        <p:nvSpPr>
          <p:cNvPr id="8" name="Rectangle 7"/>
          <p:cNvSpPr/>
          <p:nvPr/>
        </p:nvSpPr>
        <p:spPr>
          <a:xfrm>
            <a:off x="5476875" y="2076450"/>
            <a:ext cx="57150" cy="571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0225" y="2000250"/>
            <a:ext cx="5743575" cy="457200"/>
          </a:xfrm>
          <a:prstGeom prst="rect">
            <a:avLst/>
          </a:prstGeom>
          <a:noFill/>
        </p:spPr>
        <p:txBody>
          <a:bodyPr wrap="square">
            <a:spAutoFit/>
          </a:bodyPr>
          <a:lstStyle/>
          <a:p>
            <a:pPr algn="l"/>
            <a:r>
              <a:rPr sz="1275" b="0">
                <a:solidFill>
                  <a:srgbClr val="0D1B2A"/>
                </a:solidFill>
                <a:latin typeface="Noto Sans JP"/>
                <a:ea typeface="Noto Sans JP"/>
                <a:cs typeface="Noto Sans JP"/>
              </a:rPr>
              <a:t>質疑応答のお時間は約15分です</a:t>
            </a:r>
          </a:p>
        </p:txBody>
      </p:sp>
      <p:sp>
        <p:nvSpPr>
          <p:cNvPr id="10" name="Rectangle 9"/>
          <p:cNvSpPr/>
          <p:nvPr/>
        </p:nvSpPr>
        <p:spPr>
          <a:xfrm>
            <a:off x="5476875" y="2571750"/>
            <a:ext cx="57150" cy="571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10225" y="2495550"/>
            <a:ext cx="5743575" cy="457200"/>
          </a:xfrm>
          <a:prstGeom prst="rect">
            <a:avLst/>
          </a:prstGeom>
          <a:noFill/>
        </p:spPr>
        <p:txBody>
          <a:bodyPr wrap="square">
            <a:spAutoFit/>
          </a:bodyPr>
          <a:lstStyle/>
          <a:p>
            <a:pPr algn="l"/>
            <a:r>
              <a:rPr sz="1275" b="0">
                <a:solidFill>
                  <a:srgbClr val="0D1B2A"/>
                </a:solidFill>
                <a:latin typeface="Noto Sans JP"/>
                <a:ea typeface="Noto Sans JP"/>
                <a:cs typeface="Noto Sans JP"/>
              </a:rPr>
              <a:t>ご質問はお手元のマイクをご使用ください</a:t>
            </a:r>
          </a:p>
        </p:txBody>
      </p:sp>
      <p:sp>
        <p:nvSpPr>
          <p:cNvPr id="12" name="Rectangle 11"/>
          <p:cNvSpPr/>
          <p:nvPr/>
        </p:nvSpPr>
        <p:spPr>
          <a:xfrm>
            <a:off x="5476875" y="3067050"/>
            <a:ext cx="57150" cy="5715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10225" y="2990850"/>
            <a:ext cx="5743575" cy="457200"/>
          </a:xfrm>
          <a:prstGeom prst="rect">
            <a:avLst/>
          </a:prstGeom>
          <a:noFill/>
        </p:spPr>
        <p:txBody>
          <a:bodyPr wrap="square">
            <a:spAutoFit/>
          </a:bodyPr>
          <a:lstStyle/>
          <a:p>
            <a:pPr algn="l"/>
            <a:r>
              <a:rPr sz="1275" b="0">
                <a:solidFill>
                  <a:srgbClr val="0D1B2A"/>
                </a:solidFill>
                <a:latin typeface="Noto Sans JP"/>
                <a:ea typeface="Noto Sans JP"/>
                <a:cs typeface="Noto Sans JP"/>
              </a:rPr>
              <a:t>後日のフォローアップもお気軽にご連絡ください</a:t>
            </a:r>
          </a:p>
        </p:txBody>
      </p:sp>
      <p:sp>
        <p:nvSpPr>
          <p:cNvPr id="14" name="Rectangle 13"/>
          <p:cNvSpPr/>
          <p:nvPr/>
        </p:nvSpPr>
        <p:spPr>
          <a:xfrm>
            <a:off x="5286375" y="3810000"/>
            <a:ext cx="6219825" cy="2286000"/>
          </a:xfrm>
          <a:prstGeom prst="rect">
            <a:avLst/>
          </a:prstGeom>
          <a:solidFill>
            <a:srgbClr val="D6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76875" y="4000500"/>
            <a:ext cx="5838825" cy="190500"/>
          </a:xfrm>
          <a:prstGeom prst="rect">
            <a:avLst/>
          </a:prstGeom>
          <a:noFill/>
        </p:spPr>
        <p:txBody>
          <a:bodyPr wrap="square">
            <a:spAutoFit/>
          </a:bodyPr>
          <a:lstStyle/>
          <a:p>
            <a:pPr algn="l"/>
            <a:r>
              <a:rPr sz="825" b="1">
                <a:solidFill>
                  <a:srgbClr val="4A5568"/>
                </a:solidFill>
                <a:latin typeface="Noto Sans JP"/>
                <a:ea typeface="Noto Sans JP"/>
                <a:cs typeface="Noto Sans JP"/>
              </a:rPr>
              <a:t>CONTACT</a:t>
            </a:r>
          </a:p>
        </p:txBody>
      </p:sp>
      <p:sp>
        <p:nvSpPr>
          <p:cNvPr id="16" name="TextBox 15"/>
          <p:cNvSpPr txBox="1"/>
          <p:nvPr/>
        </p:nvSpPr>
        <p:spPr>
          <a:xfrm>
            <a:off x="5476875" y="4267200"/>
            <a:ext cx="5838825" cy="304800"/>
          </a:xfrm>
          <a:prstGeom prst="rect">
            <a:avLst/>
          </a:prstGeom>
          <a:noFill/>
        </p:spPr>
        <p:txBody>
          <a:bodyPr wrap="square">
            <a:spAutoFit/>
          </a:bodyPr>
          <a:lstStyle/>
          <a:p>
            <a:pPr algn="l"/>
            <a:r>
              <a:rPr sz="1650" b="1">
                <a:solidFill>
                  <a:srgbClr val="0D1B2A"/>
                </a:solidFill>
                <a:latin typeface="Noto Sans JP"/>
                <a:ea typeface="Noto Sans JP"/>
                <a:cs typeface="Noto Sans JP"/>
              </a:rPr>
              <a:t>田中 誠一郎</a:t>
            </a:r>
          </a:p>
        </p:txBody>
      </p:sp>
      <p:sp>
        <p:nvSpPr>
          <p:cNvPr id="17" name="TextBox 16"/>
          <p:cNvSpPr txBox="1"/>
          <p:nvPr/>
        </p:nvSpPr>
        <p:spPr>
          <a:xfrm>
            <a:off x="5476875" y="4610100"/>
            <a:ext cx="5838825" cy="266700"/>
          </a:xfrm>
          <a:prstGeom prst="rect">
            <a:avLst/>
          </a:prstGeom>
          <a:noFill/>
        </p:spPr>
        <p:txBody>
          <a:bodyPr wrap="square">
            <a:spAutoFit/>
          </a:bodyPr>
          <a:lstStyle/>
          <a:p>
            <a:pPr algn="l"/>
            <a:r>
              <a:rPr sz="1275" b="0">
                <a:solidFill>
                  <a:srgbClr val="4A5568"/>
                </a:solidFill>
                <a:latin typeface="Noto Sans JP"/>
                <a:ea typeface="Noto Sans JP"/>
                <a:cs typeface="Noto Sans JP"/>
              </a:rPr>
              <a:t>株式会社ガレージラボ  ソリューション事業部</a:t>
            </a:r>
          </a:p>
        </p:txBody>
      </p:sp>
      <p:sp>
        <p:nvSpPr>
          <p:cNvPr id="18" name="TextBox 17"/>
          <p:cNvSpPr txBox="1"/>
          <p:nvPr/>
        </p:nvSpPr>
        <p:spPr>
          <a:xfrm>
            <a:off x="5476875" y="4914900"/>
            <a:ext cx="5838825" cy="228600"/>
          </a:xfrm>
          <a:prstGeom prst="rect">
            <a:avLst/>
          </a:prstGeom>
          <a:noFill/>
        </p:spPr>
        <p:txBody>
          <a:bodyPr wrap="square">
            <a:spAutoFit/>
          </a:bodyPr>
          <a:lstStyle/>
          <a:p>
            <a:pPr algn="l"/>
            <a:r>
              <a:rPr sz="1275" b="0">
                <a:solidFill>
                  <a:srgbClr val="1565C0"/>
                </a:solidFill>
                <a:latin typeface="Noto Sans JP"/>
                <a:ea typeface="Noto Sans JP"/>
                <a:cs typeface="Noto Sans JP"/>
              </a:rPr>
              <a:t>✉  s.tanaka@garage-labs.co.jp</a:t>
            </a:r>
          </a:p>
        </p:txBody>
      </p:sp>
      <p:sp>
        <p:nvSpPr>
          <p:cNvPr id="19" name="TextBox 18"/>
          <p:cNvSpPr txBox="1"/>
          <p:nvPr/>
        </p:nvSpPr>
        <p:spPr>
          <a:xfrm>
            <a:off x="5476875" y="5181600"/>
            <a:ext cx="5838825" cy="228600"/>
          </a:xfrm>
          <a:prstGeom prst="rect">
            <a:avLst/>
          </a:prstGeom>
          <a:noFill/>
        </p:spPr>
        <p:txBody>
          <a:bodyPr wrap="square">
            <a:spAutoFit/>
          </a:bodyPr>
          <a:lstStyle/>
          <a:p>
            <a:pPr algn="l"/>
            <a:r>
              <a:rPr sz="1275" b="0">
                <a:solidFill>
                  <a:srgbClr val="4A5568"/>
                </a:solidFill>
                <a:latin typeface="Noto Sans JP"/>
                <a:ea typeface="Noto Sans JP"/>
                <a:cs typeface="Noto Sans JP"/>
              </a:rPr>
              <a:t>LinkedIn: linkedin.com/in/seiichiro-tanaka</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C1F26"/>
                </a:solidFill>
                <a:latin typeface="Noto Sans JP"/>
                <a:ea typeface="Noto Sans JP"/>
                <a:cs typeface="Noto Sans JP"/>
              </a:rPr>
              <a:t>👤 プロフィール</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95F6B"/>
                </a:solidFill>
                <a:latin typeface="Noto Sans JP"/>
                <a:ea typeface="Noto Sans JP"/>
                <a:cs typeface="Noto Sans JP"/>
              </a:rPr>
              <a:t>modern-tech　·　4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71 / 98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出典：2026年度 社内プロフィールデータベース</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72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事業開発をリードするプロダクトマネージャーのご紹介</a:t>
            </a:r>
          </a:p>
        </p:txBody>
      </p:sp>
      <p:sp>
        <p:nvSpPr>
          <p:cNvPr id="5" name="Rounded Rectangle 4"/>
          <p:cNvSpPr/>
          <p:nvPr/>
        </p:nvSpPr>
        <p:spPr>
          <a:xfrm>
            <a:off x="685800" y="1524000"/>
            <a:ext cx="3457575" cy="4572000"/>
          </a:xfrm>
          <a:prstGeom prst="roundRect">
            <a:avLst>
              <a:gd name="adj" fmla="val 10000"/>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714750"/>
            <a:ext cx="3457575"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7" name="TextBox 6"/>
          <p:cNvSpPr txBox="1"/>
          <p:nvPr/>
        </p:nvSpPr>
        <p:spPr>
          <a:xfrm>
            <a:off x="4371975" y="1600200"/>
            <a:ext cx="7134225" cy="190500"/>
          </a:xfrm>
          <a:prstGeom prst="rect">
            <a:avLst/>
          </a:prstGeom>
          <a:noFill/>
        </p:spPr>
        <p:txBody>
          <a:bodyPr wrap="square">
            <a:spAutoFit/>
          </a:bodyPr>
          <a:lstStyle/>
          <a:p>
            <a:pPr algn="l"/>
            <a:r>
              <a:rPr sz="975" b="0">
                <a:solidFill>
                  <a:srgbClr val="595F6B"/>
                </a:solidFill>
                <a:latin typeface="Noto Sans JP"/>
                <a:ea typeface="Noto Sans JP"/>
                <a:cs typeface="Noto Sans JP"/>
              </a:rPr>
              <a:t>サトウ ケンタ</a:t>
            </a:r>
          </a:p>
        </p:txBody>
      </p:sp>
      <p:sp>
        <p:nvSpPr>
          <p:cNvPr id="8" name="TextBox 7"/>
          <p:cNvSpPr txBox="1"/>
          <p:nvPr/>
        </p:nvSpPr>
        <p:spPr>
          <a:xfrm>
            <a:off x="4371975" y="1809750"/>
            <a:ext cx="7134225" cy="342900"/>
          </a:xfrm>
          <a:prstGeom prst="rect">
            <a:avLst/>
          </a:prstGeom>
          <a:noFill/>
        </p:spPr>
        <p:txBody>
          <a:bodyPr wrap="square">
            <a:spAutoFit/>
          </a:bodyPr>
          <a:lstStyle/>
          <a:p>
            <a:pPr algn="l"/>
            <a:r>
              <a:rPr sz="3000" b="1">
                <a:solidFill>
                  <a:srgbClr val="1C1F26"/>
                </a:solidFill>
                <a:latin typeface="Noto Sans JP"/>
                <a:ea typeface="Noto Sans JP"/>
                <a:cs typeface="Noto Sans JP"/>
              </a:rPr>
              <a:t>佐藤 健太</a:t>
            </a:r>
          </a:p>
        </p:txBody>
      </p:sp>
      <p:sp>
        <p:nvSpPr>
          <p:cNvPr id="9" name="TextBox 8"/>
          <p:cNvSpPr txBox="1"/>
          <p:nvPr/>
        </p:nvSpPr>
        <p:spPr>
          <a:xfrm>
            <a:off x="4371975" y="2171700"/>
            <a:ext cx="7134225" cy="228600"/>
          </a:xfrm>
          <a:prstGeom prst="rect">
            <a:avLst/>
          </a:prstGeom>
          <a:noFill/>
        </p:spPr>
        <p:txBody>
          <a:bodyPr wrap="square">
            <a:spAutoFit/>
          </a:bodyPr>
          <a:lstStyle/>
          <a:p>
            <a:pPr algn="l"/>
            <a:r>
              <a:rPr sz="1350" b="0">
                <a:solidFill>
                  <a:srgbClr val="6C63FF"/>
                </a:solidFill>
                <a:latin typeface="Noto Sans JP"/>
                <a:ea typeface="Noto Sans JP"/>
                <a:cs typeface="Noto Sans JP"/>
              </a:rPr>
              <a:t>株式会社ガレージラボ　プロダクト戦略室　シニアPM</a:t>
            </a:r>
          </a:p>
        </p:txBody>
      </p:sp>
      <p:sp>
        <p:nvSpPr>
          <p:cNvPr id="10" name="Rectangle 9"/>
          <p:cNvSpPr/>
          <p:nvPr/>
        </p:nvSpPr>
        <p:spPr>
          <a:xfrm>
            <a:off x="4371975" y="2514600"/>
            <a:ext cx="7134225" cy="6667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1975" y="3171825"/>
            <a:ext cx="7134225" cy="9525"/>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4375" y="2590800"/>
            <a:ext cx="1143000" cy="514350"/>
          </a:xfrm>
          <a:prstGeom prst="rect">
            <a:avLst/>
          </a:prstGeom>
          <a:noFill/>
        </p:spPr>
        <p:txBody>
          <a:bodyPr wrap="square">
            <a:spAutoFit/>
          </a:bodyPr>
          <a:lstStyle/>
          <a:p>
            <a:pPr algn="l"/>
            <a:r>
              <a:rPr sz="975" b="1">
                <a:solidFill>
                  <a:srgbClr val="6C63FF"/>
                </a:solidFill>
                <a:latin typeface="Noto Sans JP"/>
                <a:ea typeface="Noto Sans JP"/>
                <a:cs typeface="Noto Sans JP"/>
              </a:rPr>
              <a:t>出身地</a:t>
            </a:r>
          </a:p>
        </p:txBody>
      </p:sp>
      <p:sp>
        <p:nvSpPr>
          <p:cNvPr id="13" name="TextBox 12"/>
          <p:cNvSpPr txBox="1"/>
          <p:nvPr/>
        </p:nvSpPr>
        <p:spPr>
          <a:xfrm>
            <a:off x="5743575" y="2590800"/>
            <a:ext cx="5610225" cy="514350"/>
          </a:xfrm>
          <a:prstGeom prst="rect">
            <a:avLst/>
          </a:prstGeom>
          <a:noFill/>
        </p:spPr>
        <p:txBody>
          <a:bodyPr wrap="square">
            <a:spAutoFit/>
          </a:bodyPr>
          <a:lstStyle/>
          <a:p>
            <a:pPr algn="l"/>
            <a:r>
              <a:rPr sz="1350" b="0">
                <a:solidFill>
                  <a:srgbClr val="1C1F26"/>
                </a:solidFill>
                <a:latin typeface="Noto Sans JP"/>
                <a:ea typeface="Noto Sans JP"/>
                <a:cs typeface="Noto Sans JP"/>
              </a:rPr>
              <a:t>東京都渋谷区</a:t>
            </a:r>
          </a:p>
        </p:txBody>
      </p:sp>
      <p:sp>
        <p:nvSpPr>
          <p:cNvPr id="14" name="Rectangle 13"/>
          <p:cNvSpPr/>
          <p:nvPr/>
        </p:nvSpPr>
        <p:spPr>
          <a:xfrm>
            <a:off x="4371975" y="3181350"/>
            <a:ext cx="7134225" cy="6667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1975" y="3838575"/>
            <a:ext cx="7134225" cy="9525"/>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4375" y="3257550"/>
            <a:ext cx="1143000" cy="514350"/>
          </a:xfrm>
          <a:prstGeom prst="rect">
            <a:avLst/>
          </a:prstGeom>
          <a:noFill/>
        </p:spPr>
        <p:txBody>
          <a:bodyPr wrap="square">
            <a:spAutoFit/>
          </a:bodyPr>
          <a:lstStyle/>
          <a:p>
            <a:pPr algn="l"/>
            <a:r>
              <a:rPr sz="975" b="1">
                <a:solidFill>
                  <a:srgbClr val="6C63FF"/>
                </a:solidFill>
                <a:latin typeface="Noto Sans JP"/>
                <a:ea typeface="Noto Sans JP"/>
                <a:cs typeface="Noto Sans JP"/>
              </a:rPr>
              <a:t>最終学歴</a:t>
            </a:r>
          </a:p>
        </p:txBody>
      </p:sp>
      <p:sp>
        <p:nvSpPr>
          <p:cNvPr id="17" name="TextBox 16"/>
          <p:cNvSpPr txBox="1"/>
          <p:nvPr/>
        </p:nvSpPr>
        <p:spPr>
          <a:xfrm>
            <a:off x="5743575" y="3257550"/>
            <a:ext cx="5610225" cy="514350"/>
          </a:xfrm>
          <a:prstGeom prst="rect">
            <a:avLst/>
          </a:prstGeom>
          <a:noFill/>
        </p:spPr>
        <p:txBody>
          <a:bodyPr wrap="square">
            <a:spAutoFit/>
          </a:bodyPr>
          <a:lstStyle/>
          <a:p>
            <a:pPr algn="l"/>
            <a:r>
              <a:rPr sz="1350" b="0">
                <a:solidFill>
                  <a:srgbClr val="1C1F26"/>
                </a:solidFill>
                <a:latin typeface="Noto Sans JP"/>
                <a:ea typeface="Noto Sans JP"/>
                <a:cs typeface="Noto Sans JP"/>
              </a:rPr>
              <a:t>東京大学大学院　情報理工学系研究科修了（2014年）</a:t>
            </a:r>
          </a:p>
        </p:txBody>
      </p:sp>
      <p:sp>
        <p:nvSpPr>
          <p:cNvPr id="18" name="Rectangle 17"/>
          <p:cNvSpPr/>
          <p:nvPr/>
        </p:nvSpPr>
        <p:spPr>
          <a:xfrm>
            <a:off x="4371975" y="3848100"/>
            <a:ext cx="7134225" cy="6667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1975" y="4505325"/>
            <a:ext cx="7134225" cy="9525"/>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4375" y="3924300"/>
            <a:ext cx="1143000" cy="514350"/>
          </a:xfrm>
          <a:prstGeom prst="rect">
            <a:avLst/>
          </a:prstGeom>
          <a:noFill/>
        </p:spPr>
        <p:txBody>
          <a:bodyPr wrap="square">
            <a:spAutoFit/>
          </a:bodyPr>
          <a:lstStyle/>
          <a:p>
            <a:pPr algn="l"/>
            <a:r>
              <a:rPr sz="975" b="1">
                <a:solidFill>
                  <a:srgbClr val="6C63FF"/>
                </a:solidFill>
                <a:latin typeface="Noto Sans JP"/>
                <a:ea typeface="Noto Sans JP"/>
                <a:cs typeface="Noto Sans JP"/>
              </a:rPr>
              <a:t>前職</a:t>
            </a:r>
          </a:p>
        </p:txBody>
      </p:sp>
      <p:sp>
        <p:nvSpPr>
          <p:cNvPr id="21" name="TextBox 20"/>
          <p:cNvSpPr txBox="1"/>
          <p:nvPr/>
        </p:nvSpPr>
        <p:spPr>
          <a:xfrm>
            <a:off x="5743575" y="3924300"/>
            <a:ext cx="5610225" cy="514350"/>
          </a:xfrm>
          <a:prstGeom prst="rect">
            <a:avLst/>
          </a:prstGeom>
          <a:noFill/>
        </p:spPr>
        <p:txBody>
          <a:bodyPr wrap="square">
            <a:spAutoFit/>
          </a:bodyPr>
          <a:lstStyle/>
          <a:p>
            <a:pPr algn="l"/>
            <a:r>
              <a:rPr sz="1350" b="0">
                <a:solidFill>
                  <a:srgbClr val="1C1F26"/>
                </a:solidFill>
                <a:latin typeface="Noto Sans JP"/>
                <a:ea typeface="Noto Sans JP"/>
                <a:cs typeface="Noto Sans JP"/>
              </a:rPr>
              <a:t>楽天株式会社　ECプラットフォーム事業部　プロダクトリード（2014〜2019年）</a:t>
            </a:r>
          </a:p>
        </p:txBody>
      </p:sp>
      <p:sp>
        <p:nvSpPr>
          <p:cNvPr id="22" name="Rectangle 21"/>
          <p:cNvSpPr/>
          <p:nvPr/>
        </p:nvSpPr>
        <p:spPr>
          <a:xfrm>
            <a:off x="4371975" y="4514850"/>
            <a:ext cx="7134225" cy="6667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1975" y="5172075"/>
            <a:ext cx="7134225" cy="9525"/>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4375" y="4591050"/>
            <a:ext cx="1143000" cy="514350"/>
          </a:xfrm>
          <a:prstGeom prst="rect">
            <a:avLst/>
          </a:prstGeom>
          <a:noFill/>
        </p:spPr>
        <p:txBody>
          <a:bodyPr wrap="square">
            <a:spAutoFit/>
          </a:bodyPr>
          <a:lstStyle/>
          <a:p>
            <a:pPr algn="l"/>
            <a:r>
              <a:rPr sz="975" b="1">
                <a:solidFill>
                  <a:srgbClr val="6C63FF"/>
                </a:solidFill>
                <a:latin typeface="Noto Sans JP"/>
                <a:ea typeface="Noto Sans JP"/>
                <a:cs typeface="Noto Sans JP"/>
              </a:rPr>
              <a:t>現職</a:t>
            </a:r>
          </a:p>
        </p:txBody>
      </p:sp>
      <p:sp>
        <p:nvSpPr>
          <p:cNvPr id="25" name="TextBox 24"/>
          <p:cNvSpPr txBox="1"/>
          <p:nvPr/>
        </p:nvSpPr>
        <p:spPr>
          <a:xfrm>
            <a:off x="5743575" y="4591050"/>
            <a:ext cx="5610225" cy="514350"/>
          </a:xfrm>
          <a:prstGeom prst="rect">
            <a:avLst/>
          </a:prstGeom>
          <a:noFill/>
        </p:spPr>
        <p:txBody>
          <a:bodyPr wrap="square">
            <a:spAutoFit/>
          </a:bodyPr>
          <a:lstStyle/>
          <a:p>
            <a:pPr algn="l"/>
            <a:r>
              <a:rPr sz="1350" b="0">
                <a:solidFill>
                  <a:srgbClr val="1C1F26"/>
                </a:solidFill>
                <a:latin typeface="Noto Sans JP"/>
                <a:ea typeface="Noto Sans JP"/>
                <a:cs typeface="Noto Sans JP"/>
              </a:rPr>
              <a:t>株式会社ガレージラボ　プロダクト戦略室（2019年〜現在）</a:t>
            </a:r>
          </a:p>
        </p:txBody>
      </p:sp>
      <p:sp>
        <p:nvSpPr>
          <p:cNvPr id="26" name="Rectangle 25"/>
          <p:cNvSpPr/>
          <p:nvPr/>
        </p:nvSpPr>
        <p:spPr>
          <a:xfrm>
            <a:off x="4371975" y="5181600"/>
            <a:ext cx="7134225" cy="66675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4375" y="5257800"/>
            <a:ext cx="1143000" cy="514350"/>
          </a:xfrm>
          <a:prstGeom prst="rect">
            <a:avLst/>
          </a:prstGeom>
          <a:noFill/>
        </p:spPr>
        <p:txBody>
          <a:bodyPr wrap="square">
            <a:spAutoFit/>
          </a:bodyPr>
          <a:lstStyle/>
          <a:p>
            <a:pPr algn="l"/>
            <a:r>
              <a:rPr sz="975" b="1">
                <a:solidFill>
                  <a:srgbClr val="6C63FF"/>
                </a:solidFill>
                <a:latin typeface="Noto Sans JP"/>
                <a:ea typeface="Noto Sans JP"/>
                <a:cs typeface="Noto Sans JP"/>
              </a:rPr>
              <a:t>専門領域</a:t>
            </a:r>
          </a:p>
        </p:txBody>
      </p:sp>
      <p:sp>
        <p:nvSpPr>
          <p:cNvPr id="28" name="TextBox 27"/>
          <p:cNvSpPr txBox="1"/>
          <p:nvPr/>
        </p:nvSpPr>
        <p:spPr>
          <a:xfrm>
            <a:off x="5743575" y="5257800"/>
            <a:ext cx="5610225" cy="514350"/>
          </a:xfrm>
          <a:prstGeom prst="rect">
            <a:avLst/>
          </a:prstGeom>
          <a:noFill/>
        </p:spPr>
        <p:txBody>
          <a:bodyPr wrap="square">
            <a:spAutoFit/>
          </a:bodyPr>
          <a:lstStyle/>
          <a:p>
            <a:pPr algn="l"/>
            <a:r>
              <a:rPr sz="1350" b="0">
                <a:solidFill>
                  <a:srgbClr val="1C1F26"/>
                </a:solidFill>
                <a:latin typeface="Noto Sans JP"/>
                <a:ea typeface="Noto Sans JP"/>
                <a:cs typeface="Noto Sans JP"/>
              </a:rPr>
              <a:t>AIプロダクト設計・ユーザーリサーチ・グロースハック</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出典：プロジェクト体制表 rev.3（2026年6月）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73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プロダクト開発チームの3名がプロジェクトを推進します</a:t>
            </a:r>
          </a:p>
        </p:txBody>
      </p:sp>
      <p:sp>
        <p:nvSpPr>
          <p:cNvPr id="5" name="Rectangle 4"/>
          <p:cNvSpPr/>
          <p:nvPr/>
        </p:nvSpPr>
        <p:spPr>
          <a:xfrm>
            <a:off x="685800" y="1524000"/>
            <a:ext cx="3457575" cy="4572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524000"/>
            <a:ext cx="3457575" cy="2286000"/>
          </a:xfrm>
          <a:prstGeom prst="rect">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571750"/>
            <a:ext cx="3457575"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8" name="TextBox 7"/>
          <p:cNvSpPr txBox="1"/>
          <p:nvPr/>
        </p:nvSpPr>
        <p:spPr>
          <a:xfrm>
            <a:off x="838200" y="3924300"/>
            <a:ext cx="3152775" cy="419100"/>
          </a:xfrm>
          <a:prstGeom prst="rect">
            <a:avLst/>
          </a:prstGeom>
          <a:noFill/>
        </p:spPr>
        <p:txBody>
          <a:bodyPr wrap="square">
            <a:spAutoFit/>
          </a:bodyPr>
          <a:lstStyle/>
          <a:p>
            <a:pPr algn="l"/>
            <a:r>
              <a:rPr sz="1950" b="1">
                <a:solidFill>
                  <a:srgbClr val="1C1F26"/>
                </a:solidFill>
                <a:latin typeface="Noto Sans JP"/>
                <a:ea typeface="Noto Sans JP"/>
                <a:cs typeface="Noto Sans JP"/>
              </a:rPr>
              <a:t>山本 彩花</a:t>
            </a:r>
          </a:p>
        </p:txBody>
      </p:sp>
      <p:sp>
        <p:nvSpPr>
          <p:cNvPr id="9" name="TextBox 8"/>
          <p:cNvSpPr txBox="1"/>
          <p:nvPr/>
        </p:nvSpPr>
        <p:spPr>
          <a:xfrm>
            <a:off x="838200" y="4343400"/>
            <a:ext cx="3152775" cy="171450"/>
          </a:xfrm>
          <a:prstGeom prst="rect">
            <a:avLst/>
          </a:prstGeom>
          <a:noFill/>
        </p:spPr>
        <p:txBody>
          <a:bodyPr wrap="square">
            <a:spAutoFit/>
          </a:bodyPr>
          <a:lstStyle/>
          <a:p>
            <a:pPr algn="l"/>
            <a:r>
              <a:rPr sz="975" b="0">
                <a:solidFill>
                  <a:srgbClr val="595F6B"/>
                </a:solidFill>
                <a:latin typeface="Noto Sans JP"/>
                <a:ea typeface="Noto Sans JP"/>
                <a:cs typeface="Noto Sans JP"/>
              </a:rPr>
              <a:t>ヤマモト アヤカ</a:t>
            </a:r>
          </a:p>
        </p:txBody>
      </p:sp>
      <p:sp>
        <p:nvSpPr>
          <p:cNvPr id="10" name="TextBox 9"/>
          <p:cNvSpPr txBox="1"/>
          <p:nvPr/>
        </p:nvSpPr>
        <p:spPr>
          <a:xfrm>
            <a:off x="838200" y="4533900"/>
            <a:ext cx="3152775" cy="457200"/>
          </a:xfrm>
          <a:prstGeom prst="rect">
            <a:avLst/>
          </a:prstGeom>
          <a:noFill/>
        </p:spPr>
        <p:txBody>
          <a:bodyPr wrap="square">
            <a:spAutoFit/>
          </a:bodyPr>
          <a:lstStyle/>
          <a:p>
            <a:pPr algn="l"/>
            <a:r>
              <a:rPr sz="975" b="1">
                <a:solidFill>
                  <a:srgbClr val="6C63FF"/>
                </a:solidFill>
                <a:latin typeface="Noto Sans JP"/>
                <a:ea typeface="Noto Sans JP"/>
                <a:cs typeface="Noto Sans JP"/>
              </a:rPr>
              <a:t>プロダクトデザイナー</a:t>
            </a:r>
          </a:p>
        </p:txBody>
      </p:sp>
      <p:sp>
        <p:nvSpPr>
          <p:cNvPr id="11" name="TextBox 10"/>
          <p:cNvSpPr txBox="1"/>
          <p:nvPr/>
        </p:nvSpPr>
        <p:spPr>
          <a:xfrm>
            <a:off x="838200" y="5029200"/>
            <a:ext cx="3152775" cy="990600"/>
          </a:xfrm>
          <a:prstGeom prst="rect">
            <a:avLst/>
          </a:prstGeom>
          <a:noFill/>
        </p:spPr>
        <p:txBody>
          <a:bodyPr wrap="square">
            <a:spAutoFit/>
          </a:bodyPr>
          <a:lstStyle/>
          <a:p>
            <a:pPr algn="l"/>
            <a:r>
              <a:rPr sz="975" b="0">
                <a:solidFill>
                  <a:srgbClr val="595F6B"/>
                </a:solidFill>
                <a:latin typeface="Noto Sans JP"/>
                <a:ea typeface="Noto Sans JP"/>
                <a:cs typeface="Noto Sans JP"/>
              </a:rPr>
              <a:t>UX調査・プロトタイピング・デザインシステム構築を担当</a:t>
            </a:r>
          </a:p>
        </p:txBody>
      </p:sp>
      <p:sp>
        <p:nvSpPr>
          <p:cNvPr id="12" name="Rectangle 11"/>
          <p:cNvSpPr/>
          <p:nvPr/>
        </p:nvSpPr>
        <p:spPr>
          <a:xfrm>
            <a:off x="4371975" y="1524000"/>
            <a:ext cx="3457575" cy="4572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71975" y="1524000"/>
            <a:ext cx="3457575" cy="2286000"/>
          </a:xfrm>
          <a:prstGeom prst="rect">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1975" y="2571750"/>
            <a:ext cx="3457575"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15" name="TextBox 14"/>
          <p:cNvSpPr txBox="1"/>
          <p:nvPr/>
        </p:nvSpPr>
        <p:spPr>
          <a:xfrm>
            <a:off x="4524375" y="3924300"/>
            <a:ext cx="3152775" cy="419100"/>
          </a:xfrm>
          <a:prstGeom prst="rect">
            <a:avLst/>
          </a:prstGeom>
          <a:noFill/>
        </p:spPr>
        <p:txBody>
          <a:bodyPr wrap="square">
            <a:spAutoFit/>
          </a:bodyPr>
          <a:lstStyle/>
          <a:p>
            <a:pPr algn="l"/>
            <a:r>
              <a:rPr sz="1950" b="1">
                <a:solidFill>
                  <a:srgbClr val="1C1F26"/>
                </a:solidFill>
                <a:latin typeface="Noto Sans JP"/>
                <a:ea typeface="Noto Sans JP"/>
                <a:cs typeface="Noto Sans JP"/>
              </a:rPr>
              <a:t>中田 龍之介</a:t>
            </a:r>
          </a:p>
        </p:txBody>
      </p:sp>
      <p:sp>
        <p:nvSpPr>
          <p:cNvPr id="16" name="TextBox 15"/>
          <p:cNvSpPr txBox="1"/>
          <p:nvPr/>
        </p:nvSpPr>
        <p:spPr>
          <a:xfrm>
            <a:off x="4524375" y="4343400"/>
            <a:ext cx="3152775" cy="171450"/>
          </a:xfrm>
          <a:prstGeom prst="rect">
            <a:avLst/>
          </a:prstGeom>
          <a:noFill/>
        </p:spPr>
        <p:txBody>
          <a:bodyPr wrap="square">
            <a:spAutoFit/>
          </a:bodyPr>
          <a:lstStyle/>
          <a:p>
            <a:pPr algn="l"/>
            <a:r>
              <a:rPr sz="975" b="0">
                <a:solidFill>
                  <a:srgbClr val="595F6B"/>
                </a:solidFill>
                <a:latin typeface="Noto Sans JP"/>
                <a:ea typeface="Noto Sans JP"/>
                <a:cs typeface="Noto Sans JP"/>
              </a:rPr>
              <a:t>ナカタ リュウノスケ</a:t>
            </a:r>
          </a:p>
        </p:txBody>
      </p:sp>
      <p:sp>
        <p:nvSpPr>
          <p:cNvPr id="17" name="TextBox 16"/>
          <p:cNvSpPr txBox="1"/>
          <p:nvPr/>
        </p:nvSpPr>
        <p:spPr>
          <a:xfrm>
            <a:off x="4524375" y="4533900"/>
            <a:ext cx="3152775" cy="457200"/>
          </a:xfrm>
          <a:prstGeom prst="rect">
            <a:avLst/>
          </a:prstGeom>
          <a:noFill/>
        </p:spPr>
        <p:txBody>
          <a:bodyPr wrap="square">
            <a:spAutoFit/>
          </a:bodyPr>
          <a:lstStyle/>
          <a:p>
            <a:pPr algn="l"/>
            <a:r>
              <a:rPr sz="975" b="1">
                <a:solidFill>
                  <a:srgbClr val="6C63FF"/>
                </a:solidFill>
                <a:latin typeface="Noto Sans JP"/>
                <a:ea typeface="Noto Sans JP"/>
                <a:cs typeface="Noto Sans JP"/>
              </a:rPr>
              <a:t>バックエンドエンジニア</a:t>
            </a:r>
          </a:p>
        </p:txBody>
      </p:sp>
      <p:sp>
        <p:nvSpPr>
          <p:cNvPr id="18" name="TextBox 17"/>
          <p:cNvSpPr txBox="1"/>
          <p:nvPr/>
        </p:nvSpPr>
        <p:spPr>
          <a:xfrm>
            <a:off x="4524375" y="5029200"/>
            <a:ext cx="3152775" cy="990600"/>
          </a:xfrm>
          <a:prstGeom prst="rect">
            <a:avLst/>
          </a:prstGeom>
          <a:noFill/>
        </p:spPr>
        <p:txBody>
          <a:bodyPr wrap="square">
            <a:spAutoFit/>
          </a:bodyPr>
          <a:lstStyle/>
          <a:p>
            <a:pPr algn="l"/>
            <a:r>
              <a:rPr sz="975" b="0">
                <a:solidFill>
                  <a:srgbClr val="595F6B"/>
                </a:solidFill>
                <a:latin typeface="Noto Sans JP"/>
                <a:ea typeface="Noto Sans JP"/>
                <a:cs typeface="Noto Sans JP"/>
              </a:rPr>
              <a:t>API設計・インフラ構築・AI推論エンジン連携を担当</a:t>
            </a:r>
          </a:p>
        </p:txBody>
      </p:sp>
      <p:sp>
        <p:nvSpPr>
          <p:cNvPr id="19" name="Rectangle 18"/>
          <p:cNvSpPr/>
          <p:nvPr/>
        </p:nvSpPr>
        <p:spPr>
          <a:xfrm>
            <a:off x="8048625" y="1524000"/>
            <a:ext cx="3457575" cy="4572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8625" y="1524000"/>
            <a:ext cx="3457575" cy="2286000"/>
          </a:xfrm>
          <a:prstGeom prst="rect">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2571750"/>
            <a:ext cx="3457575"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22" name="TextBox 21"/>
          <p:cNvSpPr txBox="1"/>
          <p:nvPr/>
        </p:nvSpPr>
        <p:spPr>
          <a:xfrm>
            <a:off x="8201025" y="3924300"/>
            <a:ext cx="3152775" cy="419100"/>
          </a:xfrm>
          <a:prstGeom prst="rect">
            <a:avLst/>
          </a:prstGeom>
          <a:noFill/>
        </p:spPr>
        <p:txBody>
          <a:bodyPr wrap="square">
            <a:spAutoFit/>
          </a:bodyPr>
          <a:lstStyle/>
          <a:p>
            <a:pPr algn="l"/>
            <a:r>
              <a:rPr sz="1950" b="1">
                <a:solidFill>
                  <a:srgbClr val="1C1F26"/>
                </a:solidFill>
                <a:latin typeface="Noto Sans JP"/>
                <a:ea typeface="Noto Sans JP"/>
                <a:cs typeface="Noto Sans JP"/>
              </a:rPr>
              <a:t>鈴木 麻里</a:t>
            </a:r>
          </a:p>
        </p:txBody>
      </p:sp>
      <p:sp>
        <p:nvSpPr>
          <p:cNvPr id="23" name="TextBox 22"/>
          <p:cNvSpPr txBox="1"/>
          <p:nvPr/>
        </p:nvSpPr>
        <p:spPr>
          <a:xfrm>
            <a:off x="8201025" y="4343400"/>
            <a:ext cx="3152775" cy="171450"/>
          </a:xfrm>
          <a:prstGeom prst="rect">
            <a:avLst/>
          </a:prstGeom>
          <a:noFill/>
        </p:spPr>
        <p:txBody>
          <a:bodyPr wrap="square">
            <a:spAutoFit/>
          </a:bodyPr>
          <a:lstStyle/>
          <a:p>
            <a:pPr algn="l"/>
            <a:r>
              <a:rPr sz="975" b="0">
                <a:solidFill>
                  <a:srgbClr val="595F6B"/>
                </a:solidFill>
                <a:latin typeface="Noto Sans JP"/>
                <a:ea typeface="Noto Sans JP"/>
                <a:cs typeface="Noto Sans JP"/>
              </a:rPr>
              <a:t>スズキ マリ</a:t>
            </a:r>
          </a:p>
        </p:txBody>
      </p:sp>
      <p:sp>
        <p:nvSpPr>
          <p:cNvPr id="24" name="TextBox 23"/>
          <p:cNvSpPr txBox="1"/>
          <p:nvPr/>
        </p:nvSpPr>
        <p:spPr>
          <a:xfrm>
            <a:off x="8201025" y="4533900"/>
            <a:ext cx="3152775" cy="457200"/>
          </a:xfrm>
          <a:prstGeom prst="rect">
            <a:avLst/>
          </a:prstGeom>
          <a:noFill/>
        </p:spPr>
        <p:txBody>
          <a:bodyPr wrap="square">
            <a:spAutoFit/>
          </a:bodyPr>
          <a:lstStyle/>
          <a:p>
            <a:pPr algn="l"/>
            <a:r>
              <a:rPr sz="975" b="1">
                <a:solidFill>
                  <a:srgbClr val="6C63FF"/>
                </a:solidFill>
                <a:latin typeface="Noto Sans JP"/>
                <a:ea typeface="Noto Sans JP"/>
                <a:cs typeface="Noto Sans JP"/>
              </a:rPr>
              <a:t>データサイエンティスト</a:t>
            </a:r>
          </a:p>
        </p:txBody>
      </p:sp>
      <p:sp>
        <p:nvSpPr>
          <p:cNvPr id="25" name="TextBox 24"/>
          <p:cNvSpPr txBox="1"/>
          <p:nvPr/>
        </p:nvSpPr>
        <p:spPr>
          <a:xfrm>
            <a:off x="8201025" y="5029200"/>
            <a:ext cx="3152775" cy="990600"/>
          </a:xfrm>
          <a:prstGeom prst="rect">
            <a:avLst/>
          </a:prstGeom>
          <a:noFill/>
        </p:spPr>
        <p:txBody>
          <a:bodyPr wrap="square">
            <a:spAutoFit/>
          </a:bodyPr>
          <a:lstStyle/>
          <a:p>
            <a:pPr algn="l"/>
            <a:r>
              <a:rPr sz="975" b="0">
                <a:solidFill>
                  <a:srgbClr val="595F6B"/>
                </a:solidFill>
                <a:latin typeface="Noto Sans JP"/>
                <a:ea typeface="Noto Sans JP"/>
                <a:cs typeface="Noto Sans JP"/>
              </a:rPr>
              <a:t>機械学習モデル評価・実験設計・KPIモニタリングを担当</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出典：プロダクト改善事例レポート 2026年Q1</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74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775" b="1">
                <a:solidFill>
                  <a:srgbClr val="1C1F26"/>
                </a:solidFill>
                <a:latin typeface="Noto Sans JP"/>
                <a:ea typeface="Noto Sans JP"/>
                <a:cs typeface="Noto Sans JP"/>
              </a:rPr>
              <a:t>現場担当者が課題発見から改善実装まで3フェーズで取り組みました</a:t>
            </a:r>
          </a:p>
        </p:txBody>
      </p:sp>
      <p:sp>
        <p:nvSpPr>
          <p:cNvPr id="5" name="Rectangle 4"/>
          <p:cNvSpPr/>
          <p:nvPr/>
        </p:nvSpPr>
        <p:spPr>
          <a:xfrm>
            <a:off x="1019175" y="2286000"/>
            <a:ext cx="19050" cy="30480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6300" y="2133600"/>
            <a:ext cx="304800" cy="3048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6300" y="2190750"/>
            <a:ext cx="304800" cy="190500"/>
          </a:xfrm>
          <a:prstGeom prst="rect">
            <a:avLst/>
          </a:prstGeom>
          <a:noFill/>
        </p:spPr>
        <p:txBody>
          <a:bodyPr wrap="square">
            <a:spAutoFit/>
          </a:bodyPr>
          <a:lstStyle/>
          <a:p>
            <a:pPr algn="ctr"/>
            <a:r>
              <a:rPr sz="975" b="1">
                <a:solidFill>
                  <a:srgbClr val="FFFFFF"/>
                </a:solidFill>
                <a:latin typeface="Noto Sans JP"/>
                <a:ea typeface="Noto Sans JP"/>
                <a:cs typeface="Noto Sans JP"/>
              </a:rPr>
              <a:t>1</a:t>
            </a:r>
          </a:p>
        </p:txBody>
      </p:sp>
      <p:sp>
        <p:nvSpPr>
          <p:cNvPr id="8" name="Rectangle 7"/>
          <p:cNvSpPr/>
          <p:nvPr/>
        </p:nvSpPr>
        <p:spPr>
          <a:xfrm>
            <a:off x="1609725" y="3038475"/>
            <a:ext cx="7134225"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38325" y="1676400"/>
            <a:ext cx="6753225" cy="342900"/>
          </a:xfrm>
          <a:prstGeom prst="rect">
            <a:avLst/>
          </a:prstGeom>
          <a:noFill/>
        </p:spPr>
        <p:txBody>
          <a:bodyPr wrap="square">
            <a:spAutoFit/>
          </a:bodyPr>
          <a:lstStyle/>
          <a:p>
            <a:pPr algn="l"/>
            <a:r>
              <a:rPr sz="1950" b="1">
                <a:solidFill>
                  <a:srgbClr val="1C1F26"/>
                </a:solidFill>
                <a:latin typeface="Noto Sans JP"/>
                <a:ea typeface="Noto Sans JP"/>
                <a:cs typeface="Noto Sans JP"/>
              </a:rPr>
              <a:t>課題の発見と優先順位づけ</a:t>
            </a:r>
          </a:p>
        </p:txBody>
      </p:sp>
      <p:sp>
        <p:nvSpPr>
          <p:cNvPr id="10" name="TextBox 9"/>
          <p:cNvSpPr txBox="1"/>
          <p:nvPr/>
        </p:nvSpPr>
        <p:spPr>
          <a:xfrm>
            <a:off x="1838325" y="2038350"/>
            <a:ext cx="6753225" cy="914400"/>
          </a:xfrm>
          <a:prstGeom prst="rect">
            <a:avLst/>
          </a:prstGeom>
          <a:noFill/>
        </p:spPr>
        <p:txBody>
          <a:bodyPr wrap="square">
            <a:spAutoFit/>
          </a:bodyPr>
          <a:lstStyle/>
          <a:p>
            <a:pPr algn="l"/>
            <a:r>
              <a:rPr sz="1350" b="0">
                <a:solidFill>
                  <a:srgbClr val="595F6B"/>
                </a:solidFill>
                <a:latin typeface="Noto Sans JP"/>
                <a:ea typeface="Noto Sans JP"/>
                <a:cs typeface="Noto Sans JP"/>
              </a:rPr>
              <a:t>月次ユーザーインタビュー12件を実施し、離脱ポイントとなっていた検索フローの複雑性を特定。影響ユーザー数と改善難易度の2軸でバックログを整理し、最優先施策を決定しました。</a:t>
            </a:r>
          </a:p>
        </p:txBody>
      </p:sp>
      <p:sp>
        <p:nvSpPr>
          <p:cNvPr id="11" name="Oval 10"/>
          <p:cNvSpPr/>
          <p:nvPr/>
        </p:nvSpPr>
        <p:spPr>
          <a:xfrm>
            <a:off x="876300" y="3657600"/>
            <a:ext cx="304800" cy="3048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6300" y="3714750"/>
            <a:ext cx="304800" cy="190500"/>
          </a:xfrm>
          <a:prstGeom prst="rect">
            <a:avLst/>
          </a:prstGeom>
          <a:noFill/>
        </p:spPr>
        <p:txBody>
          <a:bodyPr wrap="square">
            <a:spAutoFit/>
          </a:bodyPr>
          <a:lstStyle/>
          <a:p>
            <a:pPr algn="ctr"/>
            <a:r>
              <a:rPr sz="975" b="1">
                <a:solidFill>
                  <a:srgbClr val="FFFFFF"/>
                </a:solidFill>
                <a:latin typeface="Noto Sans JP"/>
                <a:ea typeface="Noto Sans JP"/>
                <a:cs typeface="Noto Sans JP"/>
              </a:rPr>
              <a:t>2</a:t>
            </a:r>
          </a:p>
        </p:txBody>
      </p:sp>
      <p:sp>
        <p:nvSpPr>
          <p:cNvPr id="13" name="Rectangle 12"/>
          <p:cNvSpPr/>
          <p:nvPr/>
        </p:nvSpPr>
        <p:spPr>
          <a:xfrm>
            <a:off x="1609725" y="4562475"/>
            <a:ext cx="7134225" cy="9525"/>
          </a:xfrm>
          <a:prstGeom prst="rect">
            <a:avLst/>
          </a:prstGeom>
          <a:solidFill>
            <a:srgbClr val="59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38325" y="3200400"/>
            <a:ext cx="6753225" cy="342900"/>
          </a:xfrm>
          <a:prstGeom prst="rect">
            <a:avLst/>
          </a:prstGeom>
          <a:noFill/>
        </p:spPr>
        <p:txBody>
          <a:bodyPr wrap="square">
            <a:spAutoFit/>
          </a:bodyPr>
          <a:lstStyle/>
          <a:p>
            <a:pPr algn="l"/>
            <a:r>
              <a:rPr sz="1950" b="1">
                <a:solidFill>
                  <a:srgbClr val="1C1F26"/>
                </a:solidFill>
                <a:latin typeface="Noto Sans JP"/>
                <a:ea typeface="Noto Sans JP"/>
                <a:cs typeface="Noto Sans JP"/>
              </a:rPr>
              <a:t>プロトタイプ検証と設計改善</a:t>
            </a:r>
          </a:p>
        </p:txBody>
      </p:sp>
      <p:sp>
        <p:nvSpPr>
          <p:cNvPr id="15" name="TextBox 14"/>
          <p:cNvSpPr txBox="1"/>
          <p:nvPr/>
        </p:nvSpPr>
        <p:spPr>
          <a:xfrm>
            <a:off x="1838325" y="3562350"/>
            <a:ext cx="6753225" cy="914400"/>
          </a:xfrm>
          <a:prstGeom prst="rect">
            <a:avLst/>
          </a:prstGeom>
          <a:noFill/>
        </p:spPr>
        <p:txBody>
          <a:bodyPr wrap="square">
            <a:spAutoFit/>
          </a:bodyPr>
          <a:lstStyle/>
          <a:p>
            <a:pPr algn="l"/>
            <a:r>
              <a:rPr sz="1350" b="0">
                <a:solidFill>
                  <a:srgbClr val="595F6B"/>
                </a:solidFill>
                <a:latin typeface="Noto Sans JP"/>
                <a:ea typeface="Noto Sans JP"/>
                <a:cs typeface="Noto Sans JP"/>
              </a:rPr>
              <a:t>Figmaでハイフィデリティプロトタイプを作成し、A/Bテスト設計を経て社内モニター30名で検証。検索完了率が現行比+18%向上するUIパターンを確認し、本実装の設計を確定しました。</a:t>
            </a:r>
          </a:p>
        </p:txBody>
      </p:sp>
      <p:sp>
        <p:nvSpPr>
          <p:cNvPr id="16" name="Oval 15"/>
          <p:cNvSpPr/>
          <p:nvPr/>
        </p:nvSpPr>
        <p:spPr>
          <a:xfrm>
            <a:off x="876300" y="5181600"/>
            <a:ext cx="304800" cy="304800"/>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6300" y="5238750"/>
            <a:ext cx="304800" cy="190500"/>
          </a:xfrm>
          <a:prstGeom prst="rect">
            <a:avLst/>
          </a:prstGeom>
          <a:noFill/>
        </p:spPr>
        <p:txBody>
          <a:bodyPr wrap="square">
            <a:spAutoFit/>
          </a:bodyPr>
          <a:lstStyle/>
          <a:p>
            <a:pPr algn="ctr"/>
            <a:r>
              <a:rPr sz="975" b="1">
                <a:solidFill>
                  <a:srgbClr val="FFFFFF"/>
                </a:solidFill>
                <a:latin typeface="Noto Sans JP"/>
                <a:ea typeface="Noto Sans JP"/>
                <a:cs typeface="Noto Sans JP"/>
              </a:rPr>
              <a:t>3</a:t>
            </a:r>
          </a:p>
        </p:txBody>
      </p:sp>
      <p:sp>
        <p:nvSpPr>
          <p:cNvPr id="18" name="TextBox 17"/>
          <p:cNvSpPr txBox="1"/>
          <p:nvPr/>
        </p:nvSpPr>
        <p:spPr>
          <a:xfrm>
            <a:off x="1838325" y="4724400"/>
            <a:ext cx="6753225" cy="342900"/>
          </a:xfrm>
          <a:prstGeom prst="rect">
            <a:avLst/>
          </a:prstGeom>
          <a:noFill/>
        </p:spPr>
        <p:txBody>
          <a:bodyPr wrap="square">
            <a:spAutoFit/>
          </a:bodyPr>
          <a:lstStyle/>
          <a:p>
            <a:pPr algn="l"/>
            <a:r>
              <a:rPr sz="1950" b="1">
                <a:solidFill>
                  <a:srgbClr val="1C1F26"/>
                </a:solidFill>
                <a:latin typeface="Noto Sans JP"/>
                <a:ea typeface="Noto Sans JP"/>
                <a:cs typeface="Noto Sans JP"/>
              </a:rPr>
              <a:t>ローンチと成果計測</a:t>
            </a:r>
          </a:p>
        </p:txBody>
      </p:sp>
      <p:sp>
        <p:nvSpPr>
          <p:cNvPr id="19" name="TextBox 18"/>
          <p:cNvSpPr txBox="1"/>
          <p:nvPr/>
        </p:nvSpPr>
        <p:spPr>
          <a:xfrm>
            <a:off x="1838325" y="5086350"/>
            <a:ext cx="6753225" cy="914400"/>
          </a:xfrm>
          <a:prstGeom prst="rect">
            <a:avLst/>
          </a:prstGeom>
          <a:noFill/>
        </p:spPr>
        <p:txBody>
          <a:bodyPr wrap="square">
            <a:spAutoFit/>
          </a:bodyPr>
          <a:lstStyle/>
          <a:p>
            <a:pPr algn="l"/>
            <a:r>
              <a:rPr sz="1350" b="0">
                <a:solidFill>
                  <a:srgbClr val="595F6B"/>
                </a:solidFill>
                <a:latin typeface="Noto Sans JP"/>
                <a:ea typeface="Noto Sans JP"/>
                <a:cs typeface="Noto Sans JP"/>
              </a:rPr>
              <a:t>段階リリース（10%→50%→100%）で本番投入。リリース後4週間で検索完了率+21%・離脱率−9%を達成。月次レポートとして経営陣に共有し、次四半期ロードマップへ反映しました。</a:t>
            </a:r>
          </a:p>
        </p:txBody>
      </p:sp>
      <p:sp>
        <p:nvSpPr>
          <p:cNvPr id="20" name="Rectangle 19"/>
          <p:cNvSpPr/>
          <p:nvPr/>
        </p:nvSpPr>
        <p:spPr>
          <a:xfrm>
            <a:off x="8972550" y="1524000"/>
            <a:ext cx="2533650" cy="43815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72550" y="1524000"/>
            <a:ext cx="2533650" cy="2476500"/>
          </a:xfrm>
          <a:prstGeom prst="rect">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72550" y="2667000"/>
            <a:ext cx="2533650"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23" name="TextBox 22"/>
          <p:cNvSpPr txBox="1"/>
          <p:nvPr/>
        </p:nvSpPr>
        <p:spPr>
          <a:xfrm>
            <a:off x="9086850" y="4152900"/>
            <a:ext cx="2305050" cy="342900"/>
          </a:xfrm>
          <a:prstGeom prst="rect">
            <a:avLst/>
          </a:prstGeom>
          <a:noFill/>
        </p:spPr>
        <p:txBody>
          <a:bodyPr wrap="square">
            <a:spAutoFit/>
          </a:bodyPr>
          <a:lstStyle/>
          <a:p>
            <a:pPr algn="ctr"/>
            <a:r>
              <a:rPr sz="1950" b="1">
                <a:solidFill>
                  <a:srgbClr val="1C1F26"/>
                </a:solidFill>
                <a:latin typeface="Noto Sans JP"/>
                <a:ea typeface="Noto Sans JP"/>
                <a:cs typeface="Noto Sans JP"/>
              </a:rPr>
              <a:t>高橋 悠</a:t>
            </a:r>
          </a:p>
        </p:txBody>
      </p:sp>
      <p:sp>
        <p:nvSpPr>
          <p:cNvPr id="24" name="TextBox 23"/>
          <p:cNvSpPr txBox="1"/>
          <p:nvPr/>
        </p:nvSpPr>
        <p:spPr>
          <a:xfrm>
            <a:off x="9086850" y="4552950"/>
            <a:ext cx="2305050" cy="1276350"/>
          </a:xfrm>
          <a:prstGeom prst="rect">
            <a:avLst/>
          </a:prstGeom>
          <a:noFill/>
        </p:spPr>
        <p:txBody>
          <a:bodyPr wrap="square">
            <a:spAutoFit/>
          </a:bodyPr>
          <a:lstStyle/>
          <a:p>
            <a:pPr algn="ctr"/>
            <a:r>
              <a:rPr sz="975" b="1">
                <a:solidFill>
                  <a:srgbClr val="6C63FF"/>
                </a:solidFill>
                <a:latin typeface="Noto Sans JP"/>
                <a:ea typeface="Noto Sans JP"/>
                <a:cs typeface="Noto Sans JP"/>
              </a:rPr>
              <a:t>UXリサーチャー
ガレージラボ デザイン部</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95F6B"/>
                </a:solidFill>
                <a:latin typeface="Noto Sans JP"/>
                <a:ea typeface="Noto Sans JP"/>
                <a:cs typeface="Noto Sans JP"/>
              </a:rPr>
              <a:t>出典：会社概要ページ・公式プロフィール（2026年6月）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95F6B"/>
                </a:solidFill>
                <a:latin typeface="Noto Sans JP"/>
                <a:ea typeface="Noto Sans JP"/>
                <a:cs typeface="Noto Sans JP"/>
              </a:rPr>
              <a:t>75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C1F26"/>
                </a:solidFill>
                <a:latin typeface="Noto Sans JP"/>
                <a:ea typeface="Noto Sans JP"/>
                <a:cs typeface="Noto Sans JP"/>
              </a:rPr>
              <a:t>本日の登壇者をご紹介します</a:t>
            </a:r>
          </a:p>
        </p:txBody>
      </p:sp>
      <p:sp>
        <p:nvSpPr>
          <p:cNvPr id="5" name="Rounded Rectangle 4"/>
          <p:cNvSpPr/>
          <p:nvPr/>
        </p:nvSpPr>
        <p:spPr>
          <a:xfrm>
            <a:off x="685800" y="1524000"/>
            <a:ext cx="4371975" cy="4572000"/>
          </a:xfrm>
          <a:prstGeom prst="roundRect">
            <a:avLst>
              <a:gd name="adj" fmla="val 10000"/>
            </a:avLst>
          </a:prstGeom>
          <a:solidFill>
            <a:srgbClr val="C0C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714750"/>
            <a:ext cx="4371975" cy="190500"/>
          </a:xfrm>
          <a:prstGeom prst="rect">
            <a:avLst/>
          </a:prstGeom>
          <a:noFill/>
        </p:spPr>
        <p:txBody>
          <a:bodyPr wrap="square">
            <a:spAutoFit/>
          </a:bodyPr>
          <a:lstStyle/>
          <a:p>
            <a:pPr algn="ctr"/>
            <a:r>
              <a:rPr sz="975" b="0">
                <a:solidFill>
                  <a:srgbClr val="8A9099"/>
                </a:solidFill>
                <a:latin typeface="Noto Sans JP"/>
                <a:ea typeface="Noto Sans JP"/>
                <a:cs typeface="Noto Sans JP"/>
              </a:rPr>
              <a:t>PHOTO</a:t>
            </a:r>
          </a:p>
        </p:txBody>
      </p:sp>
      <p:sp>
        <p:nvSpPr>
          <p:cNvPr id="7" name="TextBox 6"/>
          <p:cNvSpPr txBox="1"/>
          <p:nvPr/>
        </p:nvSpPr>
        <p:spPr>
          <a:xfrm>
            <a:off x="5286375" y="1638300"/>
            <a:ext cx="6219825" cy="190500"/>
          </a:xfrm>
          <a:prstGeom prst="rect">
            <a:avLst/>
          </a:prstGeom>
          <a:noFill/>
        </p:spPr>
        <p:txBody>
          <a:bodyPr wrap="square">
            <a:spAutoFit/>
          </a:bodyPr>
          <a:lstStyle/>
          <a:p>
            <a:pPr algn="l"/>
            <a:r>
              <a:rPr sz="975" b="0">
                <a:solidFill>
                  <a:srgbClr val="595F6B"/>
                </a:solidFill>
                <a:latin typeface="Noto Sans JP"/>
                <a:ea typeface="Noto Sans JP"/>
                <a:cs typeface="Noto Sans JP"/>
              </a:rPr>
              <a:t>イトウ ミサキ</a:t>
            </a:r>
          </a:p>
        </p:txBody>
      </p:sp>
      <p:sp>
        <p:nvSpPr>
          <p:cNvPr id="8" name="TextBox 7"/>
          <p:cNvSpPr txBox="1"/>
          <p:nvPr/>
        </p:nvSpPr>
        <p:spPr>
          <a:xfrm>
            <a:off x="5286375" y="1847850"/>
            <a:ext cx="6219825" cy="419100"/>
          </a:xfrm>
          <a:prstGeom prst="rect">
            <a:avLst/>
          </a:prstGeom>
          <a:noFill/>
        </p:spPr>
        <p:txBody>
          <a:bodyPr wrap="square">
            <a:spAutoFit/>
          </a:bodyPr>
          <a:lstStyle/>
          <a:p>
            <a:pPr algn="l"/>
            <a:r>
              <a:rPr sz="3000" b="1">
                <a:solidFill>
                  <a:srgbClr val="1C1F26"/>
                </a:solidFill>
                <a:latin typeface="Noto Sans JP"/>
                <a:ea typeface="Noto Sans JP"/>
                <a:cs typeface="Noto Sans JP"/>
              </a:rPr>
              <a:t>伊藤 美咲</a:t>
            </a:r>
          </a:p>
        </p:txBody>
      </p:sp>
      <p:sp>
        <p:nvSpPr>
          <p:cNvPr id="9" name="TextBox 8"/>
          <p:cNvSpPr txBox="1"/>
          <p:nvPr/>
        </p:nvSpPr>
        <p:spPr>
          <a:xfrm>
            <a:off x="5286375" y="2305050"/>
            <a:ext cx="6219825" cy="285750"/>
          </a:xfrm>
          <a:prstGeom prst="rect">
            <a:avLst/>
          </a:prstGeom>
          <a:noFill/>
        </p:spPr>
        <p:txBody>
          <a:bodyPr wrap="square">
            <a:spAutoFit/>
          </a:bodyPr>
          <a:lstStyle/>
          <a:p>
            <a:pPr algn="l"/>
            <a:r>
              <a:rPr sz="1350" b="0">
                <a:solidFill>
                  <a:srgbClr val="6C63FF"/>
                </a:solidFill>
                <a:latin typeface="Noto Sans JP"/>
                <a:ea typeface="Noto Sans JP"/>
                <a:cs typeface="Noto Sans JP"/>
              </a:rPr>
              <a:t>株式会社ガレージラボ　代表取締役CEO</a:t>
            </a:r>
          </a:p>
        </p:txBody>
      </p:sp>
      <p:sp>
        <p:nvSpPr>
          <p:cNvPr id="10" name="Rectangle 9"/>
          <p:cNvSpPr/>
          <p:nvPr/>
        </p:nvSpPr>
        <p:spPr>
          <a:xfrm>
            <a:off x="5286375" y="2743200"/>
            <a:ext cx="6219825" cy="1905000"/>
          </a:xfrm>
          <a:prstGeom prst="rect">
            <a:avLst/>
          </a:prstGeom>
          <a:solidFill>
            <a:srgbClr val="ED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38775" y="2819400"/>
            <a:ext cx="5915025" cy="1752600"/>
          </a:xfrm>
          <a:prstGeom prst="rect">
            <a:avLst/>
          </a:prstGeom>
          <a:noFill/>
        </p:spPr>
        <p:txBody>
          <a:bodyPr wrap="square">
            <a:spAutoFit/>
          </a:bodyPr>
          <a:lstStyle/>
          <a:p>
            <a:pPr algn="l"/>
            <a:r>
              <a:rPr sz="1350" b="0">
                <a:solidFill>
                  <a:srgbClr val="1C1F26"/>
                </a:solidFill>
                <a:latin typeface="Noto Sans JP"/>
                <a:ea typeface="Noto Sans JP"/>
                <a:cs typeface="Noto Sans JP"/>
              </a:rPr>
              <a:t>早稲田大学商学部卒業後、McKinsey &amp; Companyにて5年間コンサルタントとして従事。2018年に株式会社ガレージラボを創業し、AIを活用したB2Bプロダクトの開発・販売を推進。国内外の200社超に導入実績を持ち、日本のAIスタートアップエコシステム形成に貢献。</a:t>
            </a:r>
          </a:p>
        </p:txBody>
      </p:sp>
      <p:sp>
        <p:nvSpPr>
          <p:cNvPr id="12" name="TextBox 11"/>
          <p:cNvSpPr txBox="1"/>
          <p:nvPr/>
        </p:nvSpPr>
        <p:spPr>
          <a:xfrm>
            <a:off x="5286375" y="4800600"/>
            <a:ext cx="952500" cy="304800"/>
          </a:xfrm>
          <a:prstGeom prst="rect">
            <a:avLst/>
          </a:prstGeom>
          <a:noFill/>
        </p:spPr>
        <p:txBody>
          <a:bodyPr wrap="square">
            <a:spAutoFit/>
          </a:bodyPr>
          <a:lstStyle/>
          <a:p>
            <a:pPr algn="l"/>
            <a:r>
              <a:rPr sz="975" b="1">
                <a:solidFill>
                  <a:srgbClr val="6C63FF"/>
                </a:solidFill>
                <a:latin typeface="Noto Sans JP"/>
                <a:ea typeface="Noto Sans JP"/>
                <a:cs typeface="Noto Sans JP"/>
              </a:rPr>
              <a:t>Email</a:t>
            </a:r>
          </a:p>
        </p:txBody>
      </p:sp>
      <p:sp>
        <p:nvSpPr>
          <p:cNvPr id="13" name="TextBox 12"/>
          <p:cNvSpPr txBox="1"/>
          <p:nvPr/>
        </p:nvSpPr>
        <p:spPr>
          <a:xfrm>
            <a:off x="6353175" y="4800600"/>
            <a:ext cx="5153025" cy="304800"/>
          </a:xfrm>
          <a:prstGeom prst="rect">
            <a:avLst/>
          </a:prstGeom>
          <a:noFill/>
        </p:spPr>
        <p:txBody>
          <a:bodyPr wrap="square">
            <a:spAutoFit/>
          </a:bodyPr>
          <a:lstStyle/>
          <a:p>
            <a:pPr algn="l"/>
            <a:r>
              <a:rPr sz="975" b="0">
                <a:solidFill>
                  <a:srgbClr val="1C1F26"/>
                </a:solidFill>
                <a:latin typeface="Noto Sans JP"/>
                <a:ea typeface="Noto Sans JP"/>
                <a:cs typeface="Noto Sans JP"/>
              </a:rPr>
              <a:t>m.ito@garage-labs.co.jp</a:t>
            </a:r>
          </a:p>
        </p:txBody>
      </p:sp>
      <p:sp>
        <p:nvSpPr>
          <p:cNvPr id="14" name="TextBox 13"/>
          <p:cNvSpPr txBox="1"/>
          <p:nvPr/>
        </p:nvSpPr>
        <p:spPr>
          <a:xfrm>
            <a:off x="5286375" y="5105400"/>
            <a:ext cx="952500" cy="304800"/>
          </a:xfrm>
          <a:prstGeom prst="rect">
            <a:avLst/>
          </a:prstGeom>
          <a:noFill/>
        </p:spPr>
        <p:txBody>
          <a:bodyPr wrap="square">
            <a:spAutoFit/>
          </a:bodyPr>
          <a:lstStyle/>
          <a:p>
            <a:pPr algn="l"/>
            <a:r>
              <a:rPr sz="975" b="1">
                <a:solidFill>
                  <a:srgbClr val="6C63FF"/>
                </a:solidFill>
                <a:latin typeface="Noto Sans JP"/>
                <a:ea typeface="Noto Sans JP"/>
                <a:cs typeface="Noto Sans JP"/>
              </a:rPr>
              <a:t>LinkedIn</a:t>
            </a:r>
          </a:p>
        </p:txBody>
      </p:sp>
      <p:sp>
        <p:nvSpPr>
          <p:cNvPr id="15" name="TextBox 14"/>
          <p:cNvSpPr txBox="1"/>
          <p:nvPr/>
        </p:nvSpPr>
        <p:spPr>
          <a:xfrm>
            <a:off x="6353175" y="5105400"/>
            <a:ext cx="5153025" cy="304800"/>
          </a:xfrm>
          <a:prstGeom prst="rect">
            <a:avLst/>
          </a:prstGeom>
          <a:noFill/>
        </p:spPr>
        <p:txBody>
          <a:bodyPr wrap="square">
            <a:spAutoFit/>
          </a:bodyPr>
          <a:lstStyle/>
          <a:p>
            <a:pPr algn="l"/>
            <a:r>
              <a:rPr sz="975" b="0">
                <a:solidFill>
                  <a:srgbClr val="1C1F26"/>
                </a:solidFill>
                <a:latin typeface="Noto Sans JP"/>
                <a:ea typeface="Noto Sans JP"/>
                <a:cs typeface="Noto Sans JP"/>
              </a:rPr>
              <a:t>linkedin.com/in/misaki-ito-gl</a:t>
            </a:r>
          </a:p>
        </p:txBody>
      </p:sp>
      <p:sp>
        <p:nvSpPr>
          <p:cNvPr id="16" name="TextBox 15"/>
          <p:cNvSpPr txBox="1"/>
          <p:nvPr/>
        </p:nvSpPr>
        <p:spPr>
          <a:xfrm>
            <a:off x="5286375" y="5410200"/>
            <a:ext cx="952500" cy="304800"/>
          </a:xfrm>
          <a:prstGeom prst="rect">
            <a:avLst/>
          </a:prstGeom>
          <a:noFill/>
        </p:spPr>
        <p:txBody>
          <a:bodyPr wrap="square">
            <a:spAutoFit/>
          </a:bodyPr>
          <a:lstStyle/>
          <a:p>
            <a:pPr algn="l"/>
            <a:r>
              <a:rPr sz="975" b="1">
                <a:solidFill>
                  <a:srgbClr val="6C63FF"/>
                </a:solidFill>
                <a:latin typeface="Noto Sans JP"/>
                <a:ea typeface="Noto Sans JP"/>
                <a:cs typeface="Noto Sans JP"/>
              </a:rPr>
              <a:t>X (Twitter)</a:t>
            </a:r>
          </a:p>
        </p:txBody>
      </p:sp>
      <p:sp>
        <p:nvSpPr>
          <p:cNvPr id="17" name="TextBox 16"/>
          <p:cNvSpPr txBox="1"/>
          <p:nvPr/>
        </p:nvSpPr>
        <p:spPr>
          <a:xfrm>
            <a:off x="6353175" y="5410200"/>
            <a:ext cx="5153025" cy="304800"/>
          </a:xfrm>
          <a:prstGeom prst="rect">
            <a:avLst/>
          </a:prstGeom>
          <a:noFill/>
        </p:spPr>
        <p:txBody>
          <a:bodyPr wrap="square">
            <a:spAutoFit/>
          </a:bodyPr>
          <a:lstStyle/>
          <a:p>
            <a:pPr algn="l"/>
            <a:r>
              <a:rPr sz="975" b="0">
                <a:solidFill>
                  <a:srgbClr val="1C1F26"/>
                </a:solidFill>
                <a:latin typeface="Noto Sans JP"/>
                <a:ea typeface="Noto Sans JP"/>
                <a:cs typeface="Noto Sans JP"/>
              </a:rPr>
              <a:t>@misaki_ito_gl</a:t>
            </a:r>
          </a:p>
        </p:txBody>
      </p:sp>
      <p:sp>
        <p:nvSpPr>
          <p:cNvPr id="18" name="TextBox 17"/>
          <p:cNvSpPr txBox="1"/>
          <p:nvPr/>
        </p:nvSpPr>
        <p:spPr>
          <a:xfrm>
            <a:off x="5286375" y="5715000"/>
            <a:ext cx="952500" cy="304800"/>
          </a:xfrm>
          <a:prstGeom prst="rect">
            <a:avLst/>
          </a:prstGeom>
          <a:noFill/>
        </p:spPr>
        <p:txBody>
          <a:bodyPr wrap="square">
            <a:spAutoFit/>
          </a:bodyPr>
          <a:lstStyle/>
          <a:p>
            <a:pPr algn="l"/>
            <a:r>
              <a:rPr sz="975" b="1">
                <a:solidFill>
                  <a:srgbClr val="6C63FF"/>
                </a:solidFill>
                <a:latin typeface="Noto Sans JP"/>
                <a:ea typeface="Noto Sans JP"/>
                <a:cs typeface="Noto Sans JP"/>
              </a:rPr>
              <a:t>Web</a:t>
            </a:r>
          </a:p>
        </p:txBody>
      </p:sp>
      <p:sp>
        <p:nvSpPr>
          <p:cNvPr id="19" name="TextBox 18"/>
          <p:cNvSpPr txBox="1"/>
          <p:nvPr/>
        </p:nvSpPr>
        <p:spPr>
          <a:xfrm>
            <a:off x="6353175" y="5715000"/>
            <a:ext cx="5153025" cy="304800"/>
          </a:xfrm>
          <a:prstGeom prst="rect">
            <a:avLst/>
          </a:prstGeom>
          <a:noFill/>
        </p:spPr>
        <p:txBody>
          <a:bodyPr wrap="square">
            <a:spAutoFit/>
          </a:bodyPr>
          <a:lstStyle/>
          <a:p>
            <a:pPr algn="l"/>
            <a:r>
              <a:rPr sz="975" b="0">
                <a:solidFill>
                  <a:srgbClr val="1C1F26"/>
                </a:solidFill>
                <a:latin typeface="Noto Sans JP"/>
                <a:ea typeface="Noto Sans JP"/>
                <a:cs typeface="Noto Sans JP"/>
              </a:rPr>
              <a:t>garage-labs.co.jp/about/ceo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A2332"/>
                </a:solidFill>
                <a:latin typeface="Noto Serif JP"/>
                <a:ea typeface="Noto Serif JP"/>
                <a:cs typeface="Noto Serif JP"/>
              </a:rPr>
              <a:t>📐 コンサル定番</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A6675"/>
                </a:solidFill>
                <a:latin typeface="Noto Sans JP"/>
                <a:ea typeface="Noto Sans JP"/>
                <a:cs typeface="Noto Sans JP"/>
              </a:rPr>
              <a:t>strategy-consulting　·　8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76 / 98</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出典：社内財務データ（FY2025）・ベンチマーク分析（McKinsey Global Institute 2024）</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77 / 98</a:t>
            </a:r>
          </a:p>
        </p:txBody>
      </p:sp>
      <p:sp>
        <p:nvSpPr>
          <p:cNvPr id="4" name="Rectangle 3"/>
          <p:cNvSpPr/>
          <p:nvPr/>
        </p:nvSpPr>
        <p:spPr>
          <a:xfrm>
            <a:off x="685800" y="533400"/>
            <a:ext cx="10820400" cy="1143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100" y="647700"/>
            <a:ext cx="10591800" cy="914400"/>
          </a:xfrm>
          <a:prstGeom prst="rect">
            <a:avLst/>
          </a:prstGeom>
          <a:noFill/>
        </p:spPr>
        <p:txBody>
          <a:bodyPr wrap="square">
            <a:spAutoFit/>
          </a:bodyPr>
          <a:lstStyle/>
          <a:p>
            <a:pPr algn="l"/>
            <a:r>
              <a:rPr sz="2850" b="1">
                <a:solidFill>
                  <a:srgbClr val="1A2332"/>
                </a:solidFill>
                <a:latin typeface="Noto Serif JP"/>
                <a:ea typeface="Noto Serif JP"/>
                <a:cs typeface="Noto Serif JP"/>
              </a:rPr>
              <a:t>デジタル投資をコアビジネスへ集中することで、2年以内に営業利益率を5pt改善できる</a:t>
            </a:r>
          </a:p>
        </p:txBody>
      </p:sp>
      <p:sp>
        <p:nvSpPr>
          <p:cNvPr id="6" name="Rectangle 5"/>
          <p:cNvSpPr/>
          <p:nvPr/>
        </p:nvSpPr>
        <p:spPr>
          <a:xfrm>
            <a:off x="685800" y="1752600"/>
            <a:ext cx="10820400"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05000"/>
            <a:ext cx="3454400" cy="381000"/>
          </a:xfrm>
          <a:prstGeom prst="rect">
            <a:avLst/>
          </a:prstGeom>
          <a:noFill/>
        </p:spPr>
        <p:txBody>
          <a:bodyPr wrap="square">
            <a:spAutoFit/>
          </a:bodyPr>
          <a:lstStyle/>
          <a:p>
            <a:pPr algn="l"/>
            <a:r>
              <a:rPr sz="1800" b="1">
                <a:solidFill>
                  <a:srgbClr val="0A2540"/>
                </a:solidFill>
                <a:latin typeface="Noto Serif JP"/>
                <a:ea typeface="Noto Serif JP"/>
                <a:cs typeface="Noto Serif JP"/>
              </a:rPr>
              <a:t>コスト構造の最適化</a:t>
            </a:r>
          </a:p>
        </p:txBody>
      </p:sp>
      <p:sp>
        <p:nvSpPr>
          <p:cNvPr id="8" name="TextBox 7"/>
          <p:cNvSpPr txBox="1"/>
          <p:nvPr/>
        </p:nvSpPr>
        <p:spPr>
          <a:xfrm>
            <a:off x="685800" y="2362200"/>
            <a:ext cx="3454400" cy="685800"/>
          </a:xfrm>
          <a:prstGeom prst="rect">
            <a:avLst/>
          </a:prstGeom>
          <a:noFill/>
        </p:spPr>
        <p:txBody>
          <a:bodyPr wrap="square">
            <a:spAutoFit/>
          </a:bodyPr>
          <a:lstStyle/>
          <a:p>
            <a:pPr algn="l"/>
            <a:r>
              <a:rPr sz="3000" b="1">
                <a:solidFill>
                  <a:srgbClr val="C8102E"/>
                </a:solidFill>
                <a:latin typeface="Noto Serif JP"/>
                <a:ea typeface="Noto Serif JP"/>
                <a:cs typeface="Noto Serif JP"/>
              </a:rPr>
              <a:t>▲¥12B</a:t>
            </a:r>
          </a:p>
        </p:txBody>
      </p:sp>
      <p:sp>
        <p:nvSpPr>
          <p:cNvPr id="9" name="TextBox 8"/>
          <p:cNvSpPr txBox="1"/>
          <p:nvPr/>
        </p:nvSpPr>
        <p:spPr>
          <a:xfrm>
            <a:off x="685800" y="3124200"/>
            <a:ext cx="3454400" cy="2667000"/>
          </a:xfrm>
          <a:prstGeom prst="rect">
            <a:avLst/>
          </a:prstGeom>
          <a:noFill/>
        </p:spPr>
        <p:txBody>
          <a:bodyPr wrap="square">
            <a:spAutoFit/>
          </a:bodyPr>
          <a:lstStyle/>
          <a:p>
            <a:pPr algn="l"/>
            <a:r>
              <a:rPr sz="1350" b="0">
                <a:solidFill>
                  <a:srgbClr val="1A2332"/>
                </a:solidFill>
                <a:latin typeface="Noto Sans JP"/>
                <a:ea typeface="Noto Sans JP"/>
                <a:cs typeface="Noto Sans JP"/>
              </a:rPr>
              <a:t>非コア業務のアウトソーシングと自動化により間接費を30%削減。RPA導入で年間¥4.2B、外注再編で¥7.8Bのコスト低減を実現可能。</a:t>
            </a:r>
          </a:p>
        </p:txBody>
      </p:sp>
      <p:sp>
        <p:nvSpPr>
          <p:cNvPr id="10" name="TextBox 9"/>
          <p:cNvSpPr txBox="1"/>
          <p:nvPr/>
        </p:nvSpPr>
        <p:spPr>
          <a:xfrm>
            <a:off x="4368800" y="1905000"/>
            <a:ext cx="3454400" cy="381000"/>
          </a:xfrm>
          <a:prstGeom prst="rect">
            <a:avLst/>
          </a:prstGeom>
          <a:noFill/>
        </p:spPr>
        <p:txBody>
          <a:bodyPr wrap="square">
            <a:spAutoFit/>
          </a:bodyPr>
          <a:lstStyle/>
          <a:p>
            <a:pPr algn="l"/>
            <a:r>
              <a:rPr sz="1800" b="1">
                <a:solidFill>
                  <a:srgbClr val="0A2540"/>
                </a:solidFill>
                <a:latin typeface="Noto Serif JP"/>
                <a:ea typeface="Noto Serif JP"/>
                <a:cs typeface="Noto Serif JP"/>
              </a:rPr>
              <a:t>収益性の高い事業への集中</a:t>
            </a:r>
          </a:p>
        </p:txBody>
      </p:sp>
      <p:sp>
        <p:nvSpPr>
          <p:cNvPr id="11" name="TextBox 10"/>
          <p:cNvSpPr txBox="1"/>
          <p:nvPr/>
        </p:nvSpPr>
        <p:spPr>
          <a:xfrm>
            <a:off x="4368800" y="2362200"/>
            <a:ext cx="3454400" cy="685800"/>
          </a:xfrm>
          <a:prstGeom prst="rect">
            <a:avLst/>
          </a:prstGeom>
          <a:noFill/>
        </p:spPr>
        <p:txBody>
          <a:bodyPr wrap="square">
            <a:spAutoFit/>
          </a:bodyPr>
          <a:lstStyle/>
          <a:p>
            <a:pPr algn="l"/>
            <a:r>
              <a:rPr sz="3000" b="1">
                <a:solidFill>
                  <a:srgbClr val="C8102E"/>
                </a:solidFill>
                <a:latin typeface="Noto Serif JP"/>
                <a:ea typeface="Noto Serif JP"/>
                <a:cs typeface="Noto Serif JP"/>
              </a:rPr>
              <a:t>+8pt</a:t>
            </a:r>
          </a:p>
        </p:txBody>
      </p:sp>
      <p:sp>
        <p:nvSpPr>
          <p:cNvPr id="12" name="TextBox 11"/>
          <p:cNvSpPr txBox="1"/>
          <p:nvPr/>
        </p:nvSpPr>
        <p:spPr>
          <a:xfrm>
            <a:off x="4368800" y="3124200"/>
            <a:ext cx="3454400" cy="2667000"/>
          </a:xfrm>
          <a:prstGeom prst="rect">
            <a:avLst/>
          </a:prstGeom>
          <a:noFill/>
        </p:spPr>
        <p:txBody>
          <a:bodyPr wrap="square">
            <a:spAutoFit/>
          </a:bodyPr>
          <a:lstStyle/>
          <a:p>
            <a:pPr algn="l"/>
            <a:r>
              <a:rPr sz="1350" b="0">
                <a:solidFill>
                  <a:srgbClr val="1A2332"/>
                </a:solidFill>
                <a:latin typeface="Noto Sans JP"/>
                <a:ea typeface="Noto Sans JP"/>
                <a:cs typeface="Noto Sans JP"/>
              </a:rPr>
              <a:t>粗利率30%以上の事業セグメントへリソースを再配分。低採算3事業の撤退・縮小により全社GPMを現状22%から30%へ改善。</a:t>
            </a:r>
          </a:p>
        </p:txBody>
      </p:sp>
      <p:sp>
        <p:nvSpPr>
          <p:cNvPr id="13" name="TextBox 12"/>
          <p:cNvSpPr txBox="1"/>
          <p:nvPr/>
        </p:nvSpPr>
        <p:spPr>
          <a:xfrm>
            <a:off x="8051800" y="1905000"/>
            <a:ext cx="3454400" cy="381000"/>
          </a:xfrm>
          <a:prstGeom prst="rect">
            <a:avLst/>
          </a:prstGeom>
          <a:noFill/>
        </p:spPr>
        <p:txBody>
          <a:bodyPr wrap="square">
            <a:spAutoFit/>
          </a:bodyPr>
          <a:lstStyle/>
          <a:p>
            <a:pPr algn="l"/>
            <a:r>
              <a:rPr sz="1800" b="1">
                <a:solidFill>
                  <a:srgbClr val="0A2540"/>
                </a:solidFill>
                <a:latin typeface="Noto Serif JP"/>
                <a:ea typeface="Noto Serif JP"/>
                <a:cs typeface="Noto Serif JP"/>
              </a:rPr>
              <a:t>デジタルケイパビリティの強化</a:t>
            </a:r>
          </a:p>
        </p:txBody>
      </p:sp>
      <p:sp>
        <p:nvSpPr>
          <p:cNvPr id="14" name="TextBox 13"/>
          <p:cNvSpPr txBox="1"/>
          <p:nvPr/>
        </p:nvSpPr>
        <p:spPr>
          <a:xfrm>
            <a:off x="8051800" y="2362200"/>
            <a:ext cx="3454400" cy="685800"/>
          </a:xfrm>
          <a:prstGeom prst="rect">
            <a:avLst/>
          </a:prstGeom>
          <a:noFill/>
        </p:spPr>
        <p:txBody>
          <a:bodyPr wrap="square">
            <a:spAutoFit/>
          </a:bodyPr>
          <a:lstStyle/>
          <a:p>
            <a:pPr algn="l"/>
            <a:r>
              <a:rPr sz="3000" b="1">
                <a:solidFill>
                  <a:srgbClr val="C8102E"/>
                </a:solidFill>
                <a:latin typeface="Noto Serif JP"/>
                <a:ea typeface="Noto Serif JP"/>
                <a:cs typeface="Noto Serif JP"/>
              </a:rPr>
              <a:t>×2.3倍</a:t>
            </a:r>
          </a:p>
        </p:txBody>
      </p:sp>
      <p:sp>
        <p:nvSpPr>
          <p:cNvPr id="15" name="TextBox 14"/>
          <p:cNvSpPr txBox="1"/>
          <p:nvPr/>
        </p:nvSpPr>
        <p:spPr>
          <a:xfrm>
            <a:off x="8051800" y="3124200"/>
            <a:ext cx="3454400" cy="2667000"/>
          </a:xfrm>
          <a:prstGeom prst="rect">
            <a:avLst/>
          </a:prstGeom>
          <a:noFill/>
        </p:spPr>
        <p:txBody>
          <a:bodyPr wrap="square">
            <a:spAutoFit/>
          </a:bodyPr>
          <a:lstStyle/>
          <a:p>
            <a:pPr algn="l"/>
            <a:r>
              <a:rPr sz="1350" b="0">
                <a:solidFill>
                  <a:srgbClr val="1A2332"/>
                </a:solidFill>
                <a:latin typeface="Noto Sans JP"/>
                <a:ea typeface="Noto Sans JP"/>
                <a:cs typeface="Noto Sans JP"/>
              </a:rPr>
              <a:t>AIと分析基盤への集中投資によりデータドリブン意思決定を実現。パイロット部門での実績から全社展開時の生産性向上効果を2.3倍と試算。</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出典：FY2025年度決算資料（単位：十億円）・社内管理会計データ</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78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3000" b="1">
                <a:solidFill>
                  <a:srgbClr val="1A2332"/>
                </a:solidFill>
                <a:latin typeface="Noto Serif JP"/>
                <a:ea typeface="Noto Serif JP"/>
                <a:cs typeface="Noto Serif JP"/>
              </a:rPr>
              <a:t>FY2025営業利益はコスト増が収益成長を相殺し前年比▲¥3.1Bの減益となった</a:t>
            </a:r>
          </a:p>
        </p:txBody>
      </p:sp>
      <p:sp>
        <p:nvSpPr>
          <p:cNvPr id="5" name="Rectangle 4"/>
          <p:cNvSpPr/>
          <p:nvPr/>
        </p:nvSpPr>
        <p:spPr>
          <a:xfrm>
            <a:off x="762000" y="5372100"/>
            <a:ext cx="106680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7250" y="2695178"/>
            <a:ext cx="1415143" cy="2676922"/>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72393" y="2690416"/>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625" y="2523728"/>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28.4</a:t>
            </a:r>
          </a:p>
        </p:txBody>
      </p:sp>
      <p:sp>
        <p:nvSpPr>
          <p:cNvPr id="9" name="TextBox 8"/>
          <p:cNvSpPr txBox="1"/>
          <p:nvPr/>
        </p:nvSpPr>
        <p:spPr>
          <a:xfrm>
            <a:off x="809625"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FY2024 実績</a:t>
            </a:r>
          </a:p>
        </p:txBody>
      </p:sp>
      <p:sp>
        <p:nvSpPr>
          <p:cNvPr id="10" name="Rectangle 9"/>
          <p:cNvSpPr/>
          <p:nvPr/>
        </p:nvSpPr>
        <p:spPr>
          <a:xfrm>
            <a:off x="2367643" y="2110780"/>
            <a:ext cx="1415143" cy="584398"/>
          </a:xfrm>
          <a:prstGeom prst="rect">
            <a:avLst/>
          </a:prstGeom>
          <a:solidFill>
            <a:srgbClr val="1F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82786" y="2106017"/>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20018" y="1939330"/>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6.2</a:t>
            </a:r>
          </a:p>
        </p:txBody>
      </p:sp>
      <p:sp>
        <p:nvSpPr>
          <p:cNvPr id="13" name="TextBox 12"/>
          <p:cNvSpPr txBox="1"/>
          <p:nvPr/>
        </p:nvSpPr>
        <p:spPr>
          <a:xfrm>
            <a:off x="2320018"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価格 改定</a:t>
            </a:r>
          </a:p>
        </p:txBody>
      </p:sp>
      <p:sp>
        <p:nvSpPr>
          <p:cNvPr id="14" name="Rectangle 13"/>
          <p:cNvSpPr/>
          <p:nvPr/>
        </p:nvSpPr>
        <p:spPr>
          <a:xfrm>
            <a:off x="3878036" y="1752600"/>
            <a:ext cx="1415143" cy="358180"/>
          </a:xfrm>
          <a:prstGeom prst="rect">
            <a:avLst/>
          </a:prstGeom>
          <a:solidFill>
            <a:srgbClr val="1F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93179" y="1747838"/>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30411" y="1581150"/>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3.8</a:t>
            </a:r>
          </a:p>
        </p:txBody>
      </p:sp>
      <p:sp>
        <p:nvSpPr>
          <p:cNvPr id="17" name="TextBox 16"/>
          <p:cNvSpPr txBox="1"/>
          <p:nvPr/>
        </p:nvSpPr>
        <p:spPr>
          <a:xfrm>
            <a:off x="3830411"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数量 増加</a:t>
            </a:r>
          </a:p>
        </p:txBody>
      </p:sp>
      <p:sp>
        <p:nvSpPr>
          <p:cNvPr id="18" name="Rectangle 17"/>
          <p:cNvSpPr/>
          <p:nvPr/>
        </p:nvSpPr>
        <p:spPr>
          <a:xfrm>
            <a:off x="5388429" y="1752600"/>
            <a:ext cx="1415143" cy="697508"/>
          </a:xfrm>
          <a:prstGeom prst="rect">
            <a:avLst/>
          </a:prstGeom>
          <a:solidFill>
            <a:srgbClr val="B2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03571" y="2445345"/>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40804" y="1581150"/>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-7.4</a:t>
            </a:r>
          </a:p>
        </p:txBody>
      </p:sp>
      <p:sp>
        <p:nvSpPr>
          <p:cNvPr id="21" name="TextBox 20"/>
          <p:cNvSpPr txBox="1"/>
          <p:nvPr/>
        </p:nvSpPr>
        <p:spPr>
          <a:xfrm>
            <a:off x="5340804"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原材料 高騰</a:t>
            </a:r>
          </a:p>
        </p:txBody>
      </p:sp>
      <p:sp>
        <p:nvSpPr>
          <p:cNvPr id="22" name="Rectangle 21"/>
          <p:cNvSpPr/>
          <p:nvPr/>
        </p:nvSpPr>
        <p:spPr>
          <a:xfrm>
            <a:off x="6898821" y="2450108"/>
            <a:ext cx="1415143" cy="386457"/>
          </a:xfrm>
          <a:prstGeom prst="rect">
            <a:avLst/>
          </a:prstGeom>
          <a:solidFill>
            <a:srgbClr val="B2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13964" y="2831802"/>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1196" y="2278658"/>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-4.1</a:t>
            </a:r>
          </a:p>
        </p:txBody>
      </p:sp>
      <p:sp>
        <p:nvSpPr>
          <p:cNvPr id="25" name="TextBox 24"/>
          <p:cNvSpPr txBox="1"/>
          <p:nvPr/>
        </p:nvSpPr>
        <p:spPr>
          <a:xfrm>
            <a:off x="6851196"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人件費 増加</a:t>
            </a:r>
          </a:p>
        </p:txBody>
      </p:sp>
      <p:sp>
        <p:nvSpPr>
          <p:cNvPr id="26" name="Rectangle 25"/>
          <p:cNvSpPr/>
          <p:nvPr/>
        </p:nvSpPr>
        <p:spPr>
          <a:xfrm>
            <a:off x="8409214" y="2836565"/>
            <a:ext cx="1415143" cy="150812"/>
          </a:xfrm>
          <a:prstGeom prst="rect">
            <a:avLst/>
          </a:prstGeom>
          <a:solidFill>
            <a:srgbClr val="B2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824357" y="2982615"/>
            <a:ext cx="9525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1589" y="2665115"/>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-1.6</a:t>
            </a:r>
          </a:p>
        </p:txBody>
      </p:sp>
      <p:sp>
        <p:nvSpPr>
          <p:cNvPr id="29" name="TextBox 28"/>
          <p:cNvSpPr txBox="1"/>
          <p:nvPr/>
        </p:nvSpPr>
        <p:spPr>
          <a:xfrm>
            <a:off x="8361589"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物流費 上昇</a:t>
            </a:r>
          </a:p>
        </p:txBody>
      </p:sp>
      <p:sp>
        <p:nvSpPr>
          <p:cNvPr id="30" name="Rectangle 29"/>
          <p:cNvSpPr/>
          <p:nvPr/>
        </p:nvSpPr>
        <p:spPr>
          <a:xfrm>
            <a:off x="9919607" y="2987377"/>
            <a:ext cx="1415143" cy="2384723"/>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1982" y="2815927"/>
            <a:ext cx="1510393"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25.3</a:t>
            </a:r>
          </a:p>
        </p:txBody>
      </p:sp>
      <p:sp>
        <p:nvSpPr>
          <p:cNvPr id="32" name="TextBox 31"/>
          <p:cNvSpPr txBox="1"/>
          <p:nvPr/>
        </p:nvSpPr>
        <p:spPr>
          <a:xfrm>
            <a:off x="9871982" y="5410200"/>
            <a:ext cx="1510393" cy="171450"/>
          </a:xfrm>
          <a:prstGeom prst="rect">
            <a:avLst/>
          </a:prstGeom>
          <a:noFill/>
        </p:spPr>
        <p:txBody>
          <a:bodyPr wrap="square">
            <a:spAutoFit/>
          </a:bodyPr>
          <a:lstStyle/>
          <a:p>
            <a:pPr algn="ctr"/>
            <a:r>
              <a:rPr sz="975" b="0">
                <a:solidFill>
                  <a:srgbClr val="5A6675"/>
                </a:solidFill>
                <a:latin typeface="Noto Sans JP"/>
                <a:ea typeface="Noto Sans JP"/>
                <a:cs typeface="Noto Sans JP"/>
              </a:rPr>
              <a:t>FY2025 実績</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出典：IDC Japan「国内SaaS市場予測 2025-2029」・矢野経済研究所 2025年版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79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国内BtoB SaaS市場はエンタープライズ領域が規模・成長率ともに最大機会を形成している</a:t>
            </a:r>
          </a:p>
        </p:txBody>
      </p:sp>
      <p:sp>
        <p:nvSpPr>
          <p:cNvPr id="5" name="Rectangle 4"/>
          <p:cNvSpPr/>
          <p:nvPr/>
        </p:nvSpPr>
        <p:spPr>
          <a:xfrm>
            <a:off x="723900" y="1524000"/>
            <a:ext cx="3556000" cy="1077468"/>
          </a:xfrm>
          <a:prstGeom prst="rect">
            <a:avLst/>
          </a:prstGeom>
          <a:solidFill>
            <a:srgbClr val="0A2540"/>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1977009"/>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HR Tech 28%</a:t>
            </a:r>
          </a:p>
        </p:txBody>
      </p:sp>
      <p:sp>
        <p:nvSpPr>
          <p:cNvPr id="7" name="Rectangle 6"/>
          <p:cNvSpPr/>
          <p:nvPr/>
        </p:nvSpPr>
        <p:spPr>
          <a:xfrm>
            <a:off x="723900" y="2601468"/>
            <a:ext cx="3556000" cy="1616202"/>
          </a:xfrm>
          <a:prstGeom prst="rect">
            <a:avLst/>
          </a:prstGeom>
          <a:solidFill>
            <a:srgbClr val="3C6E91"/>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3323844"/>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会計/経費 42%</a:t>
            </a:r>
          </a:p>
        </p:txBody>
      </p:sp>
      <p:sp>
        <p:nvSpPr>
          <p:cNvPr id="9" name="Rectangle 8"/>
          <p:cNvSpPr/>
          <p:nvPr/>
        </p:nvSpPr>
        <p:spPr>
          <a:xfrm>
            <a:off x="723900" y="4217670"/>
            <a:ext cx="3556000" cy="1154430"/>
          </a:xfrm>
          <a:prstGeom prst="rect">
            <a:avLst/>
          </a:prstGeom>
          <a:solidFill>
            <a:srgbClr val="C8102E"/>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4709160"/>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CRM 30%</a:t>
            </a:r>
          </a:p>
        </p:txBody>
      </p:sp>
      <p:sp>
        <p:nvSpPr>
          <p:cNvPr id="11" name="TextBox 10"/>
          <p:cNvSpPr txBox="1"/>
          <p:nvPr/>
        </p:nvSpPr>
        <p:spPr>
          <a:xfrm>
            <a:off x="723900" y="5429250"/>
            <a:ext cx="3556000" cy="323850"/>
          </a:xfrm>
          <a:prstGeom prst="rect">
            <a:avLst/>
          </a:prstGeom>
          <a:noFill/>
        </p:spPr>
        <p:txBody>
          <a:bodyPr wrap="square">
            <a:spAutoFit/>
          </a:bodyPr>
          <a:lstStyle/>
          <a:p>
            <a:pPr algn="ctr"/>
            <a:r>
              <a:rPr sz="975" b="0">
                <a:solidFill>
                  <a:srgbClr val="1A2332"/>
                </a:solidFill>
                <a:latin typeface="Noto Sans JP"/>
                <a:ea typeface="Noto Sans JP"/>
                <a:cs typeface="Noto Sans JP"/>
              </a:rPr>
              <a:t>SMB
35%</a:t>
            </a:r>
          </a:p>
        </p:txBody>
      </p:sp>
      <p:sp>
        <p:nvSpPr>
          <p:cNvPr id="12" name="Rectangle 11"/>
          <p:cNvSpPr/>
          <p:nvPr/>
        </p:nvSpPr>
        <p:spPr>
          <a:xfrm>
            <a:off x="4318000" y="1524000"/>
            <a:ext cx="3556000" cy="846582"/>
          </a:xfrm>
          <a:prstGeom prst="rect">
            <a:avLst/>
          </a:prstGeom>
          <a:solidFill>
            <a:srgbClr val="0A2540"/>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1861566"/>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HR Tech 22%</a:t>
            </a:r>
          </a:p>
        </p:txBody>
      </p:sp>
      <p:sp>
        <p:nvSpPr>
          <p:cNvPr id="14" name="Rectangle 13"/>
          <p:cNvSpPr/>
          <p:nvPr/>
        </p:nvSpPr>
        <p:spPr>
          <a:xfrm>
            <a:off x="4318000" y="2370582"/>
            <a:ext cx="3556000" cy="1346835"/>
          </a:xfrm>
          <a:prstGeom prst="rect">
            <a:avLst/>
          </a:prstGeom>
          <a:solidFill>
            <a:srgbClr val="3C6E91"/>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56100" y="2958274"/>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会計/経費 35%</a:t>
            </a:r>
          </a:p>
        </p:txBody>
      </p:sp>
      <p:sp>
        <p:nvSpPr>
          <p:cNvPr id="16" name="Rectangle 15"/>
          <p:cNvSpPr/>
          <p:nvPr/>
        </p:nvSpPr>
        <p:spPr>
          <a:xfrm>
            <a:off x="4318000" y="3717417"/>
            <a:ext cx="3556000" cy="1654683"/>
          </a:xfrm>
          <a:prstGeom prst="rect">
            <a:avLst/>
          </a:prstGeom>
          <a:solidFill>
            <a:srgbClr val="C8102E"/>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56100" y="4459034"/>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CRM 43%</a:t>
            </a:r>
          </a:p>
        </p:txBody>
      </p:sp>
      <p:sp>
        <p:nvSpPr>
          <p:cNvPr id="18" name="TextBox 17"/>
          <p:cNvSpPr txBox="1"/>
          <p:nvPr/>
        </p:nvSpPr>
        <p:spPr>
          <a:xfrm>
            <a:off x="4318000" y="5429250"/>
            <a:ext cx="3556000" cy="323850"/>
          </a:xfrm>
          <a:prstGeom prst="rect">
            <a:avLst/>
          </a:prstGeom>
          <a:noFill/>
        </p:spPr>
        <p:txBody>
          <a:bodyPr wrap="square">
            <a:spAutoFit/>
          </a:bodyPr>
          <a:lstStyle/>
          <a:p>
            <a:pPr algn="ctr"/>
            <a:r>
              <a:rPr sz="975" b="0">
                <a:solidFill>
                  <a:srgbClr val="1A2332"/>
                </a:solidFill>
                <a:latin typeface="Noto Sans JP"/>
                <a:ea typeface="Noto Sans JP"/>
                <a:cs typeface="Noto Sans JP"/>
              </a:rPr>
              <a:t>ミッドマーケット
28%</a:t>
            </a:r>
          </a:p>
        </p:txBody>
      </p:sp>
      <p:sp>
        <p:nvSpPr>
          <p:cNvPr id="19" name="Rectangle 18"/>
          <p:cNvSpPr/>
          <p:nvPr/>
        </p:nvSpPr>
        <p:spPr>
          <a:xfrm>
            <a:off x="7912100" y="1524000"/>
            <a:ext cx="3556000" cy="692658"/>
          </a:xfrm>
          <a:prstGeom prst="rect">
            <a:avLst/>
          </a:prstGeom>
          <a:solidFill>
            <a:srgbClr val="0A2540"/>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0200" y="1784604"/>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HR Tech 18%</a:t>
            </a:r>
          </a:p>
        </p:txBody>
      </p:sp>
      <p:sp>
        <p:nvSpPr>
          <p:cNvPr id="21" name="Rectangle 20"/>
          <p:cNvSpPr/>
          <p:nvPr/>
        </p:nvSpPr>
        <p:spPr>
          <a:xfrm>
            <a:off x="7912100" y="2216658"/>
            <a:ext cx="3556000" cy="1038987"/>
          </a:xfrm>
          <a:prstGeom prst="rect">
            <a:avLst/>
          </a:prstGeom>
          <a:solidFill>
            <a:srgbClr val="3C6E91"/>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0200" y="2650426"/>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会計/経費 27%</a:t>
            </a:r>
          </a:p>
        </p:txBody>
      </p:sp>
      <p:sp>
        <p:nvSpPr>
          <p:cNvPr id="23" name="Rectangle 22"/>
          <p:cNvSpPr/>
          <p:nvPr/>
        </p:nvSpPr>
        <p:spPr>
          <a:xfrm>
            <a:off x="7912100" y="3255645"/>
            <a:ext cx="3556000" cy="2116455"/>
          </a:xfrm>
          <a:prstGeom prst="rect">
            <a:avLst/>
          </a:prstGeom>
          <a:solidFill>
            <a:srgbClr val="C8102E"/>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0200" y="4228148"/>
            <a:ext cx="3479800" cy="171450"/>
          </a:xfrm>
          <a:prstGeom prst="rect">
            <a:avLst/>
          </a:prstGeom>
          <a:noFill/>
        </p:spPr>
        <p:txBody>
          <a:bodyPr wrap="square">
            <a:spAutoFit/>
          </a:bodyPr>
          <a:lstStyle/>
          <a:p>
            <a:pPr algn="ctr"/>
            <a:r>
              <a:rPr sz="975" b="0">
                <a:solidFill>
                  <a:srgbClr val="FFFFFF"/>
                </a:solidFill>
                <a:latin typeface="Noto Sans JP"/>
                <a:ea typeface="Noto Sans JP"/>
                <a:cs typeface="Noto Sans JP"/>
              </a:rPr>
              <a:t>CRM 55%</a:t>
            </a:r>
          </a:p>
        </p:txBody>
      </p:sp>
      <p:sp>
        <p:nvSpPr>
          <p:cNvPr id="25" name="TextBox 24"/>
          <p:cNvSpPr txBox="1"/>
          <p:nvPr/>
        </p:nvSpPr>
        <p:spPr>
          <a:xfrm>
            <a:off x="7912100" y="5429250"/>
            <a:ext cx="3556000" cy="323850"/>
          </a:xfrm>
          <a:prstGeom prst="rect">
            <a:avLst/>
          </a:prstGeom>
          <a:noFill/>
        </p:spPr>
        <p:txBody>
          <a:bodyPr wrap="square">
            <a:spAutoFit/>
          </a:bodyPr>
          <a:lstStyle/>
          <a:p>
            <a:pPr algn="ctr"/>
            <a:r>
              <a:rPr sz="975" b="0">
                <a:solidFill>
                  <a:srgbClr val="1A2332"/>
                </a:solidFill>
                <a:latin typeface="Noto Sans JP"/>
                <a:ea typeface="Noto Sans JP"/>
                <a:cs typeface="Noto Sans JP"/>
              </a:rPr>
              <a:t>エンタープライズ
37%</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出典：IDC Japan 2025・社内市場調査（2025年Q4）</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80 / 98</a:t>
            </a:r>
          </a:p>
        </p:txBody>
      </p:sp>
      <p:sp>
        <p:nvSpPr>
          <p:cNvPr id="4" name="TextBox 3"/>
          <p:cNvSpPr txBox="1"/>
          <p:nvPr/>
        </p:nvSpPr>
        <p:spPr>
          <a:xfrm>
            <a:off x="685800" y="533400"/>
            <a:ext cx="10820400" cy="762000"/>
          </a:xfrm>
          <a:prstGeom prst="rect">
            <a:avLst/>
          </a:prstGeom>
          <a:noFill/>
        </p:spPr>
        <p:txBody>
          <a:bodyPr wrap="square">
            <a:spAutoFit/>
          </a:bodyPr>
          <a:lstStyle/>
          <a:p>
            <a:pPr algn="l"/>
            <a:r>
              <a:rPr sz="2400" b="1">
                <a:solidFill>
                  <a:srgbClr val="1A2332"/>
                </a:solidFill>
                <a:latin typeface="Noto Serif JP"/>
                <a:ea typeface="Noto Serif JP"/>
                <a:cs typeface="Noto Serif JP"/>
              </a:rPr>
              <a:t>自社はCRMで高い競争優位を持つが市場魅力度が低い象限に位置しており事業再編が急務</a:t>
            </a:r>
          </a:p>
        </p:txBody>
      </p:sp>
      <p:sp>
        <p:nvSpPr>
          <p:cNvPr id="5" name="Rectangle 4"/>
          <p:cNvSpPr/>
          <p:nvPr/>
        </p:nvSpPr>
        <p:spPr>
          <a:xfrm>
            <a:off x="1066800" y="1828800"/>
            <a:ext cx="4110038" cy="1828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76838" y="1828800"/>
            <a:ext cx="4110038" cy="1828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6800" y="3657600"/>
            <a:ext cx="4110038" cy="1828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176838" y="3657600"/>
            <a:ext cx="4110038" cy="1828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72075" y="1828800"/>
            <a:ext cx="9525" cy="36576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6800" y="3652838"/>
            <a:ext cx="8220075"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6800" y="5481638"/>
            <a:ext cx="8220075" cy="9525"/>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6800" y="1828800"/>
            <a:ext cx="9525" cy="3657600"/>
          </a:xfrm>
          <a:prstGeom prst="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441502" y="3840480"/>
            <a:ext cx="731520" cy="731520"/>
          </a:xfrm>
          <a:prstGeom prst="ellipse">
            <a:avLst/>
          </a:prstGeom>
          <a:solidFill>
            <a:srgbClr val="0A254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61811" y="2548905"/>
            <a:ext cx="608046" cy="608046"/>
          </a:xfrm>
          <a:prstGeom prst="ellipse">
            <a:avLst/>
          </a:prstGeom>
          <a:solidFill>
            <a:srgbClr val="3C6E91"/>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61422" y="2679608"/>
            <a:ext cx="639248" cy="639248"/>
          </a:xfrm>
          <a:prstGeom prst="ellipse">
            <a:avLst/>
          </a:prstGeom>
          <a:solidFill>
            <a:srgbClr val="C8102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21826" y="3484157"/>
            <a:ext cx="493191" cy="493191"/>
          </a:xfrm>
          <a:prstGeom prst="ellipse">
            <a:avLst/>
          </a:prstGeom>
          <a:solidFill>
            <a:srgbClr val="0A254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78598" y="2168197"/>
            <a:ext cx="418486" cy="418486"/>
          </a:xfrm>
          <a:prstGeom prst="ellipse">
            <a:avLst/>
          </a:prstGeom>
          <a:solidFill>
            <a:srgbClr val="3C6E91"/>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6800" y="5524500"/>
            <a:ext cx="4110038" cy="152400"/>
          </a:xfrm>
          <a:prstGeom prst="rect">
            <a:avLst/>
          </a:prstGeom>
          <a:noFill/>
        </p:spPr>
        <p:txBody>
          <a:bodyPr wrap="square">
            <a:spAutoFit/>
          </a:bodyPr>
          <a:lstStyle/>
          <a:p>
            <a:pPr algn="l"/>
            <a:r>
              <a:rPr sz="975" b="0">
                <a:solidFill>
                  <a:srgbClr val="5A6675"/>
                </a:solidFill>
                <a:latin typeface="Noto Sans JP"/>
                <a:ea typeface="Noto Sans JP"/>
                <a:cs typeface="Noto Sans JP"/>
              </a:rPr>
              <a:t>低</a:t>
            </a:r>
          </a:p>
        </p:txBody>
      </p:sp>
      <p:sp>
        <p:nvSpPr>
          <p:cNvPr id="19" name="TextBox 18"/>
          <p:cNvSpPr txBox="1"/>
          <p:nvPr/>
        </p:nvSpPr>
        <p:spPr>
          <a:xfrm>
            <a:off x="5176838" y="5524500"/>
            <a:ext cx="4110038" cy="152400"/>
          </a:xfrm>
          <a:prstGeom prst="rect">
            <a:avLst/>
          </a:prstGeom>
          <a:noFill/>
        </p:spPr>
        <p:txBody>
          <a:bodyPr wrap="square">
            <a:spAutoFit/>
          </a:bodyPr>
          <a:lstStyle/>
          <a:p>
            <a:pPr algn="r"/>
            <a:r>
              <a:rPr sz="975" b="0">
                <a:solidFill>
                  <a:srgbClr val="5A6675"/>
                </a:solidFill>
                <a:latin typeface="Noto Sans JP"/>
                <a:ea typeface="Noto Sans JP"/>
                <a:cs typeface="Noto Sans JP"/>
              </a:rPr>
              <a:t>高</a:t>
            </a:r>
          </a:p>
        </p:txBody>
      </p:sp>
      <p:sp>
        <p:nvSpPr>
          <p:cNvPr id="20" name="TextBox 19"/>
          <p:cNvSpPr txBox="1"/>
          <p:nvPr/>
        </p:nvSpPr>
        <p:spPr>
          <a:xfrm>
            <a:off x="685800" y="5334000"/>
            <a:ext cx="361950" cy="152400"/>
          </a:xfrm>
          <a:prstGeom prst="rect">
            <a:avLst/>
          </a:prstGeom>
          <a:noFill/>
        </p:spPr>
        <p:txBody>
          <a:bodyPr wrap="square">
            <a:spAutoFit/>
          </a:bodyPr>
          <a:lstStyle/>
          <a:p>
            <a:pPr algn="r"/>
            <a:r>
              <a:rPr sz="975" b="0">
                <a:solidFill>
                  <a:srgbClr val="5A6675"/>
                </a:solidFill>
                <a:latin typeface="Noto Sans JP"/>
                <a:ea typeface="Noto Sans JP"/>
                <a:cs typeface="Noto Sans JP"/>
              </a:rPr>
              <a:t>低</a:t>
            </a:r>
          </a:p>
        </p:txBody>
      </p:sp>
      <p:sp>
        <p:nvSpPr>
          <p:cNvPr id="21" name="TextBox 20"/>
          <p:cNvSpPr txBox="1"/>
          <p:nvPr/>
        </p:nvSpPr>
        <p:spPr>
          <a:xfrm>
            <a:off x="685800" y="1828800"/>
            <a:ext cx="361950" cy="152400"/>
          </a:xfrm>
          <a:prstGeom prst="rect">
            <a:avLst/>
          </a:prstGeom>
          <a:noFill/>
        </p:spPr>
        <p:txBody>
          <a:bodyPr wrap="square">
            <a:spAutoFit/>
          </a:bodyPr>
          <a:lstStyle/>
          <a:p>
            <a:pPr algn="r"/>
            <a:r>
              <a:rPr sz="975" b="0">
                <a:solidFill>
                  <a:srgbClr val="5A6675"/>
                </a:solidFill>
                <a:latin typeface="Noto Sans JP"/>
                <a:ea typeface="Noto Sans JP"/>
                <a:cs typeface="Noto Sans JP"/>
              </a:rPr>
              <a:t>高</a:t>
            </a:r>
          </a:p>
        </p:txBody>
      </p:sp>
      <p:sp>
        <p:nvSpPr>
          <p:cNvPr id="22" name="TextBox 21"/>
          <p:cNvSpPr txBox="1"/>
          <p:nvPr/>
        </p:nvSpPr>
        <p:spPr>
          <a:xfrm>
            <a:off x="7235762" y="3669030"/>
            <a:ext cx="1143000"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CRM</a:t>
            </a:r>
          </a:p>
        </p:txBody>
      </p:sp>
      <p:sp>
        <p:nvSpPr>
          <p:cNvPr id="23" name="TextBox 22"/>
          <p:cNvSpPr txBox="1"/>
          <p:nvPr/>
        </p:nvSpPr>
        <p:spPr>
          <a:xfrm>
            <a:off x="4194334" y="2377455"/>
            <a:ext cx="1143000"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HR Tech</a:t>
            </a:r>
          </a:p>
        </p:txBody>
      </p:sp>
      <p:sp>
        <p:nvSpPr>
          <p:cNvPr id="24" name="TextBox 23"/>
          <p:cNvSpPr txBox="1"/>
          <p:nvPr/>
        </p:nvSpPr>
        <p:spPr>
          <a:xfrm>
            <a:off x="5509546" y="2508158"/>
            <a:ext cx="1143000"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会計SaaS</a:t>
            </a:r>
          </a:p>
        </p:txBody>
      </p:sp>
      <p:sp>
        <p:nvSpPr>
          <p:cNvPr id="25" name="TextBox 24"/>
          <p:cNvSpPr txBox="1"/>
          <p:nvPr/>
        </p:nvSpPr>
        <p:spPr>
          <a:xfrm>
            <a:off x="2796921" y="3312707"/>
            <a:ext cx="1143000"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ERP連携</a:t>
            </a:r>
          </a:p>
        </p:txBody>
      </p:sp>
      <p:sp>
        <p:nvSpPr>
          <p:cNvPr id="26" name="TextBox 25"/>
          <p:cNvSpPr txBox="1"/>
          <p:nvPr/>
        </p:nvSpPr>
        <p:spPr>
          <a:xfrm>
            <a:off x="5016341" y="1996747"/>
            <a:ext cx="1143000" cy="152400"/>
          </a:xfrm>
          <a:prstGeom prst="rect">
            <a:avLst/>
          </a:prstGeom>
          <a:noFill/>
        </p:spPr>
        <p:txBody>
          <a:bodyPr wrap="square">
            <a:spAutoFit/>
          </a:bodyPr>
          <a:lstStyle/>
          <a:p>
            <a:pPr algn="ctr"/>
            <a:r>
              <a:rPr sz="975" b="0">
                <a:solidFill>
                  <a:srgbClr val="1A2332"/>
                </a:solidFill>
                <a:latin typeface="Noto Sans JP"/>
                <a:ea typeface="Noto Sans JP"/>
                <a:cs typeface="Noto Sans JP"/>
              </a:rPr>
              <a:t>分析基盤</a:t>
            </a:r>
          </a:p>
        </p:txBody>
      </p:sp>
      <p:sp>
        <p:nvSpPr>
          <p:cNvPr id="27" name="TextBox 26"/>
          <p:cNvSpPr txBox="1"/>
          <p:nvPr/>
        </p:nvSpPr>
        <p:spPr>
          <a:xfrm>
            <a:off x="1104900" y="1866900"/>
            <a:ext cx="4033838" cy="190500"/>
          </a:xfrm>
          <a:prstGeom prst="rect">
            <a:avLst/>
          </a:prstGeom>
          <a:noFill/>
        </p:spPr>
        <p:txBody>
          <a:bodyPr wrap="square">
            <a:spAutoFit/>
          </a:bodyPr>
          <a:lstStyle/>
          <a:p>
            <a:pPr algn="l"/>
            <a:r>
              <a:rPr sz="975" b="0">
                <a:solidFill>
                  <a:srgbClr val="5A6675"/>
                </a:solidFill>
                <a:latin typeface="Noto Sans JP"/>
                <a:ea typeface="Noto Sans JP"/>
                <a:cs typeface="Noto Sans JP"/>
              </a:rPr>
              <a:t>育成投資</a:t>
            </a:r>
          </a:p>
        </p:txBody>
      </p:sp>
      <p:sp>
        <p:nvSpPr>
          <p:cNvPr id="28" name="TextBox 27"/>
          <p:cNvSpPr txBox="1"/>
          <p:nvPr/>
        </p:nvSpPr>
        <p:spPr>
          <a:xfrm>
            <a:off x="5214938" y="1866900"/>
            <a:ext cx="4033838" cy="190500"/>
          </a:xfrm>
          <a:prstGeom prst="rect">
            <a:avLst/>
          </a:prstGeom>
          <a:noFill/>
        </p:spPr>
        <p:txBody>
          <a:bodyPr wrap="square">
            <a:spAutoFit/>
          </a:bodyPr>
          <a:lstStyle/>
          <a:p>
            <a:pPr algn="r"/>
            <a:r>
              <a:rPr sz="975" b="0">
                <a:solidFill>
                  <a:srgbClr val="5A6675"/>
                </a:solidFill>
                <a:latin typeface="Noto Sans JP"/>
                <a:ea typeface="Noto Sans JP"/>
                <a:cs typeface="Noto Sans JP"/>
              </a:rPr>
              <a:t>集中・強化</a:t>
            </a:r>
          </a:p>
        </p:txBody>
      </p:sp>
      <p:sp>
        <p:nvSpPr>
          <p:cNvPr id="29" name="TextBox 28"/>
          <p:cNvSpPr txBox="1"/>
          <p:nvPr/>
        </p:nvSpPr>
        <p:spPr>
          <a:xfrm>
            <a:off x="1104900" y="5334000"/>
            <a:ext cx="4033838" cy="190500"/>
          </a:xfrm>
          <a:prstGeom prst="rect">
            <a:avLst/>
          </a:prstGeom>
          <a:noFill/>
        </p:spPr>
        <p:txBody>
          <a:bodyPr wrap="square">
            <a:spAutoFit/>
          </a:bodyPr>
          <a:lstStyle/>
          <a:p>
            <a:pPr algn="l"/>
            <a:r>
              <a:rPr sz="975" b="0">
                <a:solidFill>
                  <a:srgbClr val="5A6675"/>
                </a:solidFill>
                <a:latin typeface="Noto Sans JP"/>
                <a:ea typeface="Noto Sans JP"/>
                <a:cs typeface="Noto Sans JP"/>
              </a:rPr>
              <a:t>撤退検討</a:t>
            </a:r>
          </a:p>
        </p:txBody>
      </p:sp>
      <p:sp>
        <p:nvSpPr>
          <p:cNvPr id="30" name="TextBox 29"/>
          <p:cNvSpPr txBox="1"/>
          <p:nvPr/>
        </p:nvSpPr>
        <p:spPr>
          <a:xfrm>
            <a:off x="5214938" y="5334000"/>
            <a:ext cx="4033838" cy="190500"/>
          </a:xfrm>
          <a:prstGeom prst="rect">
            <a:avLst/>
          </a:prstGeom>
          <a:noFill/>
        </p:spPr>
        <p:txBody>
          <a:bodyPr wrap="square">
            <a:spAutoFit/>
          </a:bodyPr>
          <a:lstStyle/>
          <a:p>
            <a:pPr algn="r"/>
            <a:r>
              <a:rPr sz="975" b="0">
                <a:solidFill>
                  <a:srgbClr val="5A6675"/>
                </a:solidFill>
                <a:latin typeface="Noto Sans JP"/>
                <a:ea typeface="Noto Sans JP"/>
                <a:cs typeface="Noto Sans JP"/>
              </a:rPr>
              <a:t>収益最大化</a:t>
            </a:r>
          </a:p>
        </p:txBody>
      </p:sp>
      <p:sp>
        <p:nvSpPr>
          <p:cNvPr id="31" name="Rectangle 30"/>
          <p:cNvSpPr/>
          <p:nvPr/>
        </p:nvSpPr>
        <p:spPr>
          <a:xfrm>
            <a:off x="9896475" y="1447800"/>
            <a:ext cx="1609725" cy="441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72675" y="1524000"/>
            <a:ext cx="1457325" cy="190500"/>
          </a:xfrm>
          <a:prstGeom prst="rect">
            <a:avLst/>
          </a:prstGeom>
          <a:noFill/>
        </p:spPr>
        <p:txBody>
          <a:bodyPr wrap="square">
            <a:spAutoFit/>
          </a:bodyPr>
          <a:lstStyle/>
          <a:p>
            <a:pPr algn="l"/>
            <a:r>
              <a:rPr sz="975" b="1">
                <a:solidFill>
                  <a:srgbClr val="5A6675"/>
                </a:solidFill>
                <a:latin typeface="Noto Sans JP"/>
                <a:ea typeface="Noto Sans JP"/>
                <a:cs typeface="Noto Sans JP"/>
              </a:rPr>
              <a:t>凡例</a:t>
            </a:r>
          </a:p>
        </p:txBody>
      </p:sp>
      <p:sp>
        <p:nvSpPr>
          <p:cNvPr id="33" name="TextBox 32"/>
          <p:cNvSpPr txBox="1"/>
          <p:nvPr/>
        </p:nvSpPr>
        <p:spPr>
          <a:xfrm>
            <a:off x="9972675" y="1752600"/>
            <a:ext cx="1457325" cy="4038600"/>
          </a:xfrm>
          <a:prstGeom prst="rect">
            <a:avLst/>
          </a:prstGeom>
          <a:noFill/>
        </p:spPr>
        <p:txBody>
          <a:bodyPr wrap="square">
            <a:spAutoFit/>
          </a:bodyPr>
          <a:lstStyle/>
          <a:p>
            <a:pPr algn="l"/>
            <a:r>
              <a:rPr sz="975" b="0">
                <a:solidFill>
                  <a:srgbClr val="5A6675"/>
                </a:solidFill>
                <a:latin typeface="Noto Sans JP"/>
                <a:ea typeface="Noto Sans JP"/>
                <a:cs typeface="Noto Sans JP"/>
              </a:rPr>
              <a:t>バブルサイズ：
市場規模（億円）
• CRM: ¥5,500億
• HR: ¥3,800億
• 会計: ¥4,200億</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81 / 98</a:t>
            </a:r>
          </a:p>
        </p:txBody>
      </p:sp>
      <p:sp>
        <p:nvSpPr>
          <p:cNvPr id="3" name="TextBox 2"/>
          <p:cNvSpPr txBox="1"/>
          <p:nvPr/>
        </p:nvSpPr>
        <p:spPr>
          <a:xfrm>
            <a:off x="685800" y="533400"/>
            <a:ext cx="10820400" cy="685800"/>
          </a:xfrm>
          <a:prstGeom prst="rect">
            <a:avLst/>
          </a:prstGeom>
          <a:noFill/>
        </p:spPr>
        <p:txBody>
          <a:bodyPr wrap="square">
            <a:spAutoFit/>
          </a:bodyPr>
          <a:lstStyle/>
          <a:p>
            <a:pPr algn="l"/>
            <a:r>
              <a:rPr sz="3000" b="1">
                <a:solidFill>
                  <a:srgbClr val="1A2332"/>
                </a:solidFill>
                <a:latin typeface="Noto Serif JP"/>
                <a:ea typeface="Noto Serif JP"/>
                <a:cs typeface="Noto Serif JP"/>
              </a:rPr>
              <a:t>市場縮小・コスト圧迫・競合台頭の三重苦を打破するには選択と集中による事業再編が唯一の解</a:t>
            </a:r>
          </a:p>
        </p:txBody>
      </p:sp>
      <p:sp>
        <p:nvSpPr>
          <p:cNvPr id="4" name="Rectangle 3"/>
          <p:cNvSpPr/>
          <p:nvPr/>
        </p:nvSpPr>
        <p:spPr>
          <a:xfrm>
            <a:off x="685800" y="2209800"/>
            <a:ext cx="2543175" cy="16002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100" y="2324100"/>
            <a:ext cx="2314575" cy="1371600"/>
          </a:xfrm>
          <a:prstGeom prst="rect">
            <a:avLst/>
          </a:prstGeom>
          <a:noFill/>
        </p:spPr>
        <p:txBody>
          <a:bodyPr wrap="square">
            <a:spAutoFit/>
          </a:bodyPr>
          <a:lstStyle/>
          <a:p>
            <a:pPr algn="ctr"/>
            <a:r>
              <a:rPr sz="1350" b="0">
                <a:solidFill>
                  <a:srgbClr val="1A2332"/>
                </a:solidFill>
                <a:latin typeface="Noto Sans JP"/>
                <a:ea typeface="Noto Sans JP"/>
                <a:cs typeface="Noto Sans JP"/>
              </a:rPr>
              <a:t>市場環境の悪化により現行ポートフォリオの維持は収益性を継続的に毀損する</a:t>
            </a:r>
          </a:p>
        </p:txBody>
      </p:sp>
      <p:sp>
        <p:nvSpPr>
          <p:cNvPr id="6" name="Rectangle 5"/>
          <p:cNvSpPr/>
          <p:nvPr/>
        </p:nvSpPr>
        <p:spPr>
          <a:xfrm>
            <a:off x="4371975" y="2209800"/>
            <a:ext cx="2543175" cy="16002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6275" y="2324100"/>
            <a:ext cx="2314575" cy="1371600"/>
          </a:xfrm>
          <a:prstGeom prst="rect">
            <a:avLst/>
          </a:prstGeom>
          <a:noFill/>
        </p:spPr>
        <p:txBody>
          <a:bodyPr wrap="square">
            <a:spAutoFit/>
          </a:bodyPr>
          <a:lstStyle/>
          <a:p>
            <a:pPr algn="ctr"/>
            <a:r>
              <a:rPr sz="1350" b="0">
                <a:solidFill>
                  <a:srgbClr val="1A2332"/>
                </a:solidFill>
                <a:latin typeface="Noto Sans JP"/>
                <a:ea typeface="Noto Sans JP"/>
                <a:cs typeface="Noto Sans JP"/>
              </a:rPr>
              <a:t>コア領域への投資集中とノンコア撤退により3年でROIC 2倍達成が可能</a:t>
            </a:r>
          </a:p>
        </p:txBody>
      </p:sp>
      <p:sp>
        <p:nvSpPr>
          <p:cNvPr id="8" name="Rectangle 7"/>
          <p:cNvSpPr/>
          <p:nvPr/>
        </p:nvSpPr>
        <p:spPr>
          <a:xfrm>
            <a:off x="8048625" y="2209800"/>
            <a:ext cx="2543175" cy="16002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2925" y="2324100"/>
            <a:ext cx="2314575" cy="1371600"/>
          </a:xfrm>
          <a:prstGeom prst="rect">
            <a:avLst/>
          </a:prstGeom>
          <a:noFill/>
        </p:spPr>
        <p:txBody>
          <a:bodyPr wrap="square">
            <a:spAutoFit/>
          </a:bodyPr>
          <a:lstStyle/>
          <a:p>
            <a:pPr algn="ctr"/>
            <a:r>
              <a:rPr sz="1350" b="0">
                <a:solidFill>
                  <a:srgbClr val="1A2332"/>
                </a:solidFill>
                <a:latin typeface="Noto Sans JP"/>
                <a:ea typeface="Noto Sans JP"/>
                <a:cs typeface="Noto Sans JP"/>
              </a:rPr>
              <a:t>早期着手で競合との差別化を確立し市場再成長期に先行利益を獲得できる</a:t>
            </a:r>
          </a:p>
        </p:txBody>
      </p:sp>
      <p:sp>
        <p:nvSpPr>
          <p:cNvPr id="10" name="Rectangle 9"/>
          <p:cNvSpPr/>
          <p:nvPr/>
        </p:nvSpPr>
        <p:spPr>
          <a:xfrm>
            <a:off x="3486150" y="3000375"/>
            <a:ext cx="56197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48125" y="2952750"/>
            <a:ext cx="19050" cy="1143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67175" y="2971800"/>
            <a:ext cx="19050" cy="762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86225" y="2990850"/>
            <a:ext cx="19050" cy="381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05275" y="3000375"/>
            <a:ext cx="19050"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62800" y="3000375"/>
            <a:ext cx="561975"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24775" y="2952750"/>
            <a:ext cx="19050" cy="1143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43825" y="2971800"/>
            <a:ext cx="19050" cy="762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62875" y="2990850"/>
            <a:ext cx="19050" cy="381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81925" y="3000375"/>
            <a:ext cx="19050" cy="190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486400"/>
            <a:ext cx="10820400" cy="304800"/>
          </a:xfrm>
          <a:prstGeom prst="rect">
            <a:avLst/>
          </a:prstGeom>
          <a:noFill/>
        </p:spPr>
        <p:txBody>
          <a:bodyPr wrap="square">
            <a:spAutoFit/>
          </a:bodyPr>
          <a:lstStyle/>
          <a:p>
            <a:pPr algn="l"/>
            <a:r>
              <a:rPr sz="975" b="0">
                <a:solidFill>
                  <a:srgbClr val="5A6675"/>
                </a:solidFill>
                <a:latin typeface="Noto Sans JP"/>
                <a:ea typeface="Noto Sans JP"/>
                <a:cs typeface="Noto Sans JP"/>
              </a:rPr>
              <a:t>演繹型（問題→解決→行動推奨）</a:t>
            </a:r>
          </a:p>
        </p:txBody>
      </p:sp>
      <p:sp>
        <p:nvSpPr>
          <p:cNvPr id="21" name="TextBox 20"/>
          <p:cNvSpPr txBox="1"/>
          <p:nvPr/>
        </p:nvSpPr>
        <p:spPr>
          <a:xfrm>
            <a:off x="685800" y="6096000"/>
            <a:ext cx="108204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全12スライド構成 | v2.1 Draft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82 / 98</a:t>
            </a:r>
          </a:p>
        </p:txBody>
      </p:sp>
      <p:sp>
        <p:nvSpPr>
          <p:cNvPr id="3" name="TextBox 2"/>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「なぜ国内営業利益率は競合比5pt低いのか」を需要・供給・コストの3軸でMECE分解する</a:t>
            </a:r>
          </a:p>
        </p:txBody>
      </p:sp>
      <p:sp>
        <p:nvSpPr>
          <p:cNvPr id="4" name="Rectangle 3"/>
          <p:cNvSpPr/>
          <p:nvPr/>
        </p:nvSpPr>
        <p:spPr>
          <a:xfrm>
            <a:off x="685800" y="2362200"/>
            <a:ext cx="1619250" cy="10668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2419350"/>
            <a:ext cx="1504950" cy="952500"/>
          </a:xfrm>
          <a:prstGeom prst="rect">
            <a:avLst/>
          </a:prstGeom>
          <a:noFill/>
        </p:spPr>
        <p:txBody>
          <a:bodyPr wrap="square">
            <a:spAutoFit/>
          </a:bodyPr>
          <a:lstStyle/>
          <a:p>
            <a:pPr algn="ctr"/>
            <a:r>
              <a:rPr sz="975" b="0">
                <a:solidFill>
                  <a:srgbClr val="FFFFFF"/>
                </a:solidFill>
                <a:latin typeface="Noto Serif JP"/>
                <a:ea typeface="Noto Serif JP"/>
                <a:cs typeface="Noto Serif JP"/>
              </a:rPr>
              <a:t>営業利益率 競合比▲5pt</a:t>
            </a:r>
          </a:p>
        </p:txBody>
      </p:sp>
      <p:sp>
        <p:nvSpPr>
          <p:cNvPr id="6" name="Rectangle 5"/>
          <p:cNvSpPr/>
          <p:nvPr/>
        </p:nvSpPr>
        <p:spPr>
          <a:xfrm>
            <a:off x="2305050" y="2888456"/>
            <a:ext cx="457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55106" y="1905000"/>
            <a:ext cx="14288" cy="25908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62250" y="1897856"/>
            <a:ext cx="6858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62250" y="3117056"/>
            <a:ext cx="6858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62250" y="4488656"/>
            <a:ext cx="6858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48050" y="1371600"/>
            <a:ext cx="2543175" cy="10668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4250" y="1447800"/>
            <a:ext cx="2390775" cy="914400"/>
          </a:xfrm>
          <a:prstGeom prst="rect">
            <a:avLst/>
          </a:prstGeom>
          <a:noFill/>
        </p:spPr>
        <p:txBody>
          <a:bodyPr wrap="square">
            <a:spAutoFit/>
          </a:bodyPr>
          <a:lstStyle/>
          <a:p>
            <a:pPr algn="ctr"/>
            <a:r>
              <a:rPr sz="1350" b="1">
                <a:solidFill>
                  <a:srgbClr val="1A2332"/>
                </a:solidFill>
                <a:latin typeface="Noto Sans JP"/>
                <a:ea typeface="Noto Sans JP"/>
                <a:cs typeface="Noto Sans JP"/>
              </a:rPr>
              <a:t>収益面の 課題</a:t>
            </a:r>
          </a:p>
        </p:txBody>
      </p:sp>
      <p:sp>
        <p:nvSpPr>
          <p:cNvPr id="13" name="Rectangle 12"/>
          <p:cNvSpPr/>
          <p:nvPr/>
        </p:nvSpPr>
        <p:spPr>
          <a:xfrm>
            <a:off x="3448050" y="2590800"/>
            <a:ext cx="2543175" cy="10668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4250" y="2667000"/>
            <a:ext cx="2390775" cy="914400"/>
          </a:xfrm>
          <a:prstGeom prst="rect">
            <a:avLst/>
          </a:prstGeom>
          <a:noFill/>
        </p:spPr>
        <p:txBody>
          <a:bodyPr wrap="square">
            <a:spAutoFit/>
          </a:bodyPr>
          <a:lstStyle/>
          <a:p>
            <a:pPr algn="ctr"/>
            <a:r>
              <a:rPr sz="1350" b="1">
                <a:solidFill>
                  <a:srgbClr val="1A2332"/>
                </a:solidFill>
                <a:latin typeface="Noto Sans JP"/>
                <a:ea typeface="Noto Sans JP"/>
                <a:cs typeface="Noto Sans JP"/>
              </a:rPr>
              <a:t>コスト面の 課題</a:t>
            </a:r>
          </a:p>
        </p:txBody>
      </p:sp>
      <p:sp>
        <p:nvSpPr>
          <p:cNvPr id="15" name="Rectangle 14"/>
          <p:cNvSpPr/>
          <p:nvPr/>
        </p:nvSpPr>
        <p:spPr>
          <a:xfrm>
            <a:off x="3448050" y="3962400"/>
            <a:ext cx="2543175" cy="10668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4250" y="4038600"/>
            <a:ext cx="2390775" cy="914400"/>
          </a:xfrm>
          <a:prstGeom prst="rect">
            <a:avLst/>
          </a:prstGeom>
          <a:noFill/>
        </p:spPr>
        <p:txBody>
          <a:bodyPr wrap="square">
            <a:spAutoFit/>
          </a:bodyPr>
          <a:lstStyle/>
          <a:p>
            <a:pPr algn="ctr"/>
            <a:r>
              <a:rPr sz="1350" b="1">
                <a:solidFill>
                  <a:srgbClr val="1A2332"/>
                </a:solidFill>
                <a:latin typeface="Noto Sans JP"/>
                <a:ea typeface="Noto Sans JP"/>
                <a:cs typeface="Noto Sans JP"/>
              </a:rPr>
              <a:t>ポートフォリオ 課題</a:t>
            </a:r>
          </a:p>
        </p:txBody>
      </p:sp>
      <p:sp>
        <p:nvSpPr>
          <p:cNvPr id="17" name="Rectangle 16"/>
          <p:cNvSpPr/>
          <p:nvPr/>
        </p:nvSpPr>
        <p:spPr>
          <a:xfrm>
            <a:off x="5991225" y="1897856"/>
            <a:ext cx="-85725"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98356" y="1752600"/>
            <a:ext cx="14288" cy="7239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05500" y="17454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05500" y="24693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91225" y="3117056"/>
            <a:ext cx="-85725"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98356" y="3009900"/>
            <a:ext cx="14288" cy="7239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05500" y="30027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05500" y="37266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91225" y="4488656"/>
            <a:ext cx="-85725"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98356" y="4343400"/>
            <a:ext cx="14288" cy="7239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05500" y="43362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05500" y="5060156"/>
            <a:ext cx="1219200" cy="14288"/>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124700" y="14478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81850" y="14859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価格競争力 不足</a:t>
            </a:r>
          </a:p>
        </p:txBody>
      </p:sp>
      <p:sp>
        <p:nvSpPr>
          <p:cNvPr id="31" name="Rectangle 30"/>
          <p:cNvSpPr/>
          <p:nvPr/>
        </p:nvSpPr>
        <p:spPr>
          <a:xfrm>
            <a:off x="7124700" y="21717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81850" y="22098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顧客単価 低下</a:t>
            </a:r>
          </a:p>
        </p:txBody>
      </p:sp>
      <p:sp>
        <p:nvSpPr>
          <p:cNvPr id="33" name="Rectangle 32"/>
          <p:cNvSpPr/>
          <p:nvPr/>
        </p:nvSpPr>
        <p:spPr>
          <a:xfrm>
            <a:off x="7124700" y="27051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81850" y="27432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製造コスト 高止まり</a:t>
            </a:r>
          </a:p>
        </p:txBody>
      </p:sp>
      <p:sp>
        <p:nvSpPr>
          <p:cNvPr id="35" name="Rectangle 34"/>
          <p:cNvSpPr/>
          <p:nvPr/>
        </p:nvSpPr>
        <p:spPr>
          <a:xfrm>
            <a:off x="7124700" y="34290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81850" y="34671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間接費率 業界最高水準</a:t>
            </a:r>
          </a:p>
        </p:txBody>
      </p:sp>
      <p:sp>
        <p:nvSpPr>
          <p:cNvPr id="37" name="Rectangle 36"/>
          <p:cNvSpPr/>
          <p:nvPr/>
        </p:nvSpPr>
        <p:spPr>
          <a:xfrm>
            <a:off x="7124700" y="40386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81850" y="40767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低採算事業 比率高</a:t>
            </a:r>
          </a:p>
        </p:txBody>
      </p:sp>
      <p:sp>
        <p:nvSpPr>
          <p:cNvPr id="39" name="Rectangle 38"/>
          <p:cNvSpPr/>
          <p:nvPr/>
        </p:nvSpPr>
        <p:spPr>
          <a:xfrm>
            <a:off x="7124700" y="4762500"/>
            <a:ext cx="2543175" cy="609600"/>
          </a:xfrm>
          <a:prstGeom prst="rect">
            <a:avLst/>
          </a:prstGeom>
          <a:solidFill>
            <a:srgbClr val="F4F6F8"/>
          </a:solidFill>
          <a:ln w="9525">
            <a:solidFill>
              <a:srgbClr val="5A66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81850" y="4800600"/>
            <a:ext cx="2428875" cy="533400"/>
          </a:xfrm>
          <a:prstGeom prst="rect">
            <a:avLst/>
          </a:prstGeom>
          <a:noFill/>
        </p:spPr>
        <p:txBody>
          <a:bodyPr wrap="square">
            <a:spAutoFit/>
          </a:bodyPr>
          <a:lstStyle/>
          <a:p>
            <a:pPr algn="ctr"/>
            <a:r>
              <a:rPr sz="1050" b="0">
                <a:solidFill>
                  <a:srgbClr val="1A2332"/>
                </a:solidFill>
                <a:latin typeface="Noto Sans JP"/>
                <a:ea typeface="Noto Sans JP"/>
                <a:cs typeface="Noto Sans JP"/>
              </a:rPr>
              <a:t>成長事業への 投資不足</a:t>
            </a:r>
          </a:p>
        </p:txBody>
      </p:sp>
      <p:sp>
        <p:nvSpPr>
          <p:cNvPr id="41" name="TextBox 40"/>
          <p:cNvSpPr txBox="1"/>
          <p:nvPr/>
        </p:nvSpPr>
        <p:spPr>
          <a:xfrm>
            <a:off x="685800" y="6096000"/>
            <a:ext cx="108204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MECE確認済：3軸は相互排他・網羅的（収益・コスト・ポートフォリオ）</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出典：社内評価委員会（2026年5月）・戦略オプション検討資料 v3</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83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戦略オプション評価：「選択と集中」シナリオが5軸で最もバランスの取れた優位性を示す</a:t>
            </a:r>
          </a:p>
        </p:txBody>
      </p:sp>
      <p:sp>
        <p:nvSpPr>
          <p:cNvPr id="5" name="Rectangle 4"/>
          <p:cNvSpPr/>
          <p:nvPr/>
        </p:nvSpPr>
        <p:spPr>
          <a:xfrm>
            <a:off x="685800" y="1524000"/>
            <a:ext cx="10820400" cy="381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24000"/>
            <a:ext cx="2095500" cy="381000"/>
          </a:xfrm>
          <a:prstGeom prst="rect">
            <a:avLst/>
          </a:prstGeom>
          <a:noFill/>
        </p:spPr>
        <p:txBody>
          <a:bodyPr wrap="square">
            <a:spAutoFit/>
          </a:bodyPr>
          <a:lstStyle/>
          <a:p>
            <a:pPr algn="ctr"/>
            <a:r>
              <a:rPr sz="975" b="0">
                <a:solidFill>
                  <a:srgbClr val="FFFFFF"/>
                </a:solidFill>
                <a:latin typeface="Noto Sans JP"/>
                <a:ea typeface="Noto Sans JP"/>
                <a:cs typeface="Noto Sans JP"/>
              </a:rPr>
              <a:t/>
            </a:r>
          </a:p>
        </p:txBody>
      </p:sp>
      <p:sp>
        <p:nvSpPr>
          <p:cNvPr id="7" name="TextBox 6"/>
          <p:cNvSpPr txBox="1"/>
          <p:nvPr/>
        </p:nvSpPr>
        <p:spPr>
          <a:xfrm>
            <a:off x="281940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収益改善</a:t>
            </a:r>
          </a:p>
        </p:txBody>
      </p:sp>
      <p:sp>
        <p:nvSpPr>
          <p:cNvPr id="8" name="TextBox 7"/>
          <p:cNvSpPr txBox="1"/>
          <p:nvPr/>
        </p:nvSpPr>
        <p:spPr>
          <a:xfrm>
            <a:off x="427355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実行可能性</a:t>
            </a:r>
          </a:p>
        </p:txBody>
      </p:sp>
      <p:sp>
        <p:nvSpPr>
          <p:cNvPr id="9" name="TextBox 8"/>
          <p:cNvSpPr txBox="1"/>
          <p:nvPr/>
        </p:nvSpPr>
        <p:spPr>
          <a:xfrm>
            <a:off x="572770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リスク低減</a:t>
            </a:r>
          </a:p>
        </p:txBody>
      </p:sp>
      <p:sp>
        <p:nvSpPr>
          <p:cNvPr id="10" name="TextBox 9"/>
          <p:cNvSpPr txBox="1"/>
          <p:nvPr/>
        </p:nvSpPr>
        <p:spPr>
          <a:xfrm>
            <a:off x="718185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競合優位</a:t>
            </a:r>
          </a:p>
        </p:txBody>
      </p:sp>
      <p:sp>
        <p:nvSpPr>
          <p:cNvPr id="11" name="TextBox 10"/>
          <p:cNvSpPr txBox="1"/>
          <p:nvPr/>
        </p:nvSpPr>
        <p:spPr>
          <a:xfrm>
            <a:off x="863600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持続性</a:t>
            </a:r>
          </a:p>
        </p:txBody>
      </p:sp>
      <p:sp>
        <p:nvSpPr>
          <p:cNvPr id="12" name="TextBox 11"/>
          <p:cNvSpPr txBox="1"/>
          <p:nvPr/>
        </p:nvSpPr>
        <p:spPr>
          <a:xfrm>
            <a:off x="10090150" y="1524000"/>
            <a:ext cx="1377950" cy="381000"/>
          </a:xfrm>
          <a:prstGeom prst="rect">
            <a:avLst/>
          </a:prstGeom>
          <a:noFill/>
        </p:spPr>
        <p:txBody>
          <a:bodyPr wrap="square">
            <a:spAutoFit/>
          </a:bodyPr>
          <a:lstStyle/>
          <a:p>
            <a:pPr algn="ctr"/>
            <a:r>
              <a:rPr sz="975" b="1">
                <a:solidFill>
                  <a:srgbClr val="FFFFFF"/>
                </a:solidFill>
                <a:latin typeface="Noto Sans JP"/>
                <a:ea typeface="Noto Sans JP"/>
                <a:cs typeface="Noto Sans JP"/>
              </a:rPr>
              <a:t>総合</a:t>
            </a:r>
          </a:p>
        </p:txBody>
      </p:sp>
      <p:sp>
        <p:nvSpPr>
          <p:cNvPr id="13" name="Rectangle 12"/>
          <p:cNvSpPr/>
          <p:nvPr/>
        </p:nvSpPr>
        <p:spPr>
          <a:xfrm>
            <a:off x="685800" y="1905000"/>
            <a:ext cx="108204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19050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1905000"/>
            <a:ext cx="20955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1905000"/>
            <a:ext cx="1943100" cy="952500"/>
          </a:xfrm>
          <a:prstGeom prst="rect">
            <a:avLst/>
          </a:prstGeom>
          <a:noFill/>
        </p:spPr>
        <p:txBody>
          <a:bodyPr wrap="square">
            <a:spAutoFit/>
          </a:bodyPr>
          <a:lstStyle/>
          <a:p>
            <a:pPr algn="l"/>
            <a:r>
              <a:rPr sz="1350" b="1">
                <a:solidFill>
                  <a:srgbClr val="1A2332"/>
                </a:solidFill>
                <a:latin typeface="Noto Sans JP"/>
                <a:ea typeface="Noto Sans JP"/>
                <a:cs typeface="Noto Sans JP"/>
              </a:rPr>
              <a:t>A：現状維持</a:t>
            </a:r>
          </a:p>
        </p:txBody>
      </p:sp>
      <p:sp>
        <p:nvSpPr>
          <p:cNvPr id="17" name="Oval 16"/>
          <p:cNvSpPr/>
          <p:nvPr/>
        </p:nvSpPr>
        <p:spPr>
          <a:xfrm>
            <a:off x="3403600" y="2276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ie 17"/>
          <p:cNvSpPr/>
          <p:nvPr/>
        </p:nvSpPr>
        <p:spPr>
          <a:xfrm>
            <a:off x="3403600" y="2276475"/>
            <a:ext cx="209550" cy="209550"/>
          </a:xfrm>
          <a:prstGeom prst="pie">
            <a:avLst>
              <a:gd name="adj1" fmla="val 16200000"/>
              <a:gd name="adj2" fmla="val 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7750" y="2276475"/>
            <a:ext cx="209550" cy="209550"/>
          </a:xfrm>
          <a:prstGeom prst="ellipse">
            <a:avLst/>
          </a:prstGeom>
          <a:solidFill>
            <a:srgbClr val="0A2540"/>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11900" y="2276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e 20"/>
          <p:cNvSpPr/>
          <p:nvPr/>
        </p:nvSpPr>
        <p:spPr>
          <a:xfrm>
            <a:off x="6311900" y="2276475"/>
            <a:ext cx="209550" cy="2095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66050" y="2276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e 22"/>
          <p:cNvSpPr/>
          <p:nvPr/>
        </p:nvSpPr>
        <p:spPr>
          <a:xfrm>
            <a:off x="7766050" y="2276475"/>
            <a:ext cx="209550" cy="209550"/>
          </a:xfrm>
          <a:prstGeom prst="pie">
            <a:avLst>
              <a:gd name="adj1" fmla="val 16200000"/>
              <a:gd name="adj2" fmla="val 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220200" y="2276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ie 24"/>
          <p:cNvSpPr/>
          <p:nvPr/>
        </p:nvSpPr>
        <p:spPr>
          <a:xfrm>
            <a:off x="9220200" y="2276475"/>
            <a:ext cx="209550" cy="2095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55300" y="2257425"/>
            <a:ext cx="247650" cy="2476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ie 26"/>
          <p:cNvSpPr/>
          <p:nvPr/>
        </p:nvSpPr>
        <p:spPr>
          <a:xfrm>
            <a:off x="10655300" y="2257425"/>
            <a:ext cx="247650" cy="247650"/>
          </a:xfrm>
          <a:prstGeom prst="pie">
            <a:avLst>
              <a:gd name="adj1" fmla="val 16200000"/>
              <a:gd name="adj2" fmla="val 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 y="2857500"/>
            <a:ext cx="10820400" cy="952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28575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2857500"/>
            <a:ext cx="20955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2000" y="2857500"/>
            <a:ext cx="1943100" cy="952500"/>
          </a:xfrm>
          <a:prstGeom prst="rect">
            <a:avLst/>
          </a:prstGeom>
          <a:noFill/>
        </p:spPr>
        <p:txBody>
          <a:bodyPr wrap="square">
            <a:spAutoFit/>
          </a:bodyPr>
          <a:lstStyle/>
          <a:p>
            <a:pPr algn="l"/>
            <a:r>
              <a:rPr sz="1350" b="1">
                <a:solidFill>
                  <a:srgbClr val="1A2332"/>
                </a:solidFill>
                <a:latin typeface="Noto Sans JP"/>
                <a:ea typeface="Noto Sans JP"/>
                <a:cs typeface="Noto Sans JP"/>
              </a:rPr>
              <a:t>B：選択と集中</a:t>
            </a:r>
          </a:p>
        </p:txBody>
      </p:sp>
      <p:sp>
        <p:nvSpPr>
          <p:cNvPr id="32" name="Oval 31"/>
          <p:cNvSpPr/>
          <p:nvPr/>
        </p:nvSpPr>
        <p:spPr>
          <a:xfrm>
            <a:off x="3403600" y="3228975"/>
            <a:ext cx="209550" cy="209550"/>
          </a:xfrm>
          <a:prstGeom prst="ellipse">
            <a:avLst/>
          </a:prstGeom>
          <a:solidFill>
            <a:srgbClr val="0A2540"/>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857750" y="3228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ie 33"/>
          <p:cNvSpPr/>
          <p:nvPr/>
        </p:nvSpPr>
        <p:spPr>
          <a:xfrm>
            <a:off x="4857750" y="32289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311900" y="3228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ie 35"/>
          <p:cNvSpPr/>
          <p:nvPr/>
        </p:nvSpPr>
        <p:spPr>
          <a:xfrm>
            <a:off x="6311900" y="32289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766050" y="3228975"/>
            <a:ext cx="209550" cy="209550"/>
          </a:xfrm>
          <a:prstGeom prst="ellipse">
            <a:avLst/>
          </a:prstGeom>
          <a:solidFill>
            <a:srgbClr val="0A2540"/>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220200" y="3228975"/>
            <a:ext cx="209550" cy="209550"/>
          </a:xfrm>
          <a:prstGeom prst="ellipse">
            <a:avLst/>
          </a:prstGeom>
          <a:solidFill>
            <a:srgbClr val="0A2540"/>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655300" y="3209925"/>
            <a:ext cx="247650" cy="247650"/>
          </a:xfrm>
          <a:prstGeom prst="ellipse">
            <a:avLst/>
          </a:prstGeom>
          <a:solidFill>
            <a:srgbClr val="0A2540"/>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5800" y="3810000"/>
            <a:ext cx="108204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5800" y="38100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85800" y="3810000"/>
            <a:ext cx="20955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2000" y="3810000"/>
            <a:ext cx="1943100" cy="952500"/>
          </a:xfrm>
          <a:prstGeom prst="rect">
            <a:avLst/>
          </a:prstGeom>
          <a:noFill/>
        </p:spPr>
        <p:txBody>
          <a:bodyPr wrap="square">
            <a:spAutoFit/>
          </a:bodyPr>
          <a:lstStyle/>
          <a:p>
            <a:pPr algn="l"/>
            <a:r>
              <a:rPr sz="1350" b="1">
                <a:solidFill>
                  <a:srgbClr val="1A2332"/>
                </a:solidFill>
                <a:latin typeface="Noto Sans JP"/>
                <a:ea typeface="Noto Sans JP"/>
                <a:cs typeface="Noto Sans JP"/>
              </a:rPr>
              <a:t>C：全事業強化</a:t>
            </a:r>
          </a:p>
        </p:txBody>
      </p:sp>
      <p:sp>
        <p:nvSpPr>
          <p:cNvPr id="44" name="Oval 43"/>
          <p:cNvSpPr/>
          <p:nvPr/>
        </p:nvSpPr>
        <p:spPr>
          <a:xfrm>
            <a:off x="3403600" y="4181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ie 44"/>
          <p:cNvSpPr/>
          <p:nvPr/>
        </p:nvSpPr>
        <p:spPr>
          <a:xfrm>
            <a:off x="3403600" y="41814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857750" y="4181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ie 46"/>
          <p:cNvSpPr/>
          <p:nvPr/>
        </p:nvSpPr>
        <p:spPr>
          <a:xfrm>
            <a:off x="4857750" y="4181475"/>
            <a:ext cx="209550" cy="209550"/>
          </a:xfrm>
          <a:prstGeom prst="pie">
            <a:avLst>
              <a:gd name="adj1" fmla="val 16200000"/>
              <a:gd name="adj2" fmla="val 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311900" y="4181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ie 48"/>
          <p:cNvSpPr/>
          <p:nvPr/>
        </p:nvSpPr>
        <p:spPr>
          <a:xfrm>
            <a:off x="6311900" y="4181475"/>
            <a:ext cx="209550" cy="2095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766050" y="4181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ie 50"/>
          <p:cNvSpPr/>
          <p:nvPr/>
        </p:nvSpPr>
        <p:spPr>
          <a:xfrm>
            <a:off x="7766050" y="41814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220200" y="41814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ie 52"/>
          <p:cNvSpPr/>
          <p:nvPr/>
        </p:nvSpPr>
        <p:spPr>
          <a:xfrm>
            <a:off x="9220200" y="4181475"/>
            <a:ext cx="209550" cy="2095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655300" y="4162425"/>
            <a:ext cx="247650" cy="2476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ie 54"/>
          <p:cNvSpPr/>
          <p:nvPr/>
        </p:nvSpPr>
        <p:spPr>
          <a:xfrm>
            <a:off x="10655300" y="4162425"/>
            <a:ext cx="247650" cy="2476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85800" y="4762500"/>
            <a:ext cx="10820400" cy="952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85800" y="47625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85800" y="4762500"/>
            <a:ext cx="2095500" cy="9525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62000" y="4762500"/>
            <a:ext cx="1943100" cy="952500"/>
          </a:xfrm>
          <a:prstGeom prst="rect">
            <a:avLst/>
          </a:prstGeom>
          <a:noFill/>
        </p:spPr>
        <p:txBody>
          <a:bodyPr wrap="square">
            <a:spAutoFit/>
          </a:bodyPr>
          <a:lstStyle/>
          <a:p>
            <a:pPr algn="l"/>
            <a:r>
              <a:rPr sz="1350" b="1">
                <a:solidFill>
                  <a:srgbClr val="1A2332"/>
                </a:solidFill>
                <a:latin typeface="Noto Sans JP"/>
                <a:ea typeface="Noto Sans JP"/>
                <a:cs typeface="Noto Sans JP"/>
              </a:rPr>
              <a:t>D：M&amp;A拡大</a:t>
            </a:r>
          </a:p>
        </p:txBody>
      </p:sp>
      <p:sp>
        <p:nvSpPr>
          <p:cNvPr id="60" name="Oval 59"/>
          <p:cNvSpPr/>
          <p:nvPr/>
        </p:nvSpPr>
        <p:spPr>
          <a:xfrm>
            <a:off x="3403600" y="5133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ie 60"/>
          <p:cNvSpPr/>
          <p:nvPr/>
        </p:nvSpPr>
        <p:spPr>
          <a:xfrm>
            <a:off x="3403600" y="51339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857750" y="5133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ie 62"/>
          <p:cNvSpPr/>
          <p:nvPr/>
        </p:nvSpPr>
        <p:spPr>
          <a:xfrm>
            <a:off x="4857750" y="5133975"/>
            <a:ext cx="209550" cy="209550"/>
          </a:xfrm>
          <a:prstGeom prst="pie">
            <a:avLst>
              <a:gd name="adj1" fmla="val 16200000"/>
              <a:gd name="adj2" fmla="val 54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311900" y="5133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e 64"/>
          <p:cNvSpPr/>
          <p:nvPr/>
        </p:nvSpPr>
        <p:spPr>
          <a:xfrm>
            <a:off x="6311900" y="5133975"/>
            <a:ext cx="209550" cy="209550"/>
          </a:xfrm>
          <a:prstGeom prst="pie">
            <a:avLst>
              <a:gd name="adj1" fmla="val 16200000"/>
              <a:gd name="adj2" fmla="val 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766050" y="5133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ie 66"/>
          <p:cNvSpPr/>
          <p:nvPr/>
        </p:nvSpPr>
        <p:spPr>
          <a:xfrm>
            <a:off x="7766050" y="51339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9220200" y="5133975"/>
            <a:ext cx="209550" cy="2095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ie 68"/>
          <p:cNvSpPr/>
          <p:nvPr/>
        </p:nvSpPr>
        <p:spPr>
          <a:xfrm>
            <a:off x="9220200" y="5133975"/>
            <a:ext cx="209550" cy="2095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0655300" y="5114925"/>
            <a:ext cx="247650" cy="247650"/>
          </a:xfrm>
          <a:prstGeom prst="ellipse">
            <a:avLst/>
          </a:prstGeom>
          <a:solidFill>
            <a:srgbClr val="F4F6F8"/>
          </a:solidFill>
          <a:ln w="15875">
            <a:solidFill>
              <a:srgbClr val="1A2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ie 70"/>
          <p:cNvSpPr/>
          <p:nvPr/>
        </p:nvSpPr>
        <p:spPr>
          <a:xfrm>
            <a:off x="10655300" y="5114925"/>
            <a:ext cx="247650" cy="247650"/>
          </a:xfrm>
          <a:prstGeom prst="pie">
            <a:avLst>
              <a:gd name="adj1" fmla="val 16200000"/>
              <a:gd name="adj2" fmla="val 10800000"/>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85800" y="5715000"/>
            <a:ext cx="10820400" cy="9525"/>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5800" y="5886450"/>
            <a:ext cx="108204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●=優(4) ◕=良(3) ◑=可(2) ◔=要改善(1) ○=不適(0)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出典：FY2025年度業績データ・競合分析レポート（Boston Consulting Group委託 2025年12月）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84 / 98</a:t>
            </a:r>
          </a:p>
        </p:txBody>
      </p:sp>
      <p:sp>
        <p:nvSpPr>
          <p:cNvPr id="4" name="Rectangle 3"/>
          <p:cNvSpPr/>
          <p:nvPr/>
        </p:nvSpPr>
        <p:spPr>
          <a:xfrm>
            <a:off x="685800" y="685800"/>
            <a:ext cx="3457575" cy="2590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685800"/>
            <a:ext cx="3457575" cy="3048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723900"/>
            <a:ext cx="3305175" cy="266700"/>
          </a:xfrm>
          <a:prstGeom prst="rect">
            <a:avLst/>
          </a:prstGeom>
          <a:noFill/>
        </p:spPr>
        <p:txBody>
          <a:bodyPr wrap="square">
            <a:spAutoFit/>
          </a:bodyPr>
          <a:lstStyle/>
          <a:p>
            <a:pPr algn="l"/>
            <a:r>
              <a:rPr sz="1350" b="1">
                <a:solidFill>
                  <a:srgbClr val="FFFFFF"/>
                </a:solidFill>
                <a:latin typeface="Noto Serif JP"/>
                <a:ea typeface="Noto Serif JP"/>
                <a:cs typeface="Noto Serif JP"/>
              </a:rPr>
              <a:t>状況</a:t>
            </a:r>
          </a:p>
        </p:txBody>
      </p:sp>
      <p:sp>
        <p:nvSpPr>
          <p:cNvPr id="7" name="TextBox 6"/>
          <p:cNvSpPr txBox="1"/>
          <p:nvPr/>
        </p:nvSpPr>
        <p:spPr>
          <a:xfrm>
            <a:off x="762000" y="10477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8" name="TextBox 7"/>
          <p:cNvSpPr txBox="1"/>
          <p:nvPr/>
        </p:nvSpPr>
        <p:spPr>
          <a:xfrm>
            <a:off x="895350" y="10477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国内市場は成熟期に入り、過去3年で年平均成長率が8%から2%へ鈍化</a:t>
            </a:r>
          </a:p>
        </p:txBody>
      </p:sp>
      <p:sp>
        <p:nvSpPr>
          <p:cNvPr id="9" name="TextBox 8"/>
          <p:cNvSpPr txBox="1"/>
          <p:nvPr/>
        </p:nvSpPr>
        <p:spPr>
          <a:xfrm>
            <a:off x="762000" y="15811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10" name="TextBox 9"/>
          <p:cNvSpPr txBox="1"/>
          <p:nvPr/>
        </p:nvSpPr>
        <p:spPr>
          <a:xfrm>
            <a:off x="895350" y="15811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デジタル化投資の遅れにより競合比コスト効率が15%低い状況が継続</a:t>
            </a:r>
          </a:p>
        </p:txBody>
      </p:sp>
      <p:sp>
        <p:nvSpPr>
          <p:cNvPr id="11" name="TextBox 10"/>
          <p:cNvSpPr txBox="1"/>
          <p:nvPr/>
        </p:nvSpPr>
        <p:spPr>
          <a:xfrm>
            <a:off x="762000" y="21145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12" name="TextBox 11"/>
          <p:cNvSpPr txBox="1"/>
          <p:nvPr/>
        </p:nvSpPr>
        <p:spPr>
          <a:xfrm>
            <a:off x="895350" y="21145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主要顧客3社が調達先多様化を進め、自社シェアが前年比▲4pt低下</a:t>
            </a:r>
          </a:p>
        </p:txBody>
      </p:sp>
      <p:sp>
        <p:nvSpPr>
          <p:cNvPr id="13" name="TextBox 12"/>
          <p:cNvSpPr txBox="1"/>
          <p:nvPr/>
        </p:nvSpPr>
        <p:spPr>
          <a:xfrm>
            <a:off x="762000" y="26479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14" name="TextBox 13"/>
          <p:cNvSpPr txBox="1"/>
          <p:nvPr/>
        </p:nvSpPr>
        <p:spPr>
          <a:xfrm>
            <a:off x="895350" y="26479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規制変更（2026年改正個人情報保護法）への対応コストが新たに発生</a:t>
            </a:r>
          </a:p>
        </p:txBody>
      </p:sp>
      <p:sp>
        <p:nvSpPr>
          <p:cNvPr id="15" name="Rectangle 14"/>
          <p:cNvSpPr/>
          <p:nvPr/>
        </p:nvSpPr>
        <p:spPr>
          <a:xfrm>
            <a:off x="4371975" y="685800"/>
            <a:ext cx="3457575" cy="2590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1975" y="685800"/>
            <a:ext cx="3457575" cy="3048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48175" y="723900"/>
            <a:ext cx="3305175" cy="266700"/>
          </a:xfrm>
          <a:prstGeom prst="rect">
            <a:avLst/>
          </a:prstGeom>
          <a:noFill/>
        </p:spPr>
        <p:txBody>
          <a:bodyPr wrap="square">
            <a:spAutoFit/>
          </a:bodyPr>
          <a:lstStyle/>
          <a:p>
            <a:pPr algn="l"/>
            <a:r>
              <a:rPr sz="1350" b="1">
                <a:solidFill>
                  <a:srgbClr val="FFFFFF"/>
                </a:solidFill>
                <a:latin typeface="Noto Serif JP"/>
                <a:ea typeface="Noto Serif JP"/>
                <a:cs typeface="Noto Serif JP"/>
              </a:rPr>
              <a:t>論点</a:t>
            </a:r>
          </a:p>
        </p:txBody>
      </p:sp>
      <p:sp>
        <p:nvSpPr>
          <p:cNvPr id="18" name="TextBox 17"/>
          <p:cNvSpPr txBox="1"/>
          <p:nvPr/>
        </p:nvSpPr>
        <p:spPr>
          <a:xfrm>
            <a:off x="4448175" y="10477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19" name="TextBox 18"/>
          <p:cNvSpPr txBox="1"/>
          <p:nvPr/>
        </p:nvSpPr>
        <p:spPr>
          <a:xfrm>
            <a:off x="4581525" y="10477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現行戦略の継続ではFY2027までに営業利益率が業界最低水準に低下する見通し</a:t>
            </a:r>
          </a:p>
        </p:txBody>
      </p:sp>
      <p:sp>
        <p:nvSpPr>
          <p:cNvPr id="20" name="TextBox 19"/>
          <p:cNvSpPr txBox="1"/>
          <p:nvPr/>
        </p:nvSpPr>
        <p:spPr>
          <a:xfrm>
            <a:off x="4448175" y="15811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21" name="TextBox 20"/>
          <p:cNvSpPr txBox="1"/>
          <p:nvPr/>
        </p:nvSpPr>
        <p:spPr>
          <a:xfrm>
            <a:off x="4581525" y="15811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競合大手2社がAI活用によるコスト削減を加速しており価格競争が激化</a:t>
            </a:r>
          </a:p>
        </p:txBody>
      </p:sp>
      <p:sp>
        <p:nvSpPr>
          <p:cNvPr id="22" name="TextBox 21"/>
          <p:cNvSpPr txBox="1"/>
          <p:nvPr/>
        </p:nvSpPr>
        <p:spPr>
          <a:xfrm>
            <a:off x="4448175" y="21145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23" name="TextBox 22"/>
          <p:cNvSpPr txBox="1"/>
          <p:nvPr/>
        </p:nvSpPr>
        <p:spPr>
          <a:xfrm>
            <a:off x="4581525" y="21145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人材確保難により新規事業への投資余力が縮小し機会損失リスクが増大</a:t>
            </a:r>
          </a:p>
        </p:txBody>
      </p:sp>
      <p:sp>
        <p:nvSpPr>
          <p:cNvPr id="24" name="TextBox 23"/>
          <p:cNvSpPr txBox="1"/>
          <p:nvPr/>
        </p:nvSpPr>
        <p:spPr>
          <a:xfrm>
            <a:off x="4448175" y="26479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25" name="TextBox 24"/>
          <p:cNvSpPr txBox="1"/>
          <p:nvPr/>
        </p:nvSpPr>
        <p:spPr>
          <a:xfrm>
            <a:off x="4581525" y="26479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株主からESG・収益性改善の両立要求が強まり戦略的意思決定が急務</a:t>
            </a:r>
          </a:p>
        </p:txBody>
      </p:sp>
      <p:sp>
        <p:nvSpPr>
          <p:cNvPr id="26" name="Rectangle 25"/>
          <p:cNvSpPr/>
          <p:nvPr/>
        </p:nvSpPr>
        <p:spPr>
          <a:xfrm>
            <a:off x="8048625" y="685800"/>
            <a:ext cx="3457575" cy="2590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8625" y="685800"/>
            <a:ext cx="3457575" cy="3048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24825" y="723900"/>
            <a:ext cx="3305175" cy="266700"/>
          </a:xfrm>
          <a:prstGeom prst="rect">
            <a:avLst/>
          </a:prstGeom>
          <a:noFill/>
        </p:spPr>
        <p:txBody>
          <a:bodyPr wrap="square">
            <a:spAutoFit/>
          </a:bodyPr>
          <a:lstStyle/>
          <a:p>
            <a:pPr algn="l"/>
            <a:r>
              <a:rPr sz="1350" b="1">
                <a:solidFill>
                  <a:srgbClr val="FFFFFF"/>
                </a:solidFill>
                <a:latin typeface="Noto Serif JP"/>
                <a:ea typeface="Noto Serif JP"/>
                <a:cs typeface="Noto Serif JP"/>
              </a:rPr>
              <a:t>主要示唆</a:t>
            </a:r>
          </a:p>
        </p:txBody>
      </p:sp>
      <p:sp>
        <p:nvSpPr>
          <p:cNvPr id="29" name="TextBox 28"/>
          <p:cNvSpPr txBox="1"/>
          <p:nvPr/>
        </p:nvSpPr>
        <p:spPr>
          <a:xfrm>
            <a:off x="8124825" y="10477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30" name="TextBox 29"/>
          <p:cNvSpPr txBox="1"/>
          <p:nvPr/>
        </p:nvSpPr>
        <p:spPr>
          <a:xfrm>
            <a:off x="8258175" y="10477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コアSaaS 3事業への集中投資でROICを現状6%から12%へ改善可能</a:t>
            </a:r>
          </a:p>
        </p:txBody>
      </p:sp>
      <p:sp>
        <p:nvSpPr>
          <p:cNvPr id="31" name="TextBox 30"/>
          <p:cNvSpPr txBox="1"/>
          <p:nvPr/>
        </p:nvSpPr>
        <p:spPr>
          <a:xfrm>
            <a:off x="8124825" y="15811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32" name="TextBox 31"/>
          <p:cNvSpPr txBox="1"/>
          <p:nvPr/>
        </p:nvSpPr>
        <p:spPr>
          <a:xfrm>
            <a:off x="8258175" y="15811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非コア2事業の売却・縮小により¥15Bの資金を戦略投資へ再配分できる</a:t>
            </a:r>
          </a:p>
        </p:txBody>
      </p:sp>
      <p:sp>
        <p:nvSpPr>
          <p:cNvPr id="33" name="TextBox 32"/>
          <p:cNvSpPr txBox="1"/>
          <p:nvPr/>
        </p:nvSpPr>
        <p:spPr>
          <a:xfrm>
            <a:off x="8124825" y="21145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34" name="TextBox 33"/>
          <p:cNvSpPr txBox="1"/>
          <p:nvPr/>
        </p:nvSpPr>
        <p:spPr>
          <a:xfrm>
            <a:off x="8258175" y="21145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AIオペレーション化による間接費30%削減で業界平均コスト水準へ収束</a:t>
            </a:r>
          </a:p>
        </p:txBody>
      </p:sp>
      <p:sp>
        <p:nvSpPr>
          <p:cNvPr id="35" name="TextBox 34"/>
          <p:cNvSpPr txBox="1"/>
          <p:nvPr/>
        </p:nvSpPr>
        <p:spPr>
          <a:xfrm>
            <a:off x="8124825" y="2647950"/>
            <a:ext cx="133350" cy="533400"/>
          </a:xfrm>
          <a:prstGeom prst="rect">
            <a:avLst/>
          </a:prstGeom>
          <a:noFill/>
        </p:spPr>
        <p:txBody>
          <a:bodyPr wrap="square">
            <a:spAutoFit/>
          </a:bodyPr>
          <a:lstStyle/>
          <a:p>
            <a:pPr algn="l"/>
            <a:r>
              <a:rPr sz="1050" b="0">
                <a:solidFill>
                  <a:srgbClr val="C8102E"/>
                </a:solidFill>
                <a:latin typeface="Noto Sans JP"/>
                <a:ea typeface="Noto Sans JP"/>
                <a:cs typeface="Noto Sans JP"/>
              </a:rPr>
              <a:t>•</a:t>
            </a:r>
          </a:p>
        </p:txBody>
      </p:sp>
      <p:sp>
        <p:nvSpPr>
          <p:cNvPr id="36" name="TextBox 35"/>
          <p:cNvSpPr txBox="1"/>
          <p:nvPr/>
        </p:nvSpPr>
        <p:spPr>
          <a:xfrm>
            <a:off x="8258175" y="2647950"/>
            <a:ext cx="3171825" cy="533400"/>
          </a:xfrm>
          <a:prstGeom prst="rect">
            <a:avLst/>
          </a:prstGeom>
          <a:noFill/>
        </p:spPr>
        <p:txBody>
          <a:bodyPr wrap="square">
            <a:spAutoFit/>
          </a:bodyPr>
          <a:lstStyle/>
          <a:p>
            <a:pPr algn="l"/>
            <a:r>
              <a:rPr sz="1050" b="0">
                <a:solidFill>
                  <a:srgbClr val="1A2332"/>
                </a:solidFill>
                <a:latin typeface="Noto Sans JP"/>
                <a:ea typeface="Noto Sans JP"/>
                <a:cs typeface="Noto Sans JP"/>
              </a:rPr>
              <a:t>選択と集中の早期着手により2028年に競合比トップポジション奪取が可能</a:t>
            </a:r>
          </a:p>
        </p:txBody>
      </p:sp>
      <p:sp>
        <p:nvSpPr>
          <p:cNvPr id="37" name="Rectangle 36"/>
          <p:cNvSpPr/>
          <p:nvPr/>
        </p:nvSpPr>
        <p:spPr>
          <a:xfrm>
            <a:off x="685800" y="3352800"/>
            <a:ext cx="10820400" cy="5715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85800" y="3467100"/>
            <a:ext cx="10820400" cy="1905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5800" y="3467100"/>
            <a:ext cx="10820400" cy="304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2000" y="3505200"/>
            <a:ext cx="10668000" cy="266700"/>
          </a:xfrm>
          <a:prstGeom prst="rect">
            <a:avLst/>
          </a:prstGeom>
          <a:noFill/>
        </p:spPr>
        <p:txBody>
          <a:bodyPr wrap="square">
            <a:spAutoFit/>
          </a:bodyPr>
          <a:lstStyle/>
          <a:p>
            <a:pPr algn="l"/>
            <a:r>
              <a:rPr sz="1800" b="1">
                <a:solidFill>
                  <a:srgbClr val="FFFFFF"/>
                </a:solidFill>
                <a:latin typeface="Noto Serif JP"/>
                <a:ea typeface="Noto Serif JP"/>
                <a:cs typeface="Noto Serif JP"/>
              </a:rPr>
              <a:t>So-What</a:t>
            </a:r>
          </a:p>
        </p:txBody>
      </p:sp>
      <p:sp>
        <p:nvSpPr>
          <p:cNvPr id="41" name="TextBox 40"/>
          <p:cNvSpPr txBox="1"/>
          <p:nvPr/>
        </p:nvSpPr>
        <p:spPr>
          <a:xfrm>
            <a:off x="800100" y="3848100"/>
            <a:ext cx="10591800" cy="1447800"/>
          </a:xfrm>
          <a:prstGeom prst="rect">
            <a:avLst/>
          </a:prstGeom>
          <a:noFill/>
        </p:spPr>
        <p:txBody>
          <a:bodyPr wrap="square">
            <a:spAutoFit/>
          </a:bodyPr>
          <a:lstStyle/>
          <a:p>
            <a:pPr algn="l"/>
            <a:r>
              <a:rPr sz="1800" b="1">
                <a:solidFill>
                  <a:srgbClr val="1A2332"/>
                </a:solidFill>
                <a:latin typeface="Noto Serif JP"/>
                <a:ea typeface="Noto Serif JP"/>
                <a:cs typeface="Noto Serif JP"/>
              </a:rPr>
              <a:t>選択と集中を今期中に決断し、コアSaaSへの集中投資と非コア撤退を実行することで、3年以内に業界トップの収益性を実現する</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4800" b="1">
                <a:solidFill>
                  <a:srgbClr val="1A2332"/>
                </a:solidFill>
                <a:latin typeface="Noto Serif JP"/>
                <a:ea typeface="Noto Serif JP"/>
                <a:cs typeface="Noto Serif JP"/>
              </a:rPr>
              <a:t>🏫 MBAフレームワーク</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75" b="0">
                <a:solidFill>
                  <a:srgbClr val="5A6675"/>
                </a:solidFill>
                <a:latin typeface="Noto Sans JP"/>
                <a:ea typeface="Noto Sans JP"/>
                <a:cs typeface="Noto Sans JP"/>
              </a:rPr>
              <a:t>strategy-consulting　·　7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85 / 98</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出典：自社内部分析（2026年第1四半期）・競合ベンチマーク調査（2026年4月）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SaaS事業の現状分析：技術優位とブランド認知が外部機会を活かすカギとなる</a:t>
            </a:r>
          </a:p>
        </p:txBody>
      </p:sp>
      <p:sp>
        <p:nvSpPr>
          <p:cNvPr id="5" name="TextBox 4"/>
          <p:cNvSpPr txBox="1"/>
          <p:nvPr/>
        </p:nvSpPr>
        <p:spPr>
          <a:xfrm>
            <a:off x="685800" y="1447800"/>
            <a:ext cx="5295900" cy="304800"/>
          </a:xfrm>
          <a:prstGeom prst="rect">
            <a:avLst/>
          </a:prstGeom>
          <a:noFill/>
        </p:spPr>
        <p:txBody>
          <a:bodyPr wrap="square">
            <a:spAutoFit/>
          </a:bodyPr>
          <a:lstStyle/>
          <a:p>
            <a:pPr algn="ctr"/>
            <a:r>
              <a:rPr sz="975" b="0">
                <a:solidFill>
                  <a:srgbClr val="5A6675"/>
                </a:solidFill>
                <a:latin typeface="Noto Sans JP"/>
                <a:ea typeface="Noto Sans JP"/>
                <a:cs typeface="Noto Sans JP"/>
              </a:rPr>
              <a:t>内部環境</a:t>
            </a:r>
          </a:p>
        </p:txBody>
      </p:sp>
      <p:sp>
        <p:nvSpPr>
          <p:cNvPr id="6" name="TextBox 5"/>
          <p:cNvSpPr txBox="1"/>
          <p:nvPr/>
        </p:nvSpPr>
        <p:spPr>
          <a:xfrm>
            <a:off x="6210300" y="1447800"/>
            <a:ext cx="5295900" cy="304800"/>
          </a:xfrm>
          <a:prstGeom prst="rect">
            <a:avLst/>
          </a:prstGeom>
          <a:noFill/>
        </p:spPr>
        <p:txBody>
          <a:bodyPr wrap="square">
            <a:spAutoFit/>
          </a:bodyPr>
          <a:lstStyle/>
          <a:p>
            <a:pPr algn="ctr"/>
            <a:r>
              <a:rPr sz="975" b="0">
                <a:solidFill>
                  <a:srgbClr val="5A6675"/>
                </a:solidFill>
                <a:latin typeface="Noto Sans JP"/>
                <a:ea typeface="Noto Sans JP"/>
                <a:cs typeface="Noto Sans JP"/>
              </a:rPr>
              <a:t>外部環境</a:t>
            </a:r>
          </a:p>
        </p:txBody>
      </p:sp>
      <p:sp>
        <p:nvSpPr>
          <p:cNvPr id="7" name="Rectangle 6"/>
          <p:cNvSpPr/>
          <p:nvPr/>
        </p:nvSpPr>
        <p:spPr>
          <a:xfrm>
            <a:off x="685800" y="1905000"/>
            <a:ext cx="5295900" cy="2209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050" y="2000250"/>
            <a:ext cx="5105400"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強み（Strengths）</a:t>
            </a:r>
          </a:p>
        </p:txBody>
      </p:sp>
      <p:sp>
        <p:nvSpPr>
          <p:cNvPr id="9" name="TextBox 8"/>
          <p:cNvSpPr txBox="1"/>
          <p:nvPr/>
        </p:nvSpPr>
        <p:spPr>
          <a:xfrm>
            <a:off x="819150" y="2343150"/>
            <a:ext cx="5067300" cy="1676400"/>
          </a:xfrm>
          <a:prstGeom prst="rect">
            <a:avLst/>
          </a:prstGeom>
          <a:noFill/>
        </p:spPr>
        <p:txBody>
          <a:bodyPr wrap="square">
            <a:spAutoFit/>
          </a:bodyPr>
          <a:lstStyle/>
          <a:p>
            <a:pPr algn="l"/>
            <a:r>
              <a:rPr sz="975" b="0">
                <a:solidFill>
                  <a:srgbClr val="1A2332"/>
                </a:solidFill>
                <a:latin typeface="Noto Sans JP"/>
                <a:ea typeface="Noto Sans JP"/>
                <a:cs typeface="Noto Sans JP"/>
              </a:rPr>
              <a:t>・独自AI予測エンジンによる精度優位（競合比+18pp）</a:t>
            </a:r>
          </a:p>
          <a:p>
            <a:pPr algn="l"/>
            <a:r>
              <a:rPr sz="975" b="0">
                <a:solidFill>
                  <a:srgbClr val="1A2332"/>
                </a:solidFill>
                <a:latin typeface="Noto Sans JP"/>
                <a:ea typeface="Noto Sans JP"/>
                <a:cs typeface="Noto Sans JP"/>
              </a:rPr>
              <a:t>・既存2,400社との深い導入実績と高NPS（+62）</a:t>
            </a:r>
          </a:p>
          <a:p>
            <a:pPr algn="l"/>
            <a:r>
              <a:rPr sz="975" b="0">
                <a:solidFill>
                  <a:srgbClr val="1A2332"/>
                </a:solidFill>
                <a:latin typeface="Noto Sans JP"/>
                <a:ea typeface="Noto Sans JP"/>
                <a:cs typeface="Noto Sans JP"/>
              </a:rPr>
              <a:t>・エンジニア450名体制・R&amp;D投資比率28%</a:t>
            </a:r>
          </a:p>
        </p:txBody>
      </p:sp>
      <p:sp>
        <p:nvSpPr>
          <p:cNvPr id="10" name="Rectangle 9"/>
          <p:cNvSpPr/>
          <p:nvPr/>
        </p:nvSpPr>
        <p:spPr>
          <a:xfrm>
            <a:off x="6210300" y="1905000"/>
            <a:ext cx="5295900" cy="2209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5550" y="2000250"/>
            <a:ext cx="5105400"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機会（Opportunities）</a:t>
            </a:r>
          </a:p>
        </p:txBody>
      </p:sp>
      <p:sp>
        <p:nvSpPr>
          <p:cNvPr id="12" name="TextBox 11"/>
          <p:cNvSpPr txBox="1"/>
          <p:nvPr/>
        </p:nvSpPr>
        <p:spPr>
          <a:xfrm>
            <a:off x="6343650" y="2343150"/>
            <a:ext cx="5067300" cy="1676400"/>
          </a:xfrm>
          <a:prstGeom prst="rect">
            <a:avLst/>
          </a:prstGeom>
          <a:noFill/>
        </p:spPr>
        <p:txBody>
          <a:bodyPr wrap="square">
            <a:spAutoFit/>
          </a:bodyPr>
          <a:lstStyle/>
          <a:p>
            <a:pPr algn="l"/>
            <a:r>
              <a:rPr sz="975" b="0">
                <a:solidFill>
                  <a:srgbClr val="1A2332"/>
                </a:solidFill>
                <a:latin typeface="Noto Sans JP"/>
                <a:ea typeface="Noto Sans JP"/>
                <a:cs typeface="Noto Sans JP"/>
              </a:rPr>
              <a:t>・中堅企業DX需要が年率+23%で拡大継続</a:t>
            </a:r>
          </a:p>
          <a:p>
            <a:pPr algn="l"/>
            <a:r>
              <a:rPr sz="975" b="0">
                <a:solidFill>
                  <a:srgbClr val="1A2332"/>
                </a:solidFill>
                <a:latin typeface="Noto Sans JP"/>
                <a:ea typeface="Noto Sans JP"/>
                <a:cs typeface="Noto Sans JP"/>
              </a:rPr>
              <a:t>・政府デジタル化補助金活用によるSMB開拓余地</a:t>
            </a:r>
          </a:p>
          <a:p>
            <a:pPr algn="l"/>
            <a:r>
              <a:rPr sz="975" b="0">
                <a:solidFill>
                  <a:srgbClr val="1A2332"/>
                </a:solidFill>
                <a:latin typeface="Noto Sans JP"/>
                <a:ea typeface="Noto Sans JP"/>
                <a:cs typeface="Noto Sans JP"/>
              </a:rPr>
              <a:t>・東南アジア市場への製品ローカライズ展開機会</a:t>
            </a:r>
          </a:p>
        </p:txBody>
      </p:sp>
      <p:sp>
        <p:nvSpPr>
          <p:cNvPr id="13" name="Rectangle 12"/>
          <p:cNvSpPr/>
          <p:nvPr/>
        </p:nvSpPr>
        <p:spPr>
          <a:xfrm>
            <a:off x="685800" y="4191000"/>
            <a:ext cx="10820400" cy="762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4343400"/>
            <a:ext cx="5295900" cy="1752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050" y="4438650"/>
            <a:ext cx="5105400"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弱み（Weaknesses）</a:t>
            </a:r>
          </a:p>
        </p:txBody>
      </p:sp>
      <p:sp>
        <p:nvSpPr>
          <p:cNvPr id="16" name="TextBox 15"/>
          <p:cNvSpPr txBox="1"/>
          <p:nvPr/>
        </p:nvSpPr>
        <p:spPr>
          <a:xfrm>
            <a:off x="819150" y="4781550"/>
            <a:ext cx="5067300" cy="1219200"/>
          </a:xfrm>
          <a:prstGeom prst="rect">
            <a:avLst/>
          </a:prstGeom>
          <a:noFill/>
        </p:spPr>
        <p:txBody>
          <a:bodyPr wrap="square">
            <a:spAutoFit/>
          </a:bodyPr>
          <a:lstStyle/>
          <a:p>
            <a:pPr algn="l"/>
            <a:r>
              <a:rPr sz="975" b="0">
                <a:solidFill>
                  <a:srgbClr val="1A2332"/>
                </a:solidFill>
                <a:latin typeface="Noto Sans JP"/>
                <a:ea typeface="Noto Sans JP"/>
                <a:cs typeface="Noto Sans JP"/>
              </a:rPr>
              <a:t>・営業人員不足により大企業向けABM展開が遅延</a:t>
            </a:r>
          </a:p>
          <a:p>
            <a:pPr algn="l"/>
            <a:r>
              <a:rPr sz="975" b="0">
                <a:solidFill>
                  <a:srgbClr val="1A2332"/>
                </a:solidFill>
                <a:latin typeface="Noto Sans JP"/>
                <a:ea typeface="Noto Sans JP"/>
                <a:cs typeface="Noto Sans JP"/>
              </a:rPr>
              <a:t>・サポート体制の拡張遅れでCSAT 72点（目標85点）</a:t>
            </a:r>
          </a:p>
          <a:p>
            <a:pPr algn="l"/>
            <a:r>
              <a:rPr sz="975" b="0">
                <a:solidFill>
                  <a:srgbClr val="1A2332"/>
                </a:solidFill>
                <a:latin typeface="Noto Sans JP"/>
                <a:ea typeface="Noto Sans JP"/>
                <a:cs typeface="Noto Sans JP"/>
              </a:rPr>
              <a:t>・マーケティング認知度が競合大手比で35%低い</a:t>
            </a:r>
          </a:p>
        </p:txBody>
      </p:sp>
      <p:sp>
        <p:nvSpPr>
          <p:cNvPr id="17" name="Rectangle 16"/>
          <p:cNvSpPr/>
          <p:nvPr/>
        </p:nvSpPr>
        <p:spPr>
          <a:xfrm>
            <a:off x="6210300" y="4343400"/>
            <a:ext cx="5295900" cy="1752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5550" y="4438650"/>
            <a:ext cx="5105400"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脅威（Threats）</a:t>
            </a:r>
          </a:p>
        </p:txBody>
      </p:sp>
      <p:sp>
        <p:nvSpPr>
          <p:cNvPr id="19" name="TextBox 18"/>
          <p:cNvSpPr txBox="1"/>
          <p:nvPr/>
        </p:nvSpPr>
        <p:spPr>
          <a:xfrm>
            <a:off x="6343650" y="4781550"/>
            <a:ext cx="5067300" cy="1219200"/>
          </a:xfrm>
          <a:prstGeom prst="rect">
            <a:avLst/>
          </a:prstGeom>
          <a:noFill/>
        </p:spPr>
        <p:txBody>
          <a:bodyPr wrap="square">
            <a:spAutoFit/>
          </a:bodyPr>
          <a:lstStyle/>
          <a:p>
            <a:pPr algn="l"/>
            <a:r>
              <a:rPr sz="975" b="0">
                <a:solidFill>
                  <a:srgbClr val="1A2332"/>
                </a:solidFill>
                <a:latin typeface="Noto Sans JP"/>
                <a:ea typeface="Noto Sans JP"/>
                <a:cs typeface="Noto Sans JP"/>
              </a:rPr>
              <a:t>・米系大手のバンドル戦略による価格圧力が激化</a:t>
            </a:r>
          </a:p>
          <a:p>
            <a:pPr algn="l"/>
            <a:r>
              <a:rPr sz="975" b="0">
                <a:solidFill>
                  <a:srgbClr val="1A2332"/>
                </a:solidFill>
                <a:latin typeface="Noto Sans JP"/>
                <a:ea typeface="Noto Sans JP"/>
                <a:cs typeface="Noto Sans JP"/>
              </a:rPr>
              <a:t>・改正個人情報保護法対応コストが新たに発生</a:t>
            </a:r>
          </a:p>
          <a:p>
            <a:pPr algn="l"/>
            <a:r>
              <a:rPr sz="975" b="0">
                <a:solidFill>
                  <a:srgbClr val="1A2332"/>
                </a:solidFill>
                <a:latin typeface="Noto Sans JP"/>
                <a:ea typeface="Noto Sans JP"/>
                <a:cs typeface="Noto Sans JP"/>
              </a:rPr>
              <a:t>・エンジニア採用競争による人件費上昇と離職リスク</a:t>
            </a:r>
          </a:p>
        </p:txBody>
      </p:sp>
      <p:sp>
        <p:nvSpPr>
          <p:cNvPr id="20" name="Rectangle 19"/>
          <p:cNvSpPr/>
          <p:nvPr/>
        </p:nvSpPr>
        <p:spPr>
          <a:xfrm>
            <a:off x="6086475" y="1905000"/>
            <a:ext cx="19050" cy="41910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出典：業界分析レポート（2026年3月）・M社/I社IRデータ比較</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国内クラウドHR市場の競争構造：業界内競合と新規参入が最大の収益圧迫要因</a:t>
            </a:r>
          </a:p>
        </p:txBody>
      </p:sp>
      <p:sp>
        <p:nvSpPr>
          <p:cNvPr id="5" name="Rectangle 4"/>
          <p:cNvSpPr/>
          <p:nvPr/>
        </p:nvSpPr>
        <p:spPr>
          <a:xfrm>
            <a:off x="3448050" y="1371600"/>
            <a:ext cx="5295900" cy="990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43300" y="1466850"/>
            <a:ext cx="5105400"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新規参入の脅威</a:t>
            </a:r>
          </a:p>
        </p:txBody>
      </p:sp>
      <p:sp>
        <p:nvSpPr>
          <p:cNvPr id="7" name="TextBox 6"/>
          <p:cNvSpPr txBox="1"/>
          <p:nvPr/>
        </p:nvSpPr>
        <p:spPr>
          <a:xfrm>
            <a:off x="3543300" y="1724025"/>
            <a:ext cx="5105400" cy="171450"/>
          </a:xfrm>
          <a:prstGeom prst="rect">
            <a:avLst/>
          </a:prstGeom>
          <a:noFill/>
        </p:spPr>
        <p:txBody>
          <a:bodyPr wrap="square">
            <a:spAutoFit/>
          </a:bodyPr>
          <a:lstStyle/>
          <a:p>
            <a:pPr algn="l"/>
            <a:r>
              <a:rPr sz="975" b="0">
                <a:solidFill>
                  <a:srgbClr val="5A6675"/>
                </a:solidFill>
                <a:latin typeface="Noto Sans JP"/>
                <a:ea typeface="Noto Sans JP"/>
                <a:cs typeface="Noto Sans JP"/>
              </a:rPr>
              <a:t>Threat of New Entrants</a:t>
            </a:r>
          </a:p>
        </p:txBody>
      </p:sp>
      <p:sp>
        <p:nvSpPr>
          <p:cNvPr id="8" name="TextBox 7"/>
          <p:cNvSpPr txBox="1"/>
          <p:nvPr/>
        </p:nvSpPr>
        <p:spPr>
          <a:xfrm>
            <a:off x="3543300" y="1895475"/>
            <a:ext cx="5105400" cy="171450"/>
          </a:xfrm>
          <a:prstGeom prst="rect">
            <a:avLst/>
          </a:prstGeom>
          <a:noFill/>
        </p:spPr>
        <p:txBody>
          <a:bodyPr wrap="none">
            <a:spAutoFit/>
          </a:bodyPr>
          <a:lstStyle/>
          <a:p>
            <a:pPr algn="l"/>
            <a:r>
              <a:rPr sz="975" b="1">
                <a:solidFill>
                  <a:srgbClr val="C8102E"/>
                </a:solidFill>
                <a:latin typeface="Noto Sans JP"/>
                <a:ea typeface="Noto Sans JP"/>
                <a:cs typeface="Noto Sans JP"/>
              </a:rPr>
              <a:t>強度：中〜高</a:t>
            </a:r>
          </a:p>
        </p:txBody>
      </p:sp>
      <p:sp>
        <p:nvSpPr>
          <p:cNvPr id="9" name="TextBox 8"/>
          <p:cNvSpPr txBox="1"/>
          <p:nvPr/>
        </p:nvSpPr>
        <p:spPr>
          <a:xfrm>
            <a:off x="3581400" y="2085975"/>
            <a:ext cx="5067300" cy="180975"/>
          </a:xfrm>
          <a:prstGeom prst="rect">
            <a:avLst/>
          </a:prstGeom>
          <a:noFill/>
        </p:spPr>
        <p:txBody>
          <a:bodyPr wrap="square">
            <a:spAutoFit/>
          </a:bodyPr>
          <a:lstStyle/>
          <a:p>
            <a:pPr algn="l"/>
            <a:r>
              <a:rPr sz="975" b="0">
                <a:solidFill>
                  <a:srgbClr val="1A2332"/>
                </a:solidFill>
                <a:latin typeface="Noto Sans JP"/>
                <a:ea typeface="Noto Sans JP"/>
                <a:cs typeface="Noto Sans JP"/>
              </a:rPr>
              <a:t>・グローバルSaaS大手の日本語化進出が加速</a:t>
            </a:r>
          </a:p>
          <a:p>
            <a:pPr algn="l"/>
            <a:r>
              <a:rPr sz="975" b="0">
                <a:solidFill>
                  <a:srgbClr val="1A2332"/>
                </a:solidFill>
                <a:latin typeface="Noto Sans JP"/>
                <a:ea typeface="Noto Sans JP"/>
                <a:cs typeface="Noto Sans JP"/>
              </a:rPr>
              <a:t>・スタートアップの特化型ニッチ製品が相次ぎ登場</a:t>
            </a:r>
          </a:p>
        </p:txBody>
      </p:sp>
      <p:sp>
        <p:nvSpPr>
          <p:cNvPr id="10" name="Rectangle 9"/>
          <p:cNvSpPr/>
          <p:nvPr/>
        </p:nvSpPr>
        <p:spPr>
          <a:xfrm>
            <a:off x="685800" y="2438400"/>
            <a:ext cx="2533650" cy="2057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050" y="2533650"/>
            <a:ext cx="2343150"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売り手の交渉力</a:t>
            </a:r>
          </a:p>
        </p:txBody>
      </p:sp>
      <p:sp>
        <p:nvSpPr>
          <p:cNvPr id="12" name="TextBox 11"/>
          <p:cNvSpPr txBox="1"/>
          <p:nvPr/>
        </p:nvSpPr>
        <p:spPr>
          <a:xfrm>
            <a:off x="781050" y="2790825"/>
            <a:ext cx="2343150" cy="171450"/>
          </a:xfrm>
          <a:prstGeom prst="rect">
            <a:avLst/>
          </a:prstGeom>
          <a:noFill/>
        </p:spPr>
        <p:txBody>
          <a:bodyPr wrap="square">
            <a:spAutoFit/>
          </a:bodyPr>
          <a:lstStyle/>
          <a:p>
            <a:pPr algn="l"/>
            <a:r>
              <a:rPr sz="975" b="0">
                <a:solidFill>
                  <a:srgbClr val="5A6675"/>
                </a:solidFill>
                <a:latin typeface="Noto Sans JP"/>
                <a:ea typeface="Noto Sans JP"/>
                <a:cs typeface="Noto Sans JP"/>
              </a:rPr>
              <a:t>Bargaining Power of Suppliers</a:t>
            </a:r>
          </a:p>
        </p:txBody>
      </p:sp>
      <p:sp>
        <p:nvSpPr>
          <p:cNvPr id="13" name="TextBox 12"/>
          <p:cNvSpPr txBox="1"/>
          <p:nvPr/>
        </p:nvSpPr>
        <p:spPr>
          <a:xfrm>
            <a:off x="781050" y="2962275"/>
            <a:ext cx="2343150" cy="171450"/>
          </a:xfrm>
          <a:prstGeom prst="rect">
            <a:avLst/>
          </a:prstGeom>
          <a:noFill/>
        </p:spPr>
        <p:txBody>
          <a:bodyPr wrap="none">
            <a:spAutoFit/>
          </a:bodyPr>
          <a:lstStyle/>
          <a:p>
            <a:pPr algn="l"/>
            <a:r>
              <a:rPr sz="975" b="1">
                <a:solidFill>
                  <a:srgbClr val="C8102E"/>
                </a:solidFill>
                <a:latin typeface="Noto Sans JP"/>
                <a:ea typeface="Noto Sans JP"/>
                <a:cs typeface="Noto Sans JP"/>
              </a:rPr>
              <a:t>強度：低</a:t>
            </a:r>
          </a:p>
        </p:txBody>
      </p:sp>
      <p:sp>
        <p:nvSpPr>
          <p:cNvPr id="14" name="TextBox 13"/>
          <p:cNvSpPr txBox="1"/>
          <p:nvPr/>
        </p:nvSpPr>
        <p:spPr>
          <a:xfrm>
            <a:off x="819150" y="3152775"/>
            <a:ext cx="2305050" cy="1247775"/>
          </a:xfrm>
          <a:prstGeom prst="rect">
            <a:avLst/>
          </a:prstGeom>
          <a:noFill/>
        </p:spPr>
        <p:txBody>
          <a:bodyPr wrap="square">
            <a:spAutoFit/>
          </a:bodyPr>
          <a:lstStyle/>
          <a:p>
            <a:pPr algn="l"/>
            <a:r>
              <a:rPr sz="975" b="0">
                <a:solidFill>
                  <a:srgbClr val="1A2332"/>
                </a:solidFill>
                <a:latin typeface="Noto Sans JP"/>
                <a:ea typeface="Noto Sans JP"/>
                <a:cs typeface="Noto Sans JP"/>
              </a:rPr>
              <a:t>・クラウドインフラ(AWS/Azure)の供給は安定</a:t>
            </a:r>
          </a:p>
          <a:p>
            <a:pPr algn="l"/>
            <a:r>
              <a:rPr sz="975" b="0">
                <a:solidFill>
                  <a:srgbClr val="1A2332"/>
                </a:solidFill>
                <a:latin typeface="Noto Sans JP"/>
                <a:ea typeface="Noto Sans JP"/>
                <a:cs typeface="Noto Sans JP"/>
              </a:rPr>
              <a:t>・人材市場は逼迫するが代替調達手段あり</a:t>
            </a:r>
          </a:p>
        </p:txBody>
      </p:sp>
      <p:sp>
        <p:nvSpPr>
          <p:cNvPr id="15" name="Rectangle 14"/>
          <p:cNvSpPr/>
          <p:nvPr/>
        </p:nvSpPr>
        <p:spPr>
          <a:xfrm>
            <a:off x="4371975" y="2438400"/>
            <a:ext cx="3457575" cy="20574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7225" y="2533650"/>
            <a:ext cx="3267075" cy="257175"/>
          </a:xfrm>
          <a:prstGeom prst="rect">
            <a:avLst/>
          </a:prstGeom>
          <a:noFill/>
        </p:spPr>
        <p:txBody>
          <a:bodyPr wrap="square">
            <a:spAutoFit/>
          </a:bodyPr>
          <a:lstStyle/>
          <a:p>
            <a:pPr algn="l"/>
            <a:r>
              <a:rPr sz="1350" b="1">
                <a:solidFill>
                  <a:srgbClr val="FFFFFF"/>
                </a:solidFill>
                <a:latin typeface="Noto Serif JP"/>
                <a:ea typeface="Noto Serif JP"/>
                <a:cs typeface="Noto Serif JP"/>
              </a:rPr>
              <a:t>業界内競合</a:t>
            </a:r>
          </a:p>
        </p:txBody>
      </p:sp>
      <p:sp>
        <p:nvSpPr>
          <p:cNvPr id="17" name="TextBox 16"/>
          <p:cNvSpPr txBox="1"/>
          <p:nvPr/>
        </p:nvSpPr>
        <p:spPr>
          <a:xfrm>
            <a:off x="4467225" y="2790825"/>
            <a:ext cx="3267075" cy="171450"/>
          </a:xfrm>
          <a:prstGeom prst="rect">
            <a:avLst/>
          </a:prstGeom>
          <a:noFill/>
        </p:spPr>
        <p:txBody>
          <a:bodyPr wrap="square">
            <a:spAutoFit/>
          </a:bodyPr>
          <a:lstStyle/>
          <a:p>
            <a:pPr algn="l"/>
            <a:r>
              <a:rPr sz="975" b="0">
                <a:solidFill>
                  <a:srgbClr val="AAAAAA"/>
                </a:solidFill>
                <a:latin typeface="Noto Sans JP"/>
                <a:ea typeface="Noto Sans JP"/>
                <a:cs typeface="Noto Sans JP"/>
              </a:rPr>
              <a:t>Industry Rivalry</a:t>
            </a:r>
          </a:p>
        </p:txBody>
      </p:sp>
      <p:sp>
        <p:nvSpPr>
          <p:cNvPr id="18" name="TextBox 17"/>
          <p:cNvSpPr txBox="1"/>
          <p:nvPr/>
        </p:nvSpPr>
        <p:spPr>
          <a:xfrm>
            <a:off x="4467225" y="2962275"/>
            <a:ext cx="3267075" cy="171450"/>
          </a:xfrm>
          <a:prstGeom prst="rect">
            <a:avLst/>
          </a:prstGeom>
          <a:noFill/>
        </p:spPr>
        <p:txBody>
          <a:bodyPr wrap="none">
            <a:spAutoFit/>
          </a:bodyPr>
          <a:lstStyle/>
          <a:p>
            <a:pPr algn="l"/>
            <a:r>
              <a:rPr sz="975" b="1">
                <a:solidFill>
                  <a:srgbClr val="FFD080"/>
                </a:solidFill>
                <a:latin typeface="Noto Sans JP"/>
                <a:ea typeface="Noto Sans JP"/>
                <a:cs typeface="Noto Sans JP"/>
              </a:rPr>
              <a:t>強度：高</a:t>
            </a:r>
          </a:p>
        </p:txBody>
      </p:sp>
      <p:sp>
        <p:nvSpPr>
          <p:cNvPr id="19" name="TextBox 18"/>
          <p:cNvSpPr txBox="1"/>
          <p:nvPr/>
        </p:nvSpPr>
        <p:spPr>
          <a:xfrm>
            <a:off x="4505325" y="3152775"/>
            <a:ext cx="3228975" cy="1247775"/>
          </a:xfrm>
          <a:prstGeom prst="rect">
            <a:avLst/>
          </a:prstGeom>
          <a:noFill/>
        </p:spPr>
        <p:txBody>
          <a:bodyPr wrap="square">
            <a:spAutoFit/>
          </a:bodyPr>
          <a:lstStyle/>
          <a:p>
            <a:pPr algn="l"/>
            <a:r>
              <a:rPr sz="975" b="0">
                <a:solidFill>
                  <a:srgbClr val="FFFFFF"/>
                </a:solidFill>
                <a:latin typeface="Noto Sans JP"/>
                <a:ea typeface="Noto Sans JP"/>
                <a:cs typeface="Noto Sans JP"/>
              </a:rPr>
              <a:t>・主要5社が機能同質化し価格競争が激化</a:t>
            </a:r>
          </a:p>
          <a:p>
            <a:pPr algn="l"/>
            <a:r>
              <a:rPr sz="975" b="0">
                <a:solidFill>
                  <a:srgbClr val="FFFFFF"/>
                </a:solidFill>
                <a:latin typeface="Noto Sans JP"/>
                <a:ea typeface="Noto Sans JP"/>
                <a:cs typeface="Noto Sans JP"/>
              </a:rPr>
              <a:t>・顧客スイッチングコスト低下でチャーン率上昇傾向</a:t>
            </a:r>
          </a:p>
          <a:p>
            <a:pPr algn="l"/>
            <a:r>
              <a:rPr sz="975" b="0">
                <a:solidFill>
                  <a:srgbClr val="FFFFFF"/>
                </a:solidFill>
                <a:latin typeface="Noto Sans JP"/>
                <a:ea typeface="Noto Sans JP"/>
                <a:cs typeface="Noto Sans JP"/>
              </a:rPr>
              <a:t>・シェア争いがマーケティング費用を押し上げ</a:t>
            </a:r>
          </a:p>
        </p:txBody>
      </p:sp>
      <p:sp>
        <p:nvSpPr>
          <p:cNvPr id="20" name="Rectangle 19"/>
          <p:cNvSpPr/>
          <p:nvPr/>
        </p:nvSpPr>
        <p:spPr>
          <a:xfrm>
            <a:off x="8972550" y="2438400"/>
            <a:ext cx="2533650" cy="2057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67800" y="2533650"/>
            <a:ext cx="2343150"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買い手の交渉力</a:t>
            </a:r>
          </a:p>
        </p:txBody>
      </p:sp>
      <p:sp>
        <p:nvSpPr>
          <p:cNvPr id="22" name="TextBox 21"/>
          <p:cNvSpPr txBox="1"/>
          <p:nvPr/>
        </p:nvSpPr>
        <p:spPr>
          <a:xfrm>
            <a:off x="9067800" y="2790825"/>
            <a:ext cx="2343150" cy="171450"/>
          </a:xfrm>
          <a:prstGeom prst="rect">
            <a:avLst/>
          </a:prstGeom>
          <a:noFill/>
        </p:spPr>
        <p:txBody>
          <a:bodyPr wrap="square">
            <a:spAutoFit/>
          </a:bodyPr>
          <a:lstStyle/>
          <a:p>
            <a:pPr algn="l"/>
            <a:r>
              <a:rPr sz="975" b="0">
                <a:solidFill>
                  <a:srgbClr val="5A6675"/>
                </a:solidFill>
                <a:latin typeface="Noto Sans JP"/>
                <a:ea typeface="Noto Sans JP"/>
                <a:cs typeface="Noto Sans JP"/>
              </a:rPr>
              <a:t>Bargaining Power of Buyers</a:t>
            </a:r>
          </a:p>
        </p:txBody>
      </p:sp>
      <p:sp>
        <p:nvSpPr>
          <p:cNvPr id="23" name="TextBox 22"/>
          <p:cNvSpPr txBox="1"/>
          <p:nvPr/>
        </p:nvSpPr>
        <p:spPr>
          <a:xfrm>
            <a:off x="9067800" y="2962275"/>
            <a:ext cx="2343150" cy="171450"/>
          </a:xfrm>
          <a:prstGeom prst="rect">
            <a:avLst/>
          </a:prstGeom>
          <a:noFill/>
        </p:spPr>
        <p:txBody>
          <a:bodyPr wrap="none">
            <a:spAutoFit/>
          </a:bodyPr>
          <a:lstStyle/>
          <a:p>
            <a:pPr algn="l"/>
            <a:r>
              <a:rPr sz="975" b="1">
                <a:solidFill>
                  <a:srgbClr val="C8102E"/>
                </a:solidFill>
                <a:latin typeface="Noto Sans JP"/>
                <a:ea typeface="Noto Sans JP"/>
                <a:cs typeface="Noto Sans JP"/>
              </a:rPr>
              <a:t>強度：中</a:t>
            </a:r>
          </a:p>
        </p:txBody>
      </p:sp>
      <p:sp>
        <p:nvSpPr>
          <p:cNvPr id="24" name="TextBox 23"/>
          <p:cNvSpPr txBox="1"/>
          <p:nvPr/>
        </p:nvSpPr>
        <p:spPr>
          <a:xfrm>
            <a:off x="9105900" y="3152775"/>
            <a:ext cx="2305050" cy="1247775"/>
          </a:xfrm>
          <a:prstGeom prst="rect">
            <a:avLst/>
          </a:prstGeom>
          <a:noFill/>
        </p:spPr>
        <p:txBody>
          <a:bodyPr wrap="square">
            <a:spAutoFit/>
          </a:bodyPr>
          <a:lstStyle/>
          <a:p>
            <a:pPr algn="l"/>
            <a:r>
              <a:rPr sz="975" b="0">
                <a:solidFill>
                  <a:srgbClr val="1A2332"/>
                </a:solidFill>
                <a:latin typeface="Noto Sans JP"/>
                <a:ea typeface="Noto Sans JP"/>
                <a:cs typeface="Noto Sans JP"/>
              </a:rPr>
              <a:t>・大企業は複数見積りによる値引き交渉が常態化</a:t>
            </a:r>
          </a:p>
          <a:p>
            <a:pPr algn="l"/>
            <a:r>
              <a:rPr sz="975" b="0">
                <a:solidFill>
                  <a:srgbClr val="1A2332"/>
                </a:solidFill>
                <a:latin typeface="Noto Sans JP"/>
                <a:ea typeface="Noto Sans JP"/>
                <a:cs typeface="Noto Sans JP"/>
              </a:rPr>
              <a:t>・中堅企業は価格感度が高くPoC離脱率が高い</a:t>
            </a:r>
          </a:p>
        </p:txBody>
      </p:sp>
      <p:sp>
        <p:nvSpPr>
          <p:cNvPr id="25" name="Rectangle 24"/>
          <p:cNvSpPr/>
          <p:nvPr/>
        </p:nvSpPr>
        <p:spPr>
          <a:xfrm>
            <a:off x="3448050" y="4953000"/>
            <a:ext cx="5295900" cy="1066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43300" y="5048250"/>
            <a:ext cx="5105400"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代替品の脅威</a:t>
            </a:r>
          </a:p>
        </p:txBody>
      </p:sp>
      <p:sp>
        <p:nvSpPr>
          <p:cNvPr id="27" name="TextBox 26"/>
          <p:cNvSpPr txBox="1"/>
          <p:nvPr/>
        </p:nvSpPr>
        <p:spPr>
          <a:xfrm>
            <a:off x="3543300" y="5305425"/>
            <a:ext cx="5105400" cy="171450"/>
          </a:xfrm>
          <a:prstGeom prst="rect">
            <a:avLst/>
          </a:prstGeom>
          <a:noFill/>
        </p:spPr>
        <p:txBody>
          <a:bodyPr wrap="square">
            <a:spAutoFit/>
          </a:bodyPr>
          <a:lstStyle/>
          <a:p>
            <a:pPr algn="l"/>
            <a:r>
              <a:rPr sz="975" b="0">
                <a:solidFill>
                  <a:srgbClr val="5A6675"/>
                </a:solidFill>
                <a:latin typeface="Noto Sans JP"/>
                <a:ea typeface="Noto Sans JP"/>
                <a:cs typeface="Noto Sans JP"/>
              </a:rPr>
              <a:t>Threat of Substitutes</a:t>
            </a:r>
          </a:p>
        </p:txBody>
      </p:sp>
      <p:sp>
        <p:nvSpPr>
          <p:cNvPr id="28" name="TextBox 27"/>
          <p:cNvSpPr txBox="1"/>
          <p:nvPr/>
        </p:nvSpPr>
        <p:spPr>
          <a:xfrm>
            <a:off x="3543300" y="5476875"/>
            <a:ext cx="5105400" cy="171450"/>
          </a:xfrm>
          <a:prstGeom prst="rect">
            <a:avLst/>
          </a:prstGeom>
          <a:noFill/>
        </p:spPr>
        <p:txBody>
          <a:bodyPr wrap="none">
            <a:spAutoFit/>
          </a:bodyPr>
          <a:lstStyle/>
          <a:p>
            <a:pPr algn="l"/>
            <a:r>
              <a:rPr sz="975" b="1">
                <a:solidFill>
                  <a:srgbClr val="C8102E"/>
                </a:solidFill>
                <a:latin typeface="Noto Sans JP"/>
                <a:ea typeface="Noto Sans JP"/>
                <a:cs typeface="Noto Sans JP"/>
              </a:rPr>
              <a:t>強度：低〜中</a:t>
            </a:r>
          </a:p>
        </p:txBody>
      </p:sp>
      <p:sp>
        <p:nvSpPr>
          <p:cNvPr id="29" name="TextBox 28"/>
          <p:cNvSpPr txBox="1"/>
          <p:nvPr/>
        </p:nvSpPr>
        <p:spPr>
          <a:xfrm>
            <a:off x="3581400" y="5667375"/>
            <a:ext cx="5067300" cy="257175"/>
          </a:xfrm>
          <a:prstGeom prst="rect">
            <a:avLst/>
          </a:prstGeom>
          <a:noFill/>
        </p:spPr>
        <p:txBody>
          <a:bodyPr wrap="square">
            <a:spAutoFit/>
          </a:bodyPr>
          <a:lstStyle/>
          <a:p>
            <a:pPr algn="l"/>
            <a:r>
              <a:rPr sz="975" b="0">
                <a:solidFill>
                  <a:srgbClr val="1A2332"/>
                </a:solidFill>
                <a:latin typeface="Noto Sans JP"/>
                <a:ea typeface="Noto Sans JP"/>
                <a:cs typeface="Noto Sans JP"/>
              </a:rPr>
              <a:t>・表計算ツール+RPAによる自社構築は減少傾向</a:t>
            </a:r>
          </a:p>
          <a:p>
            <a:pPr algn="l"/>
            <a:r>
              <a:rPr sz="975" b="0">
                <a:solidFill>
                  <a:srgbClr val="1A2332"/>
                </a:solidFill>
                <a:latin typeface="Noto Sans JP"/>
                <a:ea typeface="Noto Sans JP"/>
                <a:cs typeface="Noto Sans JP"/>
              </a:rPr>
              <a:t>・グループウェア付属人事機能の代替可能性あり</a:t>
            </a:r>
          </a:p>
        </p:txBody>
      </p:sp>
      <p:cxnSp>
        <p:nvCxnSpPr>
          <p:cNvPr id="30" name="Connector 29"/>
          <p:cNvCxnSpPr/>
          <p:nvPr/>
        </p:nvCxnSpPr>
        <p:spPr>
          <a:xfrm flipV="1">
            <a:off x="6096000" y="2362200"/>
            <a:ext cx="0" cy="76200"/>
          </a:xfrm>
          <a:prstGeom prst="line">
            <a:avLst/>
          </a:prstGeom>
          <a:ln w="19050">
            <a:solidFill>
              <a:srgbClr val="5A66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95650" y="3467100"/>
            <a:ext cx="1000125" cy="0"/>
          </a:xfrm>
          <a:prstGeom prst="line">
            <a:avLst/>
          </a:prstGeom>
          <a:ln w="19050">
            <a:solidFill>
              <a:srgbClr val="5A66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7905750" y="3467100"/>
            <a:ext cx="990600" cy="0"/>
          </a:xfrm>
          <a:prstGeom prst="line">
            <a:avLst/>
          </a:prstGeom>
          <a:ln w="19050">
            <a:solidFill>
              <a:srgbClr val="5A66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096000" y="4572000"/>
            <a:ext cx="0" cy="304800"/>
          </a:xfrm>
          <a:prstGeom prst="line">
            <a:avLst/>
          </a:prstGeom>
          <a:ln w="19050">
            <a:solidFill>
              <a:srgbClr val="5A6675"/>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出典：社内事業計画書 v4.2（2026年5月）・ビジネスモデル設計ワークショップ成果</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クラウドHR SaaSのビジネスモデル：価値提案「人事データの一元化と意思決定の高速化」が全9要素を貫く</a:t>
            </a:r>
          </a:p>
        </p:txBody>
      </p:sp>
      <p:sp>
        <p:nvSpPr>
          <p:cNvPr id="5" name="Rectangle 4"/>
          <p:cNvSpPr/>
          <p:nvPr/>
        </p:nvSpPr>
        <p:spPr>
          <a:xfrm>
            <a:off x="685800" y="1371600"/>
            <a:ext cx="1609725" cy="3505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1050" y="14668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主要パートナー（KP）</a:t>
            </a:r>
          </a:p>
        </p:txBody>
      </p:sp>
      <p:sp>
        <p:nvSpPr>
          <p:cNvPr id="7" name="TextBox 6"/>
          <p:cNvSpPr txBox="1"/>
          <p:nvPr/>
        </p:nvSpPr>
        <p:spPr>
          <a:xfrm>
            <a:off x="819150" y="1647825"/>
            <a:ext cx="1381125" cy="3133725"/>
          </a:xfrm>
          <a:prstGeom prst="rect">
            <a:avLst/>
          </a:prstGeom>
          <a:noFill/>
        </p:spPr>
        <p:txBody>
          <a:bodyPr wrap="square">
            <a:spAutoFit/>
          </a:bodyPr>
          <a:lstStyle/>
          <a:p>
            <a:pPr algn="l"/>
            <a:r>
              <a:rPr sz="900" b="0">
                <a:solidFill>
                  <a:srgbClr val="1A2332"/>
                </a:solidFill>
                <a:latin typeface="Noto Sans JP"/>
                <a:ea typeface="Noto Sans JP"/>
                <a:cs typeface="Noto Sans JP"/>
              </a:rPr>
              <a:t>・クラウドインフラ（AWS Japan）</a:t>
            </a:r>
          </a:p>
          <a:p>
            <a:pPr algn="l"/>
            <a:r>
              <a:rPr sz="900" b="0">
                <a:solidFill>
                  <a:srgbClr val="1A2332"/>
                </a:solidFill>
                <a:latin typeface="Noto Sans JP"/>
                <a:ea typeface="Noto Sans JP"/>
                <a:cs typeface="Noto Sans JP"/>
              </a:rPr>
              <a:t>・給与計算・社労士パートナー網</a:t>
            </a:r>
          </a:p>
          <a:p>
            <a:pPr algn="l"/>
            <a:r>
              <a:rPr sz="900" b="0">
                <a:solidFill>
                  <a:srgbClr val="1A2332"/>
                </a:solidFill>
                <a:latin typeface="Noto Sans JP"/>
                <a:ea typeface="Noto Sans JP"/>
                <a:cs typeface="Noto Sans JP"/>
              </a:rPr>
              <a:t>・人材紹介・採用支援代理店</a:t>
            </a:r>
          </a:p>
        </p:txBody>
      </p:sp>
      <p:sp>
        <p:nvSpPr>
          <p:cNvPr id="8" name="Rectangle 7"/>
          <p:cNvSpPr/>
          <p:nvPr/>
        </p:nvSpPr>
        <p:spPr>
          <a:xfrm>
            <a:off x="2524125" y="1371600"/>
            <a:ext cx="1609725"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19375" y="14668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主要活動（KA）</a:t>
            </a:r>
          </a:p>
        </p:txBody>
      </p:sp>
      <p:sp>
        <p:nvSpPr>
          <p:cNvPr id="10" name="TextBox 9"/>
          <p:cNvSpPr txBox="1"/>
          <p:nvPr/>
        </p:nvSpPr>
        <p:spPr>
          <a:xfrm>
            <a:off x="2657475" y="1647825"/>
            <a:ext cx="1381125" cy="1304925"/>
          </a:xfrm>
          <a:prstGeom prst="rect">
            <a:avLst/>
          </a:prstGeom>
          <a:noFill/>
        </p:spPr>
        <p:txBody>
          <a:bodyPr wrap="square">
            <a:spAutoFit/>
          </a:bodyPr>
          <a:lstStyle/>
          <a:p>
            <a:pPr algn="l"/>
            <a:r>
              <a:rPr sz="900" b="0">
                <a:solidFill>
                  <a:srgbClr val="1A2332"/>
                </a:solidFill>
                <a:latin typeface="Noto Sans JP"/>
                <a:ea typeface="Noto Sans JP"/>
                <a:cs typeface="Noto Sans JP"/>
              </a:rPr>
              <a:t>・プロダクト開発・AI機能強化</a:t>
            </a:r>
          </a:p>
          <a:p>
            <a:pPr algn="l"/>
            <a:r>
              <a:rPr sz="900" b="0">
                <a:solidFill>
                  <a:srgbClr val="1A2332"/>
                </a:solidFill>
                <a:latin typeface="Noto Sans JP"/>
                <a:ea typeface="Noto Sans JP"/>
                <a:cs typeface="Noto Sans JP"/>
              </a:rPr>
              <a:t>・エンタープライズ導入支援</a:t>
            </a:r>
          </a:p>
          <a:p>
            <a:pPr algn="l"/>
            <a:r>
              <a:rPr sz="900" b="0">
                <a:solidFill>
                  <a:srgbClr val="1A2332"/>
                </a:solidFill>
                <a:latin typeface="Noto Sans JP"/>
                <a:ea typeface="Noto Sans JP"/>
                <a:cs typeface="Noto Sans JP"/>
              </a:rPr>
              <a:t>・カスタマーサクセス運営</a:t>
            </a:r>
          </a:p>
        </p:txBody>
      </p:sp>
      <p:sp>
        <p:nvSpPr>
          <p:cNvPr id="11" name="Rectangle 10"/>
          <p:cNvSpPr/>
          <p:nvPr/>
        </p:nvSpPr>
        <p:spPr>
          <a:xfrm>
            <a:off x="2524125" y="3200400"/>
            <a:ext cx="1609725"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19375" y="32956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主要リソース（KR）</a:t>
            </a:r>
          </a:p>
        </p:txBody>
      </p:sp>
      <p:sp>
        <p:nvSpPr>
          <p:cNvPr id="13" name="TextBox 12"/>
          <p:cNvSpPr txBox="1"/>
          <p:nvPr/>
        </p:nvSpPr>
        <p:spPr>
          <a:xfrm>
            <a:off x="2657475" y="3476625"/>
            <a:ext cx="1381125" cy="1304925"/>
          </a:xfrm>
          <a:prstGeom prst="rect">
            <a:avLst/>
          </a:prstGeom>
          <a:noFill/>
        </p:spPr>
        <p:txBody>
          <a:bodyPr wrap="square">
            <a:spAutoFit/>
          </a:bodyPr>
          <a:lstStyle/>
          <a:p>
            <a:pPr algn="l"/>
            <a:r>
              <a:rPr sz="900" b="0">
                <a:solidFill>
                  <a:srgbClr val="1A2332"/>
                </a:solidFill>
                <a:latin typeface="Noto Sans JP"/>
                <a:ea typeface="Noto Sans JP"/>
                <a:cs typeface="Noto Sans JP"/>
              </a:rPr>
              <a:t>・450名エンジニア・データサイエンティスト</a:t>
            </a:r>
          </a:p>
          <a:p>
            <a:pPr algn="l"/>
            <a:r>
              <a:rPr sz="900" b="0">
                <a:solidFill>
                  <a:srgbClr val="1A2332"/>
                </a:solidFill>
                <a:latin typeface="Noto Sans JP"/>
                <a:ea typeface="Noto Sans JP"/>
                <a:cs typeface="Noto Sans JP"/>
              </a:rPr>
              <a:t>・2,400社分の人事データ資産</a:t>
            </a:r>
          </a:p>
          <a:p>
            <a:pPr algn="l"/>
            <a:r>
              <a:rPr sz="900" b="0">
                <a:solidFill>
                  <a:srgbClr val="1A2332"/>
                </a:solidFill>
                <a:latin typeface="Noto Sans JP"/>
                <a:ea typeface="Noto Sans JP"/>
                <a:cs typeface="Noto Sans JP"/>
              </a:rPr>
              <a:t>・特許取得済みAI予測モデル</a:t>
            </a:r>
          </a:p>
        </p:txBody>
      </p:sp>
      <p:sp>
        <p:nvSpPr>
          <p:cNvPr id="14" name="Rectangle 13"/>
          <p:cNvSpPr/>
          <p:nvPr/>
        </p:nvSpPr>
        <p:spPr>
          <a:xfrm>
            <a:off x="4371975" y="1371600"/>
            <a:ext cx="3457575" cy="35052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7225" y="1466850"/>
            <a:ext cx="3267075" cy="180975"/>
          </a:xfrm>
          <a:prstGeom prst="rect">
            <a:avLst/>
          </a:prstGeom>
          <a:noFill/>
        </p:spPr>
        <p:txBody>
          <a:bodyPr wrap="square">
            <a:spAutoFit/>
          </a:bodyPr>
          <a:lstStyle/>
          <a:p>
            <a:pPr algn="l"/>
            <a:r>
              <a:rPr sz="975" b="1">
                <a:solidFill>
                  <a:srgbClr val="FFFFFF"/>
                </a:solidFill>
                <a:latin typeface="Noto Serif JP"/>
                <a:ea typeface="Noto Serif JP"/>
                <a:cs typeface="Noto Serif JP"/>
              </a:rPr>
              <a:t>価値提案（VP）</a:t>
            </a:r>
          </a:p>
        </p:txBody>
      </p:sp>
      <p:sp>
        <p:nvSpPr>
          <p:cNvPr id="16" name="TextBox 15"/>
          <p:cNvSpPr txBox="1"/>
          <p:nvPr/>
        </p:nvSpPr>
        <p:spPr>
          <a:xfrm>
            <a:off x="4505325" y="1647825"/>
            <a:ext cx="3228975" cy="3133725"/>
          </a:xfrm>
          <a:prstGeom prst="rect">
            <a:avLst/>
          </a:prstGeom>
          <a:noFill/>
        </p:spPr>
        <p:txBody>
          <a:bodyPr wrap="square">
            <a:spAutoFit/>
          </a:bodyPr>
          <a:lstStyle/>
          <a:p>
            <a:pPr algn="l"/>
            <a:r>
              <a:rPr sz="900" b="0">
                <a:solidFill>
                  <a:srgbClr val="FFFFFF"/>
                </a:solidFill>
                <a:latin typeface="Noto Sans JP"/>
                <a:ea typeface="Noto Sans JP"/>
                <a:cs typeface="Noto Sans JP"/>
              </a:rPr>
              <a:t>・人事・給与・採用・評価を1プラットフォームに統合</a:t>
            </a:r>
          </a:p>
          <a:p>
            <a:pPr algn="l"/>
            <a:r>
              <a:rPr sz="900" b="0">
                <a:solidFill>
                  <a:srgbClr val="FFFFFF"/>
                </a:solidFill>
                <a:latin typeface="Noto Sans JP"/>
                <a:ea typeface="Noto Sans JP"/>
                <a:cs typeface="Noto Sans JP"/>
              </a:rPr>
              <a:t>・AIによる離職予測・タレントスコアリング</a:t>
            </a:r>
          </a:p>
          <a:p>
            <a:pPr algn="l"/>
            <a:r>
              <a:rPr sz="900" b="0">
                <a:solidFill>
                  <a:srgbClr val="FFFFFF"/>
                </a:solidFill>
                <a:latin typeface="Noto Sans JP"/>
                <a:ea typeface="Noto Sans JP"/>
                <a:cs typeface="Noto Sans JP"/>
              </a:rPr>
              <a:t>・導入から90日で効果実感（ROI保証オプション）</a:t>
            </a:r>
          </a:p>
          <a:p>
            <a:pPr algn="l"/>
            <a:r>
              <a:rPr sz="900" b="0">
                <a:solidFill>
                  <a:srgbClr val="FFFFFF"/>
                </a:solidFill>
                <a:latin typeface="Noto Sans JP"/>
                <a:ea typeface="Noto Sans JP"/>
                <a:cs typeface="Noto Sans JP"/>
              </a:rPr>
              <a:t>・法改正自動対応で運用負荷ゼロを実現</a:t>
            </a:r>
          </a:p>
        </p:txBody>
      </p:sp>
      <p:sp>
        <p:nvSpPr>
          <p:cNvPr id="17" name="Rectangle 16"/>
          <p:cNvSpPr/>
          <p:nvPr/>
        </p:nvSpPr>
        <p:spPr>
          <a:xfrm>
            <a:off x="8048625" y="1371600"/>
            <a:ext cx="1609725"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43875" y="14668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顧客との関係（CR）</a:t>
            </a:r>
          </a:p>
        </p:txBody>
      </p:sp>
      <p:sp>
        <p:nvSpPr>
          <p:cNvPr id="19" name="TextBox 18"/>
          <p:cNvSpPr txBox="1"/>
          <p:nvPr/>
        </p:nvSpPr>
        <p:spPr>
          <a:xfrm>
            <a:off x="8181975" y="1647825"/>
            <a:ext cx="1381125" cy="1304925"/>
          </a:xfrm>
          <a:prstGeom prst="rect">
            <a:avLst/>
          </a:prstGeom>
          <a:noFill/>
        </p:spPr>
        <p:txBody>
          <a:bodyPr wrap="square">
            <a:spAutoFit/>
          </a:bodyPr>
          <a:lstStyle/>
          <a:p>
            <a:pPr algn="l"/>
            <a:r>
              <a:rPr sz="900" b="0">
                <a:solidFill>
                  <a:srgbClr val="1A2332"/>
                </a:solidFill>
                <a:latin typeface="Noto Sans JP"/>
                <a:ea typeface="Noto Sans JP"/>
                <a:cs typeface="Noto Sans JP"/>
              </a:rPr>
              <a:t>・専任CSM + 月次レビュー</a:t>
            </a:r>
          </a:p>
          <a:p>
            <a:pPr algn="l"/>
            <a:r>
              <a:rPr sz="900" b="0">
                <a:solidFill>
                  <a:srgbClr val="1A2332"/>
                </a:solidFill>
                <a:latin typeface="Noto Sans JP"/>
                <a:ea typeface="Noto Sans JP"/>
                <a:cs typeface="Noto Sans JP"/>
              </a:rPr>
              <a:t>・コミュニティ（10,000名HR担当者）</a:t>
            </a:r>
          </a:p>
          <a:p>
            <a:pPr algn="l"/>
            <a:r>
              <a:rPr sz="900" b="0">
                <a:solidFill>
                  <a:srgbClr val="1A2332"/>
                </a:solidFill>
                <a:latin typeface="Noto Sans JP"/>
                <a:ea typeface="Noto Sans JP"/>
                <a:cs typeface="Noto Sans JP"/>
              </a:rPr>
              <a:t>・セルフサービスポータル24h対応</a:t>
            </a:r>
          </a:p>
        </p:txBody>
      </p:sp>
      <p:sp>
        <p:nvSpPr>
          <p:cNvPr id="20" name="Rectangle 19"/>
          <p:cNvSpPr/>
          <p:nvPr/>
        </p:nvSpPr>
        <p:spPr>
          <a:xfrm>
            <a:off x="8048625" y="3200400"/>
            <a:ext cx="1609725" cy="16764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43875" y="32956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チャネル（CH）</a:t>
            </a:r>
          </a:p>
        </p:txBody>
      </p:sp>
      <p:sp>
        <p:nvSpPr>
          <p:cNvPr id="22" name="TextBox 21"/>
          <p:cNvSpPr txBox="1"/>
          <p:nvPr/>
        </p:nvSpPr>
        <p:spPr>
          <a:xfrm>
            <a:off x="8181975" y="3476625"/>
            <a:ext cx="1381125" cy="1304925"/>
          </a:xfrm>
          <a:prstGeom prst="rect">
            <a:avLst/>
          </a:prstGeom>
          <a:noFill/>
        </p:spPr>
        <p:txBody>
          <a:bodyPr wrap="square">
            <a:spAutoFit/>
          </a:bodyPr>
          <a:lstStyle/>
          <a:p>
            <a:pPr algn="l"/>
            <a:r>
              <a:rPr sz="900" b="0">
                <a:solidFill>
                  <a:srgbClr val="1A2332"/>
                </a:solidFill>
                <a:latin typeface="Noto Sans JP"/>
                <a:ea typeface="Noto Sans JP"/>
                <a:cs typeface="Noto Sans JP"/>
              </a:rPr>
              <a:t>・直販（大企業インサイドセールス）</a:t>
            </a:r>
          </a:p>
          <a:p>
            <a:pPr algn="l"/>
            <a:r>
              <a:rPr sz="900" b="0">
                <a:solidFill>
                  <a:srgbClr val="1A2332"/>
                </a:solidFill>
                <a:latin typeface="Noto Sans JP"/>
                <a:ea typeface="Noto Sans JP"/>
                <a:cs typeface="Noto Sans JP"/>
              </a:rPr>
              <a:t>・代理店経由（中堅企業）</a:t>
            </a:r>
          </a:p>
          <a:p>
            <a:pPr algn="l"/>
            <a:r>
              <a:rPr sz="900" b="0">
                <a:solidFill>
                  <a:srgbClr val="1A2332"/>
                </a:solidFill>
                <a:latin typeface="Noto Sans JP"/>
                <a:ea typeface="Noto Sans JP"/>
                <a:cs typeface="Noto Sans JP"/>
              </a:rPr>
              <a:t>・PLG（フリートライアル→転換）</a:t>
            </a:r>
          </a:p>
        </p:txBody>
      </p:sp>
      <p:sp>
        <p:nvSpPr>
          <p:cNvPr id="23" name="Rectangle 22"/>
          <p:cNvSpPr/>
          <p:nvPr/>
        </p:nvSpPr>
        <p:spPr>
          <a:xfrm>
            <a:off x="9896475" y="1371600"/>
            <a:ext cx="1609725" cy="3505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91725" y="1466850"/>
            <a:ext cx="1419225"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顧客セグメント（CS）</a:t>
            </a:r>
          </a:p>
        </p:txBody>
      </p:sp>
      <p:sp>
        <p:nvSpPr>
          <p:cNvPr id="25" name="TextBox 24"/>
          <p:cNvSpPr txBox="1"/>
          <p:nvPr/>
        </p:nvSpPr>
        <p:spPr>
          <a:xfrm>
            <a:off x="10029825" y="1647825"/>
            <a:ext cx="1381125" cy="3133725"/>
          </a:xfrm>
          <a:prstGeom prst="rect">
            <a:avLst/>
          </a:prstGeom>
          <a:noFill/>
        </p:spPr>
        <p:txBody>
          <a:bodyPr wrap="square">
            <a:spAutoFit/>
          </a:bodyPr>
          <a:lstStyle/>
          <a:p>
            <a:pPr algn="l"/>
            <a:r>
              <a:rPr sz="900" b="0">
                <a:solidFill>
                  <a:srgbClr val="1A2332"/>
                </a:solidFill>
                <a:latin typeface="Noto Sans JP"/>
                <a:ea typeface="Noto Sans JP"/>
                <a:cs typeface="Noto Sans JP"/>
              </a:rPr>
              <a:t>・従業員500名以上の中堅〜大企業</a:t>
            </a:r>
          </a:p>
          <a:p>
            <a:pPr algn="l"/>
            <a:r>
              <a:rPr sz="900" b="0">
                <a:solidFill>
                  <a:srgbClr val="1A2332"/>
                </a:solidFill>
                <a:latin typeface="Noto Sans JP"/>
                <a:ea typeface="Noto Sans JP"/>
                <a:cs typeface="Noto Sans JP"/>
              </a:rPr>
              <a:t>・製造・小売・IT・金融の4業種集中</a:t>
            </a:r>
          </a:p>
          <a:p>
            <a:pPr algn="l"/>
            <a:r>
              <a:rPr sz="900" b="0">
                <a:solidFill>
                  <a:srgbClr val="1A2332"/>
                </a:solidFill>
                <a:latin typeface="Noto Sans JP"/>
                <a:ea typeface="Noto Sans JP"/>
                <a:cs typeface="Noto Sans JP"/>
              </a:rPr>
              <a:t>・人事DXを推進するCHRO・人事部長</a:t>
            </a:r>
          </a:p>
        </p:txBody>
      </p:sp>
      <p:sp>
        <p:nvSpPr>
          <p:cNvPr id="26" name="Rectangle 25"/>
          <p:cNvSpPr/>
          <p:nvPr/>
        </p:nvSpPr>
        <p:spPr>
          <a:xfrm>
            <a:off x="685800" y="5029200"/>
            <a:ext cx="5295900" cy="1066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050" y="5124450"/>
            <a:ext cx="5105400"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コスト構造（Cost Structure）</a:t>
            </a:r>
          </a:p>
        </p:txBody>
      </p:sp>
      <p:sp>
        <p:nvSpPr>
          <p:cNvPr id="28" name="TextBox 27"/>
          <p:cNvSpPr txBox="1"/>
          <p:nvPr/>
        </p:nvSpPr>
        <p:spPr>
          <a:xfrm>
            <a:off x="819150" y="5305425"/>
            <a:ext cx="5067300" cy="695325"/>
          </a:xfrm>
          <a:prstGeom prst="rect">
            <a:avLst/>
          </a:prstGeom>
          <a:noFill/>
        </p:spPr>
        <p:txBody>
          <a:bodyPr wrap="square">
            <a:spAutoFit/>
          </a:bodyPr>
          <a:lstStyle/>
          <a:p>
            <a:pPr algn="l"/>
            <a:r>
              <a:rPr sz="900" b="0">
                <a:solidFill>
                  <a:srgbClr val="1A2332"/>
                </a:solidFill>
                <a:latin typeface="Noto Sans JP"/>
                <a:ea typeface="Noto Sans JP"/>
                <a:cs typeface="Noto Sans JP"/>
              </a:rPr>
              <a:t>・R&amp;D・開発費：売上の28%</a:t>
            </a:r>
          </a:p>
          <a:p>
            <a:pPr algn="l"/>
            <a:r>
              <a:rPr sz="900" b="0">
                <a:solidFill>
                  <a:srgbClr val="1A2332"/>
                </a:solidFill>
                <a:latin typeface="Noto Sans JP"/>
                <a:ea typeface="Noto Sans JP"/>
                <a:cs typeface="Noto Sans JP"/>
              </a:rPr>
              <a:t>・セールス＆マーケ：売上の32%</a:t>
            </a:r>
          </a:p>
          <a:p>
            <a:pPr algn="l"/>
            <a:r>
              <a:rPr sz="900" b="0">
                <a:solidFill>
                  <a:srgbClr val="1A2332"/>
                </a:solidFill>
                <a:latin typeface="Noto Sans JP"/>
                <a:ea typeface="Noto Sans JP"/>
                <a:cs typeface="Noto Sans JP"/>
              </a:rPr>
              <a:t>・クラウドインフラ・運用費：売上の12%</a:t>
            </a:r>
          </a:p>
        </p:txBody>
      </p:sp>
      <p:sp>
        <p:nvSpPr>
          <p:cNvPr id="29" name="Rectangle 28"/>
          <p:cNvSpPr/>
          <p:nvPr/>
        </p:nvSpPr>
        <p:spPr>
          <a:xfrm>
            <a:off x="6210300" y="5029200"/>
            <a:ext cx="5295900" cy="1066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5550" y="5124450"/>
            <a:ext cx="5105400" cy="180975"/>
          </a:xfrm>
          <a:prstGeom prst="rect">
            <a:avLst/>
          </a:prstGeom>
          <a:noFill/>
        </p:spPr>
        <p:txBody>
          <a:bodyPr wrap="square">
            <a:spAutoFit/>
          </a:bodyPr>
          <a:lstStyle/>
          <a:p>
            <a:pPr algn="l"/>
            <a:r>
              <a:rPr sz="975" b="1">
                <a:solidFill>
                  <a:srgbClr val="1A2332"/>
                </a:solidFill>
                <a:latin typeface="Noto Serif JP"/>
                <a:ea typeface="Noto Serif JP"/>
                <a:cs typeface="Noto Serif JP"/>
              </a:rPr>
              <a:t>収益の流れ（Revenue Streams）</a:t>
            </a:r>
          </a:p>
        </p:txBody>
      </p:sp>
      <p:sp>
        <p:nvSpPr>
          <p:cNvPr id="31" name="TextBox 30"/>
          <p:cNvSpPr txBox="1"/>
          <p:nvPr/>
        </p:nvSpPr>
        <p:spPr>
          <a:xfrm>
            <a:off x="6343650" y="5305425"/>
            <a:ext cx="5067300" cy="695325"/>
          </a:xfrm>
          <a:prstGeom prst="rect">
            <a:avLst/>
          </a:prstGeom>
          <a:noFill/>
        </p:spPr>
        <p:txBody>
          <a:bodyPr wrap="square">
            <a:spAutoFit/>
          </a:bodyPr>
          <a:lstStyle/>
          <a:p>
            <a:pPr algn="l"/>
            <a:r>
              <a:rPr sz="900" b="0">
                <a:solidFill>
                  <a:srgbClr val="1A2332"/>
                </a:solidFill>
                <a:latin typeface="Noto Sans JP"/>
                <a:ea typeface="Noto Sans JP"/>
                <a:cs typeface="Noto Sans JP"/>
              </a:rPr>
              <a:t>・月次サブスクリプション（ARR 85%）</a:t>
            </a:r>
          </a:p>
          <a:p>
            <a:pPr algn="l"/>
            <a:r>
              <a:rPr sz="900" b="0">
                <a:solidFill>
                  <a:srgbClr val="1A2332"/>
                </a:solidFill>
                <a:latin typeface="Noto Sans JP"/>
                <a:ea typeface="Noto Sans JP"/>
                <a:cs typeface="Noto Sans JP"/>
              </a:rPr>
              <a:t>・導入初期費用・カスタマイズ（ARR 10%）</a:t>
            </a:r>
          </a:p>
          <a:p>
            <a:pPr algn="l"/>
            <a:r>
              <a:rPr sz="900" b="0">
                <a:solidFill>
                  <a:srgbClr val="1A2332"/>
                </a:solidFill>
                <a:latin typeface="Noto Sans JP"/>
                <a:ea typeface="Noto Sans JP"/>
                <a:cs typeface="Noto Sans JP"/>
              </a:rPr>
              <a:t>・アドオン機能（採用/研修モジュール）（5%）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出典：社内業務プロセス調査（2026年Q1）・競合ベンチマーク</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89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バリューチェーン分析：R&amp;Dとカスタマーサクセスに競争優位の源泉が集中している</a:t>
            </a:r>
          </a:p>
        </p:txBody>
      </p:sp>
      <p:sp>
        <p:nvSpPr>
          <p:cNvPr id="5" name="Rectangle 4"/>
          <p:cNvSpPr/>
          <p:nvPr/>
        </p:nvSpPr>
        <p:spPr>
          <a:xfrm>
            <a:off x="685800" y="1371600"/>
            <a:ext cx="9896475" cy="60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1447800"/>
            <a:ext cx="1143000" cy="457200"/>
          </a:xfrm>
          <a:prstGeom prst="rect">
            <a:avLst/>
          </a:prstGeom>
          <a:noFill/>
        </p:spPr>
        <p:txBody>
          <a:bodyPr wrap="square">
            <a:spAutoFit/>
          </a:bodyPr>
          <a:lstStyle/>
          <a:p>
            <a:pPr algn="l"/>
            <a:r>
              <a:rPr sz="975" b="1">
                <a:solidFill>
                  <a:srgbClr val="1A2332"/>
                </a:solidFill>
                <a:latin typeface="Noto Serif JP"/>
                <a:ea typeface="Noto Serif JP"/>
                <a:cs typeface="Noto Serif JP"/>
              </a:rPr>
              <a:t>企業インフラ</a:t>
            </a:r>
          </a:p>
        </p:txBody>
      </p:sp>
      <p:sp>
        <p:nvSpPr>
          <p:cNvPr id="7" name="TextBox 6"/>
          <p:cNvSpPr txBox="1"/>
          <p:nvPr/>
        </p:nvSpPr>
        <p:spPr>
          <a:xfrm>
            <a:off x="1981200" y="1466850"/>
            <a:ext cx="8524875" cy="419100"/>
          </a:xfrm>
          <a:prstGeom prst="rect">
            <a:avLst/>
          </a:prstGeom>
          <a:noFill/>
        </p:spPr>
        <p:txBody>
          <a:bodyPr wrap="square">
            <a:spAutoFit/>
          </a:bodyPr>
          <a:lstStyle/>
          <a:p>
            <a:pPr algn="l"/>
            <a:r>
              <a:rPr sz="975" b="0">
                <a:solidFill>
                  <a:srgbClr val="5A6675"/>
                </a:solidFill>
                <a:latin typeface="Noto Sans JP"/>
                <a:ea typeface="Noto Sans JP"/>
                <a:cs typeface="Noto Sans JP"/>
              </a:rPr>
              <a:t>取締役会主導のOKR経営・CFO直轄の財務規律・法務コンプライアンス体制</a:t>
            </a:r>
          </a:p>
        </p:txBody>
      </p:sp>
      <p:sp>
        <p:nvSpPr>
          <p:cNvPr id="8" name="Rectangle 7"/>
          <p:cNvSpPr/>
          <p:nvPr/>
        </p:nvSpPr>
        <p:spPr>
          <a:xfrm>
            <a:off x="685800" y="2057400"/>
            <a:ext cx="9896475" cy="60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133600"/>
            <a:ext cx="1143000" cy="457200"/>
          </a:xfrm>
          <a:prstGeom prst="rect">
            <a:avLst/>
          </a:prstGeom>
          <a:noFill/>
        </p:spPr>
        <p:txBody>
          <a:bodyPr wrap="square">
            <a:spAutoFit/>
          </a:bodyPr>
          <a:lstStyle/>
          <a:p>
            <a:pPr algn="l"/>
            <a:r>
              <a:rPr sz="975" b="1">
                <a:solidFill>
                  <a:srgbClr val="1A2332"/>
                </a:solidFill>
                <a:latin typeface="Noto Serif JP"/>
                <a:ea typeface="Noto Serif JP"/>
                <a:cs typeface="Noto Serif JP"/>
              </a:rPr>
              <a:t>人事・労務</a:t>
            </a:r>
          </a:p>
        </p:txBody>
      </p:sp>
      <p:sp>
        <p:nvSpPr>
          <p:cNvPr id="10" name="TextBox 9"/>
          <p:cNvSpPr txBox="1"/>
          <p:nvPr/>
        </p:nvSpPr>
        <p:spPr>
          <a:xfrm>
            <a:off x="1981200" y="2152650"/>
            <a:ext cx="8524875" cy="419100"/>
          </a:xfrm>
          <a:prstGeom prst="rect">
            <a:avLst/>
          </a:prstGeom>
          <a:noFill/>
        </p:spPr>
        <p:txBody>
          <a:bodyPr wrap="square">
            <a:spAutoFit/>
          </a:bodyPr>
          <a:lstStyle/>
          <a:p>
            <a:pPr algn="l"/>
            <a:r>
              <a:rPr sz="975" b="0">
                <a:solidFill>
                  <a:srgbClr val="5A6675"/>
                </a:solidFill>
                <a:latin typeface="Noto Sans JP"/>
                <a:ea typeface="Noto Sans JP"/>
                <a:cs typeface="Noto Sans JP"/>
              </a:rPr>
              <a:t>450名エンジニア採用力・ストックオプション制度・全社OKR連動型評価</a:t>
            </a:r>
          </a:p>
        </p:txBody>
      </p:sp>
      <p:sp>
        <p:nvSpPr>
          <p:cNvPr id="11" name="Rectangle 10"/>
          <p:cNvSpPr/>
          <p:nvPr/>
        </p:nvSpPr>
        <p:spPr>
          <a:xfrm>
            <a:off x="685800" y="2743200"/>
            <a:ext cx="9896475" cy="60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819400"/>
            <a:ext cx="1143000" cy="457200"/>
          </a:xfrm>
          <a:prstGeom prst="rect">
            <a:avLst/>
          </a:prstGeom>
          <a:noFill/>
        </p:spPr>
        <p:txBody>
          <a:bodyPr wrap="square">
            <a:spAutoFit/>
          </a:bodyPr>
          <a:lstStyle/>
          <a:p>
            <a:pPr algn="l"/>
            <a:r>
              <a:rPr sz="975" b="1">
                <a:solidFill>
                  <a:srgbClr val="1A2332"/>
                </a:solidFill>
                <a:latin typeface="Noto Serif JP"/>
                <a:ea typeface="Noto Serif JP"/>
                <a:cs typeface="Noto Serif JP"/>
              </a:rPr>
              <a:t>技術開発</a:t>
            </a:r>
          </a:p>
        </p:txBody>
      </p:sp>
      <p:sp>
        <p:nvSpPr>
          <p:cNvPr id="13" name="TextBox 12"/>
          <p:cNvSpPr txBox="1"/>
          <p:nvPr/>
        </p:nvSpPr>
        <p:spPr>
          <a:xfrm>
            <a:off x="1981200" y="2838450"/>
            <a:ext cx="8524875" cy="419100"/>
          </a:xfrm>
          <a:prstGeom prst="rect">
            <a:avLst/>
          </a:prstGeom>
          <a:noFill/>
        </p:spPr>
        <p:txBody>
          <a:bodyPr wrap="square">
            <a:spAutoFit/>
          </a:bodyPr>
          <a:lstStyle/>
          <a:p>
            <a:pPr algn="l"/>
            <a:r>
              <a:rPr sz="975" b="0">
                <a:solidFill>
                  <a:srgbClr val="5A6675"/>
                </a:solidFill>
                <a:latin typeface="Noto Sans JP"/>
                <a:ea typeface="Noto Sans JP"/>
                <a:cs typeface="Noto Sans JP"/>
              </a:rPr>
              <a:t>独自AI/MLパイプライン・マイクロサービスアーキテクチャ・年2回メジャーリリース</a:t>
            </a:r>
          </a:p>
        </p:txBody>
      </p:sp>
      <p:sp>
        <p:nvSpPr>
          <p:cNvPr id="14" name="Rectangle 13"/>
          <p:cNvSpPr/>
          <p:nvPr/>
        </p:nvSpPr>
        <p:spPr>
          <a:xfrm>
            <a:off x="685800" y="3429000"/>
            <a:ext cx="9896475" cy="60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3505200"/>
            <a:ext cx="1143000" cy="457200"/>
          </a:xfrm>
          <a:prstGeom prst="rect">
            <a:avLst/>
          </a:prstGeom>
          <a:noFill/>
        </p:spPr>
        <p:txBody>
          <a:bodyPr wrap="square">
            <a:spAutoFit/>
          </a:bodyPr>
          <a:lstStyle/>
          <a:p>
            <a:pPr algn="l"/>
            <a:r>
              <a:rPr sz="975" b="1">
                <a:solidFill>
                  <a:srgbClr val="1A2332"/>
                </a:solidFill>
                <a:latin typeface="Noto Serif JP"/>
                <a:ea typeface="Noto Serif JP"/>
                <a:cs typeface="Noto Serif JP"/>
              </a:rPr>
              <a:t>調達活動</a:t>
            </a:r>
          </a:p>
        </p:txBody>
      </p:sp>
      <p:sp>
        <p:nvSpPr>
          <p:cNvPr id="16" name="TextBox 15"/>
          <p:cNvSpPr txBox="1"/>
          <p:nvPr/>
        </p:nvSpPr>
        <p:spPr>
          <a:xfrm>
            <a:off x="1981200" y="3524250"/>
            <a:ext cx="8524875" cy="419100"/>
          </a:xfrm>
          <a:prstGeom prst="rect">
            <a:avLst/>
          </a:prstGeom>
          <a:noFill/>
        </p:spPr>
        <p:txBody>
          <a:bodyPr wrap="square">
            <a:spAutoFit/>
          </a:bodyPr>
          <a:lstStyle/>
          <a:p>
            <a:pPr algn="l"/>
            <a:r>
              <a:rPr sz="975" b="0">
                <a:solidFill>
                  <a:srgbClr val="5A6675"/>
                </a:solidFill>
                <a:latin typeface="Noto Sans JP"/>
                <a:ea typeface="Noto Sans JP"/>
                <a:cs typeface="Noto Sans JP"/>
              </a:rPr>
              <a:t>AWS Enterprise Agreement・外部データプロバイダー契約・SaaS ツール統合調達</a:t>
            </a:r>
          </a:p>
        </p:txBody>
      </p:sp>
      <p:sp>
        <p:nvSpPr>
          <p:cNvPr id="17" name="Rectangle 16"/>
          <p:cNvSpPr/>
          <p:nvPr/>
        </p:nvSpPr>
        <p:spPr>
          <a:xfrm>
            <a:off x="10810875" y="1371600"/>
            <a:ext cx="695325" cy="46482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29925" y="3086100"/>
            <a:ext cx="657225" cy="1219200"/>
          </a:xfrm>
          <a:prstGeom prst="rect">
            <a:avLst/>
          </a:prstGeom>
          <a:noFill/>
        </p:spPr>
        <p:txBody>
          <a:bodyPr wrap="square">
            <a:spAutoFit/>
          </a:bodyPr>
          <a:lstStyle/>
          <a:p>
            <a:pPr algn="ctr"/>
            <a:r>
              <a:rPr sz="975" b="0">
                <a:solidFill>
                  <a:srgbClr val="FFFFFF"/>
                </a:solidFill>
                <a:latin typeface="Noto Serif JP"/>
                <a:ea typeface="Noto Serif JP"/>
                <a:cs typeface="Noto Serif JP"/>
              </a:rPr>
              <a:t>Margin
利益</a:t>
            </a:r>
          </a:p>
        </p:txBody>
      </p:sp>
      <p:sp>
        <p:nvSpPr>
          <p:cNvPr id="19" name="Chevron 18"/>
          <p:cNvSpPr/>
          <p:nvPr/>
        </p:nvSpPr>
        <p:spPr>
          <a:xfrm>
            <a:off x="685800" y="4191000"/>
            <a:ext cx="1609725" cy="1828800"/>
          </a:xfrm>
          <a:prstGeom prst="chevron">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1A2332"/>
                </a:solidFill>
                <a:latin typeface="Noto Sans JP"/>
                <a:ea typeface="Noto Sans JP"/>
                <a:cs typeface="Noto Sans JP"/>
              </a:rPr>
              <a:t/>
            </a:r>
          </a:p>
        </p:txBody>
      </p:sp>
      <p:sp>
        <p:nvSpPr>
          <p:cNvPr id="20" name="TextBox 19"/>
          <p:cNvSpPr txBox="1"/>
          <p:nvPr/>
        </p:nvSpPr>
        <p:spPr>
          <a:xfrm>
            <a:off x="742950" y="4267200"/>
            <a:ext cx="1495425" cy="190500"/>
          </a:xfrm>
          <a:prstGeom prst="rect">
            <a:avLst/>
          </a:prstGeom>
          <a:noFill/>
        </p:spPr>
        <p:txBody>
          <a:bodyPr wrap="square">
            <a:spAutoFit/>
          </a:bodyPr>
          <a:lstStyle/>
          <a:p>
            <a:pPr algn="l"/>
            <a:r>
              <a:rPr sz="975" b="1">
                <a:solidFill>
                  <a:srgbClr val="1A2332"/>
                </a:solidFill>
                <a:latin typeface="Noto Serif JP"/>
                <a:ea typeface="Noto Serif JP"/>
                <a:cs typeface="Noto Serif JP"/>
              </a:rPr>
              <a:t>購買物流</a:t>
            </a:r>
          </a:p>
        </p:txBody>
      </p:sp>
      <p:sp>
        <p:nvSpPr>
          <p:cNvPr id="21" name="TextBox 20"/>
          <p:cNvSpPr txBox="1"/>
          <p:nvPr/>
        </p:nvSpPr>
        <p:spPr>
          <a:xfrm>
            <a:off x="742950" y="4514850"/>
            <a:ext cx="1495425" cy="1352550"/>
          </a:xfrm>
          <a:prstGeom prst="rect">
            <a:avLst/>
          </a:prstGeom>
          <a:noFill/>
        </p:spPr>
        <p:txBody>
          <a:bodyPr wrap="square">
            <a:spAutoFit/>
          </a:bodyPr>
          <a:lstStyle/>
          <a:p>
            <a:pPr algn="l"/>
            <a:r>
              <a:rPr sz="975" b="0">
                <a:solidFill>
                  <a:srgbClr val="1A2332"/>
                </a:solidFill>
                <a:latin typeface="Noto Sans JP"/>
                <a:ea typeface="Noto Sans JP"/>
                <a:cs typeface="Noto Sans JP"/>
              </a:rPr>
              <a:t>・AWS/GCP最適化</a:t>
            </a:r>
          </a:p>
          <a:p>
            <a:pPr algn="l"/>
            <a:r>
              <a:rPr sz="975" b="0">
                <a:solidFill>
                  <a:srgbClr val="1A2332"/>
                </a:solidFill>
                <a:latin typeface="Noto Sans JP"/>
                <a:ea typeface="Noto Sans JP"/>
                <a:cs typeface="Noto Sans JP"/>
              </a:rPr>
              <a:t>・OSS活用によるコスト削減</a:t>
            </a:r>
          </a:p>
        </p:txBody>
      </p:sp>
      <p:sp>
        <p:nvSpPr>
          <p:cNvPr id="22" name="Chevron 21"/>
          <p:cNvSpPr/>
          <p:nvPr/>
        </p:nvSpPr>
        <p:spPr>
          <a:xfrm>
            <a:off x="2524125" y="4191000"/>
            <a:ext cx="2533650" cy="1828800"/>
          </a:xfrm>
          <a:prstGeom prst="chevron">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1A2332"/>
                </a:solidFill>
                <a:latin typeface="Noto Sans JP"/>
                <a:ea typeface="Noto Sans JP"/>
                <a:cs typeface="Noto Sans JP"/>
              </a:rPr>
              <a:t/>
            </a:r>
          </a:p>
        </p:txBody>
      </p:sp>
      <p:sp>
        <p:nvSpPr>
          <p:cNvPr id="23" name="TextBox 22"/>
          <p:cNvSpPr txBox="1"/>
          <p:nvPr/>
        </p:nvSpPr>
        <p:spPr>
          <a:xfrm>
            <a:off x="2581275" y="4267200"/>
            <a:ext cx="2419350" cy="190500"/>
          </a:xfrm>
          <a:prstGeom prst="rect">
            <a:avLst/>
          </a:prstGeom>
          <a:noFill/>
        </p:spPr>
        <p:txBody>
          <a:bodyPr wrap="square">
            <a:spAutoFit/>
          </a:bodyPr>
          <a:lstStyle/>
          <a:p>
            <a:pPr algn="l"/>
            <a:r>
              <a:rPr sz="975" b="1">
                <a:solidFill>
                  <a:srgbClr val="1A2332"/>
                </a:solidFill>
                <a:latin typeface="Noto Serif JP"/>
                <a:ea typeface="Noto Serif JP"/>
                <a:cs typeface="Noto Serif JP"/>
              </a:rPr>
              <a:t>製造・オペレーション</a:t>
            </a:r>
          </a:p>
        </p:txBody>
      </p:sp>
      <p:sp>
        <p:nvSpPr>
          <p:cNvPr id="24" name="TextBox 23"/>
          <p:cNvSpPr txBox="1"/>
          <p:nvPr/>
        </p:nvSpPr>
        <p:spPr>
          <a:xfrm>
            <a:off x="2581275" y="4514850"/>
            <a:ext cx="2419350" cy="1352550"/>
          </a:xfrm>
          <a:prstGeom prst="rect">
            <a:avLst/>
          </a:prstGeom>
          <a:noFill/>
        </p:spPr>
        <p:txBody>
          <a:bodyPr wrap="square">
            <a:spAutoFit/>
          </a:bodyPr>
          <a:lstStyle/>
          <a:p>
            <a:pPr algn="l"/>
            <a:r>
              <a:rPr sz="975" b="0">
                <a:solidFill>
                  <a:srgbClr val="1A2332"/>
                </a:solidFill>
                <a:latin typeface="Noto Sans JP"/>
                <a:ea typeface="Noto Sans JP"/>
                <a:cs typeface="Noto Sans JP"/>
              </a:rPr>
              <a:t>・CI/CDパイプライン（週次リリース）</a:t>
            </a:r>
          </a:p>
          <a:p>
            <a:pPr algn="l"/>
            <a:r>
              <a:rPr sz="975" b="0">
                <a:solidFill>
                  <a:srgbClr val="1A2332"/>
                </a:solidFill>
                <a:latin typeface="Noto Sans JP"/>
                <a:ea typeface="Noto Sans JP"/>
                <a:cs typeface="Noto Sans JP"/>
              </a:rPr>
              <a:t>・SLA 99.9%稼働率維持</a:t>
            </a:r>
          </a:p>
          <a:p>
            <a:pPr algn="l"/>
            <a:r>
              <a:rPr sz="975" b="0">
                <a:solidFill>
                  <a:srgbClr val="1A2332"/>
                </a:solidFill>
                <a:latin typeface="Noto Sans JP"/>
                <a:ea typeface="Noto Sans JP"/>
                <a:cs typeface="Noto Sans JP"/>
              </a:rPr>
              <a:t>・セキュリティ審査自動化</a:t>
            </a:r>
          </a:p>
        </p:txBody>
      </p:sp>
      <p:sp>
        <p:nvSpPr>
          <p:cNvPr id="25" name="Chevron 24"/>
          <p:cNvSpPr/>
          <p:nvPr/>
        </p:nvSpPr>
        <p:spPr>
          <a:xfrm>
            <a:off x="5286375" y="4191000"/>
            <a:ext cx="1609725" cy="1828800"/>
          </a:xfrm>
          <a:prstGeom prst="chevron">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1A2332"/>
                </a:solidFill>
                <a:latin typeface="Noto Sans JP"/>
                <a:ea typeface="Noto Sans JP"/>
                <a:cs typeface="Noto Sans JP"/>
              </a:rPr>
              <a:t/>
            </a:r>
          </a:p>
        </p:txBody>
      </p:sp>
      <p:sp>
        <p:nvSpPr>
          <p:cNvPr id="26" name="TextBox 25"/>
          <p:cNvSpPr txBox="1"/>
          <p:nvPr/>
        </p:nvSpPr>
        <p:spPr>
          <a:xfrm>
            <a:off x="5343525" y="4267200"/>
            <a:ext cx="1495425" cy="190500"/>
          </a:xfrm>
          <a:prstGeom prst="rect">
            <a:avLst/>
          </a:prstGeom>
          <a:noFill/>
        </p:spPr>
        <p:txBody>
          <a:bodyPr wrap="square">
            <a:spAutoFit/>
          </a:bodyPr>
          <a:lstStyle/>
          <a:p>
            <a:pPr algn="l"/>
            <a:r>
              <a:rPr sz="975" b="1">
                <a:solidFill>
                  <a:srgbClr val="1A2332"/>
                </a:solidFill>
                <a:latin typeface="Noto Serif JP"/>
                <a:ea typeface="Noto Serif JP"/>
                <a:cs typeface="Noto Serif JP"/>
              </a:rPr>
              <a:t>出荷物流</a:t>
            </a:r>
          </a:p>
        </p:txBody>
      </p:sp>
      <p:sp>
        <p:nvSpPr>
          <p:cNvPr id="27" name="TextBox 26"/>
          <p:cNvSpPr txBox="1"/>
          <p:nvPr/>
        </p:nvSpPr>
        <p:spPr>
          <a:xfrm>
            <a:off x="5343525" y="4514850"/>
            <a:ext cx="1495425" cy="1352550"/>
          </a:xfrm>
          <a:prstGeom prst="rect">
            <a:avLst/>
          </a:prstGeom>
          <a:noFill/>
        </p:spPr>
        <p:txBody>
          <a:bodyPr wrap="square">
            <a:spAutoFit/>
          </a:bodyPr>
          <a:lstStyle/>
          <a:p>
            <a:pPr algn="l"/>
            <a:r>
              <a:rPr sz="975" b="0">
                <a:solidFill>
                  <a:srgbClr val="1A2332"/>
                </a:solidFill>
                <a:latin typeface="Noto Sans JP"/>
                <a:ea typeface="Noto Sans JP"/>
                <a:cs typeface="Noto Sans JP"/>
              </a:rPr>
              <a:t>・API連携・ETL自動化</a:t>
            </a:r>
          </a:p>
          <a:p>
            <a:pPr algn="l"/>
            <a:r>
              <a:rPr sz="975" b="0">
                <a:solidFill>
                  <a:srgbClr val="1A2332"/>
                </a:solidFill>
                <a:latin typeface="Noto Sans JP"/>
                <a:ea typeface="Noto Sans JP"/>
                <a:cs typeface="Noto Sans JP"/>
              </a:rPr>
              <a:t>・オンボーディング90日完結</a:t>
            </a:r>
          </a:p>
        </p:txBody>
      </p:sp>
      <p:sp>
        <p:nvSpPr>
          <p:cNvPr id="28" name="Chevron 27"/>
          <p:cNvSpPr/>
          <p:nvPr/>
        </p:nvSpPr>
        <p:spPr>
          <a:xfrm>
            <a:off x="7134225" y="4191000"/>
            <a:ext cx="1609725" cy="1828800"/>
          </a:xfrm>
          <a:prstGeom prst="chevron">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1A2332"/>
                </a:solidFill>
                <a:latin typeface="Noto Sans JP"/>
                <a:ea typeface="Noto Sans JP"/>
                <a:cs typeface="Noto Sans JP"/>
              </a:rPr>
              <a:t/>
            </a:r>
          </a:p>
        </p:txBody>
      </p:sp>
      <p:sp>
        <p:nvSpPr>
          <p:cNvPr id="29" name="TextBox 28"/>
          <p:cNvSpPr txBox="1"/>
          <p:nvPr/>
        </p:nvSpPr>
        <p:spPr>
          <a:xfrm>
            <a:off x="7191375" y="4267200"/>
            <a:ext cx="1495425" cy="190500"/>
          </a:xfrm>
          <a:prstGeom prst="rect">
            <a:avLst/>
          </a:prstGeom>
          <a:noFill/>
        </p:spPr>
        <p:txBody>
          <a:bodyPr wrap="square">
            <a:spAutoFit/>
          </a:bodyPr>
          <a:lstStyle/>
          <a:p>
            <a:pPr algn="l"/>
            <a:r>
              <a:rPr sz="975" b="1">
                <a:solidFill>
                  <a:srgbClr val="1A2332"/>
                </a:solidFill>
                <a:latin typeface="Noto Serif JP"/>
                <a:ea typeface="Noto Serif JP"/>
                <a:cs typeface="Noto Serif JP"/>
              </a:rPr>
              <a:t>マーケ・販売</a:t>
            </a:r>
          </a:p>
        </p:txBody>
      </p:sp>
      <p:sp>
        <p:nvSpPr>
          <p:cNvPr id="30" name="TextBox 29"/>
          <p:cNvSpPr txBox="1"/>
          <p:nvPr/>
        </p:nvSpPr>
        <p:spPr>
          <a:xfrm>
            <a:off x="7191375" y="4514850"/>
            <a:ext cx="1495425" cy="1352550"/>
          </a:xfrm>
          <a:prstGeom prst="rect">
            <a:avLst/>
          </a:prstGeom>
          <a:noFill/>
        </p:spPr>
        <p:txBody>
          <a:bodyPr wrap="square">
            <a:spAutoFit/>
          </a:bodyPr>
          <a:lstStyle/>
          <a:p>
            <a:pPr algn="l"/>
            <a:r>
              <a:rPr sz="975" b="0">
                <a:solidFill>
                  <a:srgbClr val="1A2332"/>
                </a:solidFill>
                <a:latin typeface="Noto Sans JP"/>
                <a:ea typeface="Noto Sans JP"/>
                <a:cs typeface="Noto Sans JP"/>
              </a:rPr>
              <a:t>・PLG + インサイドセールス</a:t>
            </a:r>
          </a:p>
          <a:p>
            <a:pPr algn="l"/>
            <a:r>
              <a:rPr sz="975" b="0">
                <a:solidFill>
                  <a:srgbClr val="1A2332"/>
                </a:solidFill>
                <a:latin typeface="Noto Sans JP"/>
                <a:ea typeface="Noto Sans JP"/>
                <a:cs typeface="Noto Sans JP"/>
              </a:rPr>
              <a:t>・パートナーチャネル経由30%</a:t>
            </a:r>
          </a:p>
        </p:txBody>
      </p:sp>
      <p:sp>
        <p:nvSpPr>
          <p:cNvPr id="31" name="Chevron 30"/>
          <p:cNvSpPr/>
          <p:nvPr/>
        </p:nvSpPr>
        <p:spPr>
          <a:xfrm>
            <a:off x="8972550" y="4191000"/>
            <a:ext cx="1609725" cy="1828800"/>
          </a:xfrm>
          <a:prstGeom prst="chevron">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1A2332"/>
                </a:solidFill>
                <a:latin typeface="Noto Sans JP"/>
                <a:ea typeface="Noto Sans JP"/>
                <a:cs typeface="Noto Sans JP"/>
              </a:rPr>
              <a:t/>
            </a:r>
          </a:p>
        </p:txBody>
      </p:sp>
      <p:sp>
        <p:nvSpPr>
          <p:cNvPr id="32" name="TextBox 31"/>
          <p:cNvSpPr txBox="1"/>
          <p:nvPr/>
        </p:nvSpPr>
        <p:spPr>
          <a:xfrm>
            <a:off x="9029700" y="4267200"/>
            <a:ext cx="1495425" cy="190500"/>
          </a:xfrm>
          <a:prstGeom prst="rect">
            <a:avLst/>
          </a:prstGeom>
          <a:noFill/>
        </p:spPr>
        <p:txBody>
          <a:bodyPr wrap="square">
            <a:spAutoFit/>
          </a:bodyPr>
          <a:lstStyle/>
          <a:p>
            <a:pPr algn="l"/>
            <a:r>
              <a:rPr sz="975" b="1">
                <a:solidFill>
                  <a:srgbClr val="1A2332"/>
                </a:solidFill>
                <a:latin typeface="Noto Serif JP"/>
                <a:ea typeface="Noto Serif JP"/>
                <a:cs typeface="Noto Serif JP"/>
              </a:rPr>
              <a:t>アフターサービス</a:t>
            </a:r>
          </a:p>
        </p:txBody>
      </p:sp>
      <p:sp>
        <p:nvSpPr>
          <p:cNvPr id="33" name="TextBox 32"/>
          <p:cNvSpPr txBox="1"/>
          <p:nvPr/>
        </p:nvSpPr>
        <p:spPr>
          <a:xfrm>
            <a:off x="9029700" y="4514850"/>
            <a:ext cx="1495425" cy="1352550"/>
          </a:xfrm>
          <a:prstGeom prst="rect">
            <a:avLst/>
          </a:prstGeom>
          <a:noFill/>
        </p:spPr>
        <p:txBody>
          <a:bodyPr wrap="square">
            <a:spAutoFit/>
          </a:bodyPr>
          <a:lstStyle/>
          <a:p>
            <a:pPr algn="l"/>
            <a:r>
              <a:rPr sz="975" b="0">
                <a:solidFill>
                  <a:srgbClr val="1A2332"/>
                </a:solidFill>
                <a:latin typeface="Noto Sans JP"/>
                <a:ea typeface="Noto Sans JP"/>
                <a:cs typeface="Noto Sans JP"/>
              </a:rPr>
              <a:t>・専任CSM配置</a:t>
            </a:r>
          </a:p>
          <a:p>
            <a:pPr algn="l"/>
            <a:r>
              <a:rPr sz="975" b="0">
                <a:solidFill>
                  <a:srgbClr val="1A2332"/>
                </a:solidFill>
                <a:latin typeface="Noto Sans JP"/>
                <a:ea typeface="Noto Sans JP"/>
                <a:cs typeface="Noto Sans JP"/>
              </a:rPr>
              <a:t>・NPS+62・解約率0.8%/月</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90 / 98</a:t>
            </a:r>
          </a:p>
        </p:txBody>
      </p:sp>
      <p:sp>
        <p:nvSpPr>
          <p:cNvPr id="3" name="TextBox 2"/>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成長戦略の優先順位：FY2026は市場浸透・製品開発を優先し多角化は3年後に検討</a:t>
            </a:r>
          </a:p>
        </p:txBody>
      </p:sp>
      <p:sp>
        <p:nvSpPr>
          <p:cNvPr id="4" name="TextBox 3"/>
          <p:cNvSpPr txBox="1"/>
          <p:nvPr/>
        </p:nvSpPr>
        <p:spPr>
          <a:xfrm>
            <a:off x="3448050" y="1371600"/>
            <a:ext cx="3457575" cy="304800"/>
          </a:xfrm>
          <a:prstGeom prst="rect">
            <a:avLst/>
          </a:prstGeom>
          <a:noFill/>
        </p:spPr>
        <p:txBody>
          <a:bodyPr wrap="square">
            <a:spAutoFit/>
          </a:bodyPr>
          <a:lstStyle/>
          <a:p>
            <a:pPr algn="ctr"/>
            <a:r>
              <a:rPr sz="975" b="0">
                <a:solidFill>
                  <a:srgbClr val="5A6675"/>
                </a:solidFill>
                <a:latin typeface="Noto Sans JP"/>
                <a:ea typeface="Noto Sans JP"/>
                <a:cs typeface="Noto Sans JP"/>
              </a:rPr>
              <a:t>既存製品</a:t>
            </a:r>
          </a:p>
        </p:txBody>
      </p:sp>
      <p:sp>
        <p:nvSpPr>
          <p:cNvPr id="5" name="TextBox 4"/>
          <p:cNvSpPr txBox="1"/>
          <p:nvPr/>
        </p:nvSpPr>
        <p:spPr>
          <a:xfrm>
            <a:off x="7134225" y="1371600"/>
            <a:ext cx="4371975" cy="304800"/>
          </a:xfrm>
          <a:prstGeom prst="rect">
            <a:avLst/>
          </a:prstGeom>
          <a:noFill/>
        </p:spPr>
        <p:txBody>
          <a:bodyPr wrap="square">
            <a:spAutoFit/>
          </a:bodyPr>
          <a:lstStyle/>
          <a:p>
            <a:pPr algn="ctr"/>
            <a:r>
              <a:rPr sz="975" b="0">
                <a:solidFill>
                  <a:srgbClr val="5A6675"/>
                </a:solidFill>
                <a:latin typeface="Noto Sans JP"/>
                <a:ea typeface="Noto Sans JP"/>
                <a:cs typeface="Noto Sans JP"/>
              </a:rPr>
              <a:t>新規製品</a:t>
            </a:r>
          </a:p>
        </p:txBody>
      </p:sp>
      <p:sp>
        <p:nvSpPr>
          <p:cNvPr id="6" name="TextBox 5"/>
          <p:cNvSpPr txBox="1"/>
          <p:nvPr/>
        </p:nvSpPr>
        <p:spPr>
          <a:xfrm>
            <a:off x="685800" y="1828800"/>
            <a:ext cx="2533650" cy="2209800"/>
          </a:xfrm>
          <a:prstGeom prst="rect">
            <a:avLst/>
          </a:prstGeom>
          <a:noFill/>
        </p:spPr>
        <p:txBody>
          <a:bodyPr wrap="square">
            <a:spAutoFit/>
          </a:bodyPr>
          <a:lstStyle/>
          <a:p>
            <a:pPr algn="ctr"/>
            <a:r>
              <a:rPr sz="975" b="0">
                <a:solidFill>
                  <a:srgbClr val="5A6675"/>
                </a:solidFill>
                <a:latin typeface="Noto Sans JP"/>
                <a:ea typeface="Noto Sans JP"/>
                <a:cs typeface="Noto Sans JP"/>
              </a:rPr>
              <a:t>既存市場</a:t>
            </a:r>
          </a:p>
        </p:txBody>
      </p:sp>
      <p:sp>
        <p:nvSpPr>
          <p:cNvPr id="7" name="TextBox 6"/>
          <p:cNvSpPr txBox="1"/>
          <p:nvPr/>
        </p:nvSpPr>
        <p:spPr>
          <a:xfrm>
            <a:off x="685800" y="4114800"/>
            <a:ext cx="2533650" cy="1905000"/>
          </a:xfrm>
          <a:prstGeom prst="rect">
            <a:avLst/>
          </a:prstGeom>
          <a:noFill/>
        </p:spPr>
        <p:txBody>
          <a:bodyPr wrap="square">
            <a:spAutoFit/>
          </a:bodyPr>
          <a:lstStyle/>
          <a:p>
            <a:pPr algn="ctr"/>
            <a:r>
              <a:rPr sz="975" b="0">
                <a:solidFill>
                  <a:srgbClr val="5A6675"/>
                </a:solidFill>
                <a:latin typeface="Noto Sans JP"/>
                <a:ea typeface="Noto Sans JP"/>
                <a:cs typeface="Noto Sans JP"/>
              </a:rPr>
              <a:t>新規市場</a:t>
            </a:r>
          </a:p>
        </p:txBody>
      </p:sp>
      <p:sp>
        <p:nvSpPr>
          <p:cNvPr id="8" name="Rectangle 7"/>
          <p:cNvSpPr/>
          <p:nvPr/>
        </p:nvSpPr>
        <p:spPr>
          <a:xfrm>
            <a:off x="3448050" y="1828800"/>
            <a:ext cx="3457575" cy="22098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43300" y="1924050"/>
            <a:ext cx="3267075"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市場浸透</a:t>
            </a:r>
          </a:p>
        </p:txBody>
      </p:sp>
      <p:sp>
        <p:nvSpPr>
          <p:cNvPr id="10" name="TextBox 9"/>
          <p:cNvSpPr txBox="1"/>
          <p:nvPr/>
        </p:nvSpPr>
        <p:spPr>
          <a:xfrm>
            <a:off x="3543300" y="2181225"/>
            <a:ext cx="3267075" cy="171450"/>
          </a:xfrm>
          <a:prstGeom prst="rect">
            <a:avLst/>
          </a:prstGeom>
          <a:noFill/>
        </p:spPr>
        <p:txBody>
          <a:bodyPr wrap="square">
            <a:spAutoFit/>
          </a:bodyPr>
          <a:lstStyle/>
          <a:p>
            <a:pPr algn="l"/>
            <a:r>
              <a:rPr sz="975" b="0">
                <a:solidFill>
                  <a:srgbClr val="5A6675"/>
                </a:solidFill>
                <a:latin typeface="Noto Sans JP"/>
                <a:ea typeface="Noto Sans JP"/>
                <a:cs typeface="Noto Sans JP"/>
              </a:rPr>
              <a:t>Market Penetration</a:t>
            </a:r>
          </a:p>
        </p:txBody>
      </p:sp>
      <p:sp>
        <p:nvSpPr>
          <p:cNvPr id="11" name="TextBox 10"/>
          <p:cNvSpPr txBox="1"/>
          <p:nvPr/>
        </p:nvSpPr>
        <p:spPr>
          <a:xfrm>
            <a:off x="3543300" y="2352675"/>
            <a:ext cx="3267075" cy="171450"/>
          </a:xfrm>
          <a:prstGeom prst="rect">
            <a:avLst/>
          </a:prstGeom>
          <a:noFill/>
        </p:spPr>
        <p:txBody>
          <a:bodyPr wrap="none">
            <a:spAutoFit/>
          </a:bodyPr>
          <a:lstStyle/>
          <a:p>
            <a:pPr algn="l"/>
            <a:r>
              <a:rPr sz="975" b="1">
                <a:solidFill>
                  <a:srgbClr val="C8102E"/>
                </a:solidFill>
                <a:latin typeface="Noto Sans JP"/>
                <a:ea typeface="Noto Sans JP"/>
                <a:cs typeface="Noto Sans JP"/>
              </a:rPr>
              <a:t>リスク：低</a:t>
            </a:r>
          </a:p>
        </p:txBody>
      </p:sp>
      <p:sp>
        <p:nvSpPr>
          <p:cNvPr id="12" name="TextBox 11"/>
          <p:cNvSpPr txBox="1"/>
          <p:nvPr/>
        </p:nvSpPr>
        <p:spPr>
          <a:xfrm>
            <a:off x="3581400" y="2543175"/>
            <a:ext cx="3228975" cy="1400175"/>
          </a:xfrm>
          <a:prstGeom prst="rect">
            <a:avLst/>
          </a:prstGeom>
          <a:noFill/>
        </p:spPr>
        <p:txBody>
          <a:bodyPr wrap="square">
            <a:spAutoFit/>
          </a:bodyPr>
          <a:lstStyle/>
          <a:p>
            <a:pPr algn="l"/>
            <a:r>
              <a:rPr sz="975" b="0">
                <a:solidFill>
                  <a:srgbClr val="1A2332"/>
                </a:solidFill>
                <a:latin typeface="Noto Sans JP"/>
                <a:ea typeface="Noto Sans JP"/>
                <a:cs typeface="Noto Sans JP"/>
              </a:rPr>
              <a:t>・既存顧客へのアドオン提案（採用・研修モジュール）でARPU+40%</a:t>
            </a:r>
          </a:p>
          <a:p>
            <a:pPr algn="l"/>
            <a:r>
              <a:rPr sz="975" b="0">
                <a:solidFill>
                  <a:srgbClr val="1A2332"/>
                </a:solidFill>
                <a:latin typeface="Noto Sans JP"/>
                <a:ea typeface="Noto Sans JP"/>
                <a:cs typeface="Noto Sans JP"/>
              </a:rPr>
              <a:t>・中堅企業セグメントにおけるPLG転換率の改善（現状8%→15%目標）</a:t>
            </a:r>
          </a:p>
        </p:txBody>
      </p:sp>
      <p:sp>
        <p:nvSpPr>
          <p:cNvPr id="13" name="Rectangle 12"/>
          <p:cNvSpPr/>
          <p:nvPr/>
        </p:nvSpPr>
        <p:spPr>
          <a:xfrm>
            <a:off x="7134225" y="1828800"/>
            <a:ext cx="4371975" cy="2209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9475" y="1924050"/>
            <a:ext cx="4181475"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製品開発</a:t>
            </a:r>
          </a:p>
        </p:txBody>
      </p:sp>
      <p:sp>
        <p:nvSpPr>
          <p:cNvPr id="15" name="TextBox 14"/>
          <p:cNvSpPr txBox="1"/>
          <p:nvPr/>
        </p:nvSpPr>
        <p:spPr>
          <a:xfrm>
            <a:off x="7229475" y="2181225"/>
            <a:ext cx="4181475" cy="171450"/>
          </a:xfrm>
          <a:prstGeom prst="rect">
            <a:avLst/>
          </a:prstGeom>
          <a:noFill/>
        </p:spPr>
        <p:txBody>
          <a:bodyPr wrap="square">
            <a:spAutoFit/>
          </a:bodyPr>
          <a:lstStyle/>
          <a:p>
            <a:pPr algn="l"/>
            <a:r>
              <a:rPr sz="975" b="0">
                <a:solidFill>
                  <a:srgbClr val="5A6675"/>
                </a:solidFill>
                <a:latin typeface="Noto Sans JP"/>
                <a:ea typeface="Noto Sans JP"/>
                <a:cs typeface="Noto Sans JP"/>
              </a:rPr>
              <a:t>Product Development</a:t>
            </a:r>
          </a:p>
        </p:txBody>
      </p:sp>
      <p:sp>
        <p:nvSpPr>
          <p:cNvPr id="16" name="TextBox 15"/>
          <p:cNvSpPr txBox="1"/>
          <p:nvPr/>
        </p:nvSpPr>
        <p:spPr>
          <a:xfrm>
            <a:off x="7229475" y="2352675"/>
            <a:ext cx="4181475" cy="171450"/>
          </a:xfrm>
          <a:prstGeom prst="rect">
            <a:avLst/>
          </a:prstGeom>
          <a:noFill/>
        </p:spPr>
        <p:txBody>
          <a:bodyPr wrap="none">
            <a:spAutoFit/>
          </a:bodyPr>
          <a:lstStyle/>
          <a:p>
            <a:pPr algn="l"/>
            <a:r>
              <a:rPr sz="975" b="1">
                <a:solidFill>
                  <a:srgbClr val="C8102E"/>
                </a:solidFill>
                <a:latin typeface="Noto Sans JP"/>
                <a:ea typeface="Noto Sans JP"/>
                <a:cs typeface="Noto Sans JP"/>
              </a:rPr>
              <a:t>リスク：中</a:t>
            </a:r>
          </a:p>
        </p:txBody>
      </p:sp>
      <p:sp>
        <p:nvSpPr>
          <p:cNvPr id="17" name="TextBox 16"/>
          <p:cNvSpPr txBox="1"/>
          <p:nvPr/>
        </p:nvSpPr>
        <p:spPr>
          <a:xfrm>
            <a:off x="7267575" y="2543175"/>
            <a:ext cx="4143375" cy="1400175"/>
          </a:xfrm>
          <a:prstGeom prst="rect">
            <a:avLst/>
          </a:prstGeom>
          <a:noFill/>
        </p:spPr>
        <p:txBody>
          <a:bodyPr wrap="square">
            <a:spAutoFit/>
          </a:bodyPr>
          <a:lstStyle/>
          <a:p>
            <a:pPr algn="l"/>
            <a:r>
              <a:rPr sz="975" b="0">
                <a:solidFill>
                  <a:srgbClr val="1A2332"/>
                </a:solidFill>
                <a:latin typeface="Noto Sans JP"/>
                <a:ea typeface="Noto Sans JP"/>
                <a:cs typeface="Noto Sans JP"/>
              </a:rPr>
              <a:t>・生成AIアシスタント機能（評価コメント自動生成・1on1サポート）</a:t>
            </a:r>
          </a:p>
          <a:p>
            <a:pPr algn="l"/>
            <a:r>
              <a:rPr sz="975" b="0">
                <a:solidFill>
                  <a:srgbClr val="1A2332"/>
                </a:solidFill>
                <a:latin typeface="Noto Sans JP"/>
                <a:ea typeface="Noto Sans JP"/>
                <a:cs typeface="Noto Sans JP"/>
              </a:rPr>
              <a:t>・ウェルビーイング分析モジュールの新規開発（FY2026 H2リリース予定）</a:t>
            </a:r>
          </a:p>
        </p:txBody>
      </p:sp>
      <p:sp>
        <p:nvSpPr>
          <p:cNvPr id="18" name="Rectangle 17"/>
          <p:cNvSpPr/>
          <p:nvPr/>
        </p:nvSpPr>
        <p:spPr>
          <a:xfrm>
            <a:off x="3448050" y="4038600"/>
            <a:ext cx="8058150" cy="762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48050" y="4114800"/>
            <a:ext cx="3457575"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43300" y="4210050"/>
            <a:ext cx="3267075"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市場開発</a:t>
            </a:r>
          </a:p>
        </p:txBody>
      </p:sp>
      <p:sp>
        <p:nvSpPr>
          <p:cNvPr id="21" name="TextBox 20"/>
          <p:cNvSpPr txBox="1"/>
          <p:nvPr/>
        </p:nvSpPr>
        <p:spPr>
          <a:xfrm>
            <a:off x="3543300" y="4467225"/>
            <a:ext cx="3267075" cy="171450"/>
          </a:xfrm>
          <a:prstGeom prst="rect">
            <a:avLst/>
          </a:prstGeom>
          <a:noFill/>
        </p:spPr>
        <p:txBody>
          <a:bodyPr wrap="square">
            <a:spAutoFit/>
          </a:bodyPr>
          <a:lstStyle/>
          <a:p>
            <a:pPr algn="l"/>
            <a:r>
              <a:rPr sz="975" b="0">
                <a:solidFill>
                  <a:srgbClr val="5A6675"/>
                </a:solidFill>
                <a:latin typeface="Noto Sans JP"/>
                <a:ea typeface="Noto Sans JP"/>
                <a:cs typeface="Noto Sans JP"/>
              </a:rPr>
              <a:t>Market Development</a:t>
            </a:r>
          </a:p>
        </p:txBody>
      </p:sp>
      <p:sp>
        <p:nvSpPr>
          <p:cNvPr id="22" name="TextBox 21"/>
          <p:cNvSpPr txBox="1"/>
          <p:nvPr/>
        </p:nvSpPr>
        <p:spPr>
          <a:xfrm>
            <a:off x="3543300" y="4638675"/>
            <a:ext cx="3267075" cy="171450"/>
          </a:xfrm>
          <a:prstGeom prst="rect">
            <a:avLst/>
          </a:prstGeom>
          <a:noFill/>
        </p:spPr>
        <p:txBody>
          <a:bodyPr wrap="none">
            <a:spAutoFit/>
          </a:bodyPr>
          <a:lstStyle/>
          <a:p>
            <a:pPr algn="l"/>
            <a:r>
              <a:rPr sz="975" b="1">
                <a:solidFill>
                  <a:srgbClr val="C8102E"/>
                </a:solidFill>
                <a:latin typeface="Noto Sans JP"/>
                <a:ea typeface="Noto Sans JP"/>
                <a:cs typeface="Noto Sans JP"/>
              </a:rPr>
              <a:t>リスク：中〜高</a:t>
            </a:r>
          </a:p>
        </p:txBody>
      </p:sp>
      <p:sp>
        <p:nvSpPr>
          <p:cNvPr id="23" name="TextBox 22"/>
          <p:cNvSpPr txBox="1"/>
          <p:nvPr/>
        </p:nvSpPr>
        <p:spPr>
          <a:xfrm>
            <a:off x="3581400" y="4829175"/>
            <a:ext cx="3228975" cy="1095375"/>
          </a:xfrm>
          <a:prstGeom prst="rect">
            <a:avLst/>
          </a:prstGeom>
          <a:noFill/>
        </p:spPr>
        <p:txBody>
          <a:bodyPr wrap="square">
            <a:spAutoFit/>
          </a:bodyPr>
          <a:lstStyle/>
          <a:p>
            <a:pPr algn="l"/>
            <a:r>
              <a:rPr sz="975" b="0">
                <a:solidFill>
                  <a:srgbClr val="1A2332"/>
                </a:solidFill>
                <a:latin typeface="Noto Sans JP"/>
                <a:ea typeface="Noto Sans JP"/>
                <a:cs typeface="Noto Sans JP"/>
              </a:rPr>
              <a:t>・東南アジア（シンガポール・タイ）への既存製品ローカライズ展開</a:t>
            </a:r>
          </a:p>
          <a:p>
            <a:pPr algn="l"/>
            <a:r>
              <a:rPr sz="975" b="0">
                <a:solidFill>
                  <a:srgbClr val="1A2332"/>
                </a:solidFill>
                <a:latin typeface="Noto Sans JP"/>
                <a:ea typeface="Noto Sans JP"/>
                <a:cs typeface="Noto Sans JP"/>
              </a:rPr>
              <a:t>・公共・医療セクターへの業界特化版の水平展開</a:t>
            </a:r>
          </a:p>
        </p:txBody>
      </p:sp>
      <p:sp>
        <p:nvSpPr>
          <p:cNvPr id="24" name="Rectangle 23"/>
          <p:cNvSpPr/>
          <p:nvPr/>
        </p:nvSpPr>
        <p:spPr>
          <a:xfrm>
            <a:off x="7134225" y="4114800"/>
            <a:ext cx="4371975"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9475" y="4210050"/>
            <a:ext cx="4181475" cy="257175"/>
          </a:xfrm>
          <a:prstGeom prst="rect">
            <a:avLst/>
          </a:prstGeom>
          <a:noFill/>
        </p:spPr>
        <p:txBody>
          <a:bodyPr wrap="square">
            <a:spAutoFit/>
          </a:bodyPr>
          <a:lstStyle/>
          <a:p>
            <a:pPr algn="l"/>
            <a:r>
              <a:rPr sz="1350" b="1">
                <a:solidFill>
                  <a:srgbClr val="1A2332"/>
                </a:solidFill>
                <a:latin typeface="Noto Serif JP"/>
                <a:ea typeface="Noto Serif JP"/>
                <a:cs typeface="Noto Serif JP"/>
              </a:rPr>
              <a:t>多角化</a:t>
            </a:r>
          </a:p>
        </p:txBody>
      </p:sp>
      <p:sp>
        <p:nvSpPr>
          <p:cNvPr id="26" name="TextBox 25"/>
          <p:cNvSpPr txBox="1"/>
          <p:nvPr/>
        </p:nvSpPr>
        <p:spPr>
          <a:xfrm>
            <a:off x="7229475" y="4467225"/>
            <a:ext cx="4181475" cy="171450"/>
          </a:xfrm>
          <a:prstGeom prst="rect">
            <a:avLst/>
          </a:prstGeom>
          <a:noFill/>
        </p:spPr>
        <p:txBody>
          <a:bodyPr wrap="square">
            <a:spAutoFit/>
          </a:bodyPr>
          <a:lstStyle/>
          <a:p>
            <a:pPr algn="l"/>
            <a:r>
              <a:rPr sz="975" b="0">
                <a:solidFill>
                  <a:srgbClr val="5A6675"/>
                </a:solidFill>
                <a:latin typeface="Noto Sans JP"/>
                <a:ea typeface="Noto Sans JP"/>
                <a:cs typeface="Noto Sans JP"/>
              </a:rPr>
              <a:t>Diversification</a:t>
            </a:r>
          </a:p>
        </p:txBody>
      </p:sp>
      <p:sp>
        <p:nvSpPr>
          <p:cNvPr id="27" name="TextBox 26"/>
          <p:cNvSpPr txBox="1"/>
          <p:nvPr/>
        </p:nvSpPr>
        <p:spPr>
          <a:xfrm>
            <a:off x="7229475" y="4638675"/>
            <a:ext cx="4181475" cy="171450"/>
          </a:xfrm>
          <a:prstGeom prst="rect">
            <a:avLst/>
          </a:prstGeom>
          <a:noFill/>
        </p:spPr>
        <p:txBody>
          <a:bodyPr wrap="none">
            <a:spAutoFit/>
          </a:bodyPr>
          <a:lstStyle/>
          <a:p>
            <a:pPr algn="l"/>
            <a:r>
              <a:rPr sz="975" b="1">
                <a:solidFill>
                  <a:srgbClr val="C8102E"/>
                </a:solidFill>
                <a:latin typeface="Noto Sans JP"/>
                <a:ea typeface="Noto Sans JP"/>
                <a:cs typeface="Noto Sans JP"/>
              </a:rPr>
              <a:t>リスク：高</a:t>
            </a:r>
          </a:p>
        </p:txBody>
      </p:sp>
      <p:sp>
        <p:nvSpPr>
          <p:cNvPr id="28" name="TextBox 27"/>
          <p:cNvSpPr txBox="1"/>
          <p:nvPr/>
        </p:nvSpPr>
        <p:spPr>
          <a:xfrm>
            <a:off x="7267575" y="4829175"/>
            <a:ext cx="4143375" cy="1095375"/>
          </a:xfrm>
          <a:prstGeom prst="rect">
            <a:avLst/>
          </a:prstGeom>
          <a:noFill/>
        </p:spPr>
        <p:txBody>
          <a:bodyPr wrap="square">
            <a:spAutoFit/>
          </a:bodyPr>
          <a:lstStyle/>
          <a:p>
            <a:pPr algn="l"/>
            <a:r>
              <a:rPr sz="975" b="0">
                <a:solidFill>
                  <a:srgbClr val="1A2332"/>
                </a:solidFill>
                <a:latin typeface="Noto Sans JP"/>
                <a:ea typeface="Noto Sans JP"/>
                <a:cs typeface="Noto Sans JP"/>
              </a:rPr>
              <a:t>・HR Tech以外（会計・法務SaaS）への事業多角化は現時点で非推奨</a:t>
            </a:r>
          </a:p>
          <a:p>
            <a:pPr algn="l"/>
            <a:r>
              <a:rPr sz="975" b="0">
                <a:solidFill>
                  <a:srgbClr val="1A2332"/>
                </a:solidFill>
                <a:latin typeface="Noto Sans JP"/>
                <a:ea typeface="Noto Sans JP"/>
                <a:cs typeface="Noto Sans JP"/>
              </a:rPr>
              <a:t>・M&amp;Aによる隣接領域参入はFY2028以降に再検討</a:t>
            </a:r>
          </a:p>
        </p:txBody>
      </p:sp>
      <p:sp>
        <p:nvSpPr>
          <p:cNvPr id="29" name="Rectangle 28"/>
          <p:cNvSpPr/>
          <p:nvPr/>
        </p:nvSpPr>
        <p:spPr>
          <a:xfrm>
            <a:off x="7010400" y="1828800"/>
            <a:ext cx="19050" cy="4191000"/>
          </a:xfrm>
          <a:prstGeom prst="rect">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48050" y="6115050"/>
            <a:ext cx="8058150" cy="209550"/>
          </a:xfrm>
          <a:prstGeom prst="rect">
            <a:avLst/>
          </a:prstGeom>
          <a:noFill/>
        </p:spPr>
        <p:txBody>
          <a:bodyPr wrap="square">
            <a:spAutoFit/>
          </a:bodyPr>
          <a:lstStyle/>
          <a:p>
            <a:pPr algn="l"/>
            <a:r>
              <a:rPr sz="975" b="0">
                <a:solidFill>
                  <a:srgbClr val="5A6675"/>
                </a:solidFill>
                <a:latin typeface="Noto Sans JP"/>
                <a:ea typeface="Noto Sans JP"/>
                <a:cs typeface="Noto Sans JP"/>
              </a:rPr>
              <a:t>↗ リスク増加方向：市場浸透（最低）→ 多角化（最高）　出典：社内成長戦略委員会（2026年5月）</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出典：顧客インタビュー（n=42）・競合製品評価（2026年Q1）</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91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3C分析：自社の技術優位と顧客の一元管理ニーズが交差する領域に競合の空白がある</a:t>
            </a:r>
          </a:p>
        </p:txBody>
      </p:sp>
      <p:sp>
        <p:nvSpPr>
          <p:cNvPr id="5" name="Rectangle 4"/>
          <p:cNvSpPr/>
          <p:nvPr/>
        </p:nvSpPr>
        <p:spPr>
          <a:xfrm>
            <a:off x="685800" y="1371600"/>
            <a:ext cx="3457575" cy="44196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1050" y="1466850"/>
            <a:ext cx="3267075" cy="342900"/>
          </a:xfrm>
          <a:prstGeom prst="rect">
            <a:avLst/>
          </a:prstGeom>
          <a:noFill/>
        </p:spPr>
        <p:txBody>
          <a:bodyPr wrap="square">
            <a:spAutoFit/>
          </a:bodyPr>
          <a:lstStyle/>
          <a:p>
            <a:pPr algn="l"/>
            <a:r>
              <a:rPr sz="1800" b="1">
                <a:solidFill>
                  <a:srgbClr val="FFFFFF"/>
                </a:solidFill>
                <a:latin typeface="Noto Serif JP"/>
                <a:ea typeface="Noto Serif JP"/>
                <a:cs typeface="Noto Serif JP"/>
              </a:rPr>
              <a:t>自社（Company）</a:t>
            </a:r>
          </a:p>
        </p:txBody>
      </p:sp>
      <p:sp>
        <p:nvSpPr>
          <p:cNvPr id="7" name="TextBox 6"/>
          <p:cNvSpPr txBox="1"/>
          <p:nvPr/>
        </p:nvSpPr>
        <p:spPr>
          <a:xfrm>
            <a:off x="819150" y="1809750"/>
            <a:ext cx="3228975" cy="3886200"/>
          </a:xfrm>
          <a:prstGeom prst="rect">
            <a:avLst/>
          </a:prstGeom>
          <a:noFill/>
        </p:spPr>
        <p:txBody>
          <a:bodyPr wrap="square">
            <a:spAutoFit/>
          </a:bodyPr>
          <a:lstStyle/>
          <a:p>
            <a:pPr algn="l"/>
            <a:r>
              <a:rPr sz="975" b="0">
                <a:solidFill>
                  <a:srgbClr val="FFFFFF"/>
                </a:solidFill>
                <a:latin typeface="Noto Sans JP"/>
                <a:ea typeface="Noto Sans JP"/>
                <a:cs typeface="Noto Sans JP"/>
              </a:rPr>
              <a:t>・AI予測エンジン（離職・パフォーマンス）で業界最高精度</a:t>
            </a:r>
          </a:p>
          <a:p>
            <a:pPr algn="l"/>
            <a:r>
              <a:rPr sz="975" b="0">
                <a:solidFill>
                  <a:srgbClr val="FFFFFF"/>
                </a:solidFill>
                <a:latin typeface="Noto Sans JP"/>
                <a:ea typeface="Noto Sans JP"/>
                <a:cs typeface="Noto Sans JP"/>
              </a:rPr>
              <a:t>・2,400社・全業種対応のカバレッジとノウハウ</a:t>
            </a:r>
          </a:p>
          <a:p>
            <a:pPr algn="l"/>
            <a:r>
              <a:rPr sz="975" b="0">
                <a:solidFill>
                  <a:srgbClr val="FFFFFF"/>
                </a:solidFill>
                <a:latin typeface="Noto Sans JP"/>
                <a:ea typeface="Noto Sans JP"/>
                <a:cs typeface="Noto Sans JP"/>
              </a:rPr>
              <a:t>・月次更新・法改正自動対応でIT担当不要を実現</a:t>
            </a:r>
          </a:p>
          <a:p>
            <a:pPr algn="l"/>
            <a:r>
              <a:rPr sz="975" b="0">
                <a:solidFill>
                  <a:srgbClr val="FFFFFF"/>
                </a:solidFill>
                <a:latin typeface="Noto Sans JP"/>
                <a:ea typeface="Noto Sans JP"/>
                <a:cs typeface="Noto Sans JP"/>
              </a:rPr>
              <a:t>・NPS+62・解約率0.8%/月の高い顧客維持力</a:t>
            </a:r>
          </a:p>
          <a:p>
            <a:pPr algn="l"/>
            <a:r>
              <a:rPr sz="975" b="0">
                <a:solidFill>
                  <a:srgbClr val="FFFFFF"/>
                </a:solidFill>
                <a:latin typeface="Noto Sans JP"/>
                <a:ea typeface="Noto Sans JP"/>
                <a:cs typeface="Noto Sans JP"/>
              </a:rPr>
              <a:t>・R&amp;D投資比率28%・年2回メジャーリリースの開発速度</a:t>
            </a:r>
          </a:p>
        </p:txBody>
      </p:sp>
      <p:sp>
        <p:nvSpPr>
          <p:cNvPr id="8" name="Rectangle 7"/>
          <p:cNvSpPr/>
          <p:nvPr/>
        </p:nvSpPr>
        <p:spPr>
          <a:xfrm>
            <a:off x="4371975" y="1371600"/>
            <a:ext cx="3457575" cy="441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7225" y="14668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顧客（Customer）</a:t>
            </a:r>
          </a:p>
        </p:txBody>
      </p:sp>
      <p:sp>
        <p:nvSpPr>
          <p:cNvPr id="10" name="TextBox 9"/>
          <p:cNvSpPr txBox="1"/>
          <p:nvPr/>
        </p:nvSpPr>
        <p:spPr>
          <a:xfrm>
            <a:off x="4505325" y="1809750"/>
            <a:ext cx="3228975" cy="3886200"/>
          </a:xfrm>
          <a:prstGeom prst="rect">
            <a:avLst/>
          </a:prstGeom>
          <a:noFill/>
        </p:spPr>
        <p:txBody>
          <a:bodyPr wrap="square">
            <a:spAutoFit/>
          </a:bodyPr>
          <a:lstStyle/>
          <a:p>
            <a:pPr algn="l"/>
            <a:r>
              <a:rPr sz="975" b="0">
                <a:solidFill>
                  <a:srgbClr val="1A2332"/>
                </a:solidFill>
                <a:latin typeface="Noto Sans JP"/>
                <a:ea typeface="Noto Sans JP"/>
                <a:cs typeface="Noto Sans JP"/>
              </a:rPr>
              <a:t>・人事データの分散（給与・評価・採用が別システム）が最大ペイン</a:t>
            </a:r>
          </a:p>
          <a:p>
            <a:pPr algn="l"/>
            <a:r>
              <a:rPr sz="975" b="0">
                <a:solidFill>
                  <a:srgbClr val="1A2332"/>
                </a:solidFill>
                <a:latin typeface="Noto Sans JP"/>
                <a:ea typeface="Noto Sans JP"/>
                <a:cs typeface="Noto Sans JP"/>
              </a:rPr>
              <a:t>・経営層への人的資本開示（ISO 30414）対応が急務</a:t>
            </a:r>
          </a:p>
          <a:p>
            <a:pPr algn="l"/>
            <a:r>
              <a:rPr sz="975" b="0">
                <a:solidFill>
                  <a:srgbClr val="1A2332"/>
                </a:solidFill>
                <a:latin typeface="Noto Sans JP"/>
                <a:ea typeface="Noto Sans JP"/>
                <a:cs typeface="Noto Sans JP"/>
              </a:rPr>
              <a:t>・HR担当者の業務工数削減ニーズ（現状週14時間の手作業）</a:t>
            </a:r>
          </a:p>
          <a:p>
            <a:pPr algn="l"/>
            <a:r>
              <a:rPr sz="975" b="0">
                <a:solidFill>
                  <a:srgbClr val="1A2332"/>
                </a:solidFill>
                <a:latin typeface="Noto Sans JP"/>
                <a:ea typeface="Noto Sans JP"/>
                <a:cs typeface="Noto Sans JP"/>
              </a:rPr>
              <a:t>・導入後の「使いこなせない」離脱を防ぎたい</a:t>
            </a:r>
          </a:p>
          <a:p>
            <a:pPr algn="l"/>
            <a:r>
              <a:rPr sz="975" b="0">
                <a:solidFill>
                  <a:srgbClr val="1A2332"/>
                </a:solidFill>
                <a:latin typeface="Noto Sans JP"/>
                <a:ea typeface="Noto Sans JP"/>
                <a:cs typeface="Noto Sans JP"/>
              </a:rPr>
              <a:t>・コンプライアンス対応の自動化で法的リスクを軽減したい</a:t>
            </a:r>
          </a:p>
        </p:txBody>
      </p:sp>
      <p:sp>
        <p:nvSpPr>
          <p:cNvPr id="11" name="Rectangle 10"/>
          <p:cNvSpPr/>
          <p:nvPr/>
        </p:nvSpPr>
        <p:spPr>
          <a:xfrm>
            <a:off x="8048625" y="1371600"/>
            <a:ext cx="3457575" cy="4419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43875" y="14668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競合（Competitor）</a:t>
            </a:r>
          </a:p>
        </p:txBody>
      </p:sp>
      <p:sp>
        <p:nvSpPr>
          <p:cNvPr id="13" name="TextBox 12"/>
          <p:cNvSpPr txBox="1"/>
          <p:nvPr/>
        </p:nvSpPr>
        <p:spPr>
          <a:xfrm>
            <a:off x="8181975" y="1809750"/>
            <a:ext cx="3228975" cy="3886200"/>
          </a:xfrm>
          <a:prstGeom prst="rect">
            <a:avLst/>
          </a:prstGeom>
          <a:noFill/>
        </p:spPr>
        <p:txBody>
          <a:bodyPr wrap="square">
            <a:spAutoFit/>
          </a:bodyPr>
          <a:lstStyle/>
          <a:p>
            <a:pPr algn="l"/>
            <a:r>
              <a:rPr sz="975" b="0">
                <a:solidFill>
                  <a:srgbClr val="1A2332"/>
                </a:solidFill>
                <a:latin typeface="Noto Sans JP"/>
                <a:ea typeface="Noto Sans JP"/>
                <a:cs typeface="Noto Sans JP"/>
              </a:rPr>
              <a:t>・A社（国内最大手）：機能網羅だが画面複雑・導入期間6ヶ月以上</a:t>
            </a:r>
          </a:p>
          <a:p>
            <a:pPr algn="l"/>
            <a:r>
              <a:rPr sz="975" b="0">
                <a:solidFill>
                  <a:srgbClr val="1A2332"/>
                </a:solidFill>
                <a:latin typeface="Noto Sans JP"/>
                <a:ea typeface="Noto Sans JP"/>
                <a:cs typeface="Noto Sans JP"/>
              </a:rPr>
              <a:t>・B社（米系グローバル）：英語UIが主流でローカライズ不十分</a:t>
            </a:r>
          </a:p>
          <a:p>
            <a:pPr algn="l"/>
            <a:r>
              <a:rPr sz="975" b="0">
                <a:solidFill>
                  <a:srgbClr val="1A2332"/>
                </a:solidFill>
                <a:latin typeface="Noto Sans JP"/>
                <a:ea typeface="Noto Sans JP"/>
                <a:cs typeface="Noto Sans JP"/>
              </a:rPr>
              <a:t>・C社（新興PLG型）：SMB向けに強いが大企業カスタマイズ対応なし</a:t>
            </a:r>
          </a:p>
          <a:p>
            <a:pPr algn="l"/>
            <a:r>
              <a:rPr sz="975" b="0">
                <a:solidFill>
                  <a:srgbClr val="1A2332"/>
                </a:solidFill>
                <a:latin typeface="Noto Sans JP"/>
                <a:ea typeface="Noto Sans JP"/>
                <a:cs typeface="Noto Sans JP"/>
              </a:rPr>
              <a:t>・共通弱点：AIスコアリング機能は後付けで精度が低い</a:t>
            </a:r>
          </a:p>
        </p:txBody>
      </p:sp>
      <p:sp>
        <p:nvSpPr>
          <p:cNvPr id="14" name="TextBox 13"/>
          <p:cNvSpPr txBox="1"/>
          <p:nvPr/>
        </p:nvSpPr>
        <p:spPr>
          <a:xfrm>
            <a:off x="685800" y="5962650"/>
            <a:ext cx="10820400" cy="209550"/>
          </a:xfrm>
          <a:prstGeom prst="rect">
            <a:avLst/>
          </a:prstGeom>
          <a:noFill/>
        </p:spPr>
        <p:txBody>
          <a:bodyPr wrap="square">
            <a:spAutoFit/>
          </a:bodyPr>
          <a:lstStyle/>
          <a:p>
            <a:pPr algn="l"/>
            <a:r>
              <a:rPr sz="975" b="1">
                <a:solidFill>
                  <a:srgbClr val="1A2332"/>
                </a:solidFill>
                <a:latin typeface="Noto Sans JP"/>
                <a:ea typeface="Noto Sans JP"/>
                <a:cs typeface="Noto Sans JP"/>
              </a:rPr>
              <a:t>KSF: HR全データを高精度AIで即時分析できる「統合性×使いやすさ」が差別化の核心</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75" b="0">
                <a:solidFill>
                  <a:srgbClr val="5A6675"/>
                </a:solidFill>
                <a:latin typeface="Noto Sans JP"/>
                <a:ea typeface="Noto Sans JP"/>
                <a:cs typeface="Noto Sans JP"/>
              </a:rPr>
              <a:t>出典：経産省・厚労省政策文書（2026年）・業界動向調査レポート（2026年4月）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75" b="0">
                <a:solidFill>
                  <a:srgbClr val="5A6675"/>
                </a:solidFill>
                <a:latin typeface="Noto Sans JP"/>
                <a:ea typeface="Noto Sans JP"/>
                <a:cs typeface="Noto Sans JP"/>
              </a:rPr>
              <a:t>92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625" b="1">
                <a:solidFill>
                  <a:srgbClr val="1A2332"/>
                </a:solidFill>
                <a:latin typeface="Noto Serif JP"/>
                <a:ea typeface="Noto Serif JP"/>
                <a:cs typeface="Noto Serif JP"/>
              </a:rPr>
              <a:t>PESTEL分析：DX政策と人的資本開示義務化がHR SaaS市場を追い風に変える</a:t>
            </a:r>
          </a:p>
        </p:txBody>
      </p:sp>
      <p:sp>
        <p:nvSpPr>
          <p:cNvPr id="5" name="Rectangle 4"/>
          <p:cNvSpPr/>
          <p:nvPr/>
        </p:nvSpPr>
        <p:spPr>
          <a:xfrm>
            <a:off x="685800" y="1371600"/>
            <a:ext cx="3457575" cy="2286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1050" y="14668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政治（Political）</a:t>
            </a:r>
          </a:p>
        </p:txBody>
      </p:sp>
      <p:sp>
        <p:nvSpPr>
          <p:cNvPr id="7" name="TextBox 6"/>
          <p:cNvSpPr txBox="1"/>
          <p:nvPr/>
        </p:nvSpPr>
        <p:spPr>
          <a:xfrm>
            <a:off x="819150" y="1809750"/>
            <a:ext cx="3228975" cy="1752600"/>
          </a:xfrm>
          <a:prstGeom prst="rect">
            <a:avLst/>
          </a:prstGeom>
          <a:noFill/>
        </p:spPr>
        <p:txBody>
          <a:bodyPr wrap="square">
            <a:spAutoFit/>
          </a:bodyPr>
          <a:lstStyle/>
          <a:p>
            <a:pPr algn="l"/>
            <a:r>
              <a:rPr sz="975" b="0">
                <a:solidFill>
                  <a:srgbClr val="1A2332"/>
                </a:solidFill>
                <a:latin typeface="Noto Sans JP"/>
                <a:ea typeface="Noto Sans JP"/>
                <a:cs typeface="Noto Sans JP"/>
              </a:rPr>
              <a:t>・デジタル庁主導のGov-Tech推進・補助金拡充</a:t>
            </a:r>
          </a:p>
          <a:p>
            <a:pPr algn="l"/>
            <a:r>
              <a:rPr sz="975" b="0">
                <a:solidFill>
                  <a:srgbClr val="1A2332"/>
                </a:solidFill>
                <a:latin typeface="Noto Sans JP"/>
                <a:ea typeface="Noto Sans JP"/>
                <a:cs typeface="Noto Sans JP"/>
              </a:rPr>
              <a:t>・人的資本経営の開示義務化（2025年改正）</a:t>
            </a:r>
          </a:p>
          <a:p>
            <a:pPr algn="l"/>
            <a:r>
              <a:rPr sz="975" b="0">
                <a:solidFill>
                  <a:srgbClr val="1A2332"/>
                </a:solidFill>
                <a:latin typeface="Noto Sans JP"/>
                <a:ea typeface="Noto Sans JP"/>
                <a:cs typeface="Noto Sans JP"/>
              </a:rPr>
              <a:t>・外国人労働者受入れ拡大に伴う多言語対応規制</a:t>
            </a:r>
          </a:p>
        </p:txBody>
      </p:sp>
      <p:sp>
        <p:nvSpPr>
          <p:cNvPr id="8" name="Rectangle 7"/>
          <p:cNvSpPr/>
          <p:nvPr/>
        </p:nvSpPr>
        <p:spPr>
          <a:xfrm>
            <a:off x="4371975" y="1371600"/>
            <a:ext cx="3457575" cy="2286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7225" y="14668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経済（Economic）</a:t>
            </a:r>
          </a:p>
        </p:txBody>
      </p:sp>
      <p:sp>
        <p:nvSpPr>
          <p:cNvPr id="10" name="TextBox 9"/>
          <p:cNvSpPr txBox="1"/>
          <p:nvPr/>
        </p:nvSpPr>
        <p:spPr>
          <a:xfrm>
            <a:off x="4505325" y="1809750"/>
            <a:ext cx="3228975" cy="1752600"/>
          </a:xfrm>
          <a:prstGeom prst="rect">
            <a:avLst/>
          </a:prstGeom>
          <a:noFill/>
        </p:spPr>
        <p:txBody>
          <a:bodyPr wrap="square">
            <a:spAutoFit/>
          </a:bodyPr>
          <a:lstStyle/>
          <a:p>
            <a:pPr algn="l"/>
            <a:r>
              <a:rPr sz="975" b="0">
                <a:solidFill>
                  <a:srgbClr val="1A2332"/>
                </a:solidFill>
                <a:latin typeface="Noto Sans JP"/>
                <a:ea typeface="Noto Sans JP"/>
                <a:cs typeface="Noto Sans JP"/>
              </a:rPr>
              <a:t>・賃金上昇圧力（春闘+5.2%）でHR効率化投資増加</a:t>
            </a:r>
          </a:p>
          <a:p>
            <a:pPr algn="l"/>
            <a:r>
              <a:rPr sz="975" b="0">
                <a:solidFill>
                  <a:srgbClr val="1A2332"/>
                </a:solidFill>
                <a:latin typeface="Noto Sans JP"/>
                <a:ea typeface="Noto Sans JP"/>
                <a:cs typeface="Noto Sans JP"/>
              </a:rPr>
              <a:t>・円安・物価上昇でITコスト削減ニーズが高まる</a:t>
            </a:r>
          </a:p>
          <a:p>
            <a:pPr algn="l"/>
            <a:r>
              <a:rPr sz="975" b="0">
                <a:solidFill>
                  <a:srgbClr val="1A2332"/>
                </a:solidFill>
                <a:latin typeface="Noto Sans JP"/>
                <a:ea typeface="Noto Sans JP"/>
                <a:cs typeface="Noto Sans JP"/>
              </a:rPr>
              <a:t>・中小企業向けDX補助金（最大450万円）の継続</a:t>
            </a:r>
          </a:p>
        </p:txBody>
      </p:sp>
      <p:sp>
        <p:nvSpPr>
          <p:cNvPr id="11" name="Rectangle 10"/>
          <p:cNvSpPr/>
          <p:nvPr/>
        </p:nvSpPr>
        <p:spPr>
          <a:xfrm>
            <a:off x="8048625" y="1371600"/>
            <a:ext cx="3457575" cy="2286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43875" y="14668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社会（Social）</a:t>
            </a:r>
          </a:p>
        </p:txBody>
      </p:sp>
      <p:sp>
        <p:nvSpPr>
          <p:cNvPr id="13" name="TextBox 12"/>
          <p:cNvSpPr txBox="1"/>
          <p:nvPr/>
        </p:nvSpPr>
        <p:spPr>
          <a:xfrm>
            <a:off x="8181975" y="1809750"/>
            <a:ext cx="3228975" cy="1752600"/>
          </a:xfrm>
          <a:prstGeom prst="rect">
            <a:avLst/>
          </a:prstGeom>
          <a:noFill/>
        </p:spPr>
        <p:txBody>
          <a:bodyPr wrap="square">
            <a:spAutoFit/>
          </a:bodyPr>
          <a:lstStyle/>
          <a:p>
            <a:pPr algn="l"/>
            <a:r>
              <a:rPr sz="975" b="0">
                <a:solidFill>
                  <a:srgbClr val="1A2332"/>
                </a:solidFill>
                <a:latin typeface="Noto Sans JP"/>
                <a:ea typeface="Noto Sans JP"/>
                <a:cs typeface="Noto Sans JP"/>
              </a:rPr>
              <a:t>・2030年に労働力不足250万人と予測（経産省）</a:t>
            </a:r>
          </a:p>
          <a:p>
            <a:pPr algn="l"/>
            <a:r>
              <a:rPr sz="975" b="0">
                <a:solidFill>
                  <a:srgbClr val="1A2332"/>
                </a:solidFill>
                <a:latin typeface="Noto Sans JP"/>
                <a:ea typeface="Noto Sans JP"/>
                <a:cs typeface="Noto Sans JP"/>
              </a:rPr>
              <a:t>・副業・フリーランス就業者が全労働人口の22%へ</a:t>
            </a:r>
          </a:p>
          <a:p>
            <a:pPr algn="l"/>
            <a:r>
              <a:rPr sz="975" b="0">
                <a:solidFill>
                  <a:srgbClr val="1A2332"/>
                </a:solidFill>
                <a:latin typeface="Noto Sans JP"/>
                <a:ea typeface="Noto Sans JP"/>
                <a:cs typeface="Noto Sans JP"/>
              </a:rPr>
              <a:t>・ウェルビーイング・心理的安全への企業関心が高まる</a:t>
            </a:r>
          </a:p>
        </p:txBody>
      </p:sp>
      <p:sp>
        <p:nvSpPr>
          <p:cNvPr id="14" name="Rectangle 13"/>
          <p:cNvSpPr/>
          <p:nvPr/>
        </p:nvSpPr>
        <p:spPr>
          <a:xfrm>
            <a:off x="685800" y="3810000"/>
            <a:ext cx="3457575"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050" y="39052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技術（Technological）</a:t>
            </a:r>
          </a:p>
        </p:txBody>
      </p:sp>
      <p:sp>
        <p:nvSpPr>
          <p:cNvPr id="16" name="TextBox 15"/>
          <p:cNvSpPr txBox="1"/>
          <p:nvPr/>
        </p:nvSpPr>
        <p:spPr>
          <a:xfrm>
            <a:off x="819150" y="4248150"/>
            <a:ext cx="3228975" cy="1371600"/>
          </a:xfrm>
          <a:prstGeom prst="rect">
            <a:avLst/>
          </a:prstGeom>
          <a:noFill/>
        </p:spPr>
        <p:txBody>
          <a:bodyPr wrap="square">
            <a:spAutoFit/>
          </a:bodyPr>
          <a:lstStyle/>
          <a:p>
            <a:pPr algn="l"/>
            <a:r>
              <a:rPr sz="975" b="0">
                <a:solidFill>
                  <a:srgbClr val="1A2332"/>
                </a:solidFill>
                <a:latin typeface="Noto Sans JP"/>
                <a:ea typeface="Noto Sans JP"/>
                <a:cs typeface="Noto Sans JP"/>
              </a:rPr>
              <a:t>・生成AI活用による人事業務の大幅な自動化進展</a:t>
            </a:r>
          </a:p>
          <a:p>
            <a:pPr algn="l"/>
            <a:r>
              <a:rPr sz="975" b="0">
                <a:solidFill>
                  <a:srgbClr val="1A2332"/>
                </a:solidFill>
                <a:latin typeface="Noto Sans JP"/>
                <a:ea typeface="Noto Sans JP"/>
                <a:cs typeface="Noto Sans JP"/>
              </a:rPr>
              <a:t>・マイナンバー・社会保障データ連携APIが整備中</a:t>
            </a:r>
          </a:p>
          <a:p>
            <a:pPr algn="l"/>
            <a:r>
              <a:rPr sz="975" b="0">
                <a:solidFill>
                  <a:srgbClr val="1A2332"/>
                </a:solidFill>
                <a:latin typeface="Noto Sans JP"/>
                <a:ea typeface="Noto Sans JP"/>
                <a:cs typeface="Noto Sans JP"/>
              </a:rPr>
              <a:t>・ゼロトラストセキュリティへの要件シフトが加速</a:t>
            </a:r>
          </a:p>
        </p:txBody>
      </p:sp>
      <p:sp>
        <p:nvSpPr>
          <p:cNvPr id="17" name="Rectangle 16"/>
          <p:cNvSpPr/>
          <p:nvPr/>
        </p:nvSpPr>
        <p:spPr>
          <a:xfrm>
            <a:off x="4371975" y="3810000"/>
            <a:ext cx="3457575"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7225" y="39052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環境（Environmental）</a:t>
            </a:r>
          </a:p>
        </p:txBody>
      </p:sp>
      <p:sp>
        <p:nvSpPr>
          <p:cNvPr id="19" name="TextBox 18"/>
          <p:cNvSpPr txBox="1"/>
          <p:nvPr/>
        </p:nvSpPr>
        <p:spPr>
          <a:xfrm>
            <a:off x="4505325" y="4248150"/>
            <a:ext cx="3228975" cy="1371600"/>
          </a:xfrm>
          <a:prstGeom prst="rect">
            <a:avLst/>
          </a:prstGeom>
          <a:noFill/>
        </p:spPr>
        <p:txBody>
          <a:bodyPr wrap="square">
            <a:spAutoFit/>
          </a:bodyPr>
          <a:lstStyle/>
          <a:p>
            <a:pPr algn="l"/>
            <a:r>
              <a:rPr sz="975" b="0">
                <a:solidFill>
                  <a:srgbClr val="1A2332"/>
                </a:solidFill>
                <a:latin typeface="Noto Sans JP"/>
                <a:ea typeface="Noto Sans JP"/>
                <a:cs typeface="Noto Sans JP"/>
              </a:rPr>
              <a:t>・テレワーク継続によるオフィス縮小とHR管理の複雑化</a:t>
            </a:r>
          </a:p>
          <a:p>
            <a:pPr algn="l"/>
            <a:r>
              <a:rPr sz="975" b="0">
                <a:solidFill>
                  <a:srgbClr val="1A2332"/>
                </a:solidFill>
                <a:latin typeface="Noto Sans JP"/>
                <a:ea typeface="Noto Sans JP"/>
                <a:cs typeface="Noto Sans JP"/>
              </a:rPr>
              <a:t>・ESG人材戦略開示（TCFD拡張）への対応要求が増加</a:t>
            </a:r>
          </a:p>
        </p:txBody>
      </p:sp>
      <p:sp>
        <p:nvSpPr>
          <p:cNvPr id="20" name="Rectangle 19"/>
          <p:cNvSpPr/>
          <p:nvPr/>
        </p:nvSpPr>
        <p:spPr>
          <a:xfrm>
            <a:off x="8048625" y="3810000"/>
            <a:ext cx="3457575"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43875" y="3905250"/>
            <a:ext cx="3267075" cy="342900"/>
          </a:xfrm>
          <a:prstGeom prst="rect">
            <a:avLst/>
          </a:prstGeom>
          <a:noFill/>
        </p:spPr>
        <p:txBody>
          <a:bodyPr wrap="square">
            <a:spAutoFit/>
          </a:bodyPr>
          <a:lstStyle/>
          <a:p>
            <a:pPr algn="l"/>
            <a:r>
              <a:rPr sz="1800" b="1">
                <a:solidFill>
                  <a:srgbClr val="1A2332"/>
                </a:solidFill>
                <a:latin typeface="Noto Serif JP"/>
                <a:ea typeface="Noto Serif JP"/>
                <a:cs typeface="Noto Serif JP"/>
              </a:rPr>
              <a:t>法的（Legal）</a:t>
            </a:r>
          </a:p>
        </p:txBody>
      </p:sp>
      <p:sp>
        <p:nvSpPr>
          <p:cNvPr id="22" name="TextBox 21"/>
          <p:cNvSpPr txBox="1"/>
          <p:nvPr/>
        </p:nvSpPr>
        <p:spPr>
          <a:xfrm>
            <a:off x="8181975" y="4248150"/>
            <a:ext cx="3228975" cy="1371600"/>
          </a:xfrm>
          <a:prstGeom prst="rect">
            <a:avLst/>
          </a:prstGeom>
          <a:noFill/>
        </p:spPr>
        <p:txBody>
          <a:bodyPr wrap="square">
            <a:spAutoFit/>
          </a:bodyPr>
          <a:lstStyle/>
          <a:p>
            <a:pPr algn="l"/>
            <a:r>
              <a:rPr sz="975" b="0">
                <a:solidFill>
                  <a:srgbClr val="1A2332"/>
                </a:solidFill>
                <a:latin typeface="Noto Sans JP"/>
                <a:ea typeface="Noto Sans JP"/>
                <a:cs typeface="Noto Sans JP"/>
              </a:rPr>
              <a:t>・改正個人情報保護法（2025年施行）：第三者提供規制強化</a:t>
            </a:r>
          </a:p>
          <a:p>
            <a:pPr algn="l"/>
            <a:r>
              <a:rPr sz="975" b="0">
                <a:solidFill>
                  <a:srgbClr val="1A2332"/>
                </a:solidFill>
                <a:latin typeface="Noto Sans JP"/>
                <a:ea typeface="Noto Sans JP"/>
                <a:cs typeface="Noto Sans JP"/>
              </a:rPr>
              <a:t>・労働時間適正管理の電磁的記録保存義務（2026年改正）</a:t>
            </a:r>
          </a:p>
          <a:p>
            <a:pPr algn="l"/>
            <a:r>
              <a:rPr sz="975" b="0">
                <a:solidFill>
                  <a:srgbClr val="1A2332"/>
                </a:solidFill>
                <a:latin typeface="Noto Sans JP"/>
                <a:ea typeface="Noto Sans JP"/>
                <a:cs typeface="Noto Sans JP"/>
              </a:rPr>
              <a:t>・ハラスメント防止義務の中小企業への適用拡大</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85800" y="2857500"/>
            <a:ext cx="914400" cy="76200"/>
          </a:xfrm>
          <a:prstGeom prst="rect">
            <a:avLst/>
          </a:prstGeom>
          <a:solidFill>
            <a:srgbClr val="FF4D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086100"/>
            <a:ext cx="10820400" cy="1524000"/>
          </a:xfrm>
          <a:prstGeom prst="rect">
            <a:avLst/>
          </a:prstGeom>
          <a:noFill/>
        </p:spPr>
        <p:txBody>
          <a:bodyPr wrap="square">
            <a:spAutoFit/>
          </a:bodyPr>
          <a:lstStyle/>
          <a:p>
            <a:pPr algn="l"/>
            <a:r>
              <a:rPr sz="6600" b="1">
                <a:solidFill>
                  <a:srgbClr val="F0EDEA"/>
                </a:solidFill>
                <a:latin typeface="Noto Sans JP"/>
                <a:ea typeface="Noto Sans JP"/>
                <a:cs typeface="Noto Sans JP"/>
              </a:rPr>
              <a:t>🔲 グリッドシステム</a:t>
            </a:r>
          </a:p>
        </p:txBody>
      </p:sp>
      <p:sp>
        <p:nvSpPr>
          <p:cNvPr id="4" name="TextBox 3"/>
          <p:cNvSpPr txBox="1"/>
          <p:nvPr/>
        </p:nvSpPr>
        <p:spPr>
          <a:xfrm>
            <a:off x="685800" y="4762500"/>
            <a:ext cx="10820400" cy="381000"/>
          </a:xfrm>
          <a:prstGeom prst="rect">
            <a:avLst/>
          </a:prstGeom>
          <a:noFill/>
        </p:spPr>
        <p:txBody>
          <a:bodyPr wrap="square">
            <a:spAutoFit/>
          </a:bodyPr>
          <a:lstStyle/>
          <a:p>
            <a:pPr algn="l"/>
            <a:r>
              <a:rPr sz="900" b="0">
                <a:solidFill>
                  <a:srgbClr val="8A8480"/>
                </a:solidFill>
                <a:latin typeface="Noto Sans JP"/>
                <a:ea typeface="Noto Sans JP"/>
                <a:cs typeface="Noto Sans JP"/>
              </a:rPr>
              <a:t>editorial-keynote　·　5 パターン</a:t>
            </a:r>
          </a:p>
        </p:txBody>
      </p:sp>
      <p:sp>
        <p:nvSpPr>
          <p:cNvPr id="5" name="TextBox 4"/>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93 / 98</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出典：社内営業実績データベース（2026年Q1）</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94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F0EDEA"/>
                </a:solidFill>
                <a:latin typeface="Noto Sans JP"/>
                <a:ea typeface="Noto Sans JP"/>
                <a:cs typeface="Noto Sans JP"/>
              </a:rPr>
              <a:t>生成AI導入で営業効率が3倍に向上——主要指標と実績</a:t>
            </a:r>
          </a:p>
        </p:txBody>
      </p:sp>
      <p:sp>
        <p:nvSpPr>
          <p:cNvPr id="5" name="Rectangle 4"/>
          <p:cNvSpPr/>
          <p:nvPr/>
        </p:nvSpPr>
        <p:spPr>
          <a:xfrm>
            <a:off x="685800" y="1447800"/>
            <a:ext cx="5295900" cy="46482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1676400"/>
            <a:ext cx="4914900" cy="609600"/>
          </a:xfrm>
          <a:prstGeom prst="rect">
            <a:avLst/>
          </a:prstGeom>
          <a:noFill/>
        </p:spPr>
        <p:txBody>
          <a:bodyPr wrap="square">
            <a:spAutoFit/>
          </a:bodyPr>
          <a:lstStyle/>
          <a:p>
            <a:pPr algn="l"/>
            <a:r>
              <a:rPr sz="2100" b="1">
                <a:solidFill>
                  <a:srgbClr val="F0EDEA"/>
                </a:solidFill>
                <a:latin typeface="Noto Sans JP"/>
                <a:ea typeface="Noto Sans JP"/>
                <a:cs typeface="Noto Sans JP"/>
              </a:rPr>
              <a:t>AI営業アシスタント 導入成果サマリー</a:t>
            </a:r>
          </a:p>
        </p:txBody>
      </p:sp>
      <p:sp>
        <p:nvSpPr>
          <p:cNvPr id="7" name="TextBox 6"/>
          <p:cNvSpPr txBox="1"/>
          <p:nvPr/>
        </p:nvSpPr>
        <p:spPr>
          <a:xfrm>
            <a:off x="876300" y="2400300"/>
            <a:ext cx="4914900" cy="3524250"/>
          </a:xfrm>
          <a:prstGeom prst="rect">
            <a:avLst/>
          </a:prstGeom>
          <a:noFill/>
        </p:spPr>
        <p:txBody>
          <a:bodyPr wrap="square">
            <a:spAutoFit/>
          </a:bodyPr>
          <a:lstStyle/>
          <a:p>
            <a:pPr algn="l"/>
            <a:r>
              <a:rPr sz="1200" b="0">
                <a:solidFill>
                  <a:srgbClr val="F0EDEA"/>
                </a:solidFill>
                <a:latin typeface="Noto Sans JP"/>
                <a:ea typeface="Noto Sans JP"/>
                <a:cs typeface="Noto Sans JP"/>
              </a:rPr>
              <a:t>2026年Q1に国内SaaS企業50社へ展開した生成AI営業支援ツールは、提案書作成時間を75%削減。商談成約率は前年同期比+28pt改善し、年間ARRは12億円規模に到達。特に中堅製造業セグメントで導入効果が顕著で、担当者あたりの管理顧客数が平均2.3倍に増加した。</a:t>
            </a:r>
          </a:p>
        </p:txBody>
      </p:sp>
      <p:sp>
        <p:nvSpPr>
          <p:cNvPr id="8" name="Rectangle 7"/>
          <p:cNvSpPr/>
          <p:nvPr/>
        </p:nvSpPr>
        <p:spPr>
          <a:xfrm>
            <a:off x="6210300" y="1447800"/>
            <a:ext cx="2533650"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2700" y="1638300"/>
            <a:ext cx="2228850" cy="190500"/>
          </a:xfrm>
          <a:prstGeom prst="rect">
            <a:avLst/>
          </a:prstGeom>
          <a:noFill/>
        </p:spPr>
        <p:txBody>
          <a:bodyPr wrap="square">
            <a:spAutoFit/>
          </a:bodyPr>
          <a:lstStyle/>
          <a:p>
            <a:pPr algn="l"/>
            <a:r>
              <a:rPr sz="900" b="0">
                <a:solidFill>
                  <a:srgbClr val="8A8480"/>
                </a:solidFill>
                <a:latin typeface="Noto Sans JP"/>
                <a:ea typeface="Noto Sans JP"/>
                <a:cs typeface="Noto Sans JP"/>
              </a:rPr>
              <a:t>提案書作成時間削減率</a:t>
            </a:r>
          </a:p>
        </p:txBody>
      </p:sp>
      <p:sp>
        <p:nvSpPr>
          <p:cNvPr id="10" name="TextBox 9"/>
          <p:cNvSpPr txBox="1"/>
          <p:nvPr/>
        </p:nvSpPr>
        <p:spPr>
          <a:xfrm>
            <a:off x="6362700" y="1905000"/>
            <a:ext cx="2228850" cy="533400"/>
          </a:xfrm>
          <a:prstGeom prst="rect">
            <a:avLst/>
          </a:prstGeom>
          <a:noFill/>
        </p:spPr>
        <p:txBody>
          <a:bodyPr wrap="square">
            <a:spAutoFit/>
          </a:bodyPr>
          <a:lstStyle/>
          <a:p>
            <a:pPr algn="l"/>
            <a:r>
              <a:rPr sz="3000" b="1">
                <a:solidFill>
                  <a:srgbClr val="F0EDEA"/>
                </a:solidFill>
                <a:latin typeface="Noto Sans JP"/>
                <a:ea typeface="Noto Sans JP"/>
                <a:cs typeface="Noto Sans JP"/>
              </a:rPr>
              <a:t>▼75%</a:t>
            </a:r>
          </a:p>
        </p:txBody>
      </p:sp>
      <p:sp>
        <p:nvSpPr>
          <p:cNvPr id="11" name="Rectangle 10"/>
          <p:cNvSpPr/>
          <p:nvPr/>
        </p:nvSpPr>
        <p:spPr>
          <a:xfrm>
            <a:off x="8972550" y="1447800"/>
            <a:ext cx="2533650"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24950" y="1638300"/>
            <a:ext cx="2228850" cy="190500"/>
          </a:xfrm>
          <a:prstGeom prst="rect">
            <a:avLst/>
          </a:prstGeom>
          <a:noFill/>
        </p:spPr>
        <p:txBody>
          <a:bodyPr wrap="square">
            <a:spAutoFit/>
          </a:bodyPr>
          <a:lstStyle/>
          <a:p>
            <a:pPr algn="l"/>
            <a:r>
              <a:rPr sz="900" b="0">
                <a:solidFill>
                  <a:srgbClr val="8A8480"/>
                </a:solidFill>
                <a:latin typeface="Noto Sans JP"/>
                <a:ea typeface="Noto Sans JP"/>
                <a:cs typeface="Noto Sans JP"/>
              </a:rPr>
              <a:t>商談成約率改善</a:t>
            </a:r>
          </a:p>
        </p:txBody>
      </p:sp>
      <p:sp>
        <p:nvSpPr>
          <p:cNvPr id="13" name="TextBox 12"/>
          <p:cNvSpPr txBox="1"/>
          <p:nvPr/>
        </p:nvSpPr>
        <p:spPr>
          <a:xfrm>
            <a:off x="9124950" y="1905000"/>
            <a:ext cx="2228850" cy="533400"/>
          </a:xfrm>
          <a:prstGeom prst="rect">
            <a:avLst/>
          </a:prstGeom>
          <a:noFill/>
        </p:spPr>
        <p:txBody>
          <a:bodyPr wrap="square">
            <a:spAutoFit/>
          </a:bodyPr>
          <a:lstStyle/>
          <a:p>
            <a:pPr algn="l"/>
            <a:r>
              <a:rPr sz="3000" b="1">
                <a:solidFill>
                  <a:srgbClr val="F0EDEA"/>
                </a:solidFill>
                <a:latin typeface="Noto Sans JP"/>
                <a:ea typeface="Noto Sans JP"/>
                <a:cs typeface="Noto Sans JP"/>
              </a:rPr>
              <a:t>+28pt</a:t>
            </a:r>
          </a:p>
        </p:txBody>
      </p:sp>
      <p:sp>
        <p:nvSpPr>
          <p:cNvPr id="14" name="Rectangle 13"/>
          <p:cNvSpPr/>
          <p:nvPr/>
        </p:nvSpPr>
        <p:spPr>
          <a:xfrm>
            <a:off x="6210300" y="3886200"/>
            <a:ext cx="5295900" cy="2209800"/>
          </a:xfrm>
          <a:prstGeom prst="rect">
            <a:avLst/>
          </a:prstGeom>
          <a:noFill/>
          <a:ln w="9525">
            <a:solidFill>
              <a:srgbClr val="8A8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2700" y="4076700"/>
            <a:ext cx="4991100" cy="381000"/>
          </a:xfrm>
          <a:prstGeom prst="rect">
            <a:avLst/>
          </a:prstGeom>
          <a:noFill/>
        </p:spPr>
        <p:txBody>
          <a:bodyPr wrap="square">
            <a:spAutoFit/>
          </a:bodyPr>
          <a:lstStyle/>
          <a:p>
            <a:pPr algn="l"/>
            <a:r>
              <a:rPr sz="1200" b="0">
                <a:solidFill>
                  <a:srgbClr val="F0EDEA"/>
                </a:solidFill>
                <a:latin typeface="Noto Sans JP"/>
                <a:ea typeface="Noto Sans JP"/>
                <a:cs typeface="Noto Sans JP"/>
              </a:rPr>
              <a:t>• 次Q目標: 導入企業200社・年間ARR 30億円</a:t>
            </a:r>
          </a:p>
        </p:txBody>
      </p:sp>
      <p:sp>
        <p:nvSpPr>
          <p:cNvPr id="16" name="TextBox 15"/>
          <p:cNvSpPr txBox="1"/>
          <p:nvPr/>
        </p:nvSpPr>
        <p:spPr>
          <a:xfrm>
            <a:off x="6362700" y="4648200"/>
            <a:ext cx="4991100" cy="381000"/>
          </a:xfrm>
          <a:prstGeom prst="rect">
            <a:avLst/>
          </a:prstGeom>
          <a:noFill/>
        </p:spPr>
        <p:txBody>
          <a:bodyPr wrap="square">
            <a:spAutoFit/>
          </a:bodyPr>
          <a:lstStyle/>
          <a:p>
            <a:pPr algn="l"/>
            <a:r>
              <a:rPr sz="1200" b="0">
                <a:solidFill>
                  <a:srgbClr val="F0EDEA"/>
                </a:solidFill>
                <a:latin typeface="Noto Sans JP"/>
                <a:ea typeface="Noto Sans JP"/>
                <a:cs typeface="Noto Sans JP"/>
              </a:rPr>
              <a:t>• 製造業・物流業への縦展開を優先推進</a:t>
            </a:r>
          </a:p>
        </p:txBody>
      </p:sp>
      <p:sp>
        <p:nvSpPr>
          <p:cNvPr id="17" name="TextBox 16"/>
          <p:cNvSpPr txBox="1"/>
          <p:nvPr/>
        </p:nvSpPr>
        <p:spPr>
          <a:xfrm>
            <a:off x="6362700" y="5219700"/>
            <a:ext cx="4991100" cy="381000"/>
          </a:xfrm>
          <a:prstGeom prst="rect">
            <a:avLst/>
          </a:prstGeom>
          <a:noFill/>
        </p:spPr>
        <p:txBody>
          <a:bodyPr wrap="square">
            <a:spAutoFit/>
          </a:bodyPr>
          <a:lstStyle/>
          <a:p>
            <a:pPr algn="l"/>
            <a:r>
              <a:rPr sz="1200" b="0">
                <a:solidFill>
                  <a:srgbClr val="F0EDEA"/>
                </a:solidFill>
                <a:latin typeface="Noto Sans JP"/>
                <a:ea typeface="Noto Sans JP"/>
                <a:cs typeface="Noto Sans JP"/>
              </a:rPr>
              <a:t>• LLM微調整版（業種特化）を2026年Q3リリース予定</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出典：GTM戦略ワーキンググループ（2026年5月）</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95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F0EDEA"/>
                </a:solidFill>
                <a:latin typeface="Noto Sans JP"/>
                <a:ea typeface="Noto Sans JP"/>
                <a:cs typeface="Noto Sans JP"/>
              </a:rPr>
              <a:t>日本市場攻略に必要な9つのケイパビリティ</a:t>
            </a:r>
          </a:p>
        </p:txBody>
      </p:sp>
      <p:sp>
        <p:nvSpPr>
          <p:cNvPr id="5" name="Rectangle 4"/>
          <p:cNvSpPr/>
          <p:nvPr/>
        </p:nvSpPr>
        <p:spPr>
          <a:xfrm>
            <a:off x="685800" y="14478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9150"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01</a:t>
            </a:r>
          </a:p>
        </p:txBody>
      </p:sp>
      <p:sp>
        <p:nvSpPr>
          <p:cNvPr id="7" name="TextBox 6"/>
          <p:cNvSpPr txBox="1"/>
          <p:nvPr/>
        </p:nvSpPr>
        <p:spPr>
          <a:xfrm>
            <a:off x="819150" y="17335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ローカライズ設計</a:t>
            </a:r>
          </a:p>
        </p:txBody>
      </p:sp>
      <p:sp>
        <p:nvSpPr>
          <p:cNvPr id="8" name="TextBox 7"/>
          <p:cNvSpPr txBox="1"/>
          <p:nvPr/>
        </p:nvSpPr>
        <p:spPr>
          <a:xfrm>
            <a:off x="819150" y="21526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UI/UX・契約書・サポート体制の完全日本語化</a:t>
            </a:r>
          </a:p>
        </p:txBody>
      </p:sp>
      <p:sp>
        <p:nvSpPr>
          <p:cNvPr id="9" name="Rectangle 8"/>
          <p:cNvSpPr/>
          <p:nvPr/>
        </p:nvSpPr>
        <p:spPr>
          <a:xfrm>
            <a:off x="4371975" y="14478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5325"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02</a:t>
            </a:r>
          </a:p>
        </p:txBody>
      </p:sp>
      <p:sp>
        <p:nvSpPr>
          <p:cNvPr id="11" name="TextBox 10"/>
          <p:cNvSpPr txBox="1"/>
          <p:nvPr/>
        </p:nvSpPr>
        <p:spPr>
          <a:xfrm>
            <a:off x="4505325" y="17335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法規制対応</a:t>
            </a:r>
          </a:p>
        </p:txBody>
      </p:sp>
      <p:sp>
        <p:nvSpPr>
          <p:cNvPr id="12" name="TextBox 11"/>
          <p:cNvSpPr txBox="1"/>
          <p:nvPr/>
        </p:nvSpPr>
        <p:spPr>
          <a:xfrm>
            <a:off x="4505325" y="21526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個人情報保護法・業法コンプライアンス内製化</a:t>
            </a:r>
          </a:p>
        </p:txBody>
      </p:sp>
      <p:sp>
        <p:nvSpPr>
          <p:cNvPr id="13" name="Rectangle 12"/>
          <p:cNvSpPr/>
          <p:nvPr/>
        </p:nvSpPr>
        <p:spPr>
          <a:xfrm>
            <a:off x="8048625" y="14478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1975"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03</a:t>
            </a:r>
          </a:p>
        </p:txBody>
      </p:sp>
      <p:sp>
        <p:nvSpPr>
          <p:cNvPr id="15" name="TextBox 14"/>
          <p:cNvSpPr txBox="1"/>
          <p:nvPr/>
        </p:nvSpPr>
        <p:spPr>
          <a:xfrm>
            <a:off x="8181975" y="17335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パートナー網</a:t>
            </a:r>
          </a:p>
        </p:txBody>
      </p:sp>
      <p:sp>
        <p:nvSpPr>
          <p:cNvPr id="16" name="TextBox 15"/>
          <p:cNvSpPr txBox="1"/>
          <p:nvPr/>
        </p:nvSpPr>
        <p:spPr>
          <a:xfrm>
            <a:off x="8181975" y="21526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SIer・販社との販売代理店エコシステム構築</a:t>
            </a:r>
          </a:p>
        </p:txBody>
      </p:sp>
      <p:sp>
        <p:nvSpPr>
          <p:cNvPr id="17" name="Rectangle 16"/>
          <p:cNvSpPr/>
          <p:nvPr/>
        </p:nvSpPr>
        <p:spPr>
          <a:xfrm>
            <a:off x="685800" y="30480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150" y="31623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04</a:t>
            </a:r>
          </a:p>
        </p:txBody>
      </p:sp>
      <p:sp>
        <p:nvSpPr>
          <p:cNvPr id="19" name="TextBox 18"/>
          <p:cNvSpPr txBox="1"/>
          <p:nvPr/>
        </p:nvSpPr>
        <p:spPr>
          <a:xfrm>
            <a:off x="819150" y="33337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エンタープライズ営業</a:t>
            </a:r>
          </a:p>
        </p:txBody>
      </p:sp>
      <p:sp>
        <p:nvSpPr>
          <p:cNvPr id="20" name="TextBox 19"/>
          <p:cNvSpPr txBox="1"/>
          <p:nvPr/>
        </p:nvSpPr>
        <p:spPr>
          <a:xfrm>
            <a:off x="819150" y="37528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稟議文化への適応と長期関係構築型セールス</a:t>
            </a:r>
          </a:p>
        </p:txBody>
      </p:sp>
      <p:sp>
        <p:nvSpPr>
          <p:cNvPr id="21" name="Rectangle 20"/>
          <p:cNvSpPr/>
          <p:nvPr/>
        </p:nvSpPr>
        <p:spPr>
          <a:xfrm>
            <a:off x="4371975" y="30480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5325" y="31623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05</a:t>
            </a:r>
          </a:p>
        </p:txBody>
      </p:sp>
      <p:sp>
        <p:nvSpPr>
          <p:cNvPr id="23" name="TextBox 22"/>
          <p:cNvSpPr txBox="1"/>
          <p:nvPr/>
        </p:nvSpPr>
        <p:spPr>
          <a:xfrm>
            <a:off x="4505325" y="33337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CSM体制</a:t>
            </a:r>
          </a:p>
        </p:txBody>
      </p:sp>
      <p:sp>
        <p:nvSpPr>
          <p:cNvPr id="24" name="TextBox 23"/>
          <p:cNvSpPr txBox="1"/>
          <p:nvPr/>
        </p:nvSpPr>
        <p:spPr>
          <a:xfrm>
            <a:off x="4505325" y="37528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導入後の継続的支援と解約率低減（NRR 120%+）</a:t>
            </a:r>
          </a:p>
        </p:txBody>
      </p:sp>
      <p:sp>
        <p:nvSpPr>
          <p:cNvPr id="25" name="Rectangle 24"/>
          <p:cNvSpPr/>
          <p:nvPr/>
        </p:nvSpPr>
        <p:spPr>
          <a:xfrm>
            <a:off x="8048625" y="30480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1975" y="31623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06</a:t>
            </a:r>
          </a:p>
        </p:txBody>
      </p:sp>
      <p:sp>
        <p:nvSpPr>
          <p:cNvPr id="27" name="TextBox 26"/>
          <p:cNvSpPr txBox="1"/>
          <p:nvPr/>
        </p:nvSpPr>
        <p:spPr>
          <a:xfrm>
            <a:off x="8181975" y="33337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価格戦略</a:t>
            </a:r>
          </a:p>
        </p:txBody>
      </p:sp>
      <p:sp>
        <p:nvSpPr>
          <p:cNvPr id="28" name="TextBox 27"/>
          <p:cNvSpPr txBox="1"/>
          <p:nvPr/>
        </p:nvSpPr>
        <p:spPr>
          <a:xfrm>
            <a:off x="8181975" y="37528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従量課金と年間契約の最適ミックス設計</a:t>
            </a:r>
          </a:p>
        </p:txBody>
      </p:sp>
      <p:sp>
        <p:nvSpPr>
          <p:cNvPr id="29" name="Rectangle 28"/>
          <p:cNvSpPr/>
          <p:nvPr/>
        </p:nvSpPr>
        <p:spPr>
          <a:xfrm>
            <a:off x="685800" y="46482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9150" y="4762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07</a:t>
            </a:r>
          </a:p>
        </p:txBody>
      </p:sp>
      <p:sp>
        <p:nvSpPr>
          <p:cNvPr id="31" name="TextBox 30"/>
          <p:cNvSpPr txBox="1"/>
          <p:nvPr/>
        </p:nvSpPr>
        <p:spPr>
          <a:xfrm>
            <a:off x="819150" y="49339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データセキュリティ</a:t>
            </a:r>
          </a:p>
        </p:txBody>
      </p:sp>
      <p:sp>
        <p:nvSpPr>
          <p:cNvPr id="32" name="TextBox 31"/>
          <p:cNvSpPr txBox="1"/>
          <p:nvPr/>
        </p:nvSpPr>
        <p:spPr>
          <a:xfrm>
            <a:off x="819150" y="53530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国内データセンター・ゼロトラスト認定取得</a:t>
            </a:r>
          </a:p>
        </p:txBody>
      </p:sp>
      <p:sp>
        <p:nvSpPr>
          <p:cNvPr id="33" name="Rectangle 32"/>
          <p:cNvSpPr/>
          <p:nvPr/>
        </p:nvSpPr>
        <p:spPr>
          <a:xfrm>
            <a:off x="4371975" y="46482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05325" y="4762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08</a:t>
            </a:r>
          </a:p>
        </p:txBody>
      </p:sp>
      <p:sp>
        <p:nvSpPr>
          <p:cNvPr id="35" name="TextBox 34"/>
          <p:cNvSpPr txBox="1"/>
          <p:nvPr/>
        </p:nvSpPr>
        <p:spPr>
          <a:xfrm>
            <a:off x="4505325" y="49339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マーケティング</a:t>
            </a:r>
          </a:p>
        </p:txBody>
      </p:sp>
      <p:sp>
        <p:nvSpPr>
          <p:cNvPr id="36" name="TextBox 35"/>
          <p:cNvSpPr txBox="1"/>
          <p:nvPr/>
        </p:nvSpPr>
        <p:spPr>
          <a:xfrm>
            <a:off x="4505325" y="53530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事例起点のコンテンツマーケ・展示会連動PR</a:t>
            </a:r>
          </a:p>
        </p:txBody>
      </p:sp>
      <p:sp>
        <p:nvSpPr>
          <p:cNvPr id="37" name="Rectangle 36"/>
          <p:cNvSpPr/>
          <p:nvPr/>
        </p:nvSpPr>
        <p:spPr>
          <a:xfrm>
            <a:off x="8048625" y="4648200"/>
            <a:ext cx="3457575"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81975" y="4762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09</a:t>
            </a:r>
          </a:p>
        </p:txBody>
      </p:sp>
      <p:sp>
        <p:nvSpPr>
          <p:cNvPr id="39" name="TextBox 38"/>
          <p:cNvSpPr txBox="1"/>
          <p:nvPr/>
        </p:nvSpPr>
        <p:spPr>
          <a:xfrm>
            <a:off x="8181975" y="4933950"/>
            <a:ext cx="3190875" cy="361950"/>
          </a:xfrm>
          <a:prstGeom prst="rect">
            <a:avLst/>
          </a:prstGeom>
          <a:noFill/>
        </p:spPr>
        <p:txBody>
          <a:bodyPr wrap="square">
            <a:spAutoFit/>
          </a:bodyPr>
          <a:lstStyle/>
          <a:p>
            <a:pPr algn="l"/>
            <a:r>
              <a:rPr sz="1200" b="1">
                <a:solidFill>
                  <a:srgbClr val="F0EDEA"/>
                </a:solidFill>
                <a:latin typeface="Noto Sans JP"/>
                <a:ea typeface="Noto Sans JP"/>
                <a:cs typeface="Noto Sans JP"/>
              </a:rPr>
              <a:t>プロダクト適応</a:t>
            </a:r>
          </a:p>
        </p:txBody>
      </p:sp>
      <p:sp>
        <p:nvSpPr>
          <p:cNvPr id="40" name="TextBox 39"/>
          <p:cNvSpPr txBox="1"/>
          <p:nvPr/>
        </p:nvSpPr>
        <p:spPr>
          <a:xfrm>
            <a:off x="8181975" y="5353050"/>
            <a:ext cx="3190875" cy="552450"/>
          </a:xfrm>
          <a:prstGeom prst="rect">
            <a:avLst/>
          </a:prstGeom>
          <a:noFill/>
        </p:spPr>
        <p:txBody>
          <a:bodyPr wrap="square">
            <a:spAutoFit/>
          </a:bodyPr>
          <a:lstStyle/>
          <a:p>
            <a:pPr algn="l"/>
            <a:r>
              <a:rPr sz="1050" b="0">
                <a:solidFill>
                  <a:srgbClr val="8A8480"/>
                </a:solidFill>
                <a:latin typeface="Noto Sans JP"/>
                <a:ea typeface="Noto Sans JP"/>
                <a:cs typeface="Noto Sans JP"/>
              </a:rPr>
              <a:t>和暦・帳票・EDI連携など日本固有機能対応</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出典：IDC Japan・富士キメラ総研（2026年市場予測）</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96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F0EDEA"/>
                </a:solidFill>
                <a:latin typeface="Noto Sans JP"/>
                <a:ea typeface="Noto Sans JP"/>
                <a:cs typeface="Noto Sans JP"/>
              </a:rPr>
              <a:t>6つの成長ドライバーが2026年の市場拡大を牽引する</a:t>
            </a:r>
          </a:p>
        </p:txBody>
      </p:sp>
      <p:sp>
        <p:nvSpPr>
          <p:cNvPr id="5" name="Rectangle 4"/>
          <p:cNvSpPr/>
          <p:nvPr/>
        </p:nvSpPr>
        <p:spPr>
          <a:xfrm>
            <a:off x="685800" y="14478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9150"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01</a:t>
            </a:r>
          </a:p>
        </p:txBody>
      </p:sp>
      <p:sp>
        <p:nvSpPr>
          <p:cNvPr id="7" name="TextBox 6"/>
          <p:cNvSpPr txBox="1"/>
          <p:nvPr/>
        </p:nvSpPr>
        <p:spPr>
          <a:xfrm>
            <a:off x="819150" y="17335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生成AI普及加速</a:t>
            </a:r>
          </a:p>
        </p:txBody>
      </p:sp>
      <p:sp>
        <p:nvSpPr>
          <p:cNvPr id="8" name="TextBox 7"/>
          <p:cNvSpPr txBox="1"/>
          <p:nvPr/>
        </p:nvSpPr>
        <p:spPr>
          <a:xfrm>
            <a:off x="819150" y="22479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ChatGPT Enterprise国内導入社数が前年比3倍。業務自動化需要が急増し、AI SaaSの平均受注単価が上昇トレンド</a:t>
            </a:r>
          </a:p>
        </p:txBody>
      </p:sp>
      <p:sp>
        <p:nvSpPr>
          <p:cNvPr id="9" name="Rectangle 8"/>
          <p:cNvSpPr/>
          <p:nvPr/>
        </p:nvSpPr>
        <p:spPr>
          <a:xfrm>
            <a:off x="4371975" y="14478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5325"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02</a:t>
            </a:r>
          </a:p>
        </p:txBody>
      </p:sp>
      <p:sp>
        <p:nvSpPr>
          <p:cNvPr id="11" name="TextBox 10"/>
          <p:cNvSpPr txBox="1"/>
          <p:nvPr/>
        </p:nvSpPr>
        <p:spPr>
          <a:xfrm>
            <a:off x="4505325" y="17335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DX予算増加</a:t>
            </a:r>
          </a:p>
        </p:txBody>
      </p:sp>
      <p:sp>
        <p:nvSpPr>
          <p:cNvPr id="12" name="TextBox 11"/>
          <p:cNvSpPr txBox="1"/>
          <p:nvPr/>
        </p:nvSpPr>
        <p:spPr>
          <a:xfrm>
            <a:off x="4505325" y="22479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経産省DX促進税制延長で大企業IT投資が前年比+18%。中堅企業でも補助金活用による初期導入障壁が低下</a:t>
            </a:r>
          </a:p>
        </p:txBody>
      </p:sp>
      <p:sp>
        <p:nvSpPr>
          <p:cNvPr id="13" name="Rectangle 12"/>
          <p:cNvSpPr/>
          <p:nvPr/>
        </p:nvSpPr>
        <p:spPr>
          <a:xfrm>
            <a:off x="8048625" y="14478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1975" y="15621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03</a:t>
            </a:r>
          </a:p>
        </p:txBody>
      </p:sp>
      <p:sp>
        <p:nvSpPr>
          <p:cNvPr id="15" name="TextBox 14"/>
          <p:cNvSpPr txBox="1"/>
          <p:nvPr/>
        </p:nvSpPr>
        <p:spPr>
          <a:xfrm>
            <a:off x="8181975" y="17335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人手不足深刻化</a:t>
            </a:r>
          </a:p>
        </p:txBody>
      </p:sp>
      <p:sp>
        <p:nvSpPr>
          <p:cNvPr id="16" name="TextBox 15"/>
          <p:cNvSpPr txBox="1"/>
          <p:nvPr/>
        </p:nvSpPr>
        <p:spPr>
          <a:xfrm>
            <a:off x="8181975" y="22479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生産年齢人口減少で自動化ROIが明確化。特に製造・物流・小売の現場DX需要が急拡大中</a:t>
            </a:r>
          </a:p>
        </p:txBody>
      </p:sp>
      <p:sp>
        <p:nvSpPr>
          <p:cNvPr id="17" name="Rectangle 16"/>
          <p:cNvSpPr/>
          <p:nvPr/>
        </p:nvSpPr>
        <p:spPr>
          <a:xfrm>
            <a:off x="685800" y="38862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150" y="4000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04</a:t>
            </a:r>
          </a:p>
        </p:txBody>
      </p:sp>
      <p:sp>
        <p:nvSpPr>
          <p:cNvPr id="19" name="TextBox 18"/>
          <p:cNvSpPr txBox="1"/>
          <p:nvPr/>
        </p:nvSpPr>
        <p:spPr>
          <a:xfrm>
            <a:off x="819150" y="41719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クラウド移行加速</a:t>
            </a:r>
          </a:p>
        </p:txBody>
      </p:sp>
      <p:sp>
        <p:nvSpPr>
          <p:cNvPr id="20" name="TextBox 19"/>
          <p:cNvSpPr txBox="1"/>
          <p:nvPr/>
        </p:nvSpPr>
        <p:spPr>
          <a:xfrm>
            <a:off x="819150" y="46863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オンプレ更新サイクルのピーク到来。SaaS移行率が2025年53%→2026年67%へ上昇見込み</a:t>
            </a:r>
          </a:p>
        </p:txBody>
      </p:sp>
      <p:sp>
        <p:nvSpPr>
          <p:cNvPr id="21" name="Rectangle 20"/>
          <p:cNvSpPr/>
          <p:nvPr/>
        </p:nvSpPr>
        <p:spPr>
          <a:xfrm>
            <a:off x="4371975" y="38862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5325" y="4000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05</a:t>
            </a:r>
          </a:p>
        </p:txBody>
      </p:sp>
      <p:sp>
        <p:nvSpPr>
          <p:cNvPr id="23" name="TextBox 22"/>
          <p:cNvSpPr txBox="1"/>
          <p:nvPr/>
        </p:nvSpPr>
        <p:spPr>
          <a:xfrm>
            <a:off x="4505325" y="41719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規制テック需要</a:t>
            </a:r>
          </a:p>
        </p:txBody>
      </p:sp>
      <p:sp>
        <p:nvSpPr>
          <p:cNvPr id="24" name="TextBox 23"/>
          <p:cNvSpPr txBox="1"/>
          <p:nvPr/>
        </p:nvSpPr>
        <p:spPr>
          <a:xfrm>
            <a:off x="4505325" y="46863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改正個人情報保護法・労働法改正への対応コスト増で、コンプライアンス自動化SaaSが注目集める</a:t>
            </a:r>
          </a:p>
        </p:txBody>
      </p:sp>
      <p:sp>
        <p:nvSpPr>
          <p:cNvPr id="25" name="Rectangle 24"/>
          <p:cNvSpPr/>
          <p:nvPr/>
        </p:nvSpPr>
        <p:spPr>
          <a:xfrm>
            <a:off x="8048625" y="3886200"/>
            <a:ext cx="3457575" cy="22098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1975" y="4000500"/>
            <a:ext cx="3190875" cy="152400"/>
          </a:xfrm>
          <a:prstGeom prst="rect">
            <a:avLst/>
          </a:prstGeom>
          <a:noFill/>
        </p:spPr>
        <p:txBody>
          <a:bodyPr wrap="none">
            <a:spAutoFit/>
          </a:bodyPr>
          <a:lstStyle/>
          <a:p>
            <a:pPr algn="l"/>
            <a:r>
              <a:rPr sz="825" b="1">
                <a:solidFill>
                  <a:srgbClr val="FF4D1C"/>
                </a:solidFill>
                <a:latin typeface="Noto Sans JP"/>
                <a:ea typeface="Noto Sans JP"/>
                <a:cs typeface="Noto Sans JP"/>
              </a:rPr>
              <a:t>06</a:t>
            </a:r>
          </a:p>
        </p:txBody>
      </p:sp>
      <p:sp>
        <p:nvSpPr>
          <p:cNvPr id="27" name="TextBox 26"/>
          <p:cNvSpPr txBox="1"/>
          <p:nvPr/>
        </p:nvSpPr>
        <p:spPr>
          <a:xfrm>
            <a:off x="8181975" y="4171950"/>
            <a:ext cx="3190875" cy="457200"/>
          </a:xfrm>
          <a:prstGeom prst="rect">
            <a:avLst/>
          </a:prstGeom>
          <a:noFill/>
        </p:spPr>
        <p:txBody>
          <a:bodyPr wrap="square">
            <a:spAutoFit/>
          </a:bodyPr>
          <a:lstStyle/>
          <a:p>
            <a:pPr algn="l"/>
            <a:r>
              <a:rPr sz="1500" b="1">
                <a:solidFill>
                  <a:srgbClr val="F0EDEA"/>
                </a:solidFill>
                <a:latin typeface="Noto Sans JP"/>
                <a:ea typeface="Noto Sans JP"/>
                <a:cs typeface="Noto Sans JP"/>
              </a:rPr>
              <a:t>グローバル競合激化</a:t>
            </a:r>
          </a:p>
        </p:txBody>
      </p:sp>
      <p:sp>
        <p:nvSpPr>
          <p:cNvPr id="28" name="TextBox 27"/>
          <p:cNvSpPr txBox="1"/>
          <p:nvPr/>
        </p:nvSpPr>
        <p:spPr>
          <a:xfrm>
            <a:off x="8181975" y="4686300"/>
            <a:ext cx="3190875" cy="1295400"/>
          </a:xfrm>
          <a:prstGeom prst="rect">
            <a:avLst/>
          </a:prstGeom>
          <a:noFill/>
        </p:spPr>
        <p:txBody>
          <a:bodyPr wrap="square">
            <a:spAutoFit/>
          </a:bodyPr>
          <a:lstStyle/>
          <a:p>
            <a:pPr algn="l"/>
            <a:r>
              <a:rPr sz="1050" b="0">
                <a:solidFill>
                  <a:srgbClr val="8A8480"/>
                </a:solidFill>
                <a:latin typeface="Noto Sans JP"/>
                <a:ea typeface="Noto Sans JP"/>
                <a:cs typeface="Noto Sans JP"/>
              </a:rPr>
              <a:t>米欧SaaS大手の日本進出が本格化。国産プレイヤーの差別化加速とM&amp;A・資本提携が増加傾向</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出典：経産省「AI市場動向調査」2026年版・総務省統計（推計含む）</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97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F0EDEA"/>
                </a:solidFill>
                <a:latin typeface="Noto Sans JP"/>
                <a:ea typeface="Noto Sans JP"/>
                <a:cs typeface="Noto Sans JP"/>
              </a:rPr>
              <a:t>2030年、日本のAI市場は10兆円規模へ拡大する</a:t>
            </a:r>
          </a:p>
        </p:txBody>
      </p:sp>
      <p:sp>
        <p:nvSpPr>
          <p:cNvPr id="5" name="TextBox 4"/>
          <p:cNvSpPr txBox="1"/>
          <p:nvPr/>
        </p:nvSpPr>
        <p:spPr>
          <a:xfrm>
            <a:off x="876300" y="1905000"/>
            <a:ext cx="5838825" cy="1333500"/>
          </a:xfrm>
          <a:prstGeom prst="rect">
            <a:avLst/>
          </a:prstGeom>
          <a:noFill/>
        </p:spPr>
        <p:txBody>
          <a:bodyPr wrap="square">
            <a:spAutoFit/>
          </a:bodyPr>
          <a:lstStyle/>
          <a:p>
            <a:pPr algn="l"/>
            <a:r>
              <a:rPr sz="6000" b="1">
                <a:solidFill>
                  <a:srgbClr val="F0EDEA"/>
                </a:solidFill>
                <a:latin typeface="Noto Sans JP"/>
                <a:ea typeface="Noto Sans JP"/>
                <a:cs typeface="Noto Sans JP"/>
              </a:rPr>
              <a:t>10兆円</a:t>
            </a:r>
          </a:p>
        </p:txBody>
      </p:sp>
      <p:sp>
        <p:nvSpPr>
          <p:cNvPr id="6" name="TextBox 5"/>
          <p:cNvSpPr txBox="1"/>
          <p:nvPr/>
        </p:nvSpPr>
        <p:spPr>
          <a:xfrm>
            <a:off x="876300" y="3352800"/>
            <a:ext cx="5838825" cy="381000"/>
          </a:xfrm>
          <a:prstGeom prst="rect">
            <a:avLst/>
          </a:prstGeom>
          <a:noFill/>
        </p:spPr>
        <p:txBody>
          <a:bodyPr wrap="square">
            <a:spAutoFit/>
          </a:bodyPr>
          <a:lstStyle/>
          <a:p>
            <a:pPr algn="l"/>
            <a:r>
              <a:rPr sz="1200" b="0">
                <a:solidFill>
                  <a:srgbClr val="F0EDEA"/>
                </a:solidFill>
                <a:latin typeface="Noto Sans JP"/>
                <a:ea typeface="Noto Sans JP"/>
                <a:cs typeface="Noto Sans JP"/>
              </a:rPr>
              <a:t>国内AI市場 2030年規模予測（CAGR +34%）</a:t>
            </a:r>
          </a:p>
        </p:txBody>
      </p:sp>
      <p:sp>
        <p:nvSpPr>
          <p:cNvPr id="7" name="Rectangle 6"/>
          <p:cNvSpPr/>
          <p:nvPr/>
        </p:nvSpPr>
        <p:spPr>
          <a:xfrm>
            <a:off x="7134225" y="1447800"/>
            <a:ext cx="4371975" cy="304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24725" y="1676400"/>
            <a:ext cx="3990975" cy="266700"/>
          </a:xfrm>
          <a:prstGeom prst="rect">
            <a:avLst/>
          </a:prstGeom>
          <a:noFill/>
        </p:spPr>
        <p:txBody>
          <a:bodyPr wrap="square">
            <a:spAutoFit/>
          </a:bodyPr>
          <a:lstStyle/>
          <a:p>
            <a:pPr algn="l"/>
            <a:r>
              <a:rPr sz="900" b="0">
                <a:solidFill>
                  <a:srgbClr val="8A8480"/>
                </a:solidFill>
                <a:latin typeface="Noto Sans JP"/>
                <a:ea typeface="Noto Sans JP"/>
                <a:cs typeface="Noto Sans JP"/>
              </a:rPr>
              <a:t>現在の市場規模（2026年）</a:t>
            </a:r>
          </a:p>
        </p:txBody>
      </p:sp>
      <p:sp>
        <p:nvSpPr>
          <p:cNvPr id="9" name="TextBox 8"/>
          <p:cNvSpPr txBox="1"/>
          <p:nvPr/>
        </p:nvSpPr>
        <p:spPr>
          <a:xfrm>
            <a:off x="7324725" y="2019300"/>
            <a:ext cx="3990975" cy="1905000"/>
          </a:xfrm>
          <a:prstGeom prst="rect">
            <a:avLst/>
          </a:prstGeom>
          <a:noFill/>
        </p:spPr>
        <p:txBody>
          <a:bodyPr wrap="square">
            <a:spAutoFit/>
          </a:bodyPr>
          <a:lstStyle/>
          <a:p>
            <a:pPr algn="l"/>
            <a:r>
              <a:rPr sz="1950" b="1">
                <a:solidFill>
                  <a:srgbClr val="F0EDEA"/>
                </a:solidFill>
                <a:latin typeface="Noto Sans JP"/>
                <a:ea typeface="Noto Sans JP"/>
                <a:cs typeface="Noto Sans JP"/>
              </a:rPr>
              <a:t>2.1兆円 （前年比 +41%）</a:t>
            </a:r>
          </a:p>
        </p:txBody>
      </p:sp>
      <p:sp>
        <p:nvSpPr>
          <p:cNvPr id="10" name="TextBox 9"/>
          <p:cNvSpPr txBox="1"/>
          <p:nvPr/>
        </p:nvSpPr>
        <p:spPr>
          <a:xfrm>
            <a:off x="876300" y="4876800"/>
            <a:ext cx="4914900" cy="342900"/>
          </a:xfrm>
          <a:prstGeom prst="rect">
            <a:avLst/>
          </a:prstGeom>
          <a:noFill/>
        </p:spPr>
        <p:txBody>
          <a:bodyPr wrap="square">
            <a:spAutoFit/>
          </a:bodyPr>
          <a:lstStyle/>
          <a:p>
            <a:pPr algn="l"/>
            <a:r>
              <a:rPr sz="1050" b="0">
                <a:solidFill>
                  <a:srgbClr val="F0EDEA"/>
                </a:solidFill>
                <a:latin typeface="Noto Sans JP"/>
                <a:ea typeface="Noto Sans JP"/>
                <a:cs typeface="Noto Sans JP"/>
              </a:rPr>
              <a:t>• 生成AI導入企業が2026年に全上場企業の40%超に達する</a:t>
            </a:r>
          </a:p>
        </p:txBody>
      </p:sp>
      <p:sp>
        <p:nvSpPr>
          <p:cNvPr id="11" name="TextBox 10"/>
          <p:cNvSpPr txBox="1"/>
          <p:nvPr/>
        </p:nvSpPr>
        <p:spPr>
          <a:xfrm>
            <a:off x="876300" y="5238750"/>
            <a:ext cx="4914900" cy="342900"/>
          </a:xfrm>
          <a:prstGeom prst="rect">
            <a:avLst/>
          </a:prstGeom>
          <a:noFill/>
        </p:spPr>
        <p:txBody>
          <a:bodyPr wrap="square">
            <a:spAutoFit/>
          </a:bodyPr>
          <a:lstStyle/>
          <a:p>
            <a:pPr algn="l"/>
            <a:r>
              <a:rPr sz="1050" b="0">
                <a:solidFill>
                  <a:srgbClr val="F0EDEA"/>
                </a:solidFill>
                <a:latin typeface="Noto Sans JP"/>
                <a:ea typeface="Noto Sans JP"/>
                <a:cs typeface="Noto Sans JP"/>
              </a:rPr>
              <a:t>• クラウドAIインフラ投資が国内IT予算の25%を占める見通し</a:t>
            </a:r>
          </a:p>
        </p:txBody>
      </p:sp>
      <p:sp>
        <p:nvSpPr>
          <p:cNvPr id="12" name="TextBox 11"/>
          <p:cNvSpPr txBox="1"/>
          <p:nvPr/>
        </p:nvSpPr>
        <p:spPr>
          <a:xfrm>
            <a:off x="876300" y="5600700"/>
            <a:ext cx="4914900" cy="342900"/>
          </a:xfrm>
          <a:prstGeom prst="rect">
            <a:avLst/>
          </a:prstGeom>
          <a:noFill/>
        </p:spPr>
        <p:txBody>
          <a:bodyPr wrap="square">
            <a:spAutoFit/>
          </a:bodyPr>
          <a:lstStyle/>
          <a:p>
            <a:pPr algn="l"/>
            <a:r>
              <a:rPr sz="1050" b="0">
                <a:solidFill>
                  <a:srgbClr val="F0EDEA"/>
                </a:solidFill>
                <a:latin typeface="Noto Sans JP"/>
                <a:ea typeface="Noto Sans JP"/>
                <a:cs typeface="Noto Sans JP"/>
              </a:rPr>
              <a:t>• AI関連人材不足が深刻化し、教育・再教育市場も急拡大</a:t>
            </a:r>
          </a:p>
        </p:txBody>
      </p:sp>
      <p:sp>
        <p:nvSpPr>
          <p:cNvPr id="13" name="Rectangle 12"/>
          <p:cNvSpPr/>
          <p:nvPr/>
        </p:nvSpPr>
        <p:spPr>
          <a:xfrm>
            <a:off x="6210300" y="4724400"/>
            <a:ext cx="5295900"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5029200"/>
            <a:ext cx="4914900" cy="762000"/>
          </a:xfrm>
          <a:prstGeom prst="rect">
            <a:avLst/>
          </a:prstGeom>
          <a:noFill/>
        </p:spPr>
        <p:txBody>
          <a:bodyPr wrap="square">
            <a:spAutoFit/>
          </a:bodyPr>
          <a:lstStyle/>
          <a:p>
            <a:pPr algn="ctr"/>
            <a:r>
              <a:rPr sz="2100" b="1">
                <a:solidFill>
                  <a:srgbClr val="F0EDEA"/>
                </a:solidFill>
                <a:latin typeface="Noto Sans JP"/>
                <a:ea typeface="Noto Sans JP"/>
                <a:cs typeface="Noto Sans JP"/>
              </a:rPr>
              <a:t>今が参入の ゴールデンウィンドウ</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685800" y="6172200"/>
            <a:ext cx="8572500" cy="228600"/>
          </a:xfrm>
          <a:prstGeom prst="rect">
            <a:avLst/>
          </a:prstGeom>
          <a:noFill/>
        </p:spPr>
        <p:txBody>
          <a:bodyPr wrap="square">
            <a:spAutoFit/>
          </a:bodyPr>
          <a:lstStyle/>
          <a:p>
            <a:pPr algn="l"/>
            <a:r>
              <a:rPr sz="900" b="0">
                <a:solidFill>
                  <a:srgbClr val="8A8480"/>
                </a:solidFill>
                <a:latin typeface="Noto Sans JP"/>
                <a:ea typeface="Noto Sans JP"/>
                <a:cs typeface="Noto Sans JP"/>
              </a:rPr>
              <a:t>出典：プロダクト戦略室ロードマップv3.2（2026年6月承認）</a:t>
            </a:r>
          </a:p>
        </p:txBody>
      </p:sp>
      <p:sp>
        <p:nvSpPr>
          <p:cNvPr id="3" name="TextBox 2"/>
          <p:cNvSpPr txBox="1"/>
          <p:nvPr/>
        </p:nvSpPr>
        <p:spPr>
          <a:xfrm>
            <a:off x="10477500" y="6172200"/>
            <a:ext cx="1028700" cy="228600"/>
          </a:xfrm>
          <a:prstGeom prst="rect">
            <a:avLst/>
          </a:prstGeom>
          <a:noFill/>
        </p:spPr>
        <p:txBody>
          <a:bodyPr wrap="square">
            <a:spAutoFit/>
          </a:bodyPr>
          <a:lstStyle/>
          <a:p>
            <a:pPr algn="r"/>
            <a:r>
              <a:rPr sz="900" b="0">
                <a:solidFill>
                  <a:srgbClr val="8A8480"/>
                </a:solidFill>
                <a:latin typeface="Noto Sans JP"/>
                <a:ea typeface="Noto Sans JP"/>
                <a:cs typeface="Noto Sans JP"/>
              </a:rPr>
              <a:t>98 / 98</a:t>
            </a:r>
          </a:p>
        </p:txBody>
      </p:sp>
      <p:sp>
        <p:nvSpPr>
          <p:cNvPr id="4" name="TextBox 3"/>
          <p:cNvSpPr txBox="1"/>
          <p:nvPr/>
        </p:nvSpPr>
        <p:spPr>
          <a:xfrm>
            <a:off x="685800" y="533400"/>
            <a:ext cx="10820400" cy="838200"/>
          </a:xfrm>
          <a:prstGeom prst="rect">
            <a:avLst/>
          </a:prstGeom>
          <a:noFill/>
        </p:spPr>
        <p:txBody>
          <a:bodyPr wrap="square">
            <a:spAutoFit/>
          </a:bodyPr>
          <a:lstStyle/>
          <a:p>
            <a:pPr algn="l"/>
            <a:r>
              <a:rPr sz="2850" b="1">
                <a:solidFill>
                  <a:srgbClr val="F0EDEA"/>
                </a:solidFill>
                <a:latin typeface="Noto Sans JP"/>
                <a:ea typeface="Noto Sans JP"/>
                <a:cs typeface="Noto Sans JP"/>
              </a:rPr>
              <a:t>プロダクトロードマップ：3つの優先施策で競合優位を確立する</a:t>
            </a:r>
          </a:p>
        </p:txBody>
      </p:sp>
      <p:sp>
        <p:nvSpPr>
          <p:cNvPr id="5" name="Rectangle 4"/>
          <p:cNvSpPr/>
          <p:nvPr/>
        </p:nvSpPr>
        <p:spPr>
          <a:xfrm>
            <a:off x="685800" y="1447800"/>
            <a:ext cx="1082040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1600200"/>
            <a:ext cx="10439400" cy="609600"/>
          </a:xfrm>
          <a:prstGeom prst="rect">
            <a:avLst/>
          </a:prstGeom>
          <a:noFill/>
        </p:spPr>
        <p:txBody>
          <a:bodyPr wrap="square">
            <a:spAutoFit/>
          </a:bodyPr>
          <a:lstStyle/>
          <a:p>
            <a:pPr algn="l"/>
            <a:r>
              <a:rPr sz="1200" b="0">
                <a:solidFill>
                  <a:srgbClr val="F0EDEA"/>
                </a:solidFill>
                <a:latin typeface="Noto Sans JP"/>
                <a:ea typeface="Noto Sans JP"/>
                <a:cs typeface="Noto Sans JP"/>
              </a:rPr>
              <a:t>2026年下半期は「深化（既存機能強化）」「拡張（新セグメント）」「基盤（技術負債解消）」の3軸でリソースを集中配分し、ARR 50億円・NPS +20ptを目指す</a:t>
            </a:r>
          </a:p>
        </p:txBody>
      </p:sp>
      <p:sp>
        <p:nvSpPr>
          <p:cNvPr id="7" name="TextBox 6"/>
          <p:cNvSpPr txBox="1"/>
          <p:nvPr/>
        </p:nvSpPr>
        <p:spPr>
          <a:xfrm>
            <a:off x="838200" y="2743200"/>
            <a:ext cx="381000" cy="190500"/>
          </a:xfrm>
          <a:prstGeom prst="rect">
            <a:avLst/>
          </a:prstGeom>
          <a:noFill/>
        </p:spPr>
        <p:txBody>
          <a:bodyPr wrap="none">
            <a:spAutoFit/>
          </a:bodyPr>
          <a:lstStyle/>
          <a:p>
            <a:pPr algn="l"/>
            <a:r>
              <a:rPr sz="900" b="1">
                <a:solidFill>
                  <a:srgbClr val="FF4D1C"/>
                </a:solidFill>
                <a:latin typeface="Noto Sans JP"/>
                <a:ea typeface="Noto Sans JP"/>
                <a:cs typeface="Noto Sans JP"/>
              </a:rPr>
              <a:t>01</a:t>
            </a:r>
          </a:p>
        </p:txBody>
      </p:sp>
      <p:sp>
        <p:nvSpPr>
          <p:cNvPr id="8" name="TextBox 7"/>
          <p:cNvSpPr txBox="1"/>
          <p:nvPr/>
        </p:nvSpPr>
        <p:spPr>
          <a:xfrm>
            <a:off x="1295400" y="2743200"/>
            <a:ext cx="6372225" cy="228600"/>
          </a:xfrm>
          <a:prstGeom prst="rect">
            <a:avLst/>
          </a:prstGeom>
          <a:noFill/>
        </p:spPr>
        <p:txBody>
          <a:bodyPr wrap="square">
            <a:spAutoFit/>
          </a:bodyPr>
          <a:lstStyle/>
          <a:p>
            <a:pPr algn="l"/>
            <a:r>
              <a:rPr sz="1200" b="1">
                <a:solidFill>
                  <a:srgbClr val="F0EDEA"/>
                </a:solidFill>
                <a:latin typeface="Noto Sans JP"/>
                <a:ea typeface="Noto Sans JP"/>
                <a:cs typeface="Noto Sans JP"/>
              </a:rPr>
              <a:t>AIコア機能の精度向上（深化）</a:t>
            </a:r>
          </a:p>
        </p:txBody>
      </p:sp>
      <p:sp>
        <p:nvSpPr>
          <p:cNvPr id="9" name="TextBox 8"/>
          <p:cNvSpPr txBox="1"/>
          <p:nvPr/>
        </p:nvSpPr>
        <p:spPr>
          <a:xfrm>
            <a:off x="1295400" y="3009900"/>
            <a:ext cx="6372225" cy="419100"/>
          </a:xfrm>
          <a:prstGeom prst="rect">
            <a:avLst/>
          </a:prstGeom>
          <a:noFill/>
        </p:spPr>
        <p:txBody>
          <a:bodyPr wrap="square">
            <a:spAutoFit/>
          </a:bodyPr>
          <a:lstStyle/>
          <a:p>
            <a:pPr algn="l"/>
            <a:r>
              <a:rPr sz="1050" b="0">
                <a:solidFill>
                  <a:srgbClr val="8A8480"/>
                </a:solidFill>
                <a:latin typeface="Noto Sans JP"/>
                <a:ea typeface="Noto Sans JP"/>
                <a:cs typeface="Noto Sans JP"/>
              </a:rPr>
              <a:t>LLM微調整による業種特化モデルを3業種（製造・金融・医療）でリリース。精度KPI: F1スコア 0.85以上</a:t>
            </a:r>
          </a:p>
        </p:txBody>
      </p:sp>
      <p:sp>
        <p:nvSpPr>
          <p:cNvPr id="10" name="TextBox 9"/>
          <p:cNvSpPr txBox="1"/>
          <p:nvPr/>
        </p:nvSpPr>
        <p:spPr>
          <a:xfrm>
            <a:off x="838200" y="3505200"/>
            <a:ext cx="381000" cy="190500"/>
          </a:xfrm>
          <a:prstGeom prst="rect">
            <a:avLst/>
          </a:prstGeom>
          <a:noFill/>
        </p:spPr>
        <p:txBody>
          <a:bodyPr wrap="none">
            <a:spAutoFit/>
          </a:bodyPr>
          <a:lstStyle/>
          <a:p>
            <a:pPr algn="l"/>
            <a:r>
              <a:rPr sz="900" b="1">
                <a:solidFill>
                  <a:srgbClr val="FF4D1C"/>
                </a:solidFill>
                <a:latin typeface="Noto Sans JP"/>
                <a:ea typeface="Noto Sans JP"/>
                <a:cs typeface="Noto Sans JP"/>
              </a:rPr>
              <a:t>02</a:t>
            </a:r>
          </a:p>
        </p:txBody>
      </p:sp>
      <p:sp>
        <p:nvSpPr>
          <p:cNvPr id="11" name="TextBox 10"/>
          <p:cNvSpPr txBox="1"/>
          <p:nvPr/>
        </p:nvSpPr>
        <p:spPr>
          <a:xfrm>
            <a:off x="1295400" y="3505200"/>
            <a:ext cx="6372225" cy="228600"/>
          </a:xfrm>
          <a:prstGeom prst="rect">
            <a:avLst/>
          </a:prstGeom>
          <a:noFill/>
        </p:spPr>
        <p:txBody>
          <a:bodyPr wrap="square">
            <a:spAutoFit/>
          </a:bodyPr>
          <a:lstStyle/>
          <a:p>
            <a:pPr algn="l"/>
            <a:r>
              <a:rPr sz="1200" b="1">
                <a:solidFill>
                  <a:srgbClr val="F0EDEA"/>
                </a:solidFill>
                <a:latin typeface="Noto Sans JP"/>
                <a:ea typeface="Noto Sans JP"/>
                <a:cs typeface="Noto Sans JP"/>
              </a:rPr>
              <a:t>SMBセグメント参入（拡張）</a:t>
            </a:r>
          </a:p>
        </p:txBody>
      </p:sp>
      <p:sp>
        <p:nvSpPr>
          <p:cNvPr id="12" name="TextBox 11"/>
          <p:cNvSpPr txBox="1"/>
          <p:nvPr/>
        </p:nvSpPr>
        <p:spPr>
          <a:xfrm>
            <a:off x="1295400" y="3771900"/>
            <a:ext cx="6372225" cy="419100"/>
          </a:xfrm>
          <a:prstGeom prst="rect">
            <a:avLst/>
          </a:prstGeom>
          <a:noFill/>
        </p:spPr>
        <p:txBody>
          <a:bodyPr wrap="square">
            <a:spAutoFit/>
          </a:bodyPr>
          <a:lstStyle/>
          <a:p>
            <a:pPr algn="l"/>
            <a:r>
              <a:rPr sz="1050" b="0">
                <a:solidFill>
                  <a:srgbClr val="8A8480"/>
                </a:solidFill>
                <a:latin typeface="Noto Sans JP"/>
                <a:ea typeface="Noto Sans JP"/>
                <a:cs typeface="Noto Sans JP"/>
              </a:rPr>
              <a:t>月額9,800円のセルフサービスプランを7月ローンチ。初月200社獲得・6ヶ月継続率70%が目標</a:t>
            </a:r>
          </a:p>
        </p:txBody>
      </p:sp>
      <p:sp>
        <p:nvSpPr>
          <p:cNvPr id="13" name="TextBox 12"/>
          <p:cNvSpPr txBox="1"/>
          <p:nvPr/>
        </p:nvSpPr>
        <p:spPr>
          <a:xfrm>
            <a:off x="838200" y="4267200"/>
            <a:ext cx="381000" cy="190500"/>
          </a:xfrm>
          <a:prstGeom prst="rect">
            <a:avLst/>
          </a:prstGeom>
          <a:noFill/>
        </p:spPr>
        <p:txBody>
          <a:bodyPr wrap="none">
            <a:spAutoFit/>
          </a:bodyPr>
          <a:lstStyle/>
          <a:p>
            <a:pPr algn="l"/>
            <a:r>
              <a:rPr sz="900" b="1">
                <a:solidFill>
                  <a:srgbClr val="FF4D1C"/>
                </a:solidFill>
                <a:latin typeface="Noto Sans JP"/>
                <a:ea typeface="Noto Sans JP"/>
                <a:cs typeface="Noto Sans JP"/>
              </a:rPr>
              <a:t>03</a:t>
            </a:r>
          </a:p>
        </p:txBody>
      </p:sp>
      <p:sp>
        <p:nvSpPr>
          <p:cNvPr id="14" name="TextBox 13"/>
          <p:cNvSpPr txBox="1"/>
          <p:nvPr/>
        </p:nvSpPr>
        <p:spPr>
          <a:xfrm>
            <a:off x="1295400" y="4267200"/>
            <a:ext cx="6372225" cy="228600"/>
          </a:xfrm>
          <a:prstGeom prst="rect">
            <a:avLst/>
          </a:prstGeom>
          <a:noFill/>
        </p:spPr>
        <p:txBody>
          <a:bodyPr wrap="square">
            <a:spAutoFit/>
          </a:bodyPr>
          <a:lstStyle/>
          <a:p>
            <a:pPr algn="l"/>
            <a:r>
              <a:rPr sz="1200" b="1">
                <a:solidFill>
                  <a:srgbClr val="F0EDEA"/>
                </a:solidFill>
                <a:latin typeface="Noto Sans JP"/>
                <a:ea typeface="Noto Sans JP"/>
                <a:cs typeface="Noto Sans JP"/>
              </a:rPr>
              <a:t>マイクロサービス移行（基盤）</a:t>
            </a:r>
          </a:p>
        </p:txBody>
      </p:sp>
      <p:sp>
        <p:nvSpPr>
          <p:cNvPr id="15" name="TextBox 14"/>
          <p:cNvSpPr txBox="1"/>
          <p:nvPr/>
        </p:nvSpPr>
        <p:spPr>
          <a:xfrm>
            <a:off x="1295400" y="4533900"/>
            <a:ext cx="6372225" cy="419100"/>
          </a:xfrm>
          <a:prstGeom prst="rect">
            <a:avLst/>
          </a:prstGeom>
          <a:noFill/>
        </p:spPr>
        <p:txBody>
          <a:bodyPr wrap="square">
            <a:spAutoFit/>
          </a:bodyPr>
          <a:lstStyle/>
          <a:p>
            <a:pPr algn="l"/>
            <a:r>
              <a:rPr sz="1050" b="0">
                <a:solidFill>
                  <a:srgbClr val="8A8480"/>
                </a:solidFill>
                <a:latin typeface="Noto Sans JP"/>
                <a:ea typeface="Noto Sans JP"/>
                <a:cs typeface="Noto Sans JP"/>
              </a:rPr>
              <a:t>モノリス解体によりリリースサイクルを月1回→週2回へ短縮。インフラコスト20%削減も同時達成</a:t>
            </a:r>
          </a:p>
        </p:txBody>
      </p:sp>
      <p:sp>
        <p:nvSpPr>
          <p:cNvPr id="16" name="TextBox 15"/>
          <p:cNvSpPr txBox="1"/>
          <p:nvPr/>
        </p:nvSpPr>
        <p:spPr>
          <a:xfrm>
            <a:off x="838200" y="5029200"/>
            <a:ext cx="381000" cy="190500"/>
          </a:xfrm>
          <a:prstGeom prst="rect">
            <a:avLst/>
          </a:prstGeom>
          <a:noFill/>
        </p:spPr>
        <p:txBody>
          <a:bodyPr wrap="none">
            <a:spAutoFit/>
          </a:bodyPr>
          <a:lstStyle/>
          <a:p>
            <a:pPr algn="l"/>
            <a:r>
              <a:rPr sz="900" b="1">
                <a:solidFill>
                  <a:srgbClr val="FF4D1C"/>
                </a:solidFill>
                <a:latin typeface="Noto Sans JP"/>
                <a:ea typeface="Noto Sans JP"/>
                <a:cs typeface="Noto Sans JP"/>
              </a:rPr>
              <a:t>04</a:t>
            </a:r>
          </a:p>
        </p:txBody>
      </p:sp>
      <p:sp>
        <p:nvSpPr>
          <p:cNvPr id="17" name="TextBox 16"/>
          <p:cNvSpPr txBox="1"/>
          <p:nvPr/>
        </p:nvSpPr>
        <p:spPr>
          <a:xfrm>
            <a:off x="1295400" y="5029200"/>
            <a:ext cx="6372225" cy="228600"/>
          </a:xfrm>
          <a:prstGeom prst="rect">
            <a:avLst/>
          </a:prstGeom>
          <a:noFill/>
        </p:spPr>
        <p:txBody>
          <a:bodyPr wrap="square">
            <a:spAutoFit/>
          </a:bodyPr>
          <a:lstStyle/>
          <a:p>
            <a:pPr algn="l"/>
            <a:r>
              <a:rPr sz="1200" b="1">
                <a:solidFill>
                  <a:srgbClr val="F0EDEA"/>
                </a:solidFill>
                <a:latin typeface="Noto Sans JP"/>
                <a:ea typeface="Noto Sans JP"/>
                <a:cs typeface="Noto Sans JP"/>
              </a:rPr>
              <a:t>パートナーAPI公開（拡張）</a:t>
            </a:r>
          </a:p>
        </p:txBody>
      </p:sp>
      <p:sp>
        <p:nvSpPr>
          <p:cNvPr id="18" name="TextBox 17"/>
          <p:cNvSpPr txBox="1"/>
          <p:nvPr/>
        </p:nvSpPr>
        <p:spPr>
          <a:xfrm>
            <a:off x="1295400" y="5295900"/>
            <a:ext cx="6372225" cy="419100"/>
          </a:xfrm>
          <a:prstGeom prst="rect">
            <a:avLst/>
          </a:prstGeom>
          <a:noFill/>
        </p:spPr>
        <p:txBody>
          <a:bodyPr wrap="square">
            <a:spAutoFit/>
          </a:bodyPr>
          <a:lstStyle/>
          <a:p>
            <a:pPr algn="l"/>
            <a:r>
              <a:rPr sz="1050" b="0">
                <a:solidFill>
                  <a:srgbClr val="8A8480"/>
                </a:solidFill>
                <a:latin typeface="Noto Sans JP"/>
                <a:ea typeface="Noto Sans JP"/>
                <a:cs typeface="Noto Sans JP"/>
              </a:rPr>
              <a:t>SIer向けホワイトラベルAPIを9月公開。初年度10社のOEM契約とARR 5億円超を見込む</a:t>
            </a:r>
          </a:p>
        </p:txBody>
      </p:sp>
      <p:sp>
        <p:nvSpPr>
          <p:cNvPr id="19" name="Rectangle 18"/>
          <p:cNvSpPr/>
          <p:nvPr/>
        </p:nvSpPr>
        <p:spPr>
          <a:xfrm>
            <a:off x="8048625" y="2590800"/>
            <a:ext cx="3457575" cy="3276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1025" y="2781300"/>
            <a:ext cx="3152775" cy="190500"/>
          </a:xfrm>
          <a:prstGeom prst="rect">
            <a:avLst/>
          </a:prstGeom>
          <a:noFill/>
        </p:spPr>
        <p:txBody>
          <a:bodyPr wrap="square">
            <a:spAutoFit/>
          </a:bodyPr>
          <a:lstStyle/>
          <a:p>
            <a:pPr algn="l"/>
            <a:r>
              <a:rPr sz="900" b="0">
                <a:solidFill>
                  <a:srgbClr val="8A8480"/>
                </a:solidFill>
                <a:latin typeface="Noto Sans JP"/>
                <a:ea typeface="Noto Sans JP"/>
                <a:cs typeface="Noto Sans JP"/>
              </a:rPr>
              <a:t>H2目標ARR</a:t>
            </a:r>
          </a:p>
        </p:txBody>
      </p:sp>
      <p:sp>
        <p:nvSpPr>
          <p:cNvPr id="21" name="TextBox 20"/>
          <p:cNvSpPr txBox="1"/>
          <p:nvPr/>
        </p:nvSpPr>
        <p:spPr>
          <a:xfrm>
            <a:off x="8201025" y="2990850"/>
            <a:ext cx="3152775" cy="304800"/>
          </a:xfrm>
          <a:prstGeom prst="rect">
            <a:avLst/>
          </a:prstGeom>
          <a:noFill/>
        </p:spPr>
        <p:txBody>
          <a:bodyPr wrap="square">
            <a:spAutoFit/>
          </a:bodyPr>
          <a:lstStyle/>
          <a:p>
            <a:pPr algn="l"/>
            <a:r>
              <a:rPr sz="1650" b="1">
                <a:solidFill>
                  <a:srgbClr val="F0EDEA"/>
                </a:solidFill>
                <a:latin typeface="Noto Sans JP"/>
                <a:ea typeface="Noto Sans JP"/>
                <a:cs typeface="Noto Sans JP"/>
              </a:rPr>
              <a:t>50億円</a:t>
            </a:r>
          </a:p>
        </p:txBody>
      </p:sp>
      <p:sp>
        <p:nvSpPr>
          <p:cNvPr id="22" name="TextBox 21"/>
          <p:cNvSpPr txBox="1"/>
          <p:nvPr/>
        </p:nvSpPr>
        <p:spPr>
          <a:xfrm>
            <a:off x="8201025" y="3352800"/>
            <a:ext cx="3152775" cy="190500"/>
          </a:xfrm>
          <a:prstGeom prst="rect">
            <a:avLst/>
          </a:prstGeom>
          <a:noFill/>
        </p:spPr>
        <p:txBody>
          <a:bodyPr wrap="square">
            <a:spAutoFit/>
          </a:bodyPr>
          <a:lstStyle/>
          <a:p>
            <a:pPr algn="l"/>
            <a:r>
              <a:rPr sz="900" b="0">
                <a:solidFill>
                  <a:srgbClr val="8A8480"/>
                </a:solidFill>
                <a:latin typeface="Noto Sans JP"/>
                <a:ea typeface="Noto Sans JP"/>
                <a:cs typeface="Noto Sans JP"/>
              </a:rPr>
              <a:t>NPS目標</a:t>
            </a:r>
          </a:p>
        </p:txBody>
      </p:sp>
      <p:sp>
        <p:nvSpPr>
          <p:cNvPr id="23" name="TextBox 22"/>
          <p:cNvSpPr txBox="1"/>
          <p:nvPr/>
        </p:nvSpPr>
        <p:spPr>
          <a:xfrm>
            <a:off x="8201025" y="3562350"/>
            <a:ext cx="3152775" cy="304800"/>
          </a:xfrm>
          <a:prstGeom prst="rect">
            <a:avLst/>
          </a:prstGeom>
          <a:noFill/>
        </p:spPr>
        <p:txBody>
          <a:bodyPr wrap="square">
            <a:spAutoFit/>
          </a:bodyPr>
          <a:lstStyle/>
          <a:p>
            <a:pPr algn="l"/>
            <a:r>
              <a:rPr sz="1650" b="1">
                <a:solidFill>
                  <a:srgbClr val="F0EDEA"/>
                </a:solidFill>
                <a:latin typeface="Noto Sans JP"/>
                <a:ea typeface="Noto Sans JP"/>
                <a:cs typeface="Noto Sans JP"/>
              </a:rPr>
              <a:t>+20pt</a:t>
            </a:r>
          </a:p>
        </p:txBody>
      </p:sp>
      <p:sp>
        <p:nvSpPr>
          <p:cNvPr id="24" name="TextBox 23"/>
          <p:cNvSpPr txBox="1"/>
          <p:nvPr/>
        </p:nvSpPr>
        <p:spPr>
          <a:xfrm>
            <a:off x="8201025" y="3924300"/>
            <a:ext cx="3152775" cy="190500"/>
          </a:xfrm>
          <a:prstGeom prst="rect">
            <a:avLst/>
          </a:prstGeom>
          <a:noFill/>
        </p:spPr>
        <p:txBody>
          <a:bodyPr wrap="square">
            <a:spAutoFit/>
          </a:bodyPr>
          <a:lstStyle/>
          <a:p>
            <a:pPr algn="l"/>
            <a:r>
              <a:rPr sz="900" b="0">
                <a:solidFill>
                  <a:srgbClr val="8A8480"/>
                </a:solidFill>
                <a:latin typeface="Noto Sans JP"/>
                <a:ea typeface="Noto Sans JP"/>
                <a:cs typeface="Noto Sans JP"/>
              </a:rPr>
              <a:t>リリース頻度</a:t>
            </a:r>
          </a:p>
        </p:txBody>
      </p:sp>
      <p:sp>
        <p:nvSpPr>
          <p:cNvPr id="25" name="TextBox 24"/>
          <p:cNvSpPr txBox="1"/>
          <p:nvPr/>
        </p:nvSpPr>
        <p:spPr>
          <a:xfrm>
            <a:off x="8201025" y="4133850"/>
            <a:ext cx="3152775" cy="304800"/>
          </a:xfrm>
          <a:prstGeom prst="rect">
            <a:avLst/>
          </a:prstGeom>
          <a:noFill/>
        </p:spPr>
        <p:txBody>
          <a:bodyPr wrap="square">
            <a:spAutoFit/>
          </a:bodyPr>
          <a:lstStyle/>
          <a:p>
            <a:pPr algn="l"/>
            <a:r>
              <a:rPr sz="1650" b="1">
                <a:solidFill>
                  <a:srgbClr val="F0EDEA"/>
                </a:solidFill>
                <a:latin typeface="Noto Sans JP"/>
                <a:ea typeface="Noto Sans JP"/>
                <a:cs typeface="Noto Sans JP"/>
              </a:rPr>
              <a:t>週2回</a:t>
            </a:r>
          </a:p>
        </p:txBody>
      </p:sp>
      <p:sp>
        <p:nvSpPr>
          <p:cNvPr id="26" name="TextBox 25"/>
          <p:cNvSpPr txBox="1"/>
          <p:nvPr/>
        </p:nvSpPr>
        <p:spPr>
          <a:xfrm>
            <a:off x="8201025" y="4495800"/>
            <a:ext cx="3152775" cy="190500"/>
          </a:xfrm>
          <a:prstGeom prst="rect">
            <a:avLst/>
          </a:prstGeom>
          <a:noFill/>
        </p:spPr>
        <p:txBody>
          <a:bodyPr wrap="square">
            <a:spAutoFit/>
          </a:bodyPr>
          <a:lstStyle/>
          <a:p>
            <a:pPr algn="l"/>
            <a:r>
              <a:rPr sz="900" b="0">
                <a:solidFill>
                  <a:srgbClr val="8A8480"/>
                </a:solidFill>
                <a:latin typeface="Noto Sans JP"/>
                <a:ea typeface="Noto Sans JP"/>
                <a:cs typeface="Noto Sans JP"/>
              </a:rPr>
              <a:t>新規契約目標</a:t>
            </a:r>
          </a:p>
        </p:txBody>
      </p:sp>
      <p:sp>
        <p:nvSpPr>
          <p:cNvPr id="27" name="TextBox 26"/>
          <p:cNvSpPr txBox="1"/>
          <p:nvPr/>
        </p:nvSpPr>
        <p:spPr>
          <a:xfrm>
            <a:off x="8201025" y="4705350"/>
            <a:ext cx="3152775" cy="304800"/>
          </a:xfrm>
          <a:prstGeom prst="rect">
            <a:avLst/>
          </a:prstGeom>
          <a:noFill/>
        </p:spPr>
        <p:txBody>
          <a:bodyPr wrap="square">
            <a:spAutoFit/>
          </a:bodyPr>
          <a:lstStyle/>
          <a:p>
            <a:pPr algn="l"/>
            <a:r>
              <a:rPr sz="1650" b="1">
                <a:solidFill>
                  <a:srgbClr val="F0EDEA"/>
                </a:solidFill>
                <a:latin typeface="Noto Sans JP"/>
                <a:ea typeface="Noto Sans JP"/>
                <a:cs typeface="Noto Sans JP"/>
              </a:rPr>
              <a:t>300社</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